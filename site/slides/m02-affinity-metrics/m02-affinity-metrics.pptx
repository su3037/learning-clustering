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这一模块只回答一个问题：一对电路单元有多该放在一起？我们比较三种评分：直接边权、共同邻居和多引脚 net 的 pin-count。评分只给出排名，不决定分组；分组从下一模块开始。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输入可以是一张带权无向图，也可以是网表。输出是所有正分节点对的列表，每一对写成 u 小于 v，按分数从高到低排，平票按名字。本模块不输出分组；亲和度也不是距离或概率。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普通的边只连两个单元，而一个 net 可以连很多个。要给 net 里的一对单元打分，就得先选模型。常用的 clique 模型把 net 展开成两两之间的示意贡献，但这些连线并不真的存在。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最直接的评分就是边权。G01 有六条边，所以有六对。A–B 和 D–E 都是 5，按名字 A 排在 D 前面。规定了平票规则，不管边按什么顺序输入，排名都一样。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共同邻居评分等于直接边权，再加上每个共同邻居的贡献，贡献取两条边中较小的那条。一定要检查所有无序节点对，G01 一共十对，全部是正分。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手算两对。A–C 的直接边是 1，经过 B 的贡献是 min(5, 4) 等于 4，合计 5。B–D 之间没有边，直接部分是 0；经过 C 的贡献是 min(4, 2) 等于 2。如果只在已有的边上计算，就会漏掉 B–D。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原作者设计的 priority 图很能说明问题：按直接边权，第一对是 X–Y；按共同邻居，三角形里每一对都是 4 加 4 等于 8，第一对变成 P–Q。两种评分回答的是不同的问题。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原作者的 tiny netlist 有两条五引脚的宽 net 和一条私有 net。只数出现次数，A–B 得 2 分。pin-count 把每条 net 摊成 |e| 减 1 份，A–B 只得 0.5，而 E–F 得 1，排名第一。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伪代码第一行遍历所有无序节点对；第二行放入直接边权，没有边就是 0；第三、四行对每个共同邻居加上较弱的那条边；第五行只记录正分；最后稳定排序，输出排名。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常见错误包括：只在已有的边上算共同邻居；以为所有聚类算法都先合并最高分的一对；宽 net 不摊薄；平票顺序依赖输入；以及把亲和度当成距离或概率。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在芯片设计里，评分决定先把哪些单元放在一起。要写明边权从哪里来。本课程的小图是教学用的虚构数值。共同邻居评分要检查大量节点对，大规模网表需要只沿邻接关系枚举。clique 模型也只是一种近似。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小结：评分只给出排名，不决定分组，而且要写明用哪种模型。直接边权看单线粗细，共同邻居看是否属于紧密的小团体，pin-count 稀释宽 net。下一模块用簇间边权和开始真正的合并。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6679" y="2310892"/>
            <a:ext cx="43586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200" b="0">
                <a:solidFill>
                  <a:srgbClr val="D8BB78"/>
                </a:solidFill>
                <a:latin typeface="Noto Sans SC"/>
                <a:ea typeface="Noto Sans SC"/>
              </a:rPr>
              <a:t>谁和谁最亲近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9017" y="3335782"/>
            <a:ext cx="5153964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Affinity metrics · 直接边权、共同邻居与 pin-count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10228" y="4136644"/>
            <a:ext cx="4171543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F8F8F"/>
                </a:solidFill>
                <a:latin typeface="Noto Sans SC"/>
                <a:ea typeface="Noto Sans SC"/>
              </a:rPr>
              <a:t>Learning Clustering · 原作者 Capeur（Issue #1）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问题定义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00:03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输入：带权无向图，或多引脚网表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输出：所有正分节点对 (u, v, score)，u &lt; v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排序：分数降序，再按 u、v 字典序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约定：无自环与重复边；net 内重复引脚只算一次；零分对不列出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4710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评分是排名，不是分组，也不是距离或概率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6864707" y="1714500"/>
            <a:ext cx="2203719" cy="150253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09896" y="1422187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35296" y="1430315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64707" y="1864753"/>
            <a:ext cx="1352282" cy="1702873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513890" y="2406023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39290" y="2414151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8216989" y="1714500"/>
            <a:ext cx="851437" cy="1853126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634886" y="2489298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660286" y="2497426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16989" y="3567626"/>
            <a:ext cx="2253803" cy="1051775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262034" y="3740019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287434" y="3748147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7966566" y="3567626"/>
            <a:ext cx="250423" cy="1702874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096252" y="4225844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21652" y="4233972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7966566" y="4619401"/>
            <a:ext cx="2504226" cy="651099"/>
          </a:xfrm>
          <a:prstGeom prst="line">
            <a:avLst/>
          </a:prstGeom>
          <a:ln w="254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9110724" y="4877054"/>
            <a:ext cx="292608" cy="292608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136124" y="4885182"/>
            <a:ext cx="2418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6610707" y="1610753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729878" y="1722259"/>
            <a:ext cx="269659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40" name="Oval 39"/>
          <p:cNvSpPr/>
          <p:nvPr/>
        </p:nvSpPr>
        <p:spPr>
          <a:xfrm>
            <a:off x="8814426" y="146050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930142" y="1572006"/>
            <a:ext cx="27656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2" name="Oval 41"/>
          <p:cNvSpPr/>
          <p:nvPr/>
        </p:nvSpPr>
        <p:spPr>
          <a:xfrm>
            <a:off x="7962989" y="3313626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081404" y="3425132"/>
            <a:ext cx="27117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4" name="Oval 43"/>
          <p:cNvSpPr/>
          <p:nvPr/>
        </p:nvSpPr>
        <p:spPr>
          <a:xfrm>
            <a:off x="10216792" y="4365401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328945" y="4476907"/>
            <a:ext cx="283692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6" name="Oval 45"/>
          <p:cNvSpPr/>
          <p:nvPr/>
        </p:nvSpPr>
        <p:spPr>
          <a:xfrm>
            <a:off x="7712566" y="5016500"/>
            <a:ext cx="508000" cy="5080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835407" y="5128006"/>
            <a:ext cx="262318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12272" y="5901690"/>
            <a:ext cx="2501455" cy="257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CD2D0"/>
                </a:solidFill>
                <a:latin typeface="Noto Sans SC"/>
                <a:ea typeface="Noto Sans SC"/>
              </a:rPr>
              <a:t>课程公共图 G01（总权 18）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552194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图与 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p3/12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00:14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普通的边只连两个单元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一个 net 可以连 3、5 乃至上千个单元的引脚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给其中“一对”打分，需要先选一个模型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clique 模型：把 net 展开成两两之间的示意贡献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500" y="5546598"/>
            <a:ext cx="4908550" cy="2393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展开出的两两连线是计分用的示意，不是新增的物理导线。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2500" y="1555750"/>
            <a:ext cx="2413000" cy="2032000"/>
          </a:xfrm>
          <a:prstGeom prst="roundRect">
            <a:avLst>
              <a:gd name="adj" fmla="val 2187"/>
            </a:avLst>
          </a:prstGeom>
          <a:solidFill>
            <a:srgbClr val="0D272D">
              <a:alpha val="96000"/>
            </a:srgbClr>
          </a:solidFill>
          <a:ln w="6350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110605" y="1611122"/>
            <a:ext cx="675640" cy="120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00" b="1">
                <a:solidFill>
                  <a:srgbClr val="D8BB78"/>
                </a:solidFill>
                <a:latin typeface="Noto Sans SC"/>
                <a:ea typeface="Noto Sans SC"/>
              </a:rPr>
              <a:t>普通的边：两端</a:t>
            </a:r>
          </a:p>
        </p:txBody>
      </p:sp>
      <p:sp>
        <p:nvSpPr>
          <p:cNvPr id="21" name="Oval 20"/>
          <p:cNvSpPr/>
          <p:nvPr/>
        </p:nvSpPr>
        <p:spPr>
          <a:xfrm>
            <a:off x="6496050" y="2463800"/>
            <a:ext cx="279400" cy="279400"/>
          </a:xfrm>
          <a:prstGeom prst="ellipse">
            <a:avLst/>
          </a:prstGeom>
          <a:solidFill>
            <a:srgbClr val="77CDBB"/>
          </a:solidFill>
          <a:ln w="9525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68335" y="2532253"/>
            <a:ext cx="134829" cy="1457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3" name="Oval 22"/>
          <p:cNvSpPr/>
          <p:nvPr/>
        </p:nvSpPr>
        <p:spPr>
          <a:xfrm>
            <a:off x="7702550" y="2463800"/>
            <a:ext cx="279400" cy="279400"/>
          </a:xfrm>
          <a:prstGeom prst="ellipse">
            <a:avLst/>
          </a:prstGeom>
          <a:solidFill>
            <a:srgbClr val="77CDBB"/>
          </a:solidFill>
          <a:ln w="9525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3108" y="2532253"/>
            <a:ext cx="138283" cy="1457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35750" y="2603500"/>
            <a:ext cx="1206500" cy="0"/>
          </a:xfrm>
          <a:prstGeom prst="line">
            <a:avLst/>
          </a:prstGeom>
          <a:ln w="1270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7165848" y="2419604"/>
            <a:ext cx="146304" cy="146304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78548" y="2423668"/>
            <a:ext cx="120904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6500" y="1555750"/>
            <a:ext cx="2413000" cy="2032000"/>
          </a:xfrm>
          <a:prstGeom prst="roundRect">
            <a:avLst>
              <a:gd name="adj" fmla="val 2187"/>
            </a:avLst>
          </a:prstGeom>
          <a:solidFill>
            <a:srgbClr val="0D272D">
              <a:alpha val="96000"/>
            </a:srgbClr>
          </a:solidFill>
          <a:ln w="6350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904605" y="1611122"/>
            <a:ext cx="841883" cy="120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00" b="1">
                <a:solidFill>
                  <a:srgbClr val="D8BB78"/>
                </a:solidFill>
                <a:latin typeface="Noto Sans SC"/>
                <a:ea typeface="Noto Sans SC"/>
              </a:rPr>
              <a:t>一个 net：五个引脚</a:t>
            </a:r>
          </a:p>
        </p:txBody>
      </p:sp>
      <p:sp>
        <p:nvSpPr>
          <p:cNvPr id="30" name="Oval 29"/>
          <p:cNvSpPr/>
          <p:nvPr/>
        </p:nvSpPr>
        <p:spPr>
          <a:xfrm>
            <a:off x="9988550" y="2559050"/>
            <a:ext cx="88900" cy="889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 flipV="1">
            <a:off x="10033000" y="1936750"/>
            <a:ext cx="0" cy="666750"/>
          </a:xfrm>
          <a:prstGeom prst="line">
            <a:avLst/>
          </a:prstGeom>
          <a:ln w="12700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9912350" y="1816100"/>
            <a:ext cx="241300" cy="241300"/>
          </a:xfrm>
          <a:prstGeom prst="ellipse">
            <a:avLst/>
          </a:prstGeom>
          <a:solidFill>
            <a:srgbClr val="77CDBB"/>
          </a:solidFill>
          <a:ln w="9525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965585" y="1865503"/>
            <a:ext cx="134829" cy="1457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0033000" y="2397462"/>
            <a:ext cx="694509" cy="206038"/>
          </a:xfrm>
          <a:prstGeom prst="line">
            <a:avLst/>
          </a:prstGeom>
          <a:ln w="12700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606859" y="2276812"/>
            <a:ext cx="241300" cy="241300"/>
          </a:xfrm>
          <a:prstGeom prst="ellipse">
            <a:avLst/>
          </a:prstGeom>
          <a:solidFill>
            <a:srgbClr val="77CDBB"/>
          </a:solidFill>
          <a:ln w="9525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658367" y="2326215"/>
            <a:ext cx="138283" cy="1457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033000" y="2603500"/>
            <a:ext cx="429230" cy="539412"/>
          </a:xfrm>
          <a:prstGeom prst="line">
            <a:avLst/>
          </a:prstGeom>
          <a:ln w="12700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0341580" y="3022262"/>
            <a:ext cx="241300" cy="241300"/>
          </a:xfrm>
          <a:prstGeom prst="ellipse">
            <a:avLst/>
          </a:prstGeom>
          <a:solidFill>
            <a:srgbClr val="77CDBB"/>
          </a:solidFill>
          <a:ln w="9525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394437" y="3071665"/>
            <a:ext cx="135585" cy="1457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9603769" y="2603500"/>
            <a:ext cx="429231" cy="539412"/>
          </a:xfrm>
          <a:prstGeom prst="line">
            <a:avLst/>
          </a:prstGeom>
          <a:ln w="12700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9483119" y="3022262"/>
            <a:ext cx="241300" cy="241300"/>
          </a:xfrm>
          <a:prstGeom prst="ellipse">
            <a:avLst/>
          </a:prstGeom>
          <a:solidFill>
            <a:srgbClr val="77CDBB"/>
          </a:solidFill>
          <a:ln w="9525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532846" y="3071665"/>
            <a:ext cx="141846" cy="1457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9338490" y="2397462"/>
            <a:ext cx="694510" cy="206038"/>
          </a:xfrm>
          <a:prstGeom prst="line">
            <a:avLst/>
          </a:prstGeom>
          <a:ln w="12700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9217840" y="2276812"/>
            <a:ext cx="241300" cy="241300"/>
          </a:xfrm>
          <a:prstGeom prst="ellipse">
            <a:avLst/>
          </a:prstGeom>
          <a:solidFill>
            <a:srgbClr val="77CDBB"/>
          </a:solidFill>
          <a:ln w="9525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272911" y="2326215"/>
            <a:ext cx="131159" cy="1457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033000" y="1936750"/>
            <a:ext cx="694509" cy="460712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033000" y="1936750"/>
            <a:ext cx="429230" cy="1206162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9603769" y="1936750"/>
            <a:ext cx="429231" cy="1206162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9338490" y="1936750"/>
            <a:ext cx="694510" cy="460712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0462230" y="2397462"/>
            <a:ext cx="265279" cy="745450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9603769" y="2397462"/>
            <a:ext cx="1123740" cy="745450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338490" y="2397462"/>
            <a:ext cx="1389019" cy="0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9603769" y="3142912"/>
            <a:ext cx="858461" cy="0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9338490" y="2397462"/>
            <a:ext cx="1123740" cy="745450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9338490" y="2397462"/>
            <a:ext cx="265279" cy="745450"/>
          </a:xfrm>
          <a:prstGeom prst="line">
            <a:avLst/>
          </a:prstGeom>
          <a:ln w="6350">
            <a:solidFill>
              <a:srgbClr val="8FB1E6">
                <a:alpha val="5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9069146" y="3401822"/>
            <a:ext cx="1927707" cy="120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>
                <a:solidFill>
                  <a:srgbClr val="BCD2D0"/>
                </a:solidFill>
                <a:latin typeface="Noto Sans SC"/>
                <a:ea typeface="Noto Sans SC"/>
              </a:rPr>
              <a:t>展开成 10 对“示意贡献”——不是 10 根新导线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直接边权与稳定排名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p4/12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00:29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edge(u, v) = w(u, v)：只有直接相连的对才有分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G01 有 6 条边，所以有 6 对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A–B 与 D–E 同为 5：按名字 A &lt; D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固定平票规则后，排名与输入顺序无关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9205" y="1684782"/>
            <a:ext cx="5613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BCD2D0"/>
                </a:solidFill>
                <a:latin typeface="Noto Sans SC"/>
                <a:ea typeface="Noto Sans SC"/>
              </a:rPr>
              <a:t>名次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8705" y="1684782"/>
            <a:ext cx="7772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BCD2D0"/>
                </a:solidFill>
                <a:latin typeface="Noto Sans SC"/>
                <a:ea typeface="Noto Sans SC"/>
              </a:rPr>
              <a:t>节点对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3705" y="1684782"/>
            <a:ext cx="561340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1">
                <a:solidFill>
                  <a:srgbClr val="BCD2D0"/>
                </a:solidFill>
                <a:latin typeface="Noto Sans SC"/>
                <a:ea typeface="Noto Sans SC"/>
              </a:rPr>
              <a:t>分数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11900" y="2006600"/>
            <a:ext cx="4102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61100" y="2146300"/>
            <a:ext cx="4241800" cy="508000"/>
          </a:xfrm>
          <a:prstGeom prst="roundRect">
            <a:avLst>
              <a:gd name="adj" fmla="val 10000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37935" y="21922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34" y="2192274"/>
            <a:ext cx="57936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A–B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2435" y="21922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1100" y="2679700"/>
            <a:ext cx="4241800" cy="508000"/>
          </a:xfrm>
          <a:prstGeom prst="roundRect">
            <a:avLst>
              <a:gd name="adj" fmla="val 10000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37935" y="27256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7434" y="2725674"/>
            <a:ext cx="582256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D–E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2435" y="27256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7935" y="32590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17434" y="3259074"/>
            <a:ext cx="58660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B–C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2435" y="32590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7935" y="37924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17434" y="3792474"/>
            <a:ext cx="594080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C–D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2435" y="37924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37935" y="43258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7434" y="4325874"/>
            <a:ext cx="574776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A–C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2435" y="43258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7935" y="48592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17434" y="4859274"/>
            <a:ext cx="57019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C–E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2435" y="4859274"/>
            <a:ext cx="278701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3469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共同邻居评分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p5/12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00:48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shared(u, v) = w(u, v) + Σ_x min(w(u, x), w(v, x))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x 是同时与 u、v 相连的共同邻居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经 x 的联系只和较弱的那条边一样强：取 min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要检查所有无序节点对：G01 共 10 对，都有正分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4110" y="1406144"/>
            <a:ext cx="6400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节点对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3609" y="1406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直接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55609" y="1406144"/>
            <a:ext cx="9956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经共同邻居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1110" y="1406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分数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84900" y="1689100"/>
            <a:ext cx="4737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212840" y="1799336"/>
            <a:ext cx="487883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A–B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2340" y="17993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54340" y="1799336"/>
            <a:ext cx="42082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C:1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17993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2840" y="2218436"/>
            <a:ext cx="49032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D–E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2340" y="22184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54340" y="2218436"/>
            <a:ext cx="42082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C:1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2184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34100" y="2590800"/>
            <a:ext cx="4876800" cy="393700"/>
          </a:xfrm>
          <a:prstGeom prst="roundRect">
            <a:avLst>
              <a:gd name="adj" fmla="val 12903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12840" y="2637536"/>
            <a:ext cx="48402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A–C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92340" y="26375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54340" y="2637536"/>
            <a:ext cx="42468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B:4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26375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2840" y="3056636"/>
            <a:ext cx="49397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B–C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92340" y="30566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54340" y="3056636"/>
            <a:ext cx="41473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A:1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30566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2840" y="3475736"/>
            <a:ext cx="50027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C–D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92340" y="34757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54340" y="3475736"/>
            <a:ext cx="41087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E:1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49840" y="34757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2840" y="3894836"/>
            <a:ext cx="48016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C–E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92340" y="3894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54340" y="3894836"/>
            <a:ext cx="43098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D:2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40" y="3894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34100" y="4267200"/>
            <a:ext cx="4876800" cy="393700"/>
          </a:xfrm>
          <a:prstGeom prst="roundRect">
            <a:avLst>
              <a:gd name="adj" fmla="val 12903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12840" y="4313936"/>
            <a:ext cx="504139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B–D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92340" y="43139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54340" y="4313936"/>
            <a:ext cx="42082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C:2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40" y="43139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2840" y="4733036"/>
            <a:ext cx="49418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A–D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92340" y="47330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54340" y="4733036"/>
            <a:ext cx="42082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C:1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49840" y="47330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2840" y="5152136"/>
            <a:ext cx="47406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A–E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92340" y="51521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54340" y="5152136"/>
            <a:ext cx="42082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C:1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51521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2840" y="5571236"/>
            <a:ext cx="48402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B–E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92340" y="55712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4340" y="5571236"/>
            <a:ext cx="42082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C:1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55712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097631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手算：A–C 与 B–D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p6/12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01:09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A–C：直接 1，经 B 的 min(5, 4) = 4，合计 5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B–D：没有直接边，直接部分为 0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B–D：经 C 的 min(4, 2) = 2，合计 2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B7B72"/>
                </a:solidFill>
                <a:latin typeface="Noto Sans SC"/>
                <a:ea typeface="Noto Sans SC"/>
              </a:rPr>
              <a:t>只在已有的边上打分，就会漏掉 B–D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694518" y="1667510"/>
            <a:ext cx="1366306" cy="93157"/>
          </a:xfrm>
          <a:prstGeom prst="line">
            <a:avLst/>
          </a:prstGeom>
          <a:ln w="15748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80535" y="1486276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296283" y="1491315"/>
            <a:ext cx="149920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94518" y="1760667"/>
            <a:ext cx="838415" cy="1055781"/>
          </a:xfrm>
          <a:prstGeom prst="line">
            <a:avLst/>
          </a:prstGeom>
          <a:ln w="15748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097012" y="2096254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12760" y="2101293"/>
            <a:ext cx="149920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532933" y="1667510"/>
            <a:ext cx="527891" cy="1148938"/>
          </a:xfrm>
          <a:prstGeom prst="line">
            <a:avLst/>
          </a:prstGeom>
          <a:ln w="27559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792029" y="2147885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07777" y="2152924"/>
            <a:ext cx="149920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8BB78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32933" y="2816448"/>
            <a:ext cx="1397358" cy="652100"/>
          </a:xfrm>
          <a:prstGeom prst="line">
            <a:avLst/>
          </a:prstGeom>
          <a:ln w="27559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8180861" y="2923332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196609" y="2928371"/>
            <a:ext cx="149920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8BB78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377671" y="2816448"/>
            <a:ext cx="155262" cy="1055781"/>
          </a:xfrm>
          <a:prstGeom prst="line">
            <a:avLst/>
          </a:prstGeom>
          <a:ln w="15748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458076" y="3224543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73824" y="3229583"/>
            <a:ext cx="149920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1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7377671" y="3468548"/>
            <a:ext cx="1552620" cy="403681"/>
          </a:xfrm>
          <a:prstGeom prst="line">
            <a:avLst/>
          </a:prstGeom>
          <a:ln w="15748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087049" y="3628294"/>
            <a:ext cx="181416" cy="18141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102797" y="3633333"/>
            <a:ext cx="149920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6" name="Oval 35"/>
          <p:cNvSpPr/>
          <p:nvPr/>
        </p:nvSpPr>
        <p:spPr>
          <a:xfrm>
            <a:off x="6537038" y="1603187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10924" y="1672320"/>
            <a:ext cx="167188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38" name="Oval 37"/>
          <p:cNvSpPr/>
          <p:nvPr/>
        </p:nvSpPr>
        <p:spPr>
          <a:xfrm>
            <a:off x="7863974" y="1470660"/>
            <a:ext cx="393700" cy="393700"/>
          </a:xfrm>
          <a:prstGeom prst="ellipse">
            <a:avLst/>
          </a:prstGeom>
          <a:noFill/>
          <a:ln w="19685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903344" y="151003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975088" y="1579163"/>
            <a:ext cx="171472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1" name="Oval 40"/>
          <p:cNvSpPr/>
          <p:nvPr/>
        </p:nvSpPr>
        <p:spPr>
          <a:xfrm>
            <a:off x="7375453" y="2658968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448870" y="2728102"/>
            <a:ext cx="168125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43" name="Oval 42"/>
          <p:cNvSpPr/>
          <p:nvPr/>
        </p:nvSpPr>
        <p:spPr>
          <a:xfrm>
            <a:off x="8733441" y="3271698"/>
            <a:ext cx="393700" cy="393700"/>
          </a:xfrm>
          <a:prstGeom prst="ellipse">
            <a:avLst/>
          </a:prstGeom>
          <a:noFill/>
          <a:ln w="19685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772811" y="3311068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842346" y="3380202"/>
            <a:ext cx="175889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46" name="Oval 45"/>
          <p:cNvSpPr/>
          <p:nvPr/>
        </p:nvSpPr>
        <p:spPr>
          <a:xfrm>
            <a:off x="7220191" y="371475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296352" y="3783883"/>
            <a:ext cx="162637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1651000"/>
            <a:ext cx="2540000" cy="1701800"/>
          </a:xfrm>
          <a:prstGeom prst="roundRect">
            <a:avLst>
              <a:gd name="adj" fmla="val 5223"/>
            </a:avLst>
          </a:prstGeom>
          <a:solidFill>
            <a:srgbClr val="0D272D">
              <a:alpha val="96000"/>
            </a:srgbClr>
          </a:solidFill>
          <a:ln w="12700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300210" y="1761744"/>
            <a:ext cx="451434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8BB78"/>
                </a:solidFill>
                <a:latin typeface="Noto Sans SC"/>
                <a:ea typeface="Noto Sans SC"/>
              </a:rPr>
              <a:t>B–D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0" y="2079752"/>
            <a:ext cx="105537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直接边 w(B,D)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5258" y="2053844"/>
            <a:ext cx="211582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1">
                <a:solidFill>
                  <a:srgbClr val="77CDBB"/>
                </a:solidFill>
                <a:latin typeface="Noto Sans SC"/>
                <a:ea typeface="Noto Sans SC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2486152"/>
            <a:ext cx="115229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BCD2D0"/>
                </a:solidFill>
                <a:latin typeface="Noto Sans SC"/>
                <a:ea typeface="Noto Sans SC"/>
              </a:rPr>
              <a:t>经 C：min(4, 2)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35258" y="2460244"/>
            <a:ext cx="211582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400" b="1">
                <a:solidFill>
                  <a:srgbClr val="D8BB78"/>
                </a:solidFill>
                <a:latin typeface="Noto Sans SC"/>
                <a:ea typeface="Noto Sans SC"/>
              </a:rPr>
              <a:t>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296400" y="2857500"/>
            <a:ext cx="2235200" cy="0"/>
          </a:xfrm>
          <a:prstGeom prst="line">
            <a:avLst/>
          </a:prstGeom>
          <a:ln w="12700">
            <a:solidFill>
              <a:srgbClr val="3B5A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326245" y="2968498"/>
            <a:ext cx="4292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合计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78743" y="2890774"/>
            <a:ext cx="287147" cy="325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900" b="1">
                <a:solidFill>
                  <a:srgbClr val="D8BB78"/>
                </a:solidFill>
                <a:latin typeface="Noto Sans SC"/>
                <a:ea typeface="Noto Sans SC"/>
              </a:rPr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480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换一种评分，第一对就变了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p7/12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01:34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priority 图（原作者 Capeur）：PQR 三角形每边 4，X–Y 为 5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直接边权：第一对 X–Y @ 5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共同邻居：P–Q = 4 + min(4, 4) = 8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P–Q、P–R、Q–R 并列 8，按名字取 P–Q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471037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X–Y 要到 9 才能重新排第一（等于 8 时平票输给 P–Q）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0260" y="1671320"/>
            <a:ext cx="2641600" cy="2311400"/>
          </a:xfrm>
          <a:prstGeom prst="roundRect">
            <a:avLst>
              <a:gd name="adj" fmla="val 2000"/>
            </a:avLst>
          </a:prstGeom>
          <a:solidFill>
            <a:srgbClr val="0D272D">
              <a:alpha val="96000"/>
            </a:srgbClr>
          </a:solidFill>
          <a:ln w="6604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71489" y="1728906"/>
            <a:ext cx="517753" cy="1248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28" b="1">
                <a:solidFill>
                  <a:srgbClr val="D8BB78"/>
                </a:solidFill>
                <a:latin typeface="Noto Sans SC"/>
                <a:ea typeface="Noto Sans SC"/>
              </a:rPr>
              <a:t>按直接边权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96020" y="1671320"/>
            <a:ext cx="2641600" cy="2311400"/>
          </a:xfrm>
          <a:prstGeom prst="roundRect">
            <a:avLst>
              <a:gd name="adj" fmla="val 2000"/>
            </a:avLst>
          </a:prstGeom>
          <a:solidFill>
            <a:srgbClr val="0D272D">
              <a:alpha val="96000"/>
            </a:srgbClr>
          </a:solidFill>
          <a:ln w="6604">
            <a:solidFill>
              <a:srgbClr val="24474D">
                <a:alpha val="9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77249" y="1728906"/>
            <a:ext cx="517753" cy="1248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28" b="1">
                <a:solidFill>
                  <a:srgbClr val="D8BB78"/>
                </a:solidFill>
                <a:latin typeface="Noto Sans SC"/>
                <a:ea typeface="Noto Sans SC"/>
              </a:rPr>
              <a:t>按共同邻居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22340" y="3201121"/>
            <a:ext cx="932064" cy="0"/>
          </a:xfrm>
          <a:prstGeom prst="line">
            <a:avLst/>
          </a:prstGeom>
          <a:ln w="13208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412294" y="3009869"/>
            <a:ext cx="152156" cy="15215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5502" y="3014096"/>
            <a:ext cx="125740" cy="142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2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6022340" y="2320838"/>
            <a:ext cx="466032" cy="880283"/>
          </a:xfrm>
          <a:prstGeom prst="line">
            <a:avLst/>
          </a:prstGeom>
          <a:ln w="13208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6109239" y="2611896"/>
            <a:ext cx="152156" cy="15215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22447" y="2616123"/>
            <a:ext cx="125740" cy="142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2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6488372" y="2320838"/>
            <a:ext cx="466032" cy="880283"/>
          </a:xfrm>
          <a:prstGeom prst="line">
            <a:avLst/>
          </a:prstGeom>
          <a:ln w="13208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575271" y="2686055"/>
            <a:ext cx="152156" cy="15215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588479" y="2690281"/>
            <a:ext cx="125740" cy="142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2" b="1">
                <a:solidFill>
                  <a:srgbClr val="D9E4E1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679343" y="2372619"/>
            <a:ext cx="621377" cy="828502"/>
          </a:xfrm>
          <a:prstGeom prst="line">
            <a:avLst/>
          </a:prstGeom>
          <a:ln w="23114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977352" y="2627318"/>
            <a:ext cx="152156" cy="15215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90560" y="2631544"/>
            <a:ext cx="125740" cy="142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2" b="1">
                <a:solidFill>
                  <a:srgbClr val="D8BB78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36" name="Oval 35"/>
          <p:cNvSpPr/>
          <p:nvPr/>
        </p:nvSpPr>
        <p:spPr>
          <a:xfrm>
            <a:off x="5890260" y="3069041"/>
            <a:ext cx="264160" cy="264160"/>
          </a:xfrm>
          <a:prstGeom prst="ellipse">
            <a:avLst/>
          </a:prstGeom>
          <a:solidFill>
            <a:srgbClr val="77CDBB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51218" y="3127024"/>
            <a:ext cx="142243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6822324" y="3069041"/>
            <a:ext cx="264160" cy="264160"/>
          </a:xfrm>
          <a:prstGeom prst="ellipse">
            <a:avLst/>
          </a:prstGeom>
          <a:solidFill>
            <a:srgbClr val="77CDBB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877500" y="3127024"/>
            <a:ext cx="153807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Q</a:t>
            </a:r>
          </a:p>
        </p:txBody>
      </p:sp>
      <p:sp>
        <p:nvSpPr>
          <p:cNvPr id="40" name="Oval 39"/>
          <p:cNvSpPr/>
          <p:nvPr/>
        </p:nvSpPr>
        <p:spPr>
          <a:xfrm>
            <a:off x="6356292" y="2188758"/>
            <a:ext cx="264160" cy="264160"/>
          </a:xfrm>
          <a:prstGeom prst="ellipse">
            <a:avLst/>
          </a:prstGeom>
          <a:solidFill>
            <a:srgbClr val="77CDBB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416408" y="2246741"/>
            <a:ext cx="143927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R</a:t>
            </a:r>
          </a:p>
        </p:txBody>
      </p:sp>
      <p:sp>
        <p:nvSpPr>
          <p:cNvPr id="42" name="Oval 41"/>
          <p:cNvSpPr/>
          <p:nvPr/>
        </p:nvSpPr>
        <p:spPr>
          <a:xfrm>
            <a:off x="7514243" y="2207519"/>
            <a:ext cx="330200" cy="330200"/>
          </a:xfrm>
          <a:prstGeom prst="ellipse">
            <a:avLst/>
          </a:prstGeom>
          <a:noFill/>
          <a:ln w="1651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7547263" y="2240539"/>
            <a:ext cx="264160" cy="264160"/>
          </a:xfrm>
          <a:prstGeom prst="ellipse">
            <a:avLst/>
          </a:prstGeom>
          <a:solidFill>
            <a:srgbClr val="8FB1E6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610467" y="2298522"/>
            <a:ext cx="137752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X</a:t>
            </a:r>
          </a:p>
        </p:txBody>
      </p:sp>
      <p:sp>
        <p:nvSpPr>
          <p:cNvPr id="45" name="Oval 44"/>
          <p:cNvSpPr/>
          <p:nvPr/>
        </p:nvSpPr>
        <p:spPr>
          <a:xfrm>
            <a:off x="8135620" y="3036021"/>
            <a:ext cx="330200" cy="330200"/>
          </a:xfrm>
          <a:prstGeom prst="ellipse">
            <a:avLst/>
          </a:prstGeom>
          <a:noFill/>
          <a:ln w="1651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8168640" y="3069041"/>
            <a:ext cx="264160" cy="264160"/>
          </a:xfrm>
          <a:prstGeom prst="ellipse">
            <a:avLst/>
          </a:prstGeom>
          <a:solidFill>
            <a:srgbClr val="8FB1E6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33752" y="3127024"/>
            <a:ext cx="133935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961120" y="3201121"/>
            <a:ext cx="932064" cy="0"/>
          </a:xfrm>
          <a:prstGeom prst="line">
            <a:avLst/>
          </a:prstGeom>
          <a:ln w="23114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9351074" y="3009869"/>
            <a:ext cx="152156" cy="15215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364282" y="3014096"/>
            <a:ext cx="125740" cy="142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2" b="1">
                <a:solidFill>
                  <a:srgbClr val="D8BB78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51" name="Connector 50"/>
          <p:cNvCxnSpPr/>
          <p:nvPr/>
        </p:nvCxnSpPr>
        <p:spPr>
          <a:xfrm flipV="1">
            <a:off x="8961120" y="2320838"/>
            <a:ext cx="466032" cy="880283"/>
          </a:xfrm>
          <a:prstGeom prst="line">
            <a:avLst/>
          </a:prstGeom>
          <a:ln w="23114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9048019" y="2611896"/>
            <a:ext cx="152156" cy="15215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061227" y="2616123"/>
            <a:ext cx="125740" cy="142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2" b="1">
                <a:solidFill>
                  <a:srgbClr val="D8BB78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9427152" y="2320838"/>
            <a:ext cx="466032" cy="880283"/>
          </a:xfrm>
          <a:prstGeom prst="line">
            <a:avLst/>
          </a:prstGeom>
          <a:ln w="23114">
            <a:solidFill>
              <a:srgbClr val="D8B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514051" y="2686055"/>
            <a:ext cx="152156" cy="15215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7259" y="2690281"/>
            <a:ext cx="125740" cy="142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2" b="1">
                <a:solidFill>
                  <a:srgbClr val="D8BB78"/>
                </a:solidFill>
                <a:latin typeface="Noto Sans SC"/>
                <a:ea typeface="Noto Sans SC"/>
              </a:rPr>
              <a:t>4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10618123" y="2372619"/>
            <a:ext cx="621377" cy="828502"/>
          </a:xfrm>
          <a:prstGeom prst="line">
            <a:avLst/>
          </a:prstGeom>
          <a:ln w="13208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916132" y="2627318"/>
            <a:ext cx="152156" cy="152156"/>
          </a:xfrm>
          <a:prstGeom prst="ellipse">
            <a:avLst/>
          </a:prstGeom>
          <a:solidFill>
            <a:srgbClr val="071C2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0929340" y="2631544"/>
            <a:ext cx="125740" cy="142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2" b="1">
                <a:solidFill>
                  <a:srgbClr val="D9E4E1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8796020" y="3036021"/>
            <a:ext cx="330200" cy="330200"/>
          </a:xfrm>
          <a:prstGeom prst="ellipse">
            <a:avLst/>
          </a:prstGeom>
          <a:noFill/>
          <a:ln w="1651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8829040" y="3069041"/>
            <a:ext cx="264160" cy="264160"/>
          </a:xfrm>
          <a:prstGeom prst="ellipse">
            <a:avLst/>
          </a:prstGeom>
          <a:solidFill>
            <a:srgbClr val="77CDBB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889998" y="3127024"/>
            <a:ext cx="142243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P</a:t>
            </a:r>
          </a:p>
        </p:txBody>
      </p:sp>
      <p:sp>
        <p:nvSpPr>
          <p:cNvPr id="63" name="Oval 62"/>
          <p:cNvSpPr/>
          <p:nvPr/>
        </p:nvSpPr>
        <p:spPr>
          <a:xfrm>
            <a:off x="9728084" y="3036021"/>
            <a:ext cx="330200" cy="330200"/>
          </a:xfrm>
          <a:prstGeom prst="ellipse">
            <a:avLst/>
          </a:prstGeom>
          <a:noFill/>
          <a:ln w="1651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9761104" y="3069041"/>
            <a:ext cx="264160" cy="264160"/>
          </a:xfrm>
          <a:prstGeom prst="ellipse">
            <a:avLst/>
          </a:prstGeom>
          <a:solidFill>
            <a:srgbClr val="77CDBB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816280" y="3127024"/>
            <a:ext cx="153807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Q</a:t>
            </a:r>
          </a:p>
        </p:txBody>
      </p:sp>
      <p:sp>
        <p:nvSpPr>
          <p:cNvPr id="66" name="Oval 65"/>
          <p:cNvSpPr/>
          <p:nvPr/>
        </p:nvSpPr>
        <p:spPr>
          <a:xfrm>
            <a:off x="9295072" y="2188758"/>
            <a:ext cx="264160" cy="264160"/>
          </a:xfrm>
          <a:prstGeom prst="ellipse">
            <a:avLst/>
          </a:prstGeom>
          <a:solidFill>
            <a:srgbClr val="77CDBB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355188" y="2246741"/>
            <a:ext cx="143927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R</a:t>
            </a:r>
          </a:p>
        </p:txBody>
      </p:sp>
      <p:sp>
        <p:nvSpPr>
          <p:cNvPr id="68" name="Oval 67"/>
          <p:cNvSpPr/>
          <p:nvPr/>
        </p:nvSpPr>
        <p:spPr>
          <a:xfrm>
            <a:off x="10486043" y="2240539"/>
            <a:ext cx="264160" cy="264160"/>
          </a:xfrm>
          <a:prstGeom prst="ellipse">
            <a:avLst/>
          </a:prstGeom>
          <a:solidFill>
            <a:srgbClr val="8FB1E6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549247" y="2298522"/>
            <a:ext cx="137752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X</a:t>
            </a:r>
          </a:p>
        </p:txBody>
      </p:sp>
      <p:sp>
        <p:nvSpPr>
          <p:cNvPr id="70" name="Oval 69"/>
          <p:cNvSpPr/>
          <p:nvPr/>
        </p:nvSpPr>
        <p:spPr>
          <a:xfrm>
            <a:off x="11107420" y="3069041"/>
            <a:ext cx="264160" cy="264160"/>
          </a:xfrm>
          <a:prstGeom prst="ellipse">
            <a:avLst/>
          </a:prstGeom>
          <a:solidFill>
            <a:srgbClr val="8FB1E6"/>
          </a:solidFill>
          <a:ln w="9906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1172532" y="3127024"/>
            <a:ext cx="133935" cy="151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84" b="1">
                <a:solidFill>
                  <a:srgbClr val="0B1B1F"/>
                </a:solidFill>
                <a:latin typeface="Noto Sans SC"/>
                <a:ea typeface="Noto Sans SC"/>
              </a:rPr>
              <a:t>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023383" y="1984034"/>
            <a:ext cx="807537" cy="145288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6604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9139" y="2015469"/>
            <a:ext cx="756025" cy="1069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24" b="1">
                <a:solidFill>
                  <a:srgbClr val="D8BB78"/>
                </a:solidFill>
                <a:latin typeface="Noto Sans SC"/>
                <a:ea typeface="Noto Sans SC"/>
              </a:rPr>
              <a:t>经 R：min(4, 4) = 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6063" y="3738372"/>
            <a:ext cx="769993" cy="151892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6604">
            <a:solidFill>
              <a:srgbClr val="8FB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6849837" y="3769674"/>
            <a:ext cx="722444" cy="1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6" b="1">
                <a:solidFill>
                  <a:srgbClr val="8FB1E6"/>
                </a:solidFill>
                <a:latin typeface="Noto Sans SC"/>
                <a:ea typeface="Noto Sans SC"/>
              </a:rPr>
              <a:t>第一对：X–Y @ 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722508" y="3738372"/>
            <a:ext cx="788623" cy="151892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6604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9746282" y="3769674"/>
            <a:ext cx="741074" cy="115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6" b="1">
                <a:solidFill>
                  <a:srgbClr val="77CDBB"/>
                </a:solidFill>
                <a:latin typeface="Noto Sans SC"/>
                <a:ea typeface="Noto Sans SC"/>
              </a:rPr>
              <a:t>第一对：P–Q @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320895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宽 net 的稀释：pin-count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p8/12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02:01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tiny netlist：两条 5 引脚 net 连着 A–E，私有 net n1 只连 E、F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按 net 计数：A–B = 2，E–F = 1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pin-count = Σ w(e) / (|e| − 1)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A–B = 1/4 + 1/4 = 0.5；E–F = 1/(2 − 1) = 1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4710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77CDBB"/>
                </a:solidFill>
                <a:latin typeface="Noto Sans SC"/>
                <a:ea typeface="Noto Sans SC"/>
              </a:rPr>
              <a:t>摊薄之后，私有连接 E–F 排第一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02350" y="1787525"/>
            <a:ext cx="2654300" cy="628650"/>
          </a:xfrm>
          <a:prstGeom prst="roundRect">
            <a:avLst>
              <a:gd name="adj" fmla="val 33333"/>
            </a:avLst>
          </a:prstGeom>
          <a:noFill/>
          <a:ln w="1397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15037" y="1682750"/>
            <a:ext cx="2828925" cy="838200"/>
          </a:xfrm>
          <a:prstGeom prst="roundRect">
            <a:avLst>
              <a:gd name="adj" fmla="val 33333"/>
            </a:avLst>
          </a:prstGeom>
          <a:noFill/>
          <a:ln w="13970">
            <a:solidFill>
              <a:srgbClr val="C2A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232775" y="1857375"/>
            <a:ext cx="488950" cy="1257300"/>
          </a:xfrm>
          <a:prstGeom prst="roundRect">
            <a:avLst>
              <a:gd name="adj" fmla="val 42857"/>
            </a:avLst>
          </a:prstGeom>
          <a:noFill/>
          <a:ln w="17462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32734" y="1534248"/>
            <a:ext cx="966165" cy="1225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15" b="1">
                <a:solidFill>
                  <a:srgbClr val="D8BB78"/>
                </a:solidFill>
                <a:latin typeface="Noto Sans SC"/>
                <a:ea typeface="Noto Sans SC"/>
              </a:rPr>
              <a:t>net enable（5 引脚）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2734" y="2568028"/>
            <a:ext cx="889979" cy="1225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15" b="1">
                <a:solidFill>
                  <a:srgbClr val="C2A6E6"/>
                </a:solidFill>
                <a:latin typeface="Noto Sans SC"/>
                <a:ea typeface="Noto Sans SC"/>
              </a:rPr>
              <a:t>net reset（5 引脚）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7849" y="3196678"/>
            <a:ext cx="1045891" cy="1225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15" b="1">
                <a:solidFill>
                  <a:srgbClr val="77CDBB"/>
                </a:solidFill>
                <a:latin typeface="Noto Sans SC"/>
                <a:ea typeface="Noto Sans SC"/>
              </a:rPr>
              <a:t>net n1（2 引脚，私有）</a:t>
            </a:r>
          </a:p>
        </p:txBody>
      </p:sp>
      <p:sp>
        <p:nvSpPr>
          <p:cNvPr id="26" name="Oval 25"/>
          <p:cNvSpPr/>
          <p:nvPr/>
        </p:nvSpPr>
        <p:spPr>
          <a:xfrm>
            <a:off x="6249035" y="1969135"/>
            <a:ext cx="265430" cy="265430"/>
          </a:xfrm>
          <a:prstGeom prst="ellipse">
            <a:avLst/>
          </a:prstGeom>
          <a:solidFill>
            <a:srgbClr val="A9BDB8"/>
          </a:solidFill>
          <a:ln w="1047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07593" y="2023478"/>
            <a:ext cx="148312" cy="160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35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28" name="Oval 27"/>
          <p:cNvSpPr/>
          <p:nvPr/>
        </p:nvSpPr>
        <p:spPr>
          <a:xfrm>
            <a:off x="6772909" y="1969135"/>
            <a:ext cx="265430" cy="265430"/>
          </a:xfrm>
          <a:prstGeom prst="ellipse">
            <a:avLst/>
          </a:prstGeom>
          <a:solidFill>
            <a:srgbClr val="A9BDB8"/>
          </a:solidFill>
          <a:ln w="1047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29568" y="2023478"/>
            <a:ext cx="152112" cy="160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35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30" name="Oval 29"/>
          <p:cNvSpPr/>
          <p:nvPr/>
        </p:nvSpPr>
        <p:spPr>
          <a:xfrm>
            <a:off x="7296784" y="1969135"/>
            <a:ext cx="265430" cy="265430"/>
          </a:xfrm>
          <a:prstGeom prst="ellipse">
            <a:avLst/>
          </a:prstGeom>
          <a:solidFill>
            <a:srgbClr val="A9BDB8"/>
          </a:solidFill>
          <a:ln w="1047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54928" y="2023478"/>
            <a:ext cx="149143" cy="160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35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2" name="Oval 31"/>
          <p:cNvSpPr/>
          <p:nvPr/>
        </p:nvSpPr>
        <p:spPr>
          <a:xfrm>
            <a:off x="7820659" y="1969135"/>
            <a:ext cx="265430" cy="265430"/>
          </a:xfrm>
          <a:prstGeom prst="ellipse">
            <a:avLst/>
          </a:prstGeom>
          <a:solidFill>
            <a:srgbClr val="A9BDB8"/>
          </a:solidFill>
          <a:ln w="1047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75359" y="2023478"/>
            <a:ext cx="156030" cy="160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35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34" name="Oval 33"/>
          <p:cNvSpPr/>
          <p:nvPr/>
        </p:nvSpPr>
        <p:spPr>
          <a:xfrm>
            <a:off x="8309609" y="1934210"/>
            <a:ext cx="335280" cy="335280"/>
          </a:xfrm>
          <a:prstGeom prst="ellipse">
            <a:avLst/>
          </a:prstGeom>
          <a:noFill/>
          <a:ln w="17462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8344534" y="1969135"/>
            <a:ext cx="265430" cy="265430"/>
          </a:xfrm>
          <a:prstGeom prst="ellipse">
            <a:avLst/>
          </a:prstGeom>
          <a:solidFill>
            <a:srgbClr val="A9BDB8"/>
          </a:solidFill>
          <a:ln w="1047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05112" y="2023478"/>
            <a:ext cx="144275" cy="160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35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37" name="Oval 36"/>
          <p:cNvSpPr/>
          <p:nvPr/>
        </p:nvSpPr>
        <p:spPr>
          <a:xfrm>
            <a:off x="8309609" y="2702560"/>
            <a:ext cx="335280" cy="335280"/>
          </a:xfrm>
          <a:prstGeom prst="ellipse">
            <a:avLst/>
          </a:prstGeom>
          <a:noFill/>
          <a:ln w="17462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8344534" y="2737485"/>
            <a:ext cx="265430" cy="265430"/>
          </a:xfrm>
          <a:prstGeom prst="ellipse">
            <a:avLst/>
          </a:prstGeom>
          <a:solidFill>
            <a:srgbClr val="A9BDB8"/>
          </a:solidFill>
          <a:ln w="10477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06893" y="2791828"/>
            <a:ext cx="140712" cy="160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35" b="1">
                <a:solidFill>
                  <a:srgbClr val="0B1B1F"/>
                </a:solidFill>
                <a:latin typeface="Noto Sans SC"/>
                <a:ea typeface="Noto Sans SC"/>
              </a:rPr>
              <a:t>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2340" y="3729736"/>
            <a:ext cx="115763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按 net 计数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43340" y="3729736"/>
            <a:ext cx="1099515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pin-count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311900" y="4038600"/>
            <a:ext cx="4165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338570" y="4186428"/>
            <a:ext cx="548868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A–B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91070" y="4186428"/>
            <a:ext cx="264033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2070" y="4186428"/>
            <a:ext cx="454456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0.5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1100" y="4622800"/>
            <a:ext cx="4305300" cy="457200"/>
          </a:xfrm>
          <a:prstGeom prst="roundRect">
            <a:avLst>
              <a:gd name="adj" fmla="val 11111"/>
            </a:avLst>
          </a:prstGeom>
          <a:solidFill>
            <a:srgbClr val="D8BB78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338570" y="4669028"/>
            <a:ext cx="520522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E–F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91070" y="4669028"/>
            <a:ext cx="264033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42070" y="4669028"/>
            <a:ext cx="264033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991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伪代码逐行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p9/12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02:38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1 行：遍历所有无序节点对，包括无直接边的对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2 行：没有边就从 0 开始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3–4 行：每个共同邻居加上较弱的那条边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5 行：只记录正分（声明过的策略）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4710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第 6–7 行：稳定排序；输出排名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53100" y="1574800"/>
            <a:ext cx="5715000" cy="3124200"/>
          </a:xfrm>
          <a:prstGeom prst="roundRect">
            <a:avLst>
              <a:gd name="adj" fmla="val 2439"/>
            </a:avLst>
          </a:prstGeom>
          <a:solidFill>
            <a:srgbClr val="0A1C1F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99150" y="1775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9345" y="1736598"/>
            <a:ext cx="35380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for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4094" y="1736598"/>
            <a:ext cx="12547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每个无序节点对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9794" y="1736598"/>
            <a:ext cx="51676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(u, 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17497" y="1736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2597" y="1736598"/>
            <a:ext cx="49678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u &lt; v: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150" y="21818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9345" y="2142998"/>
            <a:ext cx="7010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   score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91299" y="21429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56399" y="2142998"/>
            <a:ext cx="64917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w(u, 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06512" y="2142998"/>
            <a:ext cx="10896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，没有边则为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7112" y="2142998"/>
            <a:ext cx="22767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53100" y="251460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753100" y="251460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899150" y="25882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9345" y="2549398"/>
            <a:ext cx="501738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   for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023" y="2549398"/>
            <a:ext cx="10896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每个共同邻居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2623" y="25493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x: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53100" y="2921000"/>
            <a:ext cx="5715000" cy="3937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753100" y="2921000"/>
            <a:ext cx="38100" cy="3937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99150" y="29946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89345" y="2955798"/>
            <a:ext cx="84894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       score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9229" y="29557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4329" y="2955798"/>
            <a:ext cx="2142667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score + min(w(u,x), w(v,x))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99150" y="34010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9345" y="3362198"/>
            <a:ext cx="114018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   if score &gt; 0: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0465" y="3362198"/>
            <a:ext cx="4292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记下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60665" y="3362198"/>
            <a:ext cx="101668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(u, v, score)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99150" y="3807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89345" y="3768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4445" y="3768598"/>
            <a:ext cx="19184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(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7231" y="3768598"/>
            <a:ext cx="19069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8861" y="3768598"/>
            <a:ext cx="96088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score, u, v)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0683" y="3768598"/>
            <a:ext cx="4292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排序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9150" y="42138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89345" y="4174998"/>
            <a:ext cx="17500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返回排名（不是分组）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常见错误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p10/12</a:t>
            </a:r>
          </a:p>
        </p:txBody>
      </p:sp>
      <p:sp>
        <p:nvSpPr>
          <p:cNvPr id="9" name="Oval 8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只在已有边上算共同邻居：漏掉 B–D 等 4 对</a:t>
            </a:r>
          </a:p>
        </p:txBody>
      </p:sp>
      <p:sp>
        <p:nvSpPr>
          <p:cNvPr id="11" name="Oval 10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以为所有聚类算法都“先合并最高分对”：LP、谱、KL/FM 都不是</a:t>
            </a:r>
          </a:p>
        </p:txBody>
      </p:sp>
      <p:sp>
        <p:nvSpPr>
          <p:cNvPr id="13" name="Oval 12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宽 net 不摊薄：A–B 2 分压过私有的 E–F</a:t>
            </a:r>
          </a:p>
        </p:txBody>
      </p:sp>
      <p:sp>
        <p:nvSpPr>
          <p:cNvPr id="15" name="Oval 14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平票依赖输入顺序：A–B 与 D–E 的先后会变</a:t>
            </a:r>
          </a:p>
        </p:txBody>
      </p:sp>
      <p:sp>
        <p:nvSpPr>
          <p:cNvPr id="17" name="Oval 16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1579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把亲和度当距离或概率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480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回到芯片：工程含义与局限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p11/12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5147" y="377952"/>
            <a:ext cx="811072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03:02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评分决定“先把谁粘在一起”，影响后续合并与跨区长线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边权来源要写明：连线数量、信号重要性或由 net 转换而来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本课程小图都是教学用虚构数值，不是芯片实测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共同邻居要检查约 n(n−1)/2 对；大网表需沿邻接关系枚举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clique 模型只是多引脚 net 的一种近似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92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1808226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02 · 亲和度指标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评分只排名，不分组；先写明用哪种模型。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直接边权看单线，共同邻居看小团体，pin-count 稀释宽 net。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23209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下一模块：用“簇间边权和”作为亲和度，开始贪心合并。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02 亲和度指标</dc:title>
  <dc:subject/>
  <dc:creator>Learning Clustering（统一课程）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