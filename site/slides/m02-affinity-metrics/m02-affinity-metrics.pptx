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这一模块只回答一个问题：一对电路单元有多该放在一起？我们比较三种评分：直接边权、共同邻居和多引脚 net 的 pin-count。评分只给出排名，不决定分组；分组从下一模块开始。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输入可以是一张带权无向图，也可以是网表。输出是所有正分节点对的列表，每一对写成 u 小于 v，按分数从高到低排，平票按名字。本模块不输出分组；亲和度也不是距离或概率。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普通的边只连两个单元，而一个 net 可以连很多个。要给 net 里的一对单元打分，就得先选模型。常用的 clique 模型把 net 展开成两两之间的示意贡献，但这些连线并不真的存在。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最直接的评分就是边权。G01 有六条边，所以有六对。A–B 和 D–E 都是 5，按名字 A 排在 D 前面。规定了平票规则，不管边按什么顺序输入，排名都一样。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共同邻居评分等于直接边权，再加上每个共同邻居的贡献，贡献取两条边中较小的那条。一定要检查所有无序节点对，G01 一共十对，全部是正分。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手算两对。A–C 的直接边是 1，经过 B 的贡献是 min(5, 4) 等于 4，合计 5。B–D 之间没有边，直接部分是 0；经过 C 的贡献是 min(4, 2) 等于 2。如果只在已有的边上计算，就会漏掉 B–D。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原作者设计的 priority 图很能说明问题：按直接边权，第一对是 X–Y；按共同邻居，三角形里每一对都是 4 加 4 等于 8，第一对变成 P–Q。两种评分回答的是不同的问题。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原作者的 tiny netlist 有两条五引脚的宽 net 和一条私有 net。只数出现次数，A–B 得 2 分。pin-count 把每条 net 摊成 |e| 减 1 份，A–B 只得 0.5，而 E–F 得 1，排名第一。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伪代码第一行遍历所有无序节点对；第二行放入直接边权，没有边就是 0；第三、四行对每个共同邻居加上较弱的那条边；第五行只记录正分；最后稳定排序，输出排名。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常见错误包括：只在已有的边上算共同邻居；以为所有聚类算法都先合并最高分的一对；宽 net 不摊薄；平票顺序依赖输入；以及把亲和度当成距离或概率。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在芯片设计里，评分决定先把哪些单元放在一起。要写明边权从哪里来。本课程的小图是教学用的虚构数值。共同邻居评分要检查大量节点对，大规模网表需要只沿邻接关系枚举。clique 模型也只是一种近似。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小结：评分只给出排名，不决定分组，而且要写明用哪种模型。直接边权看单线粗细，共同邻居看是否属于紧密的小团体，pin-count 稀释宽 net。下一模块用簇间边权和开始真正的合并。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16679" y="2310892"/>
            <a:ext cx="43586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谁和谁最亲近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3454" y="3335782"/>
            <a:ext cx="51650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Affinity metrics · 直接边权、共同邻居与 pin-count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1135" y="4136644"/>
            <a:ext cx="41897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原作者 Capeur（Issue #1）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问题定义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输入：带权无向图，或多引脚网表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输出：所有正分节点对 (u, v, score)，u &lt; v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排序：分数降序，再按 u、v 字典序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约定：无自环与重复边；net 内重复引脚只算一次；零分对不列出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4710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评分是排名，不是分组，也不是距离或概率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864707" y="1714500"/>
            <a:ext cx="2203719" cy="15025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809896" y="142218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34915" y="1430315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64707" y="1864753"/>
            <a:ext cx="1352282" cy="1702873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513890" y="240602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38909" y="2414151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216989" y="1714500"/>
            <a:ext cx="851437" cy="1853126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634886" y="248929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59905" y="249742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16989" y="3567626"/>
            <a:ext cx="2253803" cy="1051775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262034" y="3740019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287053" y="3748147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966566" y="3567626"/>
            <a:ext cx="250423" cy="1702874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096252" y="422584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21271" y="4233972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66566" y="4619401"/>
            <a:ext cx="2504226" cy="651099"/>
          </a:xfrm>
          <a:prstGeom prst="line">
            <a:avLst/>
          </a:prstGeom>
          <a:ln w="25400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110724" y="487705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35743" y="4885182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6610707" y="1610753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30087" y="1722259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9" name="Oval 38"/>
          <p:cNvSpPr/>
          <p:nvPr/>
        </p:nvSpPr>
        <p:spPr>
          <a:xfrm>
            <a:off x="8814426" y="14605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930631" y="1572006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1" name="Oval 40"/>
          <p:cNvSpPr/>
          <p:nvPr/>
        </p:nvSpPr>
        <p:spPr>
          <a:xfrm>
            <a:off x="7962989" y="3313626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082369" y="3425132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10216792" y="4365401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329822" y="4476907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7712566" y="5016500"/>
            <a:ext cx="508000" cy="508000"/>
          </a:xfrm>
          <a:prstGeom prst="ellipse">
            <a:avLst/>
          </a:prstGeom>
          <a:solidFill>
            <a:srgbClr val="A9BDB8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35121" y="5128006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05700" y="5901690"/>
            <a:ext cx="25146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课程公共图 G01（总权 18）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5532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图与 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普通的边只连两个单元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一个 net 可以连 3、5 乃至上千个单元的引脚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给其中“一对”打分，需要先选一个模型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clique 模型：把 net 展开成两两之间的示意贡献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5546598"/>
            <a:ext cx="4908550" cy="2393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300" b="0">
                <a:solidFill>
                  <a:srgbClr val="BCD2D0"/>
                </a:solidFill>
                <a:latin typeface="Noto Sans SC"/>
                <a:ea typeface="Noto Sans SC"/>
              </a:rPr>
              <a:t>展开出的两两连线是计分用的示意，不是新增的物理导线。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2620" y="1769110"/>
            <a:ext cx="2799079" cy="2357120"/>
          </a:xfrm>
          <a:prstGeom prst="roundRect">
            <a:avLst>
              <a:gd name="adj" fmla="val 2187"/>
            </a:avLst>
          </a:prstGeom>
          <a:solidFill>
            <a:srgbClr val="0D272D">
              <a:alpha val="96000"/>
            </a:srgbClr>
          </a:solidFill>
          <a:ln w="7365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813221" y="1833341"/>
            <a:ext cx="783742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1" b="1">
                <a:solidFill>
                  <a:srgbClr val="D8BB78"/>
                </a:solidFill>
                <a:latin typeface="Noto Sans SC"/>
                <a:ea typeface="Noto Sans SC"/>
              </a:rPr>
              <a:t>普通的边：两端</a:t>
            </a:r>
          </a:p>
        </p:txBody>
      </p:sp>
      <p:sp>
        <p:nvSpPr>
          <p:cNvPr id="20" name="Oval 19"/>
          <p:cNvSpPr/>
          <p:nvPr/>
        </p:nvSpPr>
        <p:spPr>
          <a:xfrm>
            <a:off x="6260338" y="2822448"/>
            <a:ext cx="324104" cy="324104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44310" y="2901853"/>
            <a:ext cx="156159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7659878" y="2822448"/>
            <a:ext cx="324104" cy="324104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42008" y="2901853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22390" y="2984500"/>
            <a:ext cx="1399540" cy="0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037303" y="2771180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1814" y="2775894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3660" y="1769110"/>
            <a:ext cx="2799079" cy="2357120"/>
          </a:xfrm>
          <a:prstGeom prst="roundRect">
            <a:avLst>
              <a:gd name="adj" fmla="val 2187"/>
            </a:avLst>
          </a:prstGeom>
          <a:solidFill>
            <a:srgbClr val="0D272D">
              <a:alpha val="96000"/>
            </a:srgbClr>
          </a:solidFill>
          <a:ln w="7365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4261" y="1833341"/>
            <a:ext cx="975258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1" b="1">
                <a:solidFill>
                  <a:srgbClr val="D8BB78"/>
                </a:solidFill>
                <a:latin typeface="Noto Sans SC"/>
                <a:ea typeface="Noto Sans SC"/>
              </a:rPr>
              <a:t>一个 net：五个引脚</a:t>
            </a:r>
          </a:p>
        </p:txBody>
      </p:sp>
      <p:sp>
        <p:nvSpPr>
          <p:cNvPr id="29" name="Oval 28"/>
          <p:cNvSpPr/>
          <p:nvPr/>
        </p:nvSpPr>
        <p:spPr>
          <a:xfrm>
            <a:off x="10311638" y="2932938"/>
            <a:ext cx="103123" cy="103123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 flipV="1">
            <a:off x="10363200" y="2211070"/>
            <a:ext cx="0" cy="773430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223246" y="2071115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285120" y="2128423"/>
            <a:ext cx="156159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0363200" y="2745496"/>
            <a:ext cx="805630" cy="239004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1028876" y="2605542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1088909" y="2662850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363200" y="2984500"/>
            <a:ext cx="497907" cy="625718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721153" y="3470264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783027" y="3527571"/>
            <a:ext cx="156159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9865292" y="2984500"/>
            <a:ext cx="497908" cy="625718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725338" y="3470264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783530" y="3527571"/>
            <a:ext cx="163525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9557569" y="2745496"/>
            <a:ext cx="805631" cy="239004"/>
          </a:xfrm>
          <a:prstGeom prst="line">
            <a:avLst/>
          </a:prstGeom>
          <a:ln w="14731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417615" y="2605542"/>
            <a:ext cx="279908" cy="279908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481331" y="2662850"/>
            <a:ext cx="152476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363200" y="2211070"/>
            <a:ext cx="805630" cy="534426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363200" y="2211070"/>
            <a:ext cx="497907" cy="1399148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865292" y="2211070"/>
            <a:ext cx="497908" cy="1399148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557569" y="2211070"/>
            <a:ext cx="805631" cy="534426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0861107" y="2745496"/>
            <a:ext cx="307723" cy="864722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9865292" y="2745496"/>
            <a:ext cx="1303538" cy="864722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557569" y="2745496"/>
            <a:ext cx="1611261" cy="0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865292" y="3610218"/>
            <a:ext cx="995815" cy="0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9557569" y="2745496"/>
            <a:ext cx="1303538" cy="864722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9557569" y="2745496"/>
            <a:ext cx="307723" cy="864722"/>
          </a:xfrm>
          <a:prstGeom prst="line">
            <a:avLst/>
          </a:prstGeom>
          <a:ln w="7365">
            <a:solidFill>
              <a:srgbClr val="8FB1E6">
                <a:alpha val="55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245777" y="3910553"/>
            <a:ext cx="2234844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1" b="1">
                <a:solidFill>
                  <a:srgbClr val="BCD2D0"/>
                </a:solidFill>
                <a:latin typeface="Noto Sans SC"/>
                <a:ea typeface="Noto Sans SC"/>
              </a:rPr>
              <a:t>展开成 10 对“示意贡献”——不是 10 根新导线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413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直接边权与稳定排名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edge(u, v) = w(u, v)：只有直接相连的对才有分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G01 有 6 条边，所以有 6 对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A–B 与 D–E 同为 5：按名字 A &lt; D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固定平票规则后，排名与输入顺序无关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205" y="1684782"/>
            <a:ext cx="5613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名次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8705" y="1684782"/>
            <a:ext cx="777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节点对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3705" y="1684782"/>
            <a:ext cx="5613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BCD2D0"/>
                </a:solidFill>
                <a:latin typeface="Noto Sans SC"/>
                <a:ea typeface="Noto Sans SC"/>
              </a:rPr>
              <a:t>分数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11900" y="2006600"/>
            <a:ext cx="4102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61100" y="2146300"/>
            <a:ext cx="4241800" cy="508000"/>
          </a:xfrm>
          <a:prstGeom prst="roundRect">
            <a:avLst>
              <a:gd name="adj" fmla="val 10000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37935" y="21922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7434" y="2192274"/>
            <a:ext cx="5765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A–B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2435" y="21922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1100" y="2679700"/>
            <a:ext cx="4241800" cy="508000"/>
          </a:xfrm>
          <a:prstGeom prst="roundRect">
            <a:avLst>
              <a:gd name="adj" fmla="val 10000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37935" y="27256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7434" y="2725674"/>
            <a:ext cx="5765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D–E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2435" y="27256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7935" y="32590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7434" y="3259074"/>
            <a:ext cx="5829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B–C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2435" y="32590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7935" y="37924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7434" y="3792474"/>
            <a:ext cx="5892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C–D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2435" y="37924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7935" y="43258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7434" y="4325874"/>
            <a:ext cx="5702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A–C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2435" y="43258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7935" y="48592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17434" y="4859274"/>
            <a:ext cx="5638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C–E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2435" y="4859274"/>
            <a:ext cx="27813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3469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共同邻居评分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shared(u, v) = w(u, v) + Σ_x min(w(u, x), w(v, x))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x 是同时与 u、v 相连的共同邻居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经 x 的联系只和较弱的那条边一样强：取 min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要检查所有无序节点对：G01 共 10 对，都有正分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4110" y="1406144"/>
            <a:ext cx="640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节点对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3609" y="1406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直接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609" y="1406144"/>
            <a:ext cx="9956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经共同邻居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1110" y="1406144"/>
            <a:ext cx="4622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分数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84900" y="1689100"/>
            <a:ext cx="4737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2840" y="1799336"/>
            <a:ext cx="4838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A–B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2340" y="1799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4340" y="17993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7993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2840" y="2218436"/>
            <a:ext cx="490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D–E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2340" y="2218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4340" y="22184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218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34100" y="2590800"/>
            <a:ext cx="4876800" cy="393700"/>
          </a:xfrm>
          <a:prstGeom prst="roundRect">
            <a:avLst>
              <a:gd name="adj" fmla="val 1290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2840" y="2637536"/>
            <a:ext cx="477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A–C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2340" y="2637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4340" y="2637536"/>
            <a:ext cx="426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B:4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637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2840" y="3056636"/>
            <a:ext cx="490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B–C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2340" y="3056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54340" y="3056636"/>
            <a:ext cx="4140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A:1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0566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2840" y="3475736"/>
            <a:ext cx="496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C–D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92340" y="3475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4340" y="3475736"/>
            <a:ext cx="4140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E:1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475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2840" y="3894836"/>
            <a:ext cx="477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C–E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2340" y="3894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54340" y="3894836"/>
            <a:ext cx="433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D:2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3894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34100" y="4267200"/>
            <a:ext cx="4876800" cy="393700"/>
          </a:xfrm>
          <a:prstGeom prst="roundRect">
            <a:avLst>
              <a:gd name="adj" fmla="val 1290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212840" y="4313936"/>
            <a:ext cx="502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B–D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92340" y="4313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4340" y="43139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43139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2840" y="4733036"/>
            <a:ext cx="490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A–D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2340" y="47330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54340" y="47330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47330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2840" y="5152136"/>
            <a:ext cx="4711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A–E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92340" y="5152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54340" y="51521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0" y="5152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2840" y="5571236"/>
            <a:ext cx="4838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B–E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92340" y="5571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54340" y="5571236"/>
            <a:ext cx="420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C:1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5571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1089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手算：A–C 与 B–D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A–C：直接 1，经 B 的 min(5, 4) = 4，合计 5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B–D：没有直接边，直接部分为 0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B–D：经 C 的 min(4, 2) = 2，合计 2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B7B72"/>
                </a:solidFill>
                <a:latin typeface="Noto Sans SC"/>
                <a:ea typeface="Noto Sans SC"/>
              </a:rPr>
              <a:t>只在已有的边上打分，就会漏掉 B–D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694518" y="1667510"/>
            <a:ext cx="1366306" cy="93157"/>
          </a:xfrm>
          <a:prstGeom prst="line">
            <a:avLst/>
          </a:prstGeom>
          <a:ln w="15748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280535" y="1486276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96047" y="1491315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94518" y="1760667"/>
            <a:ext cx="838415" cy="1055781"/>
          </a:xfrm>
          <a:prstGeom prst="line">
            <a:avLst/>
          </a:prstGeom>
          <a:ln w="15748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097012" y="2096254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12524" y="2101293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532933" y="1667510"/>
            <a:ext cx="527891" cy="1148938"/>
          </a:xfrm>
          <a:prstGeom prst="line">
            <a:avLst/>
          </a:prstGeom>
          <a:ln w="27559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792029" y="2147885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07541" y="2152924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8BB78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32933" y="2816448"/>
            <a:ext cx="1397358" cy="652100"/>
          </a:xfrm>
          <a:prstGeom prst="line">
            <a:avLst/>
          </a:prstGeom>
          <a:ln w="27559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180861" y="2923332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96373" y="2928371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8BB78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377671" y="2816448"/>
            <a:ext cx="155262" cy="1055781"/>
          </a:xfrm>
          <a:prstGeom prst="line">
            <a:avLst/>
          </a:prstGeom>
          <a:ln w="15748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458076" y="3224543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73588" y="3229583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377671" y="3468548"/>
            <a:ext cx="1552620" cy="403681"/>
          </a:xfrm>
          <a:prstGeom prst="line">
            <a:avLst/>
          </a:prstGeom>
          <a:ln w="15748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087049" y="3628294"/>
            <a:ext cx="181416" cy="181416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02561" y="3633333"/>
            <a:ext cx="150393" cy="1700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92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6537038" y="1603187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611054" y="1672320"/>
            <a:ext cx="166928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7" name="Oval 36"/>
          <p:cNvSpPr/>
          <p:nvPr/>
        </p:nvSpPr>
        <p:spPr>
          <a:xfrm>
            <a:off x="7863974" y="1470660"/>
            <a:ext cx="393700" cy="393700"/>
          </a:xfrm>
          <a:prstGeom prst="ellipse">
            <a:avLst/>
          </a:prstGeom>
          <a:noFill/>
          <a:ln w="1968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903344" y="1510030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975391" y="1579163"/>
            <a:ext cx="170865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7375453" y="2658968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49469" y="2728102"/>
            <a:ext cx="166928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2" name="Oval 41"/>
          <p:cNvSpPr/>
          <p:nvPr/>
        </p:nvSpPr>
        <p:spPr>
          <a:xfrm>
            <a:off x="8733441" y="3271698"/>
            <a:ext cx="393700" cy="393700"/>
          </a:xfrm>
          <a:prstGeom prst="ellipse">
            <a:avLst/>
          </a:prstGeom>
          <a:noFill/>
          <a:ln w="1968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8772811" y="3311068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842889" y="3380202"/>
            <a:ext cx="174802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7220191" y="3714750"/>
            <a:ext cx="314960" cy="314960"/>
          </a:xfrm>
          <a:prstGeom prst="ellipse">
            <a:avLst/>
          </a:prstGeom>
          <a:solidFill>
            <a:srgbClr val="A9BDB8"/>
          </a:solidFill>
          <a:ln w="11811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296175" y="3783883"/>
            <a:ext cx="162991" cy="180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4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0" y="1651000"/>
            <a:ext cx="2540000" cy="1701800"/>
          </a:xfrm>
          <a:prstGeom prst="roundRect">
            <a:avLst>
              <a:gd name="adj" fmla="val 5223"/>
            </a:avLst>
          </a:prstGeom>
          <a:solidFill>
            <a:srgbClr val="0D272D">
              <a:alpha val="96000"/>
            </a:srgbClr>
          </a:solidFill>
          <a:ln w="12700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300210" y="1761744"/>
            <a:ext cx="4495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B–D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079752"/>
            <a:ext cx="10566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直接边 w(B,D)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2210" y="2053844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400" b="1">
                <a:solidFill>
                  <a:srgbClr val="77CDBB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2486152"/>
            <a:ext cx="11455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经 C：min(4, 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2210" y="2460244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296400" y="2857500"/>
            <a:ext cx="2235200" cy="0"/>
          </a:xfrm>
          <a:prstGeom prst="line">
            <a:avLst/>
          </a:prstGeom>
          <a:ln w="12700">
            <a:solidFill>
              <a:srgbClr val="3B5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326245" y="2968498"/>
            <a:ext cx="4292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合计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81410" y="2890774"/>
            <a:ext cx="284480" cy="3257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900" b="1">
                <a:solidFill>
                  <a:srgbClr val="D8BB78"/>
                </a:solidFill>
                <a:latin typeface="Noto Sans SC"/>
                <a:ea typeface="Noto Sans SC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480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换一种评分，第一对就变了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priority 图（原作者 Capeur）：PQR 三角形每边 4，X–Y 为 5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直接边权：第一对 X–Y @ 5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共同邻居：P–Q = 4 + min(4, 4) = 8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P–Q、P–R、Q–R 并列 8，按名字取 P–Q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4710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X–Y 要到 9 才能重新排第一（等于 8 时平票输给 P–Q）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49290" y="1859280"/>
            <a:ext cx="2946399" cy="2578100"/>
          </a:xfrm>
          <a:prstGeom prst="roundRect">
            <a:avLst>
              <a:gd name="adj" fmla="val 1999"/>
            </a:avLst>
          </a:prstGeom>
          <a:solidFill>
            <a:srgbClr val="0D272D">
              <a:alpha val="96000"/>
            </a:srgbClr>
          </a:solidFill>
          <a:ln w="7365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39891" y="1923511"/>
            <a:ext cx="577494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1" b="1">
                <a:solidFill>
                  <a:srgbClr val="D8BB78"/>
                </a:solidFill>
                <a:latin typeface="Noto Sans SC"/>
                <a:ea typeface="Noto Sans SC"/>
              </a:rPr>
              <a:t>按直接边权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0330" y="1859280"/>
            <a:ext cx="2946399" cy="2578100"/>
          </a:xfrm>
          <a:prstGeom prst="roundRect">
            <a:avLst>
              <a:gd name="adj" fmla="val 1999"/>
            </a:avLst>
          </a:prstGeom>
          <a:solidFill>
            <a:srgbClr val="0D272D">
              <a:alpha val="96000"/>
            </a:srgbClr>
          </a:solidFill>
          <a:ln w="7365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80931" y="1923511"/>
            <a:ext cx="577494" cy="13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1" b="1">
                <a:solidFill>
                  <a:srgbClr val="D8BB78"/>
                </a:solidFill>
                <a:latin typeface="Noto Sans SC"/>
                <a:ea typeface="Noto Sans SC"/>
              </a:rPr>
              <a:t>按共同邻居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96610" y="3565597"/>
            <a:ext cx="1039610" cy="0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331558" y="3352277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46069" y="3356992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896610" y="2583742"/>
            <a:ext cx="519805" cy="981855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993536" y="2908385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08047" y="2913099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6416415" y="2583742"/>
            <a:ext cx="519805" cy="981855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513341" y="2991100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27852" y="2995814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44806" y="2641498"/>
            <a:ext cx="693074" cy="924099"/>
          </a:xfrm>
          <a:prstGeom prst="line">
            <a:avLst/>
          </a:prstGeom>
          <a:ln w="2578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077200" y="2925585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91711" y="2930299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8BB78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5749290" y="3418277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816688" y="3482950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P</a:t>
            </a:r>
          </a:p>
        </p:txBody>
      </p:sp>
      <p:sp>
        <p:nvSpPr>
          <p:cNvPr id="37" name="Oval 36"/>
          <p:cNvSpPr/>
          <p:nvPr/>
        </p:nvSpPr>
        <p:spPr>
          <a:xfrm>
            <a:off x="6788900" y="3418277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0774" y="3482950"/>
            <a:ext cx="170891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Q</a:t>
            </a:r>
          </a:p>
        </p:txBody>
      </p:sp>
      <p:sp>
        <p:nvSpPr>
          <p:cNvPr id="39" name="Oval 38"/>
          <p:cNvSpPr/>
          <p:nvPr/>
        </p:nvSpPr>
        <p:spPr>
          <a:xfrm>
            <a:off x="6269095" y="2436422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336494" y="2501096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R</a:t>
            </a:r>
          </a:p>
        </p:txBody>
      </p:sp>
      <p:sp>
        <p:nvSpPr>
          <p:cNvPr id="41" name="Oval 40"/>
          <p:cNvSpPr/>
          <p:nvPr/>
        </p:nvSpPr>
        <p:spPr>
          <a:xfrm>
            <a:off x="7560656" y="2457348"/>
            <a:ext cx="368299" cy="368299"/>
          </a:xfrm>
          <a:prstGeom prst="ellipse">
            <a:avLst/>
          </a:prstGeom>
          <a:noFill/>
          <a:ln w="1841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7597486" y="2494178"/>
            <a:ext cx="294640" cy="294640"/>
          </a:xfrm>
          <a:prstGeom prst="ellipse">
            <a:avLst/>
          </a:prstGeom>
          <a:solidFill>
            <a:srgbClr val="8FB1E6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68568" y="2558852"/>
            <a:ext cx="152476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X</a:t>
            </a:r>
          </a:p>
        </p:txBody>
      </p:sp>
      <p:sp>
        <p:nvSpPr>
          <p:cNvPr id="44" name="Oval 43"/>
          <p:cNvSpPr/>
          <p:nvPr/>
        </p:nvSpPr>
        <p:spPr>
          <a:xfrm>
            <a:off x="8253730" y="3381447"/>
            <a:ext cx="368299" cy="368299"/>
          </a:xfrm>
          <a:prstGeom prst="ellipse">
            <a:avLst/>
          </a:prstGeom>
          <a:noFill/>
          <a:ln w="1841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290559" y="3418277"/>
            <a:ext cx="294640" cy="294640"/>
          </a:xfrm>
          <a:prstGeom prst="ellipse">
            <a:avLst/>
          </a:prstGeom>
          <a:solidFill>
            <a:srgbClr val="8FB1E6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63483" y="3482950"/>
            <a:ext cx="148793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74480" y="3565597"/>
            <a:ext cx="1039610" cy="0"/>
          </a:xfrm>
          <a:prstGeom prst="line">
            <a:avLst/>
          </a:prstGeom>
          <a:ln w="2578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609428" y="3352277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623939" y="3356992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8BB78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9174480" y="2583742"/>
            <a:ext cx="519805" cy="981855"/>
          </a:xfrm>
          <a:prstGeom prst="line">
            <a:avLst/>
          </a:prstGeom>
          <a:ln w="2578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271406" y="2908385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285917" y="2913099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8BB78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9694285" y="2583742"/>
            <a:ext cx="519805" cy="981855"/>
          </a:xfrm>
          <a:prstGeom prst="line">
            <a:avLst/>
          </a:prstGeom>
          <a:ln w="2578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791211" y="2991100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805722" y="2995814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8BB78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022676" y="2641498"/>
            <a:ext cx="693074" cy="924099"/>
          </a:xfrm>
          <a:prstGeom prst="line">
            <a:avLst/>
          </a:prstGeom>
          <a:ln w="14731">
            <a:solidFill>
              <a:srgbClr val="5D7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1355070" y="2925585"/>
            <a:ext cx="169712" cy="169712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369581" y="2930299"/>
            <a:ext cx="140690" cy="159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27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59" name="Oval 58"/>
          <p:cNvSpPr/>
          <p:nvPr/>
        </p:nvSpPr>
        <p:spPr>
          <a:xfrm>
            <a:off x="8990330" y="3381447"/>
            <a:ext cx="368299" cy="368299"/>
          </a:xfrm>
          <a:prstGeom prst="ellipse">
            <a:avLst/>
          </a:prstGeom>
          <a:noFill/>
          <a:ln w="1841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9027160" y="3418277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094558" y="3482950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P</a:t>
            </a:r>
          </a:p>
        </p:txBody>
      </p:sp>
      <p:sp>
        <p:nvSpPr>
          <p:cNvPr id="62" name="Oval 61"/>
          <p:cNvSpPr/>
          <p:nvPr/>
        </p:nvSpPr>
        <p:spPr>
          <a:xfrm>
            <a:off x="10029940" y="3381447"/>
            <a:ext cx="368299" cy="368299"/>
          </a:xfrm>
          <a:prstGeom prst="ellipse">
            <a:avLst/>
          </a:prstGeom>
          <a:noFill/>
          <a:ln w="1841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10066770" y="3418277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128644" y="3482950"/>
            <a:ext cx="170891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Q</a:t>
            </a:r>
          </a:p>
        </p:txBody>
      </p:sp>
      <p:sp>
        <p:nvSpPr>
          <p:cNvPr id="65" name="Oval 64"/>
          <p:cNvSpPr/>
          <p:nvPr/>
        </p:nvSpPr>
        <p:spPr>
          <a:xfrm>
            <a:off x="9546965" y="2436422"/>
            <a:ext cx="294640" cy="294640"/>
          </a:xfrm>
          <a:prstGeom prst="ellipse">
            <a:avLst/>
          </a:prstGeom>
          <a:solidFill>
            <a:srgbClr val="77CDBB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614364" y="2501096"/>
            <a:ext cx="159842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R</a:t>
            </a:r>
          </a:p>
        </p:txBody>
      </p:sp>
      <p:sp>
        <p:nvSpPr>
          <p:cNvPr id="67" name="Oval 66"/>
          <p:cNvSpPr/>
          <p:nvPr/>
        </p:nvSpPr>
        <p:spPr>
          <a:xfrm>
            <a:off x="10875356" y="2494178"/>
            <a:ext cx="294640" cy="294640"/>
          </a:xfrm>
          <a:prstGeom prst="ellipse">
            <a:avLst/>
          </a:prstGeom>
          <a:solidFill>
            <a:srgbClr val="8FB1E6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0946438" y="2558852"/>
            <a:ext cx="152476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X</a:t>
            </a:r>
          </a:p>
        </p:txBody>
      </p:sp>
      <p:sp>
        <p:nvSpPr>
          <p:cNvPr id="69" name="Oval 68"/>
          <p:cNvSpPr/>
          <p:nvPr/>
        </p:nvSpPr>
        <p:spPr>
          <a:xfrm>
            <a:off x="11568430" y="3418277"/>
            <a:ext cx="294640" cy="294640"/>
          </a:xfrm>
          <a:prstGeom prst="ellipse">
            <a:avLst/>
          </a:prstGeom>
          <a:solidFill>
            <a:srgbClr val="8FB1E6"/>
          </a:solidFill>
          <a:ln w="1104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641353" y="3482950"/>
            <a:ext cx="148793" cy="1690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6" b="1">
                <a:solidFill>
                  <a:srgbClr val="0B1B1F"/>
                </a:solidFill>
                <a:latin typeface="Noto Sans SC"/>
                <a:ea typeface="Noto Sans SC"/>
              </a:rPr>
              <a:t>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50483" y="2208076"/>
            <a:ext cx="887603" cy="162052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365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279211" y="2243139"/>
            <a:ext cx="830148" cy="11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95" b="1">
                <a:solidFill>
                  <a:srgbClr val="D8BB78"/>
                </a:solidFill>
                <a:latin typeface="Noto Sans SC"/>
                <a:ea typeface="Noto Sans SC"/>
              </a:rPr>
              <a:t>经 R：min(4, 4) = 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95261" y="4164838"/>
            <a:ext cx="854456" cy="169418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365">
            <a:solidFill>
              <a:srgbClr val="8FB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821779" y="4199752"/>
            <a:ext cx="801420" cy="12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3" b="1">
                <a:solidFill>
                  <a:srgbClr val="8FB1E6"/>
                </a:solidFill>
                <a:latin typeface="Noto Sans SC"/>
                <a:ea typeface="Noto Sans SC"/>
              </a:rPr>
              <a:t>第一对：X–Y @ 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25253" y="4164838"/>
            <a:ext cx="876554" cy="169418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7365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0051770" y="4199752"/>
            <a:ext cx="823518" cy="12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3" b="1">
                <a:solidFill>
                  <a:srgbClr val="77CDBB"/>
                </a:solidFill>
                <a:latin typeface="Noto Sans SC"/>
                <a:ea typeface="Noto Sans SC"/>
              </a:rPr>
              <a:t>第一对：P–Q @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3218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宽 net 的稀释：pin-count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tiny netlist：两条 5 引脚 net 连着 A–E，私有 net n1 只连 E、F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按 net 计数：A–B = 2，E–F = 1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pin-count = Σ w(e) / (|e| − 1)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A–B = 1/4 + 1/4 = 0.5；E–F = 1/(2 − 1) = 1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4710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77CDBB"/>
                </a:solidFill>
                <a:latin typeface="Noto Sans SC"/>
                <a:ea typeface="Noto Sans SC"/>
              </a:rPr>
              <a:t>摊薄之后，私有连接 E–F 排第一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3450" y="2162175"/>
            <a:ext cx="4102100" cy="971550"/>
          </a:xfrm>
          <a:prstGeom prst="roundRect">
            <a:avLst>
              <a:gd name="adj" fmla="val 33333"/>
            </a:avLst>
          </a:prstGeom>
          <a:noFill/>
          <a:ln w="2159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878512" y="2000250"/>
            <a:ext cx="4371975" cy="1295400"/>
          </a:xfrm>
          <a:prstGeom prst="roundRect">
            <a:avLst>
              <a:gd name="adj" fmla="val 33333"/>
            </a:avLst>
          </a:prstGeom>
          <a:noFill/>
          <a:ln w="21590">
            <a:solidFill>
              <a:srgbClr val="C2A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305925" y="2270125"/>
            <a:ext cx="755650" cy="1943100"/>
          </a:xfrm>
          <a:prstGeom prst="roundRect">
            <a:avLst>
              <a:gd name="adj" fmla="val 42857"/>
            </a:avLst>
          </a:prstGeom>
          <a:noFill/>
          <a:ln w="26987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060408" y="1770748"/>
            <a:ext cx="1492948" cy="189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5" b="1">
                <a:solidFill>
                  <a:srgbClr val="D8BB78"/>
                </a:solidFill>
                <a:latin typeface="Noto Sans SC"/>
                <a:ea typeface="Noto Sans SC"/>
              </a:rPr>
              <a:t>net enable（5 引脚）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0408" y="3368408"/>
            <a:ext cx="1374203" cy="189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5" b="1">
                <a:solidFill>
                  <a:srgbClr val="C2A6E6"/>
                </a:solidFill>
                <a:latin typeface="Noto Sans SC"/>
                <a:ea typeface="Noto Sans SC"/>
              </a:rPr>
              <a:t>net reset（5 引脚）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8509" y="4339958"/>
            <a:ext cx="1617091" cy="189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5" b="1">
                <a:solidFill>
                  <a:srgbClr val="77CDBB"/>
                </a:solidFill>
                <a:latin typeface="Noto Sans SC"/>
                <a:ea typeface="Noto Sans SC"/>
              </a:rPr>
              <a:t>net n1（2 引脚，私有）</a:t>
            </a:r>
          </a:p>
        </p:txBody>
      </p:sp>
      <p:sp>
        <p:nvSpPr>
          <p:cNvPr id="25" name="Oval 24"/>
          <p:cNvSpPr/>
          <p:nvPr/>
        </p:nvSpPr>
        <p:spPr>
          <a:xfrm>
            <a:off x="6240145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30823" y="2526830"/>
            <a:ext cx="228854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7049770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7749" y="2526830"/>
            <a:ext cx="234251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7859395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950073" y="2526830"/>
            <a:ext cx="228854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8669020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754300" y="2526830"/>
            <a:ext cx="239648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33" name="Oval 32"/>
          <p:cNvSpPr/>
          <p:nvPr/>
        </p:nvSpPr>
        <p:spPr>
          <a:xfrm>
            <a:off x="9424670" y="2388870"/>
            <a:ext cx="518159" cy="518159"/>
          </a:xfrm>
          <a:prstGeom prst="ellipse">
            <a:avLst/>
          </a:prstGeom>
          <a:noFill/>
          <a:ln w="26987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9478645" y="244284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572021" y="2526830"/>
            <a:ext cx="223456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36" name="Oval 35"/>
          <p:cNvSpPr/>
          <p:nvPr/>
        </p:nvSpPr>
        <p:spPr>
          <a:xfrm>
            <a:off x="9424670" y="3576320"/>
            <a:ext cx="518159" cy="518159"/>
          </a:xfrm>
          <a:prstGeom prst="ellipse">
            <a:avLst/>
          </a:prstGeom>
          <a:noFill/>
          <a:ln w="26987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478645" y="3630295"/>
            <a:ext cx="410209" cy="410209"/>
          </a:xfrm>
          <a:prstGeom prst="ellipse">
            <a:avLst/>
          </a:prstGeom>
          <a:solidFill>
            <a:srgbClr val="A9BDB8"/>
          </a:solidFill>
          <a:ln w="16192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574720" y="3714280"/>
            <a:ext cx="218059" cy="2477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45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5840" y="4809236"/>
            <a:ext cx="11569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按 net 计数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809236"/>
            <a:ext cx="11061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CD2D0"/>
                </a:solidFill>
                <a:latin typeface="Noto Sans SC"/>
                <a:ea typeface="Noto Sans SC"/>
              </a:rPr>
              <a:t>pin-count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75400" y="5118100"/>
            <a:ext cx="4165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02070" y="5202428"/>
            <a:ext cx="54991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A–B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4570" y="5202428"/>
            <a:ext cx="2641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5570" y="5202428"/>
            <a:ext cx="4546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0.5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4600" y="5575300"/>
            <a:ext cx="4305300" cy="393700"/>
          </a:xfrm>
          <a:prstGeom prst="roundRect">
            <a:avLst>
              <a:gd name="adj" fmla="val 1290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2070" y="5621528"/>
            <a:ext cx="5181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E–F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4570" y="5621528"/>
            <a:ext cx="2641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5570" y="5621528"/>
            <a:ext cx="264159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99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伪代码逐行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1 行：遍历所有无序节点对，包括无直接边的对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2 行：没有边就从 0 开始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3–4 行：每个共同邻居加上较弱的那条边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5 行：只记录正分（声明过的策略）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5797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4710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第 6–7 行：稳定排序；输出排名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3100" y="1574800"/>
            <a:ext cx="5715000" cy="3124200"/>
          </a:xfrm>
          <a:prstGeom prst="roundRect">
            <a:avLst>
              <a:gd name="adj" fmla="val 2439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99150" y="1775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9345" y="1736598"/>
            <a:ext cx="3530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for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345" y="1736598"/>
            <a:ext cx="12547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每个无序节点对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9045" y="1736598"/>
            <a:ext cx="524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(u, 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4495" y="1736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9595" y="1736598"/>
            <a:ext cx="49910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u &lt; v: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9150" y="21818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9345" y="2142998"/>
            <a:ext cx="7023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   score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2595" y="21429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7695" y="2142998"/>
            <a:ext cx="6578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w(u, 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495" y="2142998"/>
            <a:ext cx="1089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，没有边则为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7095" y="2142998"/>
            <a:ext cx="2260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53100" y="251460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53100" y="251460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899150" y="25882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9345" y="2549398"/>
            <a:ext cx="5054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  for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5745" y="2549398"/>
            <a:ext cx="1089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每个共同邻居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6345" y="25493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x: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53100" y="2921000"/>
            <a:ext cx="5715000" cy="3937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753100" y="2921000"/>
            <a:ext cx="38100" cy="3937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899150" y="29946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9345" y="2955798"/>
            <a:ext cx="8547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       score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4995" y="29557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0095" y="2955798"/>
            <a:ext cx="21501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8BB78"/>
                </a:solidFill>
                <a:latin typeface="Noto Sans SC"/>
                <a:ea typeface="Noto Sans SC"/>
              </a:rPr>
              <a:t> score + min(w(u,x), w(v,x))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9150" y="34010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9345" y="3362198"/>
            <a:ext cx="11341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   if score &gt; 0: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4395" y="3362198"/>
            <a:ext cx="4292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记下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54595" y="3362198"/>
            <a:ext cx="10198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(u, v, score)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9150" y="38074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9345" y="3768598"/>
            <a:ext cx="2641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4445" y="3768598"/>
            <a:ext cx="1943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 (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9695" y="3768598"/>
            <a:ext cx="1879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8595" y="3768598"/>
            <a:ext cx="962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score, u, v)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2195" y="3768598"/>
            <a:ext cx="429259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排序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9150" y="4213860"/>
            <a:ext cx="14605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9345" y="4174998"/>
            <a:ext cx="17500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FEADF"/>
                </a:solidFill>
                <a:latin typeface="Noto Sans SC"/>
                <a:ea typeface="Noto Sans SC"/>
              </a:rPr>
              <a:t>返回排名（不是分组）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6357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常见错误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只在已有边上算共同邻居：漏掉 B–D 等 4 对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以为所有聚类算法都“先合并最高分对”：LP、谱、KL/FM 都不是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宽 net 不摊薄：A–B 2 分压过私有的 E–F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平票依赖输入顺序：A–B 与 D–E 的先后会变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把亲和度当距离或概率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480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回到芯片：工程含义与局限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评分决定“先把谁粘在一起”，影响后续合并与跨区长线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边权来源要写明：连线数量、信号重要性或由 net 转换而来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本课程小图都是教学用虚构数值，不是芯片实测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共同邻居要检查约 n(n−1)/2 对；大网表需沿邻接关系枚举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clique 模型只是多引脚 net 的一种近似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9245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1799589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02 · 亲和度指标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评分只排名，不分组；先写明用哪种模型。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278282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直接边权看单线，共同邻居看小团体，pin-count 稀释宽 net。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23209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下一模块：用“簇间边权和”作为亲和度，开始贪心合并。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02 亲和度指标</dc:title>
  <dc:subject/>
  <dc:creator>Learning Clustering（统一课程）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