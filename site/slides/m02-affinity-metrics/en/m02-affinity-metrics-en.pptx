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module answers one question: how much does a pair of circuit cells belong together? We compare three scores: direct edge weight, shared neighbours, and pin-count on multi-pin nets. A score only gives a ranking; it does not decide a grouping. Grouping starts in the next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input can be a weighted undirected graph or a netlist. The output is the list of every pair with a positive score, each written with u less than v, sorted from the highest score down, with ties by name. This module outputs no groups, and affinity is neither a distance nor a probability.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ordinary edge connects only two cells, but a net can connect many. To score one pair inside a net you first have to choose a model. The common clique model draws the net as pairwise illustrative contributions, but those wires do not really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direct score is the edge weight. G01 has six edges, so six pairs. A–B and D–E are both 5, and by name A comes before D. With a fixed tie rule, the ranking is the same whatever order the edges arrive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shared-neighbour score is the direct weight plus the contribution of each shared neighbour, and that contribution takes the smaller of the two edges. Be sure to check every unordered pair: G01 has ten, and all of them score above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pairs by hand. A–C has a direct edge of 1, and the contribution through B is min(5, 4), which is 4, for a total of 5. B and D share no edge, so the direct part is 0; through C they get min(4, 2), which is 2. Compute only on existing edges and you miss B–D.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original author’s priority graph makes the point well: by direct weight the first pair is X–Y; by shared neighbours, every pair in the triangle gets 4 plus 4, which is 8, and the first pair becomes P–Q. The two scores answer different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original author’s tiny netlist has two wide five-pin nets and one private net. Counting occurrences gives A–B 2 points. pin-count shares each net out over |e| minus 1, so A–B gets only 0.5 while E–F gets 1 and comes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 one visits every unordered pair; line two puts in the direct weight, or 0 with no edge; lines three and four add the weaker edge for each shared neighbour; line five records only positive scores; finally a stable sort, and the ranking is the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mistakes: computing shared neighbours on existing edges only; thinking every clustering algorithm merges the top pair first; not sharing wide nets out; letting the input decide the order of ties; and treating affinity as a distance or a probability.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chip design, the score decides which cells are put together first. Say where edge weights come from. The small graphs in this course are invented teaching values. The shared-neighbour score checks a great many pairs, so large netlists enumerate along adjacency only. And the clique model is only one approximation.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summary: a score gives a ranking and does not decide a grouping, and you should say which model you use. Direct weight looks at how thick one wire is, shared neighbours at whether a pair belongs to a tight little group, and pin-count dilutes wide nets. The next module starts merging for real with the summed weight between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3880" y="6512052"/>
            <a:ext cx="20980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Affinity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82480" y="377952"/>
            <a:ext cx="198373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Film "The essentials" 00:00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6954" y="2310892"/>
            <a:ext cx="5038090" cy="891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00" b="0">
                <a:solidFill>
                  <a:srgbClr val="D8BB78"/>
                </a:solidFill>
                <a:latin typeface="Noto Sans SC"/>
                <a:ea typeface="Noto Sans SC"/>
              </a:rPr>
              <a:t>Who is closest?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3354" y="3335782"/>
            <a:ext cx="67652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BCD2D0"/>
                </a:solidFill>
                <a:latin typeface="Noto Sans SC"/>
                <a:ea typeface="Noto Sans SC"/>
              </a:rPr>
              <a:t>Affinity metrics · direct weight, shared neighbours and pin-count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7135" y="4136644"/>
            <a:ext cx="469773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F8F8F"/>
                </a:solidFill>
                <a:latin typeface="Noto Sans SC"/>
                <a:ea typeface="Noto Sans SC"/>
              </a:rPr>
              <a:t>Learning Clustering · original author Capeur (Issue #1)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235331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0980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Affinity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p2/12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82480" y="377952"/>
            <a:ext cx="198373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Film "The essentials" 00:03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Input: a weighted undirected graph, or a multi-pin netlist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17563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Output: every positive pair (u, v, score), with u &lt; v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30292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92049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Order: score descending, then u and v alphabetically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377405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665347"/>
            <a:ext cx="4718050" cy="9391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Conventions: no self-loops or duplicate edges; a pin repeated in a net counts once; zero pairs are not listed</a:t>
            </a:r>
          </a:p>
        </p:txBody>
      </p:sp>
      <p:sp>
        <p:nvSpPr>
          <p:cNvPr id="18" name="Oval 17"/>
          <p:cNvSpPr/>
          <p:nvPr/>
        </p:nvSpPr>
        <p:spPr>
          <a:xfrm>
            <a:off x="711200" y="483196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472325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8BB78"/>
                </a:solidFill>
                <a:latin typeface="Noto Sans SC"/>
                <a:ea typeface="Noto Sans SC"/>
              </a:rPr>
              <a:t>A score is a ranking, not a grouping, a distance or a probability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6864707" y="1714500"/>
            <a:ext cx="2203719" cy="150253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809896" y="1422187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34915" y="1430315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64707" y="1864753"/>
            <a:ext cx="1352282" cy="1702873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513890" y="2406023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38909" y="2414151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8216989" y="1714500"/>
            <a:ext cx="851437" cy="1853126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634886" y="248929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659905" y="2497426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16989" y="3567626"/>
            <a:ext cx="2253803" cy="1051775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262034" y="3740019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287053" y="3748147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7966566" y="3567626"/>
            <a:ext cx="250423" cy="1702874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096252" y="4225844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121271" y="4233972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7966566" y="4619401"/>
            <a:ext cx="2504226" cy="651099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9110724" y="4877054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135743" y="4885182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8" name="Oval 37"/>
          <p:cNvSpPr/>
          <p:nvPr/>
        </p:nvSpPr>
        <p:spPr>
          <a:xfrm>
            <a:off x="6610707" y="1610753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730087" y="1722259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40" name="Oval 39"/>
          <p:cNvSpPr/>
          <p:nvPr/>
        </p:nvSpPr>
        <p:spPr>
          <a:xfrm>
            <a:off x="8814426" y="1460500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930631" y="1572006"/>
            <a:ext cx="2755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2" name="Oval 41"/>
          <p:cNvSpPr/>
          <p:nvPr/>
        </p:nvSpPr>
        <p:spPr>
          <a:xfrm>
            <a:off x="7962989" y="3313626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082369" y="3425132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4" name="Oval 43"/>
          <p:cNvSpPr/>
          <p:nvPr/>
        </p:nvSpPr>
        <p:spPr>
          <a:xfrm>
            <a:off x="10216792" y="4365401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329822" y="4476907"/>
            <a:ext cx="281939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6" name="Oval 45"/>
          <p:cNvSpPr/>
          <p:nvPr/>
        </p:nvSpPr>
        <p:spPr>
          <a:xfrm>
            <a:off x="7712566" y="5016500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835121" y="5128006"/>
            <a:ext cx="2628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70725" y="5901690"/>
            <a:ext cx="338455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CD2D0"/>
                </a:solidFill>
                <a:latin typeface="Noto Sans SC"/>
                <a:ea typeface="Noto Sans SC"/>
              </a:rPr>
              <a:t>Course graph G01 (total weight 18)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292481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Graphs and nets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0980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Affinity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p3/12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An ordinary edge connects only two cells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 net can connect the pins of 3, 5 or thousands of cells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Scoring one pair inside a net needs a model first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4610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35229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The clique model: draw the net as pairwise illustrative contributions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" y="5546598"/>
            <a:ext cx="4908550" cy="478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300" b="0">
                <a:solidFill>
                  <a:srgbClr val="BCD2D0"/>
                </a:solidFill>
                <a:latin typeface="Noto Sans SC"/>
                <a:ea typeface="Noto Sans SC"/>
              </a:rPr>
              <a:t>The pairwise lines are for scoring only; they are not new physical wires.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22620" y="1769110"/>
            <a:ext cx="2799079" cy="2357120"/>
          </a:xfrm>
          <a:prstGeom prst="roundRect">
            <a:avLst>
              <a:gd name="adj" fmla="val 2187"/>
            </a:avLst>
          </a:prstGeom>
          <a:solidFill>
            <a:srgbClr val="0D272D">
              <a:alpha val="96000"/>
            </a:srgbClr>
          </a:solidFill>
          <a:ln w="7365">
            <a:solidFill>
              <a:srgbClr val="24474D">
                <a:alpha val="9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813221" y="1833341"/>
            <a:ext cx="1446682" cy="1392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1" b="1">
                <a:solidFill>
                  <a:srgbClr val="D8BB78"/>
                </a:solidFill>
                <a:latin typeface="Noto Sans SC"/>
                <a:ea typeface="Noto Sans SC"/>
              </a:rPr>
              <a:t>An ordinary edge: two ends</a:t>
            </a:r>
          </a:p>
        </p:txBody>
      </p:sp>
      <p:sp>
        <p:nvSpPr>
          <p:cNvPr id="20" name="Oval 19"/>
          <p:cNvSpPr/>
          <p:nvPr/>
        </p:nvSpPr>
        <p:spPr>
          <a:xfrm>
            <a:off x="6260338" y="2822448"/>
            <a:ext cx="324104" cy="324104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44310" y="2901853"/>
            <a:ext cx="156159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22" name="Oval 21"/>
          <p:cNvSpPr/>
          <p:nvPr/>
        </p:nvSpPr>
        <p:spPr>
          <a:xfrm>
            <a:off x="7659878" y="2822448"/>
            <a:ext cx="324104" cy="324104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2008" y="2901853"/>
            <a:ext cx="159842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22390" y="2984500"/>
            <a:ext cx="1399540" cy="0"/>
          </a:xfrm>
          <a:prstGeom prst="line">
            <a:avLst/>
          </a:prstGeom>
          <a:ln w="14731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037303" y="2771180"/>
            <a:ext cx="169712" cy="169712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051814" y="2775894"/>
            <a:ext cx="140690" cy="159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27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3660" y="1769110"/>
            <a:ext cx="2799079" cy="2357120"/>
          </a:xfrm>
          <a:prstGeom prst="roundRect">
            <a:avLst>
              <a:gd name="adj" fmla="val 2187"/>
            </a:avLst>
          </a:prstGeom>
          <a:solidFill>
            <a:srgbClr val="0D272D">
              <a:alpha val="96000"/>
            </a:srgbClr>
          </a:solidFill>
          <a:ln w="7365">
            <a:solidFill>
              <a:srgbClr val="24474D">
                <a:alpha val="9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54261" y="1833341"/>
            <a:ext cx="942111" cy="1392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1" b="1">
                <a:solidFill>
                  <a:srgbClr val="D8BB78"/>
                </a:solidFill>
                <a:latin typeface="Noto Sans SC"/>
                <a:ea typeface="Noto Sans SC"/>
              </a:rPr>
              <a:t>One net: five pins</a:t>
            </a:r>
          </a:p>
        </p:txBody>
      </p:sp>
      <p:sp>
        <p:nvSpPr>
          <p:cNvPr id="29" name="Oval 28"/>
          <p:cNvSpPr/>
          <p:nvPr/>
        </p:nvSpPr>
        <p:spPr>
          <a:xfrm>
            <a:off x="10311638" y="2932938"/>
            <a:ext cx="103123" cy="103123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0" name="Connector 29"/>
          <p:cNvCxnSpPr/>
          <p:nvPr/>
        </p:nvCxnSpPr>
        <p:spPr>
          <a:xfrm flipV="1">
            <a:off x="10363200" y="2211070"/>
            <a:ext cx="0" cy="773430"/>
          </a:xfrm>
          <a:prstGeom prst="line">
            <a:avLst/>
          </a:prstGeom>
          <a:ln w="14731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223246" y="2071115"/>
            <a:ext cx="279908" cy="279908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285120" y="2128423"/>
            <a:ext cx="156159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10363200" y="2745496"/>
            <a:ext cx="805630" cy="239004"/>
          </a:xfrm>
          <a:prstGeom prst="line">
            <a:avLst/>
          </a:prstGeom>
          <a:ln w="14731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1028876" y="2605542"/>
            <a:ext cx="279908" cy="279908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1088909" y="2662850"/>
            <a:ext cx="159842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363200" y="2984500"/>
            <a:ext cx="497907" cy="625718"/>
          </a:xfrm>
          <a:prstGeom prst="line">
            <a:avLst/>
          </a:prstGeom>
          <a:ln w="14731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721153" y="3470264"/>
            <a:ext cx="279908" cy="279908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783027" y="3527571"/>
            <a:ext cx="156159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9865292" y="2984500"/>
            <a:ext cx="497908" cy="625718"/>
          </a:xfrm>
          <a:prstGeom prst="line">
            <a:avLst/>
          </a:prstGeom>
          <a:ln w="14731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25338" y="3470264"/>
            <a:ext cx="279908" cy="279908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783530" y="3527571"/>
            <a:ext cx="163525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cxnSp>
        <p:nvCxnSpPr>
          <p:cNvPr id="42" name="Connector 41"/>
          <p:cNvCxnSpPr/>
          <p:nvPr/>
        </p:nvCxnSpPr>
        <p:spPr>
          <a:xfrm flipH="1" flipV="1">
            <a:off x="9557569" y="2745496"/>
            <a:ext cx="805631" cy="239004"/>
          </a:xfrm>
          <a:prstGeom prst="line">
            <a:avLst/>
          </a:prstGeom>
          <a:ln w="14731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9417615" y="2605542"/>
            <a:ext cx="279908" cy="279908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481331" y="2662850"/>
            <a:ext cx="152476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363200" y="2211070"/>
            <a:ext cx="805630" cy="534426"/>
          </a:xfrm>
          <a:prstGeom prst="line">
            <a:avLst/>
          </a:prstGeom>
          <a:ln w="7365">
            <a:solidFill>
              <a:srgbClr val="8FB1E6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363200" y="2211070"/>
            <a:ext cx="497907" cy="1399148"/>
          </a:xfrm>
          <a:prstGeom prst="line">
            <a:avLst/>
          </a:prstGeom>
          <a:ln w="7365">
            <a:solidFill>
              <a:srgbClr val="8FB1E6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865292" y="2211070"/>
            <a:ext cx="497908" cy="1399148"/>
          </a:xfrm>
          <a:prstGeom prst="line">
            <a:avLst/>
          </a:prstGeom>
          <a:ln w="7365">
            <a:solidFill>
              <a:srgbClr val="8FB1E6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9557569" y="2211070"/>
            <a:ext cx="805631" cy="534426"/>
          </a:xfrm>
          <a:prstGeom prst="line">
            <a:avLst/>
          </a:prstGeom>
          <a:ln w="7365">
            <a:solidFill>
              <a:srgbClr val="8FB1E6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0861107" y="2745496"/>
            <a:ext cx="307723" cy="864722"/>
          </a:xfrm>
          <a:prstGeom prst="line">
            <a:avLst/>
          </a:prstGeom>
          <a:ln w="7365">
            <a:solidFill>
              <a:srgbClr val="8FB1E6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9865292" y="2745496"/>
            <a:ext cx="1303538" cy="864722"/>
          </a:xfrm>
          <a:prstGeom prst="line">
            <a:avLst/>
          </a:prstGeom>
          <a:ln w="7365">
            <a:solidFill>
              <a:srgbClr val="8FB1E6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9557569" y="2745496"/>
            <a:ext cx="1611261" cy="0"/>
          </a:xfrm>
          <a:prstGeom prst="line">
            <a:avLst/>
          </a:prstGeom>
          <a:ln w="7365">
            <a:solidFill>
              <a:srgbClr val="8FB1E6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9865292" y="3610218"/>
            <a:ext cx="995815" cy="0"/>
          </a:xfrm>
          <a:prstGeom prst="line">
            <a:avLst/>
          </a:prstGeom>
          <a:ln w="7365">
            <a:solidFill>
              <a:srgbClr val="8FB1E6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9557569" y="2745496"/>
            <a:ext cx="1303538" cy="864722"/>
          </a:xfrm>
          <a:prstGeom prst="line">
            <a:avLst/>
          </a:prstGeom>
          <a:ln w="7365">
            <a:solidFill>
              <a:srgbClr val="8FB1E6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9557569" y="2745496"/>
            <a:ext cx="307723" cy="864722"/>
          </a:xfrm>
          <a:prstGeom prst="line">
            <a:avLst/>
          </a:prstGeom>
          <a:ln w="7365">
            <a:solidFill>
              <a:srgbClr val="8FB1E6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910624" y="3910553"/>
            <a:ext cx="2905150" cy="1392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1" b="1">
                <a:solidFill>
                  <a:srgbClr val="BCD2D0"/>
                </a:solidFill>
                <a:latin typeface="Noto Sans SC"/>
                <a:ea typeface="Noto Sans SC"/>
              </a:rPr>
              <a:t>Drawn as 10 illustrative contributions, not 10 new wires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62331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Direct weight and the stable ranking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0980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Affinity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p4/12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82480" y="377952"/>
            <a:ext cx="198373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Film "The essentials" 00:16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edge(u, v) = w(u, v): only directly wired pairs score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G01 has 6 edges, so 6 pairs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A–B and D–E are both 5: by name, A &lt; D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039236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With the tie rule fixed, the ranking does not depend on input 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205" y="1684782"/>
            <a:ext cx="6756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BCD2D0"/>
                </a:solidFill>
                <a:latin typeface="Noto Sans SC"/>
                <a:ea typeface="Noto Sans SC"/>
              </a:rPr>
              <a:t>Rank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8705" y="1684782"/>
            <a:ext cx="5613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BCD2D0"/>
                </a:solidFill>
                <a:latin typeface="Noto Sans SC"/>
                <a:ea typeface="Noto Sans SC"/>
              </a:rPr>
              <a:t>Pair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3705" y="1684782"/>
            <a:ext cx="7327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BCD2D0"/>
                </a:solidFill>
                <a:latin typeface="Noto Sans SC"/>
                <a:ea typeface="Noto Sans SC"/>
              </a:rPr>
              <a:t>Score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11900" y="2006600"/>
            <a:ext cx="41021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61100" y="2146300"/>
            <a:ext cx="4241800" cy="508000"/>
          </a:xfrm>
          <a:prstGeom prst="roundRect">
            <a:avLst>
              <a:gd name="adj" fmla="val 10000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37935" y="21922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7434" y="2192274"/>
            <a:ext cx="5765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A–B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2435" y="21922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1100" y="2679700"/>
            <a:ext cx="4241800" cy="508000"/>
          </a:xfrm>
          <a:prstGeom prst="roundRect">
            <a:avLst>
              <a:gd name="adj" fmla="val 10000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37935" y="27256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7434" y="2725674"/>
            <a:ext cx="5765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D–E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2435" y="27256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7935" y="32590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7434" y="3259074"/>
            <a:ext cx="5829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B–C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2435" y="32590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7935" y="37924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7434" y="3792474"/>
            <a:ext cx="5892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C–D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2435" y="37924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7935" y="43258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17434" y="4325874"/>
            <a:ext cx="5702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A–C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2435" y="43258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7935" y="48592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17434" y="4859274"/>
            <a:ext cx="5638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C–E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2435" y="48592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489331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The shared-neighbour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0980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Affinity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p5/12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82480" y="377952"/>
            <a:ext cx="198373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Film "The essentials" 00:33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shared(u, v) = w(u, v) + Σ_x min(w(u, x), w(v, x))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17563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x is a shared neighbour, connected to both u and v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30292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92049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 link through x is only as strong as its weaker edge: take min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377405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66534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8BB78"/>
                </a:solidFill>
                <a:latin typeface="Noto Sans SC"/>
                <a:ea typeface="Noto Sans SC"/>
              </a:rPr>
              <a:t>Check every unordered pair: G01 has 10, all positive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4110" y="1406144"/>
            <a:ext cx="46863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Pair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3609" y="1406144"/>
            <a:ext cx="6400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Direct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55609" y="1406144"/>
            <a:ext cx="10210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Via shared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51110" y="1406144"/>
            <a:ext cx="6019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Score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84900" y="1689100"/>
            <a:ext cx="47371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2840" y="1799336"/>
            <a:ext cx="4838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A–B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2340" y="17993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4340" y="1799336"/>
            <a:ext cx="4203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C:1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17993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2840" y="2218436"/>
            <a:ext cx="490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D–E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2340" y="22184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54340" y="2218436"/>
            <a:ext cx="4203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C:1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2184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34100" y="2590800"/>
            <a:ext cx="4876800" cy="393700"/>
          </a:xfrm>
          <a:prstGeom prst="roundRect">
            <a:avLst>
              <a:gd name="adj" fmla="val 12903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12840" y="2637536"/>
            <a:ext cx="477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A–C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2340" y="26375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54340" y="2637536"/>
            <a:ext cx="426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B:4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26375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2840" y="3056636"/>
            <a:ext cx="490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B–C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92340" y="30566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54340" y="3056636"/>
            <a:ext cx="4140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A:1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30566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2840" y="3475736"/>
            <a:ext cx="496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C–D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2340" y="34757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54340" y="3475736"/>
            <a:ext cx="4140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E:1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34757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2840" y="3894836"/>
            <a:ext cx="477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C–E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92340" y="38948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54340" y="3894836"/>
            <a:ext cx="4330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D:2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40" y="38948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34100" y="4267200"/>
            <a:ext cx="4876800" cy="393700"/>
          </a:xfrm>
          <a:prstGeom prst="roundRect">
            <a:avLst>
              <a:gd name="adj" fmla="val 12903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212840" y="4313936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B–D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92340" y="43139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54340" y="4313936"/>
            <a:ext cx="4203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C:2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0" y="43139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2840" y="4733036"/>
            <a:ext cx="490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A–D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92340" y="47330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54340" y="4733036"/>
            <a:ext cx="4203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C:1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49840" y="47330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2840" y="5152136"/>
            <a:ext cx="4711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A–E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92340" y="51521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54340" y="5152136"/>
            <a:ext cx="4203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C:1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49840" y="51521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2840" y="5571236"/>
            <a:ext cx="4838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B–E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92340" y="55712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54340" y="5571236"/>
            <a:ext cx="4203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C:1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49840" y="55712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8709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By hand: A–C and B–D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0980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Affinity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p6/12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82480" y="377952"/>
            <a:ext cx="198373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Film "The essentials" 00:48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A–C: direct 1, via B min(5, 4) = 4, total 5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B–D: no direct edge, so the direct part is 0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B–D: via C min(4, 2) = 2, total 2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27261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B7B72"/>
                </a:solidFill>
                <a:latin typeface="Noto Sans SC"/>
                <a:ea typeface="Noto Sans SC"/>
              </a:rPr>
              <a:t>Score only the existing edges and you miss B–D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694518" y="1667510"/>
            <a:ext cx="1366306" cy="93157"/>
          </a:xfrm>
          <a:prstGeom prst="line">
            <a:avLst/>
          </a:prstGeom>
          <a:ln w="15748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280535" y="1486276"/>
            <a:ext cx="181416" cy="18141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296047" y="1491315"/>
            <a:ext cx="150393" cy="1700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92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94518" y="1760667"/>
            <a:ext cx="838415" cy="1055781"/>
          </a:xfrm>
          <a:prstGeom prst="line">
            <a:avLst/>
          </a:prstGeom>
          <a:ln w="15748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097012" y="2096254"/>
            <a:ext cx="181416" cy="18141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12524" y="2101293"/>
            <a:ext cx="150393" cy="1700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92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532933" y="1667510"/>
            <a:ext cx="527891" cy="1148938"/>
          </a:xfrm>
          <a:prstGeom prst="line">
            <a:avLst/>
          </a:prstGeom>
          <a:ln w="27559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792029" y="2147885"/>
            <a:ext cx="181416" cy="18141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807541" y="2152924"/>
            <a:ext cx="150393" cy="1700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92" b="1">
                <a:solidFill>
                  <a:srgbClr val="D8BB78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532933" y="2816448"/>
            <a:ext cx="1397358" cy="652100"/>
          </a:xfrm>
          <a:prstGeom prst="line">
            <a:avLst/>
          </a:prstGeom>
          <a:ln w="27559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180861" y="2923332"/>
            <a:ext cx="181416" cy="18141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196373" y="2928371"/>
            <a:ext cx="150393" cy="1700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92" b="1">
                <a:solidFill>
                  <a:srgbClr val="D8BB78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377671" y="2816448"/>
            <a:ext cx="155262" cy="1055781"/>
          </a:xfrm>
          <a:prstGeom prst="line">
            <a:avLst/>
          </a:prstGeom>
          <a:ln w="15748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458076" y="3224543"/>
            <a:ext cx="181416" cy="18141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73588" y="3229583"/>
            <a:ext cx="150393" cy="1700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92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377671" y="3468548"/>
            <a:ext cx="1552620" cy="403681"/>
          </a:xfrm>
          <a:prstGeom prst="line">
            <a:avLst/>
          </a:prstGeom>
          <a:ln w="15748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8087049" y="3628294"/>
            <a:ext cx="181416" cy="18141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102561" y="3633333"/>
            <a:ext cx="150393" cy="1700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92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6" name="Oval 35"/>
          <p:cNvSpPr/>
          <p:nvPr/>
        </p:nvSpPr>
        <p:spPr>
          <a:xfrm>
            <a:off x="6537038" y="1603187"/>
            <a:ext cx="314960" cy="314960"/>
          </a:xfrm>
          <a:prstGeom prst="ellipse">
            <a:avLst/>
          </a:prstGeom>
          <a:solidFill>
            <a:srgbClr val="A9BDB8"/>
          </a:solidFill>
          <a:ln w="11811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611054" y="1672320"/>
            <a:ext cx="166928" cy="1807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4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8" name="Oval 37"/>
          <p:cNvSpPr/>
          <p:nvPr/>
        </p:nvSpPr>
        <p:spPr>
          <a:xfrm>
            <a:off x="7863974" y="1470660"/>
            <a:ext cx="393700" cy="393700"/>
          </a:xfrm>
          <a:prstGeom prst="ellipse">
            <a:avLst/>
          </a:prstGeom>
          <a:noFill/>
          <a:ln w="19685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903344" y="1510030"/>
            <a:ext cx="314960" cy="314960"/>
          </a:xfrm>
          <a:prstGeom prst="ellipse">
            <a:avLst/>
          </a:prstGeom>
          <a:solidFill>
            <a:srgbClr val="A9BDB8"/>
          </a:solidFill>
          <a:ln w="11811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975391" y="1579163"/>
            <a:ext cx="170865" cy="1807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4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1" name="Oval 40"/>
          <p:cNvSpPr/>
          <p:nvPr/>
        </p:nvSpPr>
        <p:spPr>
          <a:xfrm>
            <a:off x="7375453" y="2658968"/>
            <a:ext cx="314960" cy="314960"/>
          </a:xfrm>
          <a:prstGeom prst="ellipse">
            <a:avLst/>
          </a:prstGeom>
          <a:solidFill>
            <a:srgbClr val="A9BDB8"/>
          </a:solidFill>
          <a:ln w="11811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449469" y="2728102"/>
            <a:ext cx="166928" cy="1807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4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3" name="Oval 42"/>
          <p:cNvSpPr/>
          <p:nvPr/>
        </p:nvSpPr>
        <p:spPr>
          <a:xfrm>
            <a:off x="8733441" y="3271698"/>
            <a:ext cx="393700" cy="393700"/>
          </a:xfrm>
          <a:prstGeom prst="ellipse">
            <a:avLst/>
          </a:prstGeom>
          <a:noFill/>
          <a:ln w="19685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8772811" y="3311068"/>
            <a:ext cx="314960" cy="314960"/>
          </a:xfrm>
          <a:prstGeom prst="ellipse">
            <a:avLst/>
          </a:prstGeom>
          <a:solidFill>
            <a:srgbClr val="A9BDB8"/>
          </a:solidFill>
          <a:ln w="11811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842889" y="3380202"/>
            <a:ext cx="174802" cy="1807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4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6" name="Oval 45"/>
          <p:cNvSpPr/>
          <p:nvPr/>
        </p:nvSpPr>
        <p:spPr>
          <a:xfrm>
            <a:off x="7220191" y="3714750"/>
            <a:ext cx="314960" cy="314960"/>
          </a:xfrm>
          <a:prstGeom prst="ellipse">
            <a:avLst/>
          </a:prstGeom>
          <a:solidFill>
            <a:srgbClr val="A9BDB8"/>
          </a:solidFill>
          <a:ln w="11811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296175" y="3783883"/>
            <a:ext cx="162991" cy="1807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4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0" y="1651000"/>
            <a:ext cx="2540000" cy="1701800"/>
          </a:xfrm>
          <a:prstGeom prst="roundRect">
            <a:avLst>
              <a:gd name="adj" fmla="val 5223"/>
            </a:avLst>
          </a:prstGeom>
          <a:solidFill>
            <a:srgbClr val="0D272D">
              <a:alpha val="96000"/>
            </a:srgbClr>
          </a:solidFill>
          <a:ln w="12700">
            <a:solidFill>
              <a:srgbClr val="24474D">
                <a:alpha val="9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300210" y="1761744"/>
            <a:ext cx="4495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D8BB78"/>
                </a:solidFill>
                <a:latin typeface="Noto Sans SC"/>
                <a:ea typeface="Noto Sans SC"/>
              </a:rPr>
              <a:t>B–D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2079752"/>
            <a:ext cx="13931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direct edge w(B,D)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2210" y="2053844"/>
            <a:ext cx="21462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400" b="1">
                <a:solidFill>
                  <a:srgbClr val="77CDBB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2486152"/>
            <a:ext cx="11328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via C: min(4, 2)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32210" y="2460244"/>
            <a:ext cx="21462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400" b="1">
                <a:solidFill>
                  <a:srgbClr val="D8BB78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296400" y="2857500"/>
            <a:ext cx="2235200" cy="0"/>
          </a:xfrm>
          <a:prstGeom prst="line">
            <a:avLst/>
          </a:prstGeom>
          <a:ln w="12700">
            <a:solidFill>
              <a:srgbClr val="3B5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326245" y="2968498"/>
            <a:ext cx="518159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BB78"/>
                </a:solidFill>
                <a:latin typeface="Noto Sans SC"/>
                <a:ea typeface="Noto Sans SC"/>
              </a:rPr>
              <a:t>Total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81410" y="2890774"/>
            <a:ext cx="2844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900" b="1">
                <a:solidFill>
                  <a:srgbClr val="D8BB78"/>
                </a:solidFill>
                <a:latin typeface="Noto Sans SC"/>
                <a:ea typeface="Noto Sans SC"/>
              </a:rPr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7382509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Change the score and the first pair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0980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Affinity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p7/12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82480" y="377952"/>
            <a:ext cx="198373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Film "The essentials" 01:01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The priority graph (original author Capeur): triangle PQR with every edge 4, X–Y at 5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Direct weight: first pair X–Y @ 5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Shared neighbours: P–Q = 4 + min(4, 4) = 8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039236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P–Q, P–R and Q–R tie at 8; by name, P–Q</a:t>
            </a:r>
          </a:p>
        </p:txBody>
      </p:sp>
      <p:sp>
        <p:nvSpPr>
          <p:cNvPr id="18" name="Oval 17"/>
          <p:cNvSpPr/>
          <p:nvPr/>
        </p:nvSpPr>
        <p:spPr>
          <a:xfrm>
            <a:off x="711200" y="35797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347103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X–Y needs 9 to be first again (at 8 it loses the tie to P–Q)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58790" y="1859280"/>
            <a:ext cx="2946399" cy="2578100"/>
          </a:xfrm>
          <a:prstGeom prst="roundRect">
            <a:avLst>
              <a:gd name="adj" fmla="val 1999"/>
            </a:avLst>
          </a:prstGeom>
          <a:solidFill>
            <a:srgbClr val="0D272D">
              <a:alpha val="96000"/>
            </a:srgbClr>
          </a:solidFill>
          <a:ln w="7365">
            <a:solidFill>
              <a:srgbClr val="24474D">
                <a:alpha val="9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49391" y="1923511"/>
            <a:ext cx="890549" cy="1392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1" b="1">
                <a:solidFill>
                  <a:srgbClr val="D8BB78"/>
                </a:solidFill>
                <a:latin typeface="Noto Sans SC"/>
                <a:ea typeface="Noto Sans SC"/>
              </a:rPr>
              <a:t>By direct weight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99830" y="1859280"/>
            <a:ext cx="2946399" cy="2578100"/>
          </a:xfrm>
          <a:prstGeom prst="roundRect">
            <a:avLst>
              <a:gd name="adj" fmla="val 1999"/>
            </a:avLst>
          </a:prstGeom>
          <a:solidFill>
            <a:srgbClr val="0D272D">
              <a:alpha val="96000"/>
            </a:srgbClr>
          </a:solidFill>
          <a:ln w="7365">
            <a:solidFill>
              <a:srgbClr val="24474D">
                <a:alpha val="9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890431" y="1923511"/>
            <a:ext cx="1166774" cy="1392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1" b="1">
                <a:solidFill>
                  <a:srgbClr val="D8BB78"/>
                </a:solidFill>
                <a:latin typeface="Noto Sans SC"/>
                <a:ea typeface="Noto Sans SC"/>
              </a:rPr>
              <a:t>By shared neighbours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06110" y="3565597"/>
            <a:ext cx="1039610" cy="0"/>
          </a:xfrm>
          <a:prstGeom prst="line">
            <a:avLst/>
          </a:prstGeom>
          <a:ln w="14731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141058" y="3352277"/>
            <a:ext cx="169712" cy="169712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155569" y="3356992"/>
            <a:ext cx="140690" cy="159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27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5706110" y="2583742"/>
            <a:ext cx="519805" cy="981855"/>
          </a:xfrm>
          <a:prstGeom prst="line">
            <a:avLst/>
          </a:prstGeom>
          <a:ln w="14731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803036" y="2908385"/>
            <a:ext cx="169712" cy="169712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817547" y="2913099"/>
            <a:ext cx="140690" cy="159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27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6225915" y="2583742"/>
            <a:ext cx="519805" cy="981855"/>
          </a:xfrm>
          <a:prstGeom prst="line">
            <a:avLst/>
          </a:prstGeom>
          <a:ln w="14731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322841" y="2991100"/>
            <a:ext cx="169712" cy="169712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337352" y="2995814"/>
            <a:ext cx="140690" cy="159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27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554306" y="2641498"/>
            <a:ext cx="693074" cy="924099"/>
          </a:xfrm>
          <a:prstGeom prst="line">
            <a:avLst/>
          </a:prstGeom>
          <a:ln w="25780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886700" y="2925585"/>
            <a:ext cx="169712" cy="169712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901211" y="2930299"/>
            <a:ext cx="140690" cy="159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27" b="1">
                <a:solidFill>
                  <a:srgbClr val="D8BB78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6" name="Oval 35"/>
          <p:cNvSpPr/>
          <p:nvPr/>
        </p:nvSpPr>
        <p:spPr>
          <a:xfrm>
            <a:off x="5558790" y="3418277"/>
            <a:ext cx="294640" cy="294640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626188" y="3482950"/>
            <a:ext cx="159842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6598400" y="3418277"/>
            <a:ext cx="294640" cy="294640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660274" y="3482950"/>
            <a:ext cx="170891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Q</a:t>
            </a:r>
          </a:p>
        </p:txBody>
      </p:sp>
      <p:sp>
        <p:nvSpPr>
          <p:cNvPr id="40" name="Oval 39"/>
          <p:cNvSpPr/>
          <p:nvPr/>
        </p:nvSpPr>
        <p:spPr>
          <a:xfrm>
            <a:off x="6078595" y="2436422"/>
            <a:ext cx="294640" cy="294640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145994" y="2501096"/>
            <a:ext cx="159842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R</a:t>
            </a:r>
          </a:p>
        </p:txBody>
      </p:sp>
      <p:sp>
        <p:nvSpPr>
          <p:cNvPr id="42" name="Oval 41"/>
          <p:cNvSpPr/>
          <p:nvPr/>
        </p:nvSpPr>
        <p:spPr>
          <a:xfrm>
            <a:off x="7370156" y="2457348"/>
            <a:ext cx="368299" cy="368299"/>
          </a:xfrm>
          <a:prstGeom prst="ellipse">
            <a:avLst/>
          </a:prstGeom>
          <a:noFill/>
          <a:ln w="18415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406986" y="2494178"/>
            <a:ext cx="294640" cy="294640"/>
          </a:xfrm>
          <a:prstGeom prst="ellipse">
            <a:avLst/>
          </a:prstGeom>
          <a:solidFill>
            <a:srgbClr val="8FB1E6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478068" y="2558852"/>
            <a:ext cx="152476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X</a:t>
            </a:r>
          </a:p>
        </p:txBody>
      </p:sp>
      <p:sp>
        <p:nvSpPr>
          <p:cNvPr id="45" name="Oval 44"/>
          <p:cNvSpPr/>
          <p:nvPr/>
        </p:nvSpPr>
        <p:spPr>
          <a:xfrm>
            <a:off x="8063230" y="3381447"/>
            <a:ext cx="368299" cy="368299"/>
          </a:xfrm>
          <a:prstGeom prst="ellipse">
            <a:avLst/>
          </a:prstGeom>
          <a:noFill/>
          <a:ln w="18415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8100059" y="3418277"/>
            <a:ext cx="294640" cy="294640"/>
          </a:xfrm>
          <a:prstGeom prst="ellipse">
            <a:avLst/>
          </a:prstGeom>
          <a:solidFill>
            <a:srgbClr val="8FB1E6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172983" y="3482950"/>
            <a:ext cx="148793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983980" y="3565597"/>
            <a:ext cx="1039610" cy="0"/>
          </a:xfrm>
          <a:prstGeom prst="line">
            <a:avLst/>
          </a:prstGeom>
          <a:ln w="25780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9418928" y="3352277"/>
            <a:ext cx="169712" cy="169712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433439" y="3356992"/>
            <a:ext cx="140690" cy="159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27" b="1">
                <a:solidFill>
                  <a:srgbClr val="D8BB78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8983980" y="2583742"/>
            <a:ext cx="519805" cy="981855"/>
          </a:xfrm>
          <a:prstGeom prst="line">
            <a:avLst/>
          </a:prstGeom>
          <a:ln w="25780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9080906" y="2908385"/>
            <a:ext cx="169712" cy="169712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095417" y="2913099"/>
            <a:ext cx="140690" cy="159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27" b="1">
                <a:solidFill>
                  <a:srgbClr val="D8BB78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54" name="Connector 53"/>
          <p:cNvCxnSpPr/>
          <p:nvPr/>
        </p:nvCxnSpPr>
        <p:spPr>
          <a:xfrm flipH="1" flipV="1">
            <a:off x="9503785" y="2583742"/>
            <a:ext cx="519805" cy="981855"/>
          </a:xfrm>
          <a:prstGeom prst="line">
            <a:avLst/>
          </a:prstGeom>
          <a:ln w="25780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9600711" y="2991100"/>
            <a:ext cx="169712" cy="169712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615222" y="2995814"/>
            <a:ext cx="140690" cy="159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27" b="1">
                <a:solidFill>
                  <a:srgbClr val="D8BB78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832176" y="2641498"/>
            <a:ext cx="693074" cy="924099"/>
          </a:xfrm>
          <a:prstGeom prst="line">
            <a:avLst/>
          </a:prstGeom>
          <a:ln w="14731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11164570" y="2925585"/>
            <a:ext cx="169712" cy="169712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11179081" y="2930299"/>
            <a:ext cx="140690" cy="159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27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60" name="Oval 59"/>
          <p:cNvSpPr/>
          <p:nvPr/>
        </p:nvSpPr>
        <p:spPr>
          <a:xfrm>
            <a:off x="8799830" y="3381447"/>
            <a:ext cx="368299" cy="368299"/>
          </a:xfrm>
          <a:prstGeom prst="ellipse">
            <a:avLst/>
          </a:prstGeom>
          <a:noFill/>
          <a:ln w="18415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8836660" y="3418277"/>
            <a:ext cx="294640" cy="294640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904058" y="3482950"/>
            <a:ext cx="159842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P</a:t>
            </a:r>
          </a:p>
        </p:txBody>
      </p:sp>
      <p:sp>
        <p:nvSpPr>
          <p:cNvPr id="63" name="Oval 62"/>
          <p:cNvSpPr/>
          <p:nvPr/>
        </p:nvSpPr>
        <p:spPr>
          <a:xfrm>
            <a:off x="9839440" y="3381447"/>
            <a:ext cx="368299" cy="368299"/>
          </a:xfrm>
          <a:prstGeom prst="ellipse">
            <a:avLst/>
          </a:prstGeom>
          <a:noFill/>
          <a:ln w="18415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9876270" y="3418277"/>
            <a:ext cx="294640" cy="294640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9938144" y="3482950"/>
            <a:ext cx="170891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Q</a:t>
            </a:r>
          </a:p>
        </p:txBody>
      </p:sp>
      <p:sp>
        <p:nvSpPr>
          <p:cNvPr id="66" name="Oval 65"/>
          <p:cNvSpPr/>
          <p:nvPr/>
        </p:nvSpPr>
        <p:spPr>
          <a:xfrm>
            <a:off x="9356465" y="2436422"/>
            <a:ext cx="294640" cy="294640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9423864" y="2501096"/>
            <a:ext cx="159842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R</a:t>
            </a:r>
          </a:p>
        </p:txBody>
      </p:sp>
      <p:sp>
        <p:nvSpPr>
          <p:cNvPr id="68" name="Oval 67"/>
          <p:cNvSpPr/>
          <p:nvPr/>
        </p:nvSpPr>
        <p:spPr>
          <a:xfrm>
            <a:off x="10684856" y="2494178"/>
            <a:ext cx="294640" cy="294640"/>
          </a:xfrm>
          <a:prstGeom prst="ellipse">
            <a:avLst/>
          </a:prstGeom>
          <a:solidFill>
            <a:srgbClr val="8FB1E6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10755938" y="2558852"/>
            <a:ext cx="152476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X</a:t>
            </a:r>
          </a:p>
        </p:txBody>
      </p:sp>
      <p:sp>
        <p:nvSpPr>
          <p:cNvPr id="70" name="Oval 69"/>
          <p:cNvSpPr/>
          <p:nvPr/>
        </p:nvSpPr>
        <p:spPr>
          <a:xfrm>
            <a:off x="11377930" y="3418277"/>
            <a:ext cx="294640" cy="294640"/>
          </a:xfrm>
          <a:prstGeom prst="ellipse">
            <a:avLst/>
          </a:prstGeom>
          <a:solidFill>
            <a:srgbClr val="8FB1E6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11450853" y="3482950"/>
            <a:ext cx="148793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059983" y="2208076"/>
            <a:ext cx="887603" cy="162052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7365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9088711" y="2243139"/>
            <a:ext cx="830148" cy="11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95" b="1">
                <a:solidFill>
                  <a:srgbClr val="D8BB78"/>
                </a:solidFill>
                <a:latin typeface="Noto Sans SC"/>
                <a:ea typeface="Noto Sans SC"/>
              </a:rPr>
              <a:t>via R: min(4, 4) = 4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567932" y="4164838"/>
            <a:ext cx="928116" cy="169418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7365">
            <a:solidFill>
              <a:srgbClr val="8FB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6594449" y="4199752"/>
            <a:ext cx="875080" cy="12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3" b="1">
                <a:solidFill>
                  <a:srgbClr val="8FB1E6"/>
                </a:solidFill>
                <a:latin typeface="Noto Sans SC"/>
                <a:ea typeface="Noto Sans SC"/>
              </a:rPr>
              <a:t>first pair: X–Y @ 5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797923" y="4164838"/>
            <a:ext cx="950213" cy="169418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7365">
            <a:solidFill>
              <a:srgbClr val="77C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9824440" y="4199752"/>
            <a:ext cx="897178" cy="12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3" b="1">
                <a:solidFill>
                  <a:srgbClr val="77CDBB"/>
                </a:solidFill>
                <a:latin typeface="Noto Sans SC"/>
                <a:ea typeface="Noto Sans SC"/>
              </a:rPr>
              <a:t>first pair: P–Q @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550291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How wide nets dilute: pin-count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0980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Affinity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p8/12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82480" y="377952"/>
            <a:ext cx="198373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Film "The essentials" 01:18</a:t>
            </a:r>
          </a:p>
        </p:txBody>
      </p:sp>
      <p:sp>
        <p:nvSpPr>
          <p:cNvPr id="10" name="Oval 9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Tiny netlist: two five-pin nets connect A–E; the private net n1 connects only E and F</a:t>
            </a:r>
          </a:p>
        </p:txBody>
      </p:sp>
      <p:sp>
        <p:nvSpPr>
          <p:cNvPr id="12" name="Oval 11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By net count: A–B = 2, E–F = 1</a:t>
            </a:r>
          </a:p>
        </p:txBody>
      </p:sp>
      <p:sp>
        <p:nvSpPr>
          <p:cNvPr id="14" name="Oval 13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pin-count = Σ w(e) / (|e| − 1)</a:t>
            </a:r>
          </a:p>
        </p:txBody>
      </p:sp>
      <p:sp>
        <p:nvSpPr>
          <p:cNvPr id="16" name="Oval 15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039236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A–B = 1/4 + 1/4 = 0.5; E–F = 1/(2 − 1) = 1</a:t>
            </a:r>
          </a:p>
        </p:txBody>
      </p:sp>
      <p:sp>
        <p:nvSpPr>
          <p:cNvPr id="18" name="Oval 17"/>
          <p:cNvSpPr/>
          <p:nvPr/>
        </p:nvSpPr>
        <p:spPr>
          <a:xfrm>
            <a:off x="711200" y="35797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34710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77CDBB"/>
                </a:solidFill>
                <a:latin typeface="Noto Sans SC"/>
                <a:ea typeface="Noto Sans SC"/>
              </a:rPr>
              <a:t>Shared out, the private link E–F comes first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13450" y="2162175"/>
            <a:ext cx="4102100" cy="971550"/>
          </a:xfrm>
          <a:prstGeom prst="roundRect">
            <a:avLst>
              <a:gd name="adj" fmla="val 33333"/>
            </a:avLst>
          </a:prstGeom>
          <a:noFill/>
          <a:ln w="2159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878512" y="2000250"/>
            <a:ext cx="4371975" cy="1295400"/>
          </a:xfrm>
          <a:prstGeom prst="roundRect">
            <a:avLst>
              <a:gd name="adj" fmla="val 33333"/>
            </a:avLst>
          </a:prstGeom>
          <a:noFill/>
          <a:ln w="21590">
            <a:solidFill>
              <a:srgbClr val="C2A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9305925" y="2270125"/>
            <a:ext cx="755650" cy="1943100"/>
          </a:xfrm>
          <a:prstGeom prst="roundRect">
            <a:avLst>
              <a:gd name="adj" fmla="val 42857"/>
            </a:avLst>
          </a:prstGeom>
          <a:noFill/>
          <a:ln w="26987">
            <a:solidFill>
              <a:srgbClr val="77C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60408" y="1770748"/>
            <a:ext cx="1368805" cy="189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5" b="1">
                <a:solidFill>
                  <a:srgbClr val="D8BB78"/>
                </a:solidFill>
                <a:latin typeface="Noto Sans SC"/>
                <a:ea typeface="Noto Sans SC"/>
              </a:rPr>
              <a:t>net enable (5 pins)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60408" y="3368408"/>
            <a:ext cx="1250061" cy="189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5" b="1">
                <a:solidFill>
                  <a:srgbClr val="C2A6E6"/>
                </a:solidFill>
                <a:latin typeface="Noto Sans SC"/>
                <a:ea typeface="Noto Sans SC"/>
              </a:rPr>
              <a:t>net reset (5 pins)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1522" y="4339958"/>
            <a:ext cx="1644078" cy="189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5" b="1">
                <a:solidFill>
                  <a:srgbClr val="77CDBB"/>
                </a:solidFill>
                <a:latin typeface="Noto Sans SC"/>
                <a:ea typeface="Noto Sans SC"/>
              </a:rPr>
              <a:t>net n1 (2 pins, private)</a:t>
            </a:r>
          </a:p>
        </p:txBody>
      </p:sp>
      <p:sp>
        <p:nvSpPr>
          <p:cNvPr id="26" name="Oval 25"/>
          <p:cNvSpPr/>
          <p:nvPr/>
        </p:nvSpPr>
        <p:spPr>
          <a:xfrm>
            <a:off x="6240145" y="2442845"/>
            <a:ext cx="410209" cy="410209"/>
          </a:xfrm>
          <a:prstGeom prst="ellipse">
            <a:avLst/>
          </a:prstGeom>
          <a:solidFill>
            <a:srgbClr val="A9BDB8"/>
          </a:solidFill>
          <a:ln w="16192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30823" y="2526830"/>
            <a:ext cx="228854" cy="2477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45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28" name="Oval 27"/>
          <p:cNvSpPr/>
          <p:nvPr/>
        </p:nvSpPr>
        <p:spPr>
          <a:xfrm>
            <a:off x="7049770" y="2442845"/>
            <a:ext cx="410209" cy="410209"/>
          </a:xfrm>
          <a:prstGeom prst="ellipse">
            <a:avLst/>
          </a:prstGeom>
          <a:solidFill>
            <a:srgbClr val="A9BDB8"/>
          </a:solidFill>
          <a:ln w="16192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7749" y="2526830"/>
            <a:ext cx="234251" cy="2477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45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30" name="Oval 29"/>
          <p:cNvSpPr/>
          <p:nvPr/>
        </p:nvSpPr>
        <p:spPr>
          <a:xfrm>
            <a:off x="7859395" y="2442845"/>
            <a:ext cx="410209" cy="410209"/>
          </a:xfrm>
          <a:prstGeom prst="ellipse">
            <a:avLst/>
          </a:prstGeom>
          <a:solidFill>
            <a:srgbClr val="A9BDB8"/>
          </a:solidFill>
          <a:ln w="16192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950073" y="2526830"/>
            <a:ext cx="228854" cy="2477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45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32" name="Oval 31"/>
          <p:cNvSpPr/>
          <p:nvPr/>
        </p:nvSpPr>
        <p:spPr>
          <a:xfrm>
            <a:off x="8669020" y="2442845"/>
            <a:ext cx="410209" cy="410209"/>
          </a:xfrm>
          <a:prstGeom prst="ellipse">
            <a:avLst/>
          </a:prstGeom>
          <a:solidFill>
            <a:srgbClr val="A9BDB8"/>
          </a:solidFill>
          <a:ln w="16192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754300" y="2526830"/>
            <a:ext cx="239648" cy="2477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45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34" name="Oval 33"/>
          <p:cNvSpPr/>
          <p:nvPr/>
        </p:nvSpPr>
        <p:spPr>
          <a:xfrm>
            <a:off x="9424670" y="2388870"/>
            <a:ext cx="518159" cy="518159"/>
          </a:xfrm>
          <a:prstGeom prst="ellipse">
            <a:avLst/>
          </a:prstGeom>
          <a:noFill/>
          <a:ln w="26987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9478645" y="2442845"/>
            <a:ext cx="410209" cy="410209"/>
          </a:xfrm>
          <a:prstGeom prst="ellipse">
            <a:avLst/>
          </a:prstGeom>
          <a:solidFill>
            <a:srgbClr val="A9BDB8"/>
          </a:solidFill>
          <a:ln w="16192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572021" y="2526830"/>
            <a:ext cx="223456" cy="2477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45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37" name="Oval 36"/>
          <p:cNvSpPr/>
          <p:nvPr/>
        </p:nvSpPr>
        <p:spPr>
          <a:xfrm>
            <a:off x="9424670" y="3576320"/>
            <a:ext cx="518159" cy="518159"/>
          </a:xfrm>
          <a:prstGeom prst="ellipse">
            <a:avLst/>
          </a:prstGeom>
          <a:noFill/>
          <a:ln w="26987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9478645" y="3630295"/>
            <a:ext cx="410209" cy="410209"/>
          </a:xfrm>
          <a:prstGeom prst="ellipse">
            <a:avLst/>
          </a:prstGeom>
          <a:solidFill>
            <a:srgbClr val="A9BDB8"/>
          </a:solidFill>
          <a:ln w="16192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574720" y="3714280"/>
            <a:ext cx="218059" cy="2477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45" b="1">
                <a:solidFill>
                  <a:srgbClr val="0B1B1F"/>
                </a:solidFill>
                <a:latin typeface="Noto Sans SC"/>
                <a:ea typeface="Noto Sans SC"/>
              </a:rPr>
              <a:t>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55840" y="4809236"/>
            <a:ext cx="10807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CD2D0"/>
                </a:solidFill>
                <a:latin typeface="Noto Sans SC"/>
                <a:ea typeface="Noto Sans SC"/>
              </a:rPr>
              <a:t>net count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4809236"/>
            <a:ext cx="11061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CD2D0"/>
                </a:solidFill>
                <a:latin typeface="Noto Sans SC"/>
                <a:ea typeface="Noto Sans SC"/>
              </a:rPr>
              <a:t>pin-count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375400" y="5118100"/>
            <a:ext cx="41656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2070" y="5202428"/>
            <a:ext cx="54991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A–B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54570" y="5202428"/>
            <a:ext cx="264159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5570" y="5202428"/>
            <a:ext cx="454659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0.5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24600" y="5575300"/>
            <a:ext cx="4305300" cy="393700"/>
          </a:xfrm>
          <a:prstGeom prst="roundRect">
            <a:avLst>
              <a:gd name="adj" fmla="val 12903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02070" y="5621528"/>
            <a:ext cx="518159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E–F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54570" y="5621528"/>
            <a:ext cx="264159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5570" y="5621528"/>
            <a:ext cx="264159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495681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The pseudocode, line by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0980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Affinity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p9/12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Line 1: visit every unordered pair, including pairs with no direct edge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Line 2: with no edge, start from 0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Lines 3–4: add the weaker edge for each shared neighbour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4610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35229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Line 5: record positive scores only (a stated policy)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420585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409714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Lines 6–7: stable sort; output the ranking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53100" y="1574800"/>
            <a:ext cx="5715000" cy="3124200"/>
          </a:xfrm>
          <a:prstGeom prst="roundRect">
            <a:avLst>
              <a:gd name="adj" fmla="val 2439"/>
            </a:avLst>
          </a:prstGeom>
          <a:solidFill>
            <a:srgbClr val="0A1C1F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899150" y="17754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9345" y="1736598"/>
            <a:ext cx="28232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for each unordered pair (u, v), u &lt; v: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9150" y="21818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9345" y="2142998"/>
            <a:ext cx="7023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    score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2595" y="2142998"/>
            <a:ext cx="264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7695" y="2142998"/>
            <a:ext cx="20675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 w(u, v), or 0 with no edge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53100" y="2514600"/>
            <a:ext cx="5715000" cy="3937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753100" y="2514600"/>
            <a:ext cx="38100" cy="3937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899150" y="25882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9345" y="2549398"/>
            <a:ext cx="24422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   for each shared neighbour x: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53100" y="2921000"/>
            <a:ext cx="5715000" cy="3937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753100" y="2921000"/>
            <a:ext cx="38100" cy="3937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899150" y="29946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9345" y="2955798"/>
            <a:ext cx="8547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       score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4995" y="2955798"/>
            <a:ext cx="264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0095" y="2955798"/>
            <a:ext cx="21501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score + min(w(u,x), w(v,x))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9150" y="34010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9345" y="3362198"/>
            <a:ext cx="2556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    if score &gt; 0: record (u, v, score)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9150" y="38074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9345" y="3768598"/>
            <a:ext cx="7277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sort by (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7995" y="3768598"/>
            <a:ext cx="1879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6895" y="3768598"/>
            <a:ext cx="9245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score, u, v)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9150" y="42138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9345" y="4174998"/>
            <a:ext cx="27978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return the ranking (not a grouping)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31851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Common mistakes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0980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Affinity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9098"/>
            <a:ext cx="651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p10/12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Shared neighbours on existing edges only: missing B–D and 3 other pairs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Thinking every clustering algorithm merges the top pair first: LP, spectral and KL/FM do not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Not sharing wide nets out: A–B at 2 beats the private E–F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Ties that depend on input order: A–B and D–E swap places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Treating affinity as a distance or a probability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626491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Back to the chip: meaning and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0980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Affinity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9098"/>
            <a:ext cx="651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p11/12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The score decides what gets glued first, which shapes later merging and long cross-region wires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Say where edge weights come from: wire counts, signal importance, or a conversion from nets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The small graphs in this course are invented teaching values, not chip measurements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Shared neighbours check about n(n−1)/2 pairs; large netlists must enumerate along adjacency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The clique model is only one approximation of a multi-pin net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8262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20980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Affinity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9098"/>
            <a:ext cx="651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p12/12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1897380"/>
            <a:ext cx="10350500" cy="1104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3000" b="0">
                <a:solidFill>
                  <a:srgbClr val="D8BB78"/>
                </a:solidFill>
                <a:latin typeface="Noto Sans SC"/>
                <a:ea typeface="Noto Sans SC"/>
              </a:rPr>
              <a:t>A score ranks; it does not group. Say which model you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335274"/>
            <a:ext cx="10280650" cy="6997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Direct weight looks at one wire, shared neighbours at a tight group, pin-count dilutes wide nets.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25544"/>
            <a:ext cx="10280650" cy="6997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Next module: the summed weight between clusters as the affinity, and greedy merging begins.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02 Affinity Metrics</dc:title>
  <dc:subject/>
  <dc:creator>Learning Clustering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