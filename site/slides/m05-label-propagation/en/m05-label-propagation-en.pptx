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about label propagation. Each node looks at its neighbours' current labels and joins the most strongly connected group. It merges no nodes and needs no number of clusters; we will see how it stops, and how it can fall into oscillation.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fictional contact list. Each person checks which circle their friends are in right now, then joins the one they are most connected to. Repeat a few rounds and the circles appear by themselves: after three rounds there are three circles, and only ties of weight 4 are cut. The method comes from the 2007 paper by Raghavan, Albert and Kumara.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chip poses the same problem: short wires inside a block, long wires between blocks. On this fictional circuit, cutting it into three blocks by position cuts 88. Trying every split is impossible too. We need a local rule that only looks at neighbours.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input is a graph and a set of rules: the visiting order, synchronous or asynchronous updates, the tie rule and the maximum number of rounds. At the start every node's label is its own name. The output is the final labels, the groups, every vote in detail, the cut, the number of rounds and the stopping status. It needs no K and merges no nodes.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update looks only at that node's neighbours. When it is C's turn, A has already switched to label B and B carries B, so label B gets 1 plus 4, which is 5; D gets 2 and E gets 1. C's label becomes B, but it is still node C. What counts is total weight, not the number of neighbours.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asynchronous updates each new label is written back immediately, so later nodes see it at once. Round 1 ends at B B B E E with three changes. Round 2 changes nothing, and only that confirms stability: two rounds in all, cut 3. Visiting from E to A instead gives the same groups but takes three rounds.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synchronous updates every node reads the same old snapshot and all changes are committed at the end of the round. Two nodes swap labels and then swap back, forever. G01 oscillates with period 2 in synchronous mode too. Keep stable, cycle and limit apart; only stable may be called converged.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Ties need a deterministic rule; this course implements three. Set the weight of C–D to 10 and rerun from the initial labels: D pulls C over, giving AB against CDE, cut 5. When you compare settings, always restart from the same initial state.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24-cell circuit. Label propagation stops after five rounds and cuts only 2, while the ruler cuts 88. But this is a fictional teaching graph; it does not show optimality in general.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4 of the pseudocode adds up edge weights per neighbour label, which is count_votes in Python; line 5 handles ties; lines 6 and 7 are the only difference between asynchronous and synchronous updates; line 8 decides stable or cycle.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treating the label as the name; counting neighbours instead of weight; calling it converged when one node did not change; calling an oscillation unfinished or converged; and comparing two results by their label names.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a name is identity and a label is membership; each node looks at its neighbours and follows the strongest. Only a whole round with no change is stable; synchronous updates can oscillate, and that must be reported as a cycle. The next module stops voting locally and instead orders the nodes by the spectrum of the whole graph before making one cut.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 name="Connector 3"/>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6" name="TextBox 5"/>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p1/12</a:t>
            </a:r>
          </a:p>
        </p:txBody>
      </p:sp>
      <p:sp>
        <p:nvSpPr>
          <p:cNvPr id="7" name="TextBox 6"/>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00:00</a:t>
            </a:r>
          </a:p>
        </p:txBody>
      </p:sp>
      <p:sp>
        <p:nvSpPr>
          <p:cNvPr id="8" name="TextBox 7"/>
          <p:cNvSpPr txBox="1"/>
          <p:nvPr/>
        </p:nvSpPr>
        <p:spPr>
          <a:xfrm>
            <a:off x="1075054" y="2310892"/>
            <a:ext cx="10041890" cy="891540"/>
          </a:xfrm>
          <a:prstGeom prst="rect">
            <a:avLst/>
          </a:prstGeom>
          <a:noFill/>
        </p:spPr>
        <p:txBody>
          <a:bodyPr wrap="none" lIns="0" rIns="0" tIns="0" bIns="0">
            <a:spAutoFit/>
          </a:bodyPr>
          <a:lstStyle/>
          <a:p>
            <a:pPr algn="ctr"/>
            <a:r>
              <a:rPr sz="5200" b="0">
                <a:solidFill>
                  <a:srgbClr val="D8BB78"/>
                </a:solidFill>
                <a:latin typeface="Noto Sans SC"/>
                <a:ea typeface="Noto Sans SC"/>
              </a:rPr>
              <a:t>Where Do Clusters Come From?</a:t>
            </a:r>
          </a:p>
        </p:txBody>
      </p:sp>
      <p:sp>
        <p:nvSpPr>
          <p:cNvPr id="9" name="TextBox 8"/>
          <p:cNvSpPr txBox="1"/>
          <p:nvPr/>
        </p:nvSpPr>
        <p:spPr>
          <a:xfrm>
            <a:off x="2894330" y="3335782"/>
            <a:ext cx="6403340" cy="291465"/>
          </a:xfrm>
          <a:prstGeom prst="rect">
            <a:avLst/>
          </a:prstGeom>
          <a:noFill/>
        </p:spPr>
        <p:txBody>
          <a:bodyPr wrap="none" lIns="0" rIns="0" tIns="0" bIns="0">
            <a:spAutoFit/>
          </a:bodyPr>
          <a:lstStyle/>
          <a:p>
            <a:pPr algn="ctr"/>
            <a:r>
              <a:rPr sz="1700" b="0">
                <a:solidFill>
                  <a:srgbClr val="BCD2D0"/>
                </a:solidFill>
                <a:latin typeface="Noto Sans SC"/>
                <a:ea typeface="Noto Sans SC"/>
              </a:rPr>
              <a:t>Label propagation · a name is identity, a label is membership</a:t>
            </a:r>
          </a:p>
        </p:txBody>
      </p:sp>
      <p:sp>
        <p:nvSpPr>
          <p:cNvPr id="10" name="TextBox 9"/>
          <p:cNvSpPr txBox="1"/>
          <p:nvPr/>
        </p:nvSpPr>
        <p:spPr>
          <a:xfrm>
            <a:off x="3737610" y="4136644"/>
            <a:ext cx="4716780" cy="240030"/>
          </a:xfrm>
          <a:prstGeom prst="rect">
            <a:avLst/>
          </a:prstGeom>
          <a:noFill/>
        </p:spPr>
        <p:txBody>
          <a:bodyPr wrap="none" lIns="0" rIns="0" tIns="0" bIns="0">
            <a:spAutoFit/>
          </a:bodyPr>
          <a:lstStyle/>
          <a:p>
            <a:pPr algn="ctr"/>
            <a:r>
              <a:rPr sz="1400" b="0">
                <a:solidFill>
                  <a:srgbClr val="6F8F8F"/>
                </a:solidFill>
                <a:latin typeface="Noto Sans SC"/>
                <a:ea typeface="Noto Sans SC"/>
              </a:rPr>
              <a:t>Learning Clustering · original author Su3037 (Issue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934460" cy="480060"/>
          </a:xfrm>
          <a:prstGeom prst="rect">
            <a:avLst/>
          </a:prstGeom>
          <a:noFill/>
        </p:spPr>
        <p:txBody>
          <a:bodyPr wrap="none" lIns="0" rIns="0" tIns="0" bIns="0">
            <a:spAutoFit/>
          </a:bodyPr>
          <a:lstStyle/>
          <a:p>
            <a:pPr algn="l"/>
            <a:r>
              <a:rPr sz="2800" b="0">
                <a:solidFill>
                  <a:srgbClr val="F2F3E9"/>
                </a:solidFill>
                <a:latin typeface="Noto Sans SC"/>
                <a:ea typeface="Noto Sans SC"/>
              </a:rPr>
              <a:t>Circles in a contact list</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p2/12</a:t>
            </a:r>
          </a:p>
        </p:txBody>
      </p:sp>
      <p:sp>
        <p:nvSpPr>
          <p:cNvPr id="9" name="TextBox 8"/>
          <p:cNvSpPr txBox="1"/>
          <p:nvPr/>
        </p:nvSpPr>
        <p:spPr>
          <a:xfrm>
            <a:off x="8475980" y="377952"/>
            <a:ext cx="3190240"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"Where Do Clusters Come From?" 00:34</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fictional contact list: 28 people, 61 ties (the original author's data)</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Rule: see which circle your friends are in now, and join the one you are most connected to</a:t>
            </a:r>
          </a:p>
        </p:txBody>
      </p:sp>
      <p:sp>
        <p:nvSpPr>
          <p:cNvPr id="14" name="Oval 13"/>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9204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Repeat for a few rounds and the circles appear on their own: 8 + 10 + 10</a:t>
            </a:r>
          </a:p>
        </p:txBody>
      </p:sp>
      <p:sp>
        <p:nvSpPr>
          <p:cNvPr id="16" name="Oval 15"/>
          <p:cNvSpPr/>
          <p:nvPr/>
        </p:nvSpPr>
        <p:spPr>
          <a:xfrm>
            <a:off x="711200" y="37740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66534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Raghavan, Albert &amp; Kumara, 2007</a:t>
            </a:r>
          </a:p>
        </p:txBody>
      </p:sp>
      <p:sp>
        <p:nvSpPr>
          <p:cNvPr id="18" name="TextBox 17"/>
          <p:cNvSpPr txBox="1"/>
          <p:nvPr/>
        </p:nvSpPr>
        <p:spPr>
          <a:xfrm>
            <a:off x="698500" y="5546598"/>
            <a:ext cx="4908550" cy="718185"/>
          </a:xfrm>
          <a:prstGeom prst="rect">
            <a:avLst/>
          </a:prstGeom>
          <a:noFill/>
        </p:spPr>
        <p:txBody>
          <a:bodyPr wrap="square" lIns="0" rIns="0" tIns="0" bIns="0">
            <a:spAutoFit/>
          </a:bodyPr>
          <a:lstStyle/>
          <a:p>
            <a:pPr algn="l">
              <a:lnSpc>
                <a:spcPct val="121800"/>
              </a:lnSpc>
            </a:pPr>
            <a:r>
              <a:rPr sz="1300" b="0">
                <a:solidFill>
                  <a:srgbClr val="BCD2D0"/>
                </a:solidFill>
                <a:latin typeface="Noto Sans SC"/>
                <a:ea typeface="Noto Sans SC"/>
              </a:rPr>
              <a:t>The analogy only says the structure (nodes, edges, weights) is the same; it says nothing about which circle real people belong to.</a:t>
            </a:r>
          </a:p>
        </p:txBody>
      </p:sp>
      <p:cxnSp>
        <p:nvCxnSpPr>
          <p:cNvPr id="19" name="Connector 18"/>
          <p:cNvCxnSpPr/>
          <p:nvPr/>
        </p:nvCxnSpPr>
        <p:spPr>
          <a:xfrm>
            <a:off x="6489801" y="2943008"/>
            <a:ext cx="692155" cy="6715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489801" y="2943008"/>
            <a:ext cx="0" cy="123968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797645" y="2943008"/>
            <a:ext cx="692156" cy="117253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715000" y="2943008"/>
            <a:ext cx="774801" cy="61984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797645" y="2943008"/>
            <a:ext cx="692156" cy="6715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797645" y="3010158"/>
            <a:ext cx="1384311"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5797645" y="3562849"/>
            <a:ext cx="1466957" cy="55269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715000" y="3562849"/>
            <a:ext cx="1549602"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5797645" y="3010158"/>
            <a:ext cx="1466957" cy="55269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5715000" y="3562849"/>
            <a:ext cx="1466956" cy="55269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5797645" y="3010158"/>
            <a:ext cx="1384311" cy="110538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5797645" y="4115541"/>
            <a:ext cx="692156" cy="6714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5715000" y="3562849"/>
            <a:ext cx="774801" cy="61984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555937" y="2204365"/>
            <a:ext cx="578518" cy="1549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555937" y="2219861"/>
            <a:ext cx="454550" cy="112087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817293" y="2219861"/>
            <a:ext cx="738644" cy="42872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134455" y="2204365"/>
            <a:ext cx="160125" cy="44421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621010" y="2204365"/>
            <a:ext cx="1513445" cy="87810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817293" y="2204365"/>
            <a:ext cx="1317162" cy="44421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7977419" y="2204365"/>
            <a:ext cx="1157036"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94580" y="2648584"/>
            <a:ext cx="196283" cy="43388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9010487" y="2648584"/>
            <a:ext cx="284093"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101387" y="2648584"/>
            <a:ext cx="1193193"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621010" y="2648584"/>
            <a:ext cx="1673570" cy="43388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817293" y="2648584"/>
            <a:ext cx="1477287"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7977419" y="2204365"/>
            <a:ext cx="1317161" cy="44421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010487" y="3082473"/>
            <a:ext cx="480376" cy="2582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817293" y="2648584"/>
            <a:ext cx="1673570" cy="43388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101387" y="3340740"/>
            <a:ext cx="909100"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7621010" y="3082473"/>
            <a:ext cx="1389477" cy="2582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7977419" y="2204365"/>
            <a:ext cx="1033068" cy="113637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8101387" y="3340740"/>
            <a:ext cx="454550" cy="28409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7817293" y="2648584"/>
            <a:ext cx="284094"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7621010" y="2204365"/>
            <a:ext cx="356409" cy="87810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622073" y="2979166"/>
            <a:ext cx="578518" cy="1549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622073" y="2994662"/>
            <a:ext cx="738644" cy="42872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622073" y="2994662"/>
            <a:ext cx="934927" cy="86261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622073" y="2994662"/>
            <a:ext cx="454550" cy="112087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622073" y="2994662"/>
            <a:ext cx="0" cy="140497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687146" y="2994662"/>
            <a:ext cx="934927" cy="86261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9883429" y="2994662"/>
            <a:ext cx="738644" cy="42872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1200591" y="2979166"/>
            <a:ext cx="160126" cy="44421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1200591" y="2979166"/>
            <a:ext cx="356409" cy="87810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0622073" y="2979166"/>
            <a:ext cx="578518" cy="142046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0043555" y="2979166"/>
            <a:ext cx="1157036"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360717" y="3423385"/>
            <a:ext cx="196283" cy="43388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1076623" y="3423385"/>
            <a:ext cx="284094"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0167523" y="3423385"/>
            <a:ext cx="1193194"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1076623" y="3857274"/>
            <a:ext cx="480377" cy="2582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167523" y="3857274"/>
            <a:ext cx="1389477" cy="2582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687146" y="3857274"/>
            <a:ext cx="1869854" cy="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9687146" y="3857274"/>
            <a:ext cx="1389477" cy="2582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9883429" y="3423385"/>
            <a:ext cx="1193194"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9687146" y="3857274"/>
            <a:ext cx="934927" cy="54236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0043555" y="2979166"/>
            <a:ext cx="578518" cy="142046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9687146" y="3857274"/>
            <a:ext cx="480377" cy="2582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9883429" y="3423385"/>
            <a:ext cx="284094" cy="6921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181956" y="3423385"/>
            <a:ext cx="4178761" cy="692156"/>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7181956" y="2648584"/>
            <a:ext cx="635337" cy="1466957"/>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181956" y="2979166"/>
            <a:ext cx="2861599" cy="30992"/>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797645" y="2979166"/>
            <a:ext cx="4245910" cy="30992"/>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6400901" y="2854108"/>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7093056" y="2921258"/>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7175702" y="3473949"/>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7093056" y="4026641"/>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6400901" y="4093790"/>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5708745" y="4026641"/>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5626100" y="3473949"/>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5708745" y="2921258"/>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8467037" y="2130961"/>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9045555" y="2115465"/>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9205680" y="2559684"/>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9401963" y="2993573"/>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8921587" y="3251840"/>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8467037" y="3535933"/>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8012487" y="3251840"/>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7532110" y="2993573"/>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7728393" y="2559684"/>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7888519" y="2115465"/>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Oval 97"/>
          <p:cNvSpPr/>
          <p:nvPr/>
        </p:nvSpPr>
        <p:spPr>
          <a:xfrm>
            <a:off x="10533173" y="2905762"/>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11111691" y="2890266"/>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Oval 99"/>
          <p:cNvSpPr/>
          <p:nvPr/>
        </p:nvSpPr>
        <p:spPr>
          <a:xfrm>
            <a:off x="11271817" y="3334485"/>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11468100" y="3768374"/>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Oval 101"/>
          <p:cNvSpPr/>
          <p:nvPr/>
        </p:nvSpPr>
        <p:spPr>
          <a:xfrm>
            <a:off x="10987723" y="4026641"/>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Oval 102"/>
          <p:cNvSpPr/>
          <p:nvPr/>
        </p:nvSpPr>
        <p:spPr>
          <a:xfrm>
            <a:off x="10533173" y="4310734"/>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Oval 103"/>
          <p:cNvSpPr/>
          <p:nvPr/>
        </p:nvSpPr>
        <p:spPr>
          <a:xfrm>
            <a:off x="10078623" y="4026641"/>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9598246" y="3768374"/>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Oval 105"/>
          <p:cNvSpPr/>
          <p:nvPr/>
        </p:nvSpPr>
        <p:spPr>
          <a:xfrm>
            <a:off x="9794529" y="3334485"/>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9954655" y="2890266"/>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7454900" y="5689600"/>
            <a:ext cx="236220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7500620" y="5749798"/>
            <a:ext cx="22707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stable after 3 rounds, cut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8107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same problem in a chip</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p3/12</a:t>
            </a:r>
          </a:p>
        </p:txBody>
      </p:sp>
      <p:sp>
        <p:nvSpPr>
          <p:cNvPr id="9" name="TextBox 8"/>
          <p:cNvSpPr txBox="1"/>
          <p:nvPr/>
        </p:nvSpPr>
        <p:spPr>
          <a:xfrm>
            <a:off x="8475980" y="377952"/>
            <a:ext cx="3190240"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"Where Do Clusters Come From?" 00:51</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24 cells, 56 wires, total weight 202 (fictional)</a:t>
            </a:r>
          </a:p>
        </p:txBody>
      </p:sp>
      <p:sp>
        <p:nvSpPr>
          <p:cNvPr id="12" name="Oval 11"/>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Cutting it into three blocks by position with a ruler cuts 88</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Brute force is hopeless: 1,577,585,295 ways to split into three equal groups</a:t>
            </a:r>
          </a:p>
        </p:txBody>
      </p:sp>
      <p:sp>
        <p:nvSpPr>
          <p:cNvPr id="16" name="Oval 15"/>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We need a local rule that only looks at neighbours</a:t>
            </a:r>
          </a:p>
        </p:txBody>
      </p:sp>
      <p:cxnSp>
        <p:nvCxnSpPr>
          <p:cNvPr id="18" name="Connector 17"/>
          <p:cNvCxnSpPr/>
          <p:nvPr/>
        </p:nvCxnSpPr>
        <p:spPr>
          <a:xfrm flipV="1">
            <a:off x="5715000" y="1870137"/>
            <a:ext cx="1348153" cy="39211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715000" y="1949440"/>
            <a:ext cx="2423152" cy="312807"/>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715000" y="2262247"/>
            <a:ext cx="48463" cy="57715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15000" y="2262247"/>
            <a:ext cx="1193953" cy="72254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63153" y="1870137"/>
            <a:ext cx="1074999" cy="79303"/>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063153" y="1870137"/>
            <a:ext cx="2053071" cy="559528"/>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763463" y="1870137"/>
            <a:ext cx="1299690" cy="96926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908953" y="1870137"/>
            <a:ext cx="154200" cy="111465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38152" y="1949440"/>
            <a:ext cx="978072" cy="48022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138152" y="1949440"/>
            <a:ext cx="2141185" cy="581556"/>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763463" y="1949440"/>
            <a:ext cx="2374689" cy="889958"/>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908953" y="1949440"/>
            <a:ext cx="1229199" cy="1035347"/>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16224" y="2429665"/>
            <a:ext cx="1163113" cy="101331"/>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116224" y="2244624"/>
            <a:ext cx="2431964" cy="185041"/>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763463" y="2429665"/>
            <a:ext cx="3352761" cy="409733"/>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908953" y="2429665"/>
            <a:ext cx="2207271" cy="555122"/>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279337" y="2244624"/>
            <a:ext cx="1268851" cy="28637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63463" y="2839398"/>
            <a:ext cx="1145490" cy="14538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045631" y="2887861"/>
            <a:ext cx="1282068" cy="3524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85491" y="2923107"/>
            <a:ext cx="2260140" cy="784220"/>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966227" y="2923107"/>
            <a:ext cx="1079404" cy="603585"/>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7961923" y="2923107"/>
            <a:ext cx="83708" cy="88555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045631" y="2923107"/>
            <a:ext cx="1171925" cy="75338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327699" y="2724849"/>
            <a:ext cx="854712" cy="163012"/>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327699" y="2887861"/>
            <a:ext cx="2229301" cy="101332"/>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966227" y="2887861"/>
            <a:ext cx="2361472" cy="638831"/>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961923" y="2887861"/>
            <a:ext cx="1365776" cy="92079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217556" y="2887861"/>
            <a:ext cx="110143" cy="78862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82411" y="2724849"/>
            <a:ext cx="1374589" cy="26434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217556" y="2724849"/>
            <a:ext cx="964855" cy="951638"/>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217556" y="2989193"/>
            <a:ext cx="2339444" cy="687294"/>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85491" y="3526692"/>
            <a:ext cx="1180736" cy="18063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785491" y="3707327"/>
            <a:ext cx="2176432" cy="101332"/>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966227" y="3526692"/>
            <a:ext cx="995696" cy="281967"/>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66227" y="3526692"/>
            <a:ext cx="2251329" cy="149795"/>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961923" y="3676487"/>
            <a:ext cx="1255633" cy="13217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252903" y="3623618"/>
            <a:ext cx="1224793" cy="8811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7120428" y="3623618"/>
            <a:ext cx="3132475" cy="748974"/>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005980" y="3623618"/>
            <a:ext cx="2246923" cy="1110244"/>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235179" y="3623618"/>
            <a:ext cx="1017724" cy="1083810"/>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0235280" y="3623618"/>
            <a:ext cx="17623" cy="67407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252903" y="3623618"/>
            <a:ext cx="1061781" cy="74897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8005980" y="3711733"/>
            <a:ext cx="3471716" cy="1022129"/>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0235280" y="3711733"/>
            <a:ext cx="1242416" cy="58596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1314684" y="3711733"/>
            <a:ext cx="163012" cy="66085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63463" y="4372592"/>
            <a:ext cx="1356965" cy="11014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763463" y="4482736"/>
            <a:ext cx="2242517" cy="251126"/>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20428" y="4372592"/>
            <a:ext cx="885552" cy="361270"/>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20428" y="4372592"/>
            <a:ext cx="2114751" cy="334836"/>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005980" y="4707428"/>
            <a:ext cx="1229199" cy="2643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005980" y="4297695"/>
            <a:ext cx="2229300" cy="436167"/>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235179" y="4297695"/>
            <a:ext cx="1000101" cy="409733"/>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235179" y="4372592"/>
            <a:ext cx="2079505" cy="334836"/>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235280" y="4297695"/>
            <a:ext cx="1079404" cy="7489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908953" y="2984787"/>
            <a:ext cx="57274" cy="54190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217556" y="3676487"/>
            <a:ext cx="17623" cy="103094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5626100" y="217334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6974253" y="178123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8049252" y="1860540"/>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9027324" y="2340765"/>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10190437" y="2442096"/>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11459288" y="2155724"/>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5674563" y="2750498"/>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6820053" y="289588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7956731" y="2834207"/>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9238799" y="2798961"/>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10093511" y="2635949"/>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11468100" y="2900293"/>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5696591" y="361842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6877327" y="3437792"/>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7873023" y="3719759"/>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9128656" y="3587587"/>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10164003" y="3534718"/>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11388796" y="3622833"/>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5674563" y="4393836"/>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7031528" y="4283692"/>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7917080" y="4644962"/>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9146279" y="4618528"/>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10146380" y="4208795"/>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11225784" y="4283692"/>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7851775" y="5689600"/>
            <a:ext cx="1568450" cy="292100"/>
          </a:xfrm>
          <a:prstGeom prst="roundRect">
            <a:avLst>
              <a:gd name="adj" fmla="val 50000"/>
            </a:avLst>
          </a:prstGeom>
          <a:solidFill>
            <a:srgbClr val="0A2126"/>
          </a:solidFill>
          <a:ln w="1270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7897495" y="5749798"/>
            <a:ext cx="1477010" cy="222885"/>
          </a:xfrm>
          <a:prstGeom prst="rect">
            <a:avLst/>
          </a:prstGeom>
          <a:noFill/>
        </p:spPr>
        <p:txBody>
          <a:bodyPr wrap="none" lIns="0" rIns="0" tIns="0" bIns="0">
            <a:spAutoFit/>
          </a:bodyPr>
          <a:lstStyle/>
          <a:p>
            <a:pPr algn="ctr"/>
            <a:r>
              <a:rPr sz="1300" b="1">
                <a:solidFill>
                  <a:srgbClr val="DB7B72"/>
                </a:solidFill>
                <a:latin typeface="Noto Sans SC"/>
                <a:ea typeface="Noto Sans SC"/>
              </a:rPr>
              <a:t>ruler split, cut 88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353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problem</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p4/12</a:t>
            </a:r>
          </a:p>
        </p:txBody>
      </p:sp>
      <p:sp>
        <p:nvSpPr>
          <p:cNvPr id="9" name="TextBox 8"/>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00:28</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Input: graph, visiting order, async/sync, tie rule, maximum rounds</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Start: every node's label = its own name</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Output: labels, groups, per-node votes, cut, rounds, stopping status</a:t>
            </a:r>
          </a:p>
        </p:txBody>
      </p:sp>
      <p:sp>
        <p:nvSpPr>
          <p:cNvPr id="16" name="Oval 15"/>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No K, no merging, no balance guarantee</a:t>
            </a:r>
          </a:p>
        </p:txBody>
      </p:sp>
      <p:cxnSp>
        <p:nvCxnSpPr>
          <p:cNvPr id="18" name="Connector 17"/>
          <p:cNvCxnSpPr/>
          <p:nvPr/>
        </p:nvCxnSpPr>
        <p:spPr>
          <a:xfrm flipV="1">
            <a:off x="6769904" y="1651000"/>
            <a:ext cx="2164367" cy="147570"/>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695417" y="135734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20436" y="1365474"/>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1" name="Connector 20"/>
          <p:cNvCxnSpPr/>
          <p:nvPr/>
        </p:nvCxnSpPr>
        <p:spPr>
          <a:xfrm>
            <a:off x="6769904" y="1798570"/>
            <a:ext cx="1328134"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407013" y="232463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32032" y="233276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4" name="Connector 23"/>
          <p:cNvCxnSpPr/>
          <p:nvPr/>
        </p:nvCxnSpPr>
        <p:spPr>
          <a:xfrm flipH="1">
            <a:off x="8098038" y="1651000"/>
            <a:ext cx="836233" cy="182003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508333" y="24092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3352" y="24173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7" name="Connector 26"/>
          <p:cNvCxnSpPr/>
          <p:nvPr/>
        </p:nvCxnSpPr>
        <p:spPr>
          <a:xfrm>
            <a:off x="8098038" y="3471035"/>
            <a:ext cx="2213557" cy="103299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122960" y="363403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7979" y="364216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0" name="Connector 29"/>
          <p:cNvCxnSpPr/>
          <p:nvPr/>
        </p:nvCxnSpPr>
        <p:spPr>
          <a:xfrm flipH="1">
            <a:off x="7852088" y="3471035"/>
            <a:ext cx="245950"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979537" y="411404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04556" y="412217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3" name="Connector 32"/>
          <p:cNvCxnSpPr/>
          <p:nvPr/>
        </p:nvCxnSpPr>
        <p:spPr>
          <a:xfrm flipH="1">
            <a:off x="7852088" y="4504028"/>
            <a:ext cx="2459507" cy="639472"/>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973886" y="47558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98905" y="47639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36" name="Oval 35"/>
          <p:cNvSpPr/>
          <p:nvPr/>
        </p:nvSpPr>
        <p:spPr>
          <a:xfrm>
            <a:off x="6515904" y="1544570"/>
            <a:ext cx="508000" cy="5080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35284" y="165607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8" name="Rounded Rectangle 37"/>
          <p:cNvSpPr/>
          <p:nvPr/>
        </p:nvSpPr>
        <p:spPr>
          <a:xfrm>
            <a:off x="6442879" y="2141470"/>
            <a:ext cx="654050" cy="2667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96219" y="2202176"/>
            <a:ext cx="547370" cy="188595"/>
          </a:xfrm>
          <a:prstGeom prst="rect">
            <a:avLst/>
          </a:prstGeom>
          <a:noFill/>
        </p:spPr>
        <p:txBody>
          <a:bodyPr wrap="none" lIns="0" rIns="0" tIns="0" bIns="0">
            <a:spAutoFit/>
          </a:bodyPr>
          <a:lstStyle/>
          <a:p>
            <a:pPr algn="ctr"/>
            <a:r>
              <a:rPr sz="1100" b="1">
                <a:solidFill>
                  <a:srgbClr val="77CDBB"/>
                </a:solidFill>
                <a:latin typeface="Noto Sans SC"/>
                <a:ea typeface="Noto Sans SC"/>
              </a:rPr>
              <a:t>label A</a:t>
            </a:r>
          </a:p>
        </p:txBody>
      </p:sp>
      <p:sp>
        <p:nvSpPr>
          <p:cNvPr id="40" name="Oval 39"/>
          <p:cNvSpPr/>
          <p:nvPr/>
        </p:nvSpPr>
        <p:spPr>
          <a:xfrm>
            <a:off x="8680271" y="1397000"/>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796476" y="15085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2" name="Rounded Rectangle 41"/>
          <p:cNvSpPr/>
          <p:nvPr/>
        </p:nvSpPr>
        <p:spPr>
          <a:xfrm>
            <a:off x="8604071" y="1993900"/>
            <a:ext cx="660400" cy="266700"/>
          </a:xfrm>
          <a:prstGeom prst="roundRect">
            <a:avLst>
              <a:gd name="adj" fmla="val 50000"/>
            </a:avLst>
          </a:prstGeom>
          <a:solidFill>
            <a:srgbClr val="0A2126"/>
          </a:solidFill>
          <a:ln w="12700">
            <a:solidFill>
              <a:srgbClr val="8FB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57411" y="2054606"/>
            <a:ext cx="553720" cy="188595"/>
          </a:xfrm>
          <a:prstGeom prst="rect">
            <a:avLst/>
          </a:prstGeom>
          <a:noFill/>
        </p:spPr>
        <p:txBody>
          <a:bodyPr wrap="none" lIns="0" rIns="0" tIns="0" bIns="0">
            <a:spAutoFit/>
          </a:bodyPr>
          <a:lstStyle/>
          <a:p>
            <a:pPr algn="ctr"/>
            <a:r>
              <a:rPr sz="1100" b="1">
                <a:solidFill>
                  <a:srgbClr val="8FB1E6"/>
                </a:solidFill>
                <a:latin typeface="Noto Sans SC"/>
                <a:ea typeface="Noto Sans SC"/>
              </a:rPr>
              <a:t>label B</a:t>
            </a:r>
          </a:p>
        </p:txBody>
      </p:sp>
      <p:sp>
        <p:nvSpPr>
          <p:cNvPr id="44" name="Oval 43"/>
          <p:cNvSpPr/>
          <p:nvPr/>
        </p:nvSpPr>
        <p:spPr>
          <a:xfrm>
            <a:off x="7844038" y="3217035"/>
            <a:ext cx="508000" cy="508000"/>
          </a:xfrm>
          <a:prstGeom prst="ellipse">
            <a:avLst/>
          </a:prstGeom>
          <a:solidFill>
            <a:srgbClr val="D8BB7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963418" y="3328541"/>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6" name="Rounded Rectangle 45"/>
          <p:cNvSpPr/>
          <p:nvPr/>
        </p:nvSpPr>
        <p:spPr>
          <a:xfrm>
            <a:off x="7771013" y="3813935"/>
            <a:ext cx="654050" cy="2667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824353" y="3874641"/>
            <a:ext cx="547370" cy="188595"/>
          </a:xfrm>
          <a:prstGeom prst="rect">
            <a:avLst/>
          </a:prstGeom>
          <a:noFill/>
        </p:spPr>
        <p:txBody>
          <a:bodyPr wrap="none" lIns="0" rIns="0" tIns="0" bIns="0">
            <a:spAutoFit/>
          </a:bodyPr>
          <a:lstStyle/>
          <a:p>
            <a:pPr algn="ctr"/>
            <a:r>
              <a:rPr sz="1100" b="1">
                <a:solidFill>
                  <a:srgbClr val="D8BB78"/>
                </a:solidFill>
                <a:latin typeface="Noto Sans SC"/>
                <a:ea typeface="Noto Sans SC"/>
              </a:rPr>
              <a:t>label C</a:t>
            </a:r>
          </a:p>
        </p:txBody>
      </p:sp>
      <p:sp>
        <p:nvSpPr>
          <p:cNvPr id="48" name="Oval 47"/>
          <p:cNvSpPr/>
          <p:nvPr/>
        </p:nvSpPr>
        <p:spPr>
          <a:xfrm>
            <a:off x="10057595" y="4250028"/>
            <a:ext cx="508000" cy="508000"/>
          </a:xfrm>
          <a:prstGeom prst="ellipse">
            <a:avLst/>
          </a:prstGeom>
          <a:solidFill>
            <a:srgbClr val="C2A6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70625" y="4361534"/>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50" name="Rounded Rectangle 49"/>
          <p:cNvSpPr/>
          <p:nvPr/>
        </p:nvSpPr>
        <p:spPr>
          <a:xfrm>
            <a:off x="9978220" y="4846928"/>
            <a:ext cx="666750" cy="266700"/>
          </a:xfrm>
          <a:prstGeom prst="roundRect">
            <a:avLst>
              <a:gd name="adj" fmla="val 50000"/>
            </a:avLst>
          </a:prstGeom>
          <a:solidFill>
            <a:srgbClr val="0A2126"/>
          </a:solidFill>
          <a:ln w="12700">
            <a:solidFill>
              <a:srgbClr val="C2A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031560" y="4907634"/>
            <a:ext cx="560070" cy="188595"/>
          </a:xfrm>
          <a:prstGeom prst="rect">
            <a:avLst/>
          </a:prstGeom>
          <a:noFill/>
        </p:spPr>
        <p:txBody>
          <a:bodyPr wrap="none" lIns="0" rIns="0" tIns="0" bIns="0">
            <a:spAutoFit/>
          </a:bodyPr>
          <a:lstStyle/>
          <a:p>
            <a:pPr algn="ctr"/>
            <a:r>
              <a:rPr sz="1100" b="1">
                <a:solidFill>
                  <a:srgbClr val="C2A6E6"/>
                </a:solidFill>
                <a:latin typeface="Noto Sans SC"/>
                <a:ea typeface="Noto Sans SC"/>
              </a:rPr>
              <a:t>label D</a:t>
            </a:r>
          </a:p>
        </p:txBody>
      </p:sp>
      <p:sp>
        <p:nvSpPr>
          <p:cNvPr id="52" name="Oval 51"/>
          <p:cNvSpPr/>
          <p:nvPr/>
        </p:nvSpPr>
        <p:spPr>
          <a:xfrm>
            <a:off x="7598088" y="4889500"/>
            <a:ext cx="508000" cy="508000"/>
          </a:xfrm>
          <a:prstGeom prst="ellipse">
            <a:avLst/>
          </a:prstGeom>
          <a:solidFill>
            <a:srgbClr val="E39F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720643" y="50010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54" name="Rounded Rectangle 53"/>
          <p:cNvSpPr/>
          <p:nvPr/>
        </p:nvSpPr>
        <p:spPr>
          <a:xfrm>
            <a:off x="7525063" y="5486400"/>
            <a:ext cx="654050" cy="266700"/>
          </a:xfrm>
          <a:prstGeom prst="roundRect">
            <a:avLst>
              <a:gd name="adj" fmla="val 50000"/>
            </a:avLst>
          </a:prstGeom>
          <a:solidFill>
            <a:srgbClr val="0A2126"/>
          </a:solidFill>
          <a:ln w="12700">
            <a:solidFill>
              <a:srgbClr val="E39F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578403" y="5547106"/>
            <a:ext cx="547370" cy="188595"/>
          </a:xfrm>
          <a:prstGeom prst="rect">
            <a:avLst/>
          </a:prstGeom>
          <a:noFill/>
        </p:spPr>
        <p:txBody>
          <a:bodyPr wrap="none" lIns="0" rIns="0" tIns="0" bIns="0">
            <a:spAutoFit/>
          </a:bodyPr>
          <a:lstStyle/>
          <a:p>
            <a:pPr algn="ctr"/>
            <a:r>
              <a:rPr sz="1100" b="1">
                <a:solidFill>
                  <a:srgbClr val="E39FB8"/>
                </a:solidFill>
                <a:latin typeface="Noto Sans SC"/>
                <a:ea typeface="Noto Sans SC"/>
              </a:rPr>
              <a:t>label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001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One update: a weighted vote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p5/12</a:t>
            </a:r>
          </a:p>
        </p:txBody>
      </p:sp>
      <p:sp>
        <p:nvSpPr>
          <p:cNvPr id="9" name="TextBox 8"/>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00:41</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new label(v) = the label with the largest total edge weight among v's neighbours</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 (round 1): B = 1 + 4 = 5, D = 2, E = 1</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C's label becomes B; its name is still C</a:t>
            </a:r>
          </a:p>
        </p:txBody>
      </p:sp>
      <p:sp>
        <p:nvSpPr>
          <p:cNvPr id="16" name="Oval 15"/>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039236"/>
            <a:ext cx="4718050" cy="313055"/>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Weight counts, not the number of neighbours</a:t>
            </a:r>
          </a:p>
        </p:txBody>
      </p:sp>
      <p:cxnSp>
        <p:nvCxnSpPr>
          <p:cNvPr id="18" name="Connector 17"/>
          <p:cNvCxnSpPr/>
          <p:nvPr/>
        </p:nvCxnSpPr>
        <p:spPr>
          <a:xfrm flipV="1">
            <a:off x="5571481" y="2405380"/>
            <a:ext cx="1341907" cy="91493"/>
          </a:xfrm>
          <a:prstGeom prst="line">
            <a:avLst/>
          </a:prstGeom>
          <a:ln w="19685">
            <a:solidFill>
              <a:srgbClr val="9FC9B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145298" y="2223314"/>
            <a:ext cx="181416" cy="18141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60810" y="2228354"/>
            <a:ext cx="150393" cy="170078"/>
          </a:xfrm>
          <a:prstGeom prst="rect">
            <a:avLst/>
          </a:prstGeom>
          <a:noFill/>
        </p:spPr>
        <p:txBody>
          <a:bodyPr wrap="none" lIns="0" rIns="0" tIns="0" bIns="0">
            <a:spAutoFit/>
          </a:bodyPr>
          <a:lstStyle/>
          <a:p>
            <a:pPr algn="ctr"/>
            <a:r>
              <a:rPr sz="992" b="1">
                <a:solidFill>
                  <a:srgbClr val="D9E4E1"/>
                </a:solidFill>
                <a:latin typeface="Noto Sans SC"/>
                <a:ea typeface="Noto Sans SC"/>
              </a:rPr>
              <a:t>5</a:t>
            </a:r>
          </a:p>
        </p:txBody>
      </p:sp>
      <p:cxnSp>
        <p:nvCxnSpPr>
          <p:cNvPr id="21" name="Connector 20"/>
          <p:cNvCxnSpPr/>
          <p:nvPr/>
        </p:nvCxnSpPr>
        <p:spPr>
          <a:xfrm>
            <a:off x="5571481" y="2496873"/>
            <a:ext cx="823443" cy="1036928"/>
          </a:xfrm>
          <a:prstGeom prst="line">
            <a:avLst/>
          </a:prstGeom>
          <a:ln w="15748">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966488" y="2823034"/>
            <a:ext cx="181416" cy="18141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982000" y="2828073"/>
            <a:ext cx="150393" cy="170078"/>
          </a:xfrm>
          <a:prstGeom prst="rect">
            <a:avLst/>
          </a:prstGeom>
          <a:noFill/>
        </p:spPr>
        <p:txBody>
          <a:bodyPr wrap="none" lIns="0" rIns="0" tIns="0" bIns="0">
            <a:spAutoFit/>
          </a:bodyPr>
          <a:lstStyle/>
          <a:p>
            <a:pPr algn="ctr"/>
            <a:r>
              <a:rPr sz="992" b="1">
                <a:solidFill>
                  <a:srgbClr val="D9E4E1"/>
                </a:solidFill>
                <a:latin typeface="Noto Sans SC"/>
                <a:ea typeface="Noto Sans SC"/>
              </a:rPr>
              <a:t>1</a:t>
            </a:r>
          </a:p>
        </p:txBody>
      </p:sp>
      <p:cxnSp>
        <p:nvCxnSpPr>
          <p:cNvPr id="24" name="Connector 23"/>
          <p:cNvCxnSpPr/>
          <p:nvPr/>
        </p:nvCxnSpPr>
        <p:spPr>
          <a:xfrm flipH="1">
            <a:off x="6394924" y="2405380"/>
            <a:ext cx="518464" cy="1128421"/>
          </a:xfrm>
          <a:prstGeom prst="line">
            <a:avLst/>
          </a:prstGeom>
          <a:ln w="15748">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49306" y="2875496"/>
            <a:ext cx="181416" cy="18141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64818" y="2880535"/>
            <a:ext cx="150393" cy="170078"/>
          </a:xfrm>
          <a:prstGeom prst="rect">
            <a:avLst/>
          </a:prstGeom>
          <a:noFill/>
        </p:spPr>
        <p:txBody>
          <a:bodyPr wrap="none" lIns="0" rIns="0" tIns="0" bIns="0">
            <a:spAutoFit/>
          </a:bodyPr>
          <a:lstStyle/>
          <a:p>
            <a:pPr algn="ctr"/>
            <a:r>
              <a:rPr sz="992" b="1">
                <a:solidFill>
                  <a:srgbClr val="D9E4E1"/>
                </a:solidFill>
                <a:latin typeface="Noto Sans SC"/>
                <a:ea typeface="Noto Sans SC"/>
              </a:rPr>
              <a:t>4</a:t>
            </a:r>
          </a:p>
        </p:txBody>
      </p:sp>
      <p:cxnSp>
        <p:nvCxnSpPr>
          <p:cNvPr id="27" name="Connector 26"/>
          <p:cNvCxnSpPr/>
          <p:nvPr/>
        </p:nvCxnSpPr>
        <p:spPr>
          <a:xfrm>
            <a:off x="6394924" y="3533801"/>
            <a:ext cx="1372404" cy="640456"/>
          </a:xfrm>
          <a:prstGeom prst="line">
            <a:avLst/>
          </a:prstGeom>
          <a:ln w="15748">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030375" y="3634863"/>
            <a:ext cx="181416" cy="18141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045887" y="3639902"/>
            <a:ext cx="150393" cy="170078"/>
          </a:xfrm>
          <a:prstGeom prst="rect">
            <a:avLst/>
          </a:prstGeom>
          <a:noFill/>
        </p:spPr>
        <p:txBody>
          <a:bodyPr wrap="none" lIns="0" rIns="0" tIns="0" bIns="0">
            <a:spAutoFit/>
          </a:bodyPr>
          <a:lstStyle/>
          <a:p>
            <a:pPr algn="ctr"/>
            <a:r>
              <a:rPr sz="992" b="1">
                <a:solidFill>
                  <a:srgbClr val="D9E4E1"/>
                </a:solidFill>
                <a:latin typeface="Noto Sans SC"/>
                <a:ea typeface="Noto Sans SC"/>
              </a:rPr>
              <a:t>2</a:t>
            </a:r>
          </a:p>
        </p:txBody>
      </p:sp>
      <p:cxnSp>
        <p:nvCxnSpPr>
          <p:cNvPr id="30" name="Connector 29"/>
          <p:cNvCxnSpPr/>
          <p:nvPr/>
        </p:nvCxnSpPr>
        <p:spPr>
          <a:xfrm flipH="1">
            <a:off x="6242434" y="3533801"/>
            <a:ext cx="152490" cy="1036929"/>
          </a:xfrm>
          <a:prstGeom prst="line">
            <a:avLst/>
          </a:prstGeom>
          <a:ln w="15748">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321453" y="3932470"/>
            <a:ext cx="181416" cy="18141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36965" y="3937509"/>
            <a:ext cx="150393" cy="170078"/>
          </a:xfrm>
          <a:prstGeom prst="rect">
            <a:avLst/>
          </a:prstGeom>
          <a:noFill/>
        </p:spPr>
        <p:txBody>
          <a:bodyPr wrap="none" lIns="0" rIns="0" tIns="0" bIns="0">
            <a:spAutoFit/>
          </a:bodyPr>
          <a:lstStyle/>
          <a:p>
            <a:pPr algn="ctr"/>
            <a:r>
              <a:rPr sz="992" b="1">
                <a:solidFill>
                  <a:srgbClr val="D9E4E1"/>
                </a:solidFill>
                <a:latin typeface="Noto Sans SC"/>
                <a:ea typeface="Noto Sans SC"/>
              </a:rPr>
              <a:t>1</a:t>
            </a:r>
          </a:p>
        </p:txBody>
      </p:sp>
      <p:cxnSp>
        <p:nvCxnSpPr>
          <p:cNvPr id="33" name="Connector 32"/>
          <p:cNvCxnSpPr/>
          <p:nvPr/>
        </p:nvCxnSpPr>
        <p:spPr>
          <a:xfrm flipH="1">
            <a:off x="6242434" y="4174257"/>
            <a:ext cx="1524894" cy="396473"/>
          </a:xfrm>
          <a:prstGeom prst="line">
            <a:avLst/>
          </a:prstGeom>
          <a:ln w="15748">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937949" y="4330398"/>
            <a:ext cx="181416" cy="18141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953461" y="4335437"/>
            <a:ext cx="150393" cy="170078"/>
          </a:xfrm>
          <a:prstGeom prst="rect">
            <a:avLst/>
          </a:prstGeom>
          <a:noFill/>
        </p:spPr>
        <p:txBody>
          <a:bodyPr wrap="none" lIns="0" rIns="0" tIns="0" bIns="0">
            <a:spAutoFit/>
          </a:bodyPr>
          <a:lstStyle/>
          <a:p>
            <a:pPr algn="ctr"/>
            <a:r>
              <a:rPr sz="992" b="1">
                <a:solidFill>
                  <a:srgbClr val="D9E4E1"/>
                </a:solidFill>
                <a:latin typeface="Noto Sans SC"/>
                <a:ea typeface="Noto Sans SC"/>
              </a:rPr>
              <a:t>5</a:t>
            </a:r>
          </a:p>
        </p:txBody>
      </p:sp>
      <p:sp>
        <p:nvSpPr>
          <p:cNvPr id="36" name="Oval 35"/>
          <p:cNvSpPr/>
          <p:nvPr/>
        </p:nvSpPr>
        <p:spPr>
          <a:xfrm>
            <a:off x="5414001" y="2339393"/>
            <a:ext cx="314960" cy="314960"/>
          </a:xfrm>
          <a:prstGeom prst="ellipse">
            <a:avLst/>
          </a:prstGeom>
          <a:solidFill>
            <a:srgbClr val="8FB1E6"/>
          </a:solidFill>
          <a:ln w="11811">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488016" y="2408527"/>
            <a:ext cx="166928" cy="180708"/>
          </a:xfrm>
          <a:prstGeom prst="rect">
            <a:avLst/>
          </a:prstGeom>
          <a:noFill/>
        </p:spPr>
        <p:txBody>
          <a:bodyPr wrap="none" lIns="0" rIns="0" tIns="0" bIns="0">
            <a:spAutoFit/>
          </a:bodyPr>
          <a:lstStyle/>
          <a:p>
            <a:pPr algn="ctr"/>
            <a:r>
              <a:rPr sz="1054" b="1">
                <a:solidFill>
                  <a:srgbClr val="0B1B1F"/>
                </a:solidFill>
                <a:latin typeface="Noto Sans SC"/>
                <a:ea typeface="Noto Sans SC"/>
              </a:rPr>
              <a:t>A</a:t>
            </a:r>
          </a:p>
        </p:txBody>
      </p:sp>
      <p:sp>
        <p:nvSpPr>
          <p:cNvPr id="38" name="Rounded Rectangle 37"/>
          <p:cNvSpPr/>
          <p:nvPr/>
        </p:nvSpPr>
        <p:spPr>
          <a:xfrm>
            <a:off x="5366757" y="2709471"/>
            <a:ext cx="409448" cy="165354"/>
          </a:xfrm>
          <a:prstGeom prst="roundRect">
            <a:avLst>
              <a:gd name="adj" fmla="val 50000"/>
            </a:avLst>
          </a:prstGeom>
          <a:solidFill>
            <a:srgbClr val="0A2126"/>
          </a:solidFill>
          <a:ln w="7874">
            <a:solidFill>
              <a:srgbClr val="8FB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399827" y="2747109"/>
            <a:ext cx="343306" cy="116928"/>
          </a:xfrm>
          <a:prstGeom prst="rect">
            <a:avLst/>
          </a:prstGeom>
          <a:noFill/>
        </p:spPr>
        <p:txBody>
          <a:bodyPr wrap="none" lIns="0" rIns="0" tIns="0" bIns="0">
            <a:spAutoFit/>
          </a:bodyPr>
          <a:lstStyle/>
          <a:p>
            <a:pPr algn="ctr"/>
            <a:r>
              <a:rPr sz="682" b="1">
                <a:solidFill>
                  <a:srgbClr val="8FB1E6"/>
                </a:solidFill>
                <a:latin typeface="Noto Sans SC"/>
                <a:ea typeface="Noto Sans SC"/>
              </a:rPr>
              <a:t>label B</a:t>
            </a:r>
          </a:p>
        </p:txBody>
      </p:sp>
      <p:sp>
        <p:nvSpPr>
          <p:cNvPr id="40" name="Oval 39"/>
          <p:cNvSpPr/>
          <p:nvPr/>
        </p:nvSpPr>
        <p:spPr>
          <a:xfrm>
            <a:off x="6755908" y="2247900"/>
            <a:ext cx="314960" cy="314960"/>
          </a:xfrm>
          <a:prstGeom prst="ellipse">
            <a:avLst/>
          </a:prstGeom>
          <a:solidFill>
            <a:srgbClr val="8FB1E6"/>
          </a:solidFill>
          <a:ln w="11811">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27955" y="2317033"/>
            <a:ext cx="170865" cy="180708"/>
          </a:xfrm>
          <a:prstGeom prst="rect">
            <a:avLst/>
          </a:prstGeom>
          <a:noFill/>
        </p:spPr>
        <p:txBody>
          <a:bodyPr wrap="none" lIns="0" rIns="0" tIns="0" bIns="0">
            <a:spAutoFit/>
          </a:bodyPr>
          <a:lstStyle/>
          <a:p>
            <a:pPr algn="ctr"/>
            <a:r>
              <a:rPr sz="1054" b="1">
                <a:solidFill>
                  <a:srgbClr val="0B1B1F"/>
                </a:solidFill>
                <a:latin typeface="Noto Sans SC"/>
                <a:ea typeface="Noto Sans SC"/>
              </a:rPr>
              <a:t>B</a:t>
            </a:r>
          </a:p>
        </p:txBody>
      </p:sp>
      <p:sp>
        <p:nvSpPr>
          <p:cNvPr id="42" name="Rounded Rectangle 41"/>
          <p:cNvSpPr/>
          <p:nvPr/>
        </p:nvSpPr>
        <p:spPr>
          <a:xfrm>
            <a:off x="6708664" y="2617978"/>
            <a:ext cx="409448" cy="165354"/>
          </a:xfrm>
          <a:prstGeom prst="roundRect">
            <a:avLst>
              <a:gd name="adj" fmla="val 50000"/>
            </a:avLst>
          </a:prstGeom>
          <a:solidFill>
            <a:srgbClr val="0A2126"/>
          </a:solidFill>
          <a:ln w="7874">
            <a:solidFill>
              <a:srgbClr val="8FB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741734" y="2655615"/>
            <a:ext cx="343306" cy="116928"/>
          </a:xfrm>
          <a:prstGeom prst="rect">
            <a:avLst/>
          </a:prstGeom>
          <a:noFill/>
        </p:spPr>
        <p:txBody>
          <a:bodyPr wrap="none" lIns="0" rIns="0" tIns="0" bIns="0">
            <a:spAutoFit/>
          </a:bodyPr>
          <a:lstStyle/>
          <a:p>
            <a:pPr algn="ctr"/>
            <a:r>
              <a:rPr sz="682" b="1">
                <a:solidFill>
                  <a:srgbClr val="8FB1E6"/>
                </a:solidFill>
                <a:latin typeface="Noto Sans SC"/>
                <a:ea typeface="Noto Sans SC"/>
              </a:rPr>
              <a:t>label B</a:t>
            </a:r>
          </a:p>
        </p:txBody>
      </p:sp>
      <p:sp>
        <p:nvSpPr>
          <p:cNvPr id="44" name="Oval 43"/>
          <p:cNvSpPr/>
          <p:nvPr/>
        </p:nvSpPr>
        <p:spPr>
          <a:xfrm>
            <a:off x="6198074" y="3336951"/>
            <a:ext cx="393700" cy="393700"/>
          </a:xfrm>
          <a:prstGeom prst="ellipse">
            <a:avLst/>
          </a:prstGeom>
          <a:noFill/>
          <a:ln w="19685">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6237444" y="3376321"/>
            <a:ext cx="314960" cy="314960"/>
          </a:xfrm>
          <a:prstGeom prst="ellipse">
            <a:avLst/>
          </a:prstGeom>
          <a:solidFill>
            <a:srgbClr val="D8BB78"/>
          </a:solidFill>
          <a:ln w="11811">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311459" y="3445455"/>
            <a:ext cx="166928" cy="180708"/>
          </a:xfrm>
          <a:prstGeom prst="rect">
            <a:avLst/>
          </a:prstGeom>
          <a:noFill/>
        </p:spPr>
        <p:txBody>
          <a:bodyPr wrap="none" lIns="0" rIns="0" tIns="0" bIns="0">
            <a:spAutoFit/>
          </a:bodyPr>
          <a:lstStyle/>
          <a:p>
            <a:pPr algn="ctr"/>
            <a:r>
              <a:rPr sz="1054" b="1">
                <a:solidFill>
                  <a:srgbClr val="0B1B1F"/>
                </a:solidFill>
                <a:latin typeface="Noto Sans SC"/>
                <a:ea typeface="Noto Sans SC"/>
              </a:rPr>
              <a:t>C</a:t>
            </a:r>
          </a:p>
        </p:txBody>
      </p:sp>
      <p:sp>
        <p:nvSpPr>
          <p:cNvPr id="47" name="Rounded Rectangle 46"/>
          <p:cNvSpPr/>
          <p:nvPr/>
        </p:nvSpPr>
        <p:spPr>
          <a:xfrm>
            <a:off x="6192168" y="3746399"/>
            <a:ext cx="405511" cy="165354"/>
          </a:xfrm>
          <a:prstGeom prst="roundRect">
            <a:avLst>
              <a:gd name="adj" fmla="val 50000"/>
            </a:avLst>
          </a:prstGeom>
          <a:solidFill>
            <a:srgbClr val="0A2126"/>
          </a:solidFill>
          <a:ln w="7874">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225239" y="3784037"/>
            <a:ext cx="339369" cy="116928"/>
          </a:xfrm>
          <a:prstGeom prst="rect">
            <a:avLst/>
          </a:prstGeom>
          <a:noFill/>
        </p:spPr>
        <p:txBody>
          <a:bodyPr wrap="none" lIns="0" rIns="0" tIns="0" bIns="0">
            <a:spAutoFit/>
          </a:bodyPr>
          <a:lstStyle/>
          <a:p>
            <a:pPr algn="ctr"/>
            <a:r>
              <a:rPr sz="682" b="1">
                <a:solidFill>
                  <a:srgbClr val="D8BB78"/>
                </a:solidFill>
                <a:latin typeface="Noto Sans SC"/>
                <a:ea typeface="Noto Sans SC"/>
              </a:rPr>
              <a:t>label C</a:t>
            </a:r>
          </a:p>
        </p:txBody>
      </p:sp>
      <p:sp>
        <p:nvSpPr>
          <p:cNvPr id="49" name="Oval 48"/>
          <p:cNvSpPr/>
          <p:nvPr/>
        </p:nvSpPr>
        <p:spPr>
          <a:xfrm>
            <a:off x="7609848" y="4016777"/>
            <a:ext cx="314960" cy="314960"/>
          </a:xfrm>
          <a:prstGeom prst="ellipse">
            <a:avLst/>
          </a:prstGeom>
          <a:solidFill>
            <a:srgbClr val="C2A6E6"/>
          </a:solidFill>
          <a:ln w="11811">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79927" y="4085911"/>
            <a:ext cx="174802" cy="180708"/>
          </a:xfrm>
          <a:prstGeom prst="rect">
            <a:avLst/>
          </a:prstGeom>
          <a:noFill/>
        </p:spPr>
        <p:txBody>
          <a:bodyPr wrap="none" lIns="0" rIns="0" tIns="0" bIns="0">
            <a:spAutoFit/>
          </a:bodyPr>
          <a:lstStyle/>
          <a:p>
            <a:pPr algn="ctr"/>
            <a:r>
              <a:rPr sz="1054" b="1">
                <a:solidFill>
                  <a:srgbClr val="0B1B1F"/>
                </a:solidFill>
                <a:latin typeface="Noto Sans SC"/>
                <a:ea typeface="Noto Sans SC"/>
              </a:rPr>
              <a:t>D</a:t>
            </a:r>
          </a:p>
        </p:txBody>
      </p:sp>
      <p:sp>
        <p:nvSpPr>
          <p:cNvPr id="51" name="Rounded Rectangle 50"/>
          <p:cNvSpPr/>
          <p:nvPr/>
        </p:nvSpPr>
        <p:spPr>
          <a:xfrm>
            <a:off x="7560636" y="4386855"/>
            <a:ext cx="413384" cy="165354"/>
          </a:xfrm>
          <a:prstGeom prst="roundRect">
            <a:avLst>
              <a:gd name="adj" fmla="val 50000"/>
            </a:avLst>
          </a:prstGeom>
          <a:solidFill>
            <a:srgbClr val="0A2126"/>
          </a:solidFill>
          <a:ln w="7874">
            <a:solidFill>
              <a:srgbClr val="C2A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593707" y="4424493"/>
            <a:ext cx="347243" cy="116928"/>
          </a:xfrm>
          <a:prstGeom prst="rect">
            <a:avLst/>
          </a:prstGeom>
          <a:noFill/>
        </p:spPr>
        <p:txBody>
          <a:bodyPr wrap="none" lIns="0" rIns="0" tIns="0" bIns="0">
            <a:spAutoFit/>
          </a:bodyPr>
          <a:lstStyle/>
          <a:p>
            <a:pPr algn="ctr"/>
            <a:r>
              <a:rPr sz="682" b="1">
                <a:solidFill>
                  <a:srgbClr val="C2A6E6"/>
                </a:solidFill>
                <a:latin typeface="Noto Sans SC"/>
                <a:ea typeface="Noto Sans SC"/>
              </a:rPr>
              <a:t>label D</a:t>
            </a:r>
          </a:p>
        </p:txBody>
      </p:sp>
      <p:sp>
        <p:nvSpPr>
          <p:cNvPr id="53" name="Oval 52"/>
          <p:cNvSpPr/>
          <p:nvPr/>
        </p:nvSpPr>
        <p:spPr>
          <a:xfrm>
            <a:off x="6084954" y="4413250"/>
            <a:ext cx="314960" cy="314960"/>
          </a:xfrm>
          <a:prstGeom prst="ellipse">
            <a:avLst/>
          </a:prstGeom>
          <a:solidFill>
            <a:srgbClr val="E39FB8"/>
          </a:solidFill>
          <a:ln w="11811">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160938" y="4482383"/>
            <a:ext cx="162991" cy="180708"/>
          </a:xfrm>
          <a:prstGeom prst="rect">
            <a:avLst/>
          </a:prstGeom>
          <a:noFill/>
        </p:spPr>
        <p:txBody>
          <a:bodyPr wrap="none" lIns="0" rIns="0" tIns="0" bIns="0">
            <a:spAutoFit/>
          </a:bodyPr>
          <a:lstStyle/>
          <a:p>
            <a:pPr algn="ctr"/>
            <a:r>
              <a:rPr sz="1054" b="1">
                <a:solidFill>
                  <a:srgbClr val="0B1B1F"/>
                </a:solidFill>
                <a:latin typeface="Noto Sans SC"/>
                <a:ea typeface="Noto Sans SC"/>
              </a:rPr>
              <a:t>E</a:t>
            </a:r>
          </a:p>
        </p:txBody>
      </p:sp>
      <p:sp>
        <p:nvSpPr>
          <p:cNvPr id="55" name="Rounded Rectangle 54"/>
          <p:cNvSpPr/>
          <p:nvPr/>
        </p:nvSpPr>
        <p:spPr>
          <a:xfrm>
            <a:off x="6039679" y="4783328"/>
            <a:ext cx="405511" cy="165354"/>
          </a:xfrm>
          <a:prstGeom prst="roundRect">
            <a:avLst>
              <a:gd name="adj" fmla="val 50000"/>
            </a:avLst>
          </a:prstGeom>
          <a:solidFill>
            <a:srgbClr val="0A2126"/>
          </a:solidFill>
          <a:ln w="7874">
            <a:solidFill>
              <a:srgbClr val="E39F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072749" y="4820965"/>
            <a:ext cx="339369" cy="116928"/>
          </a:xfrm>
          <a:prstGeom prst="rect">
            <a:avLst/>
          </a:prstGeom>
          <a:noFill/>
        </p:spPr>
        <p:txBody>
          <a:bodyPr wrap="none" lIns="0" rIns="0" tIns="0" bIns="0">
            <a:spAutoFit/>
          </a:bodyPr>
          <a:lstStyle/>
          <a:p>
            <a:pPr algn="ctr"/>
            <a:r>
              <a:rPr sz="682" b="1">
                <a:solidFill>
                  <a:srgbClr val="E39FB8"/>
                </a:solidFill>
                <a:latin typeface="Noto Sans SC"/>
                <a:ea typeface="Noto Sans SC"/>
              </a:rPr>
              <a:t>label E</a:t>
            </a:r>
          </a:p>
        </p:txBody>
      </p:sp>
      <p:sp>
        <p:nvSpPr>
          <p:cNvPr id="57" name="Rounded Rectangle 56"/>
          <p:cNvSpPr/>
          <p:nvPr/>
        </p:nvSpPr>
        <p:spPr>
          <a:xfrm>
            <a:off x="8509000" y="2095500"/>
            <a:ext cx="3556000" cy="2286000"/>
          </a:xfrm>
          <a:prstGeom prst="roundRect">
            <a:avLst>
              <a:gd name="adj" fmla="val 3888"/>
            </a:avLst>
          </a:prstGeom>
          <a:solidFill>
            <a:srgbClr val="0D272D">
              <a:alpha val="96000"/>
            </a:srgbClr>
          </a:solidFill>
          <a:ln w="12700">
            <a:solidFill>
              <a:srgbClr val="24474D">
                <a:alpha val="9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665210" y="2206244"/>
            <a:ext cx="1744980" cy="240030"/>
          </a:xfrm>
          <a:prstGeom prst="rect">
            <a:avLst/>
          </a:prstGeom>
          <a:noFill/>
        </p:spPr>
        <p:txBody>
          <a:bodyPr wrap="none" lIns="0" rIns="0" tIns="0" bIns="0">
            <a:spAutoFit/>
          </a:bodyPr>
          <a:lstStyle/>
          <a:p>
            <a:pPr algn="l"/>
            <a:r>
              <a:rPr sz="1400" b="1">
                <a:solidFill>
                  <a:srgbClr val="D8BB78"/>
                </a:solidFill>
                <a:latin typeface="Noto Sans SC"/>
                <a:ea typeface="Noto Sans SC"/>
              </a:rPr>
              <a:t>C's votes (round 1)</a:t>
            </a:r>
          </a:p>
        </p:txBody>
      </p:sp>
      <p:sp>
        <p:nvSpPr>
          <p:cNvPr id="59" name="TextBox 58"/>
          <p:cNvSpPr txBox="1"/>
          <p:nvPr/>
        </p:nvSpPr>
        <p:spPr>
          <a:xfrm>
            <a:off x="8689975" y="2599690"/>
            <a:ext cx="736600" cy="257175"/>
          </a:xfrm>
          <a:prstGeom prst="rect">
            <a:avLst/>
          </a:prstGeom>
          <a:noFill/>
        </p:spPr>
        <p:txBody>
          <a:bodyPr wrap="none" lIns="0" rIns="0" tIns="0" bIns="0">
            <a:spAutoFit/>
          </a:bodyPr>
          <a:lstStyle/>
          <a:p>
            <a:pPr algn="l"/>
            <a:r>
              <a:rPr sz="1500" b="0">
                <a:solidFill>
                  <a:srgbClr val="F2F3E9"/>
                </a:solidFill>
                <a:latin typeface="Noto Sans SC"/>
                <a:ea typeface="Noto Sans SC"/>
              </a:rPr>
              <a:t>label B</a:t>
            </a:r>
          </a:p>
        </p:txBody>
      </p:sp>
      <p:sp>
        <p:nvSpPr>
          <p:cNvPr id="60" name="Rounded Rectangle 59"/>
          <p:cNvSpPr/>
          <p:nvPr/>
        </p:nvSpPr>
        <p:spPr>
          <a:xfrm>
            <a:off x="9588500" y="2654300"/>
            <a:ext cx="1778000" cy="139700"/>
          </a:xfrm>
          <a:prstGeom prst="roundRect">
            <a:avLst>
              <a:gd name="adj" fmla="val 50000"/>
            </a:avLst>
          </a:prstGeom>
          <a:solidFill>
            <a:srgbClr val="163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9588500" y="2654300"/>
            <a:ext cx="1778000" cy="139700"/>
          </a:xfrm>
          <a:prstGeom prst="roundRect">
            <a:avLst>
              <a:gd name="adj" fmla="val 50000"/>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1619230" y="2573782"/>
            <a:ext cx="256540" cy="291465"/>
          </a:xfrm>
          <a:prstGeom prst="rect">
            <a:avLst/>
          </a:prstGeom>
          <a:noFill/>
        </p:spPr>
        <p:txBody>
          <a:bodyPr wrap="none" lIns="0" rIns="0" tIns="0" bIns="0">
            <a:spAutoFit/>
          </a:bodyPr>
          <a:lstStyle/>
          <a:p>
            <a:pPr algn="r"/>
            <a:r>
              <a:rPr sz="1700" b="1">
                <a:solidFill>
                  <a:srgbClr val="D8BB78"/>
                </a:solidFill>
                <a:latin typeface="Noto Sans SC"/>
                <a:ea typeface="Noto Sans SC"/>
              </a:rPr>
              <a:t>5</a:t>
            </a:r>
          </a:p>
        </p:txBody>
      </p:sp>
      <p:sp>
        <p:nvSpPr>
          <p:cNvPr id="63" name="TextBox 62"/>
          <p:cNvSpPr txBox="1"/>
          <p:nvPr/>
        </p:nvSpPr>
        <p:spPr>
          <a:xfrm>
            <a:off x="8689975" y="3107690"/>
            <a:ext cx="742950" cy="257175"/>
          </a:xfrm>
          <a:prstGeom prst="rect">
            <a:avLst/>
          </a:prstGeom>
          <a:noFill/>
        </p:spPr>
        <p:txBody>
          <a:bodyPr wrap="none" lIns="0" rIns="0" tIns="0" bIns="0">
            <a:spAutoFit/>
          </a:bodyPr>
          <a:lstStyle/>
          <a:p>
            <a:pPr algn="l"/>
            <a:r>
              <a:rPr sz="1500" b="0">
                <a:solidFill>
                  <a:srgbClr val="F2F3E9"/>
                </a:solidFill>
                <a:latin typeface="Noto Sans SC"/>
                <a:ea typeface="Noto Sans SC"/>
              </a:rPr>
              <a:t>label D</a:t>
            </a:r>
          </a:p>
        </p:txBody>
      </p:sp>
      <p:sp>
        <p:nvSpPr>
          <p:cNvPr id="64" name="Rounded Rectangle 63"/>
          <p:cNvSpPr/>
          <p:nvPr/>
        </p:nvSpPr>
        <p:spPr>
          <a:xfrm>
            <a:off x="9588500" y="3162300"/>
            <a:ext cx="1778000" cy="139700"/>
          </a:xfrm>
          <a:prstGeom prst="roundRect">
            <a:avLst>
              <a:gd name="adj" fmla="val 50000"/>
            </a:avLst>
          </a:prstGeom>
          <a:solidFill>
            <a:srgbClr val="163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unded Rectangle 64"/>
          <p:cNvSpPr/>
          <p:nvPr/>
        </p:nvSpPr>
        <p:spPr>
          <a:xfrm>
            <a:off x="9588500" y="3162300"/>
            <a:ext cx="711200" cy="139700"/>
          </a:xfrm>
          <a:prstGeom prst="roundRect">
            <a:avLst>
              <a:gd name="adj" fmla="val 50000"/>
            </a:avLst>
          </a:prstGeom>
          <a:solidFill>
            <a:srgbClr val="77C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1619230" y="3081782"/>
            <a:ext cx="256540" cy="291465"/>
          </a:xfrm>
          <a:prstGeom prst="rect">
            <a:avLst/>
          </a:prstGeom>
          <a:noFill/>
        </p:spPr>
        <p:txBody>
          <a:bodyPr wrap="none" lIns="0" rIns="0" tIns="0" bIns="0">
            <a:spAutoFit/>
          </a:bodyPr>
          <a:lstStyle/>
          <a:p>
            <a:pPr algn="r"/>
            <a:r>
              <a:rPr sz="1700" b="1">
                <a:solidFill>
                  <a:srgbClr val="F2F3E9"/>
                </a:solidFill>
                <a:latin typeface="Noto Sans SC"/>
                <a:ea typeface="Noto Sans SC"/>
              </a:rPr>
              <a:t>2</a:t>
            </a:r>
          </a:p>
        </p:txBody>
      </p:sp>
      <p:sp>
        <p:nvSpPr>
          <p:cNvPr id="67" name="TextBox 66"/>
          <p:cNvSpPr txBox="1"/>
          <p:nvPr/>
        </p:nvSpPr>
        <p:spPr>
          <a:xfrm>
            <a:off x="8689975" y="3615690"/>
            <a:ext cx="723900" cy="257175"/>
          </a:xfrm>
          <a:prstGeom prst="rect">
            <a:avLst/>
          </a:prstGeom>
          <a:noFill/>
        </p:spPr>
        <p:txBody>
          <a:bodyPr wrap="none" lIns="0" rIns="0" tIns="0" bIns="0">
            <a:spAutoFit/>
          </a:bodyPr>
          <a:lstStyle/>
          <a:p>
            <a:pPr algn="l"/>
            <a:r>
              <a:rPr sz="1500" b="0">
                <a:solidFill>
                  <a:srgbClr val="F2F3E9"/>
                </a:solidFill>
                <a:latin typeface="Noto Sans SC"/>
                <a:ea typeface="Noto Sans SC"/>
              </a:rPr>
              <a:t>label E</a:t>
            </a:r>
          </a:p>
        </p:txBody>
      </p:sp>
      <p:sp>
        <p:nvSpPr>
          <p:cNvPr id="68" name="Rounded Rectangle 67"/>
          <p:cNvSpPr/>
          <p:nvPr/>
        </p:nvSpPr>
        <p:spPr>
          <a:xfrm>
            <a:off x="9588500" y="3670300"/>
            <a:ext cx="1778000" cy="139700"/>
          </a:xfrm>
          <a:prstGeom prst="roundRect">
            <a:avLst>
              <a:gd name="adj" fmla="val 50000"/>
            </a:avLst>
          </a:prstGeom>
          <a:solidFill>
            <a:srgbClr val="163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unded Rectangle 68"/>
          <p:cNvSpPr/>
          <p:nvPr/>
        </p:nvSpPr>
        <p:spPr>
          <a:xfrm>
            <a:off x="9588500" y="3670300"/>
            <a:ext cx="355600" cy="139700"/>
          </a:xfrm>
          <a:prstGeom prst="roundRect">
            <a:avLst>
              <a:gd name="adj" fmla="val 50000"/>
            </a:avLst>
          </a:prstGeom>
          <a:solidFill>
            <a:srgbClr val="77C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1619230" y="3589782"/>
            <a:ext cx="256540" cy="291465"/>
          </a:xfrm>
          <a:prstGeom prst="rect">
            <a:avLst/>
          </a:prstGeom>
          <a:noFill/>
        </p:spPr>
        <p:txBody>
          <a:bodyPr wrap="none" lIns="0" rIns="0" tIns="0" bIns="0">
            <a:spAutoFit/>
          </a:bodyPr>
          <a:lstStyle/>
          <a:p>
            <a:pPr algn="r"/>
            <a:r>
              <a:rPr sz="1700" b="1">
                <a:solidFill>
                  <a:srgbClr val="F2F3E9"/>
                </a:solidFill>
                <a:latin typeface="Noto Sans SC"/>
                <a:ea typeface="Noto Sans SC"/>
              </a:rP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112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A whole round, and the quiet round</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p6/12</a:t>
            </a:r>
          </a:p>
        </p:txBody>
      </p:sp>
      <p:sp>
        <p:nvSpPr>
          <p:cNvPr id="9" name="TextBox 8"/>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00:59</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Asynchronous: each update is written back at once</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Round 1: B B B E E, three changes</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Round 2: a full round with no change → stable</a:t>
            </a:r>
          </a:p>
        </p:txBody>
      </p:sp>
      <p:sp>
        <p:nvSpPr>
          <p:cNvPr id="16" name="Oval 15"/>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2 rounds in all (including the confirming round), cut 3</a:t>
            </a:r>
          </a:p>
        </p:txBody>
      </p:sp>
      <p:sp>
        <p:nvSpPr>
          <p:cNvPr id="18" name="Oval 17"/>
          <p:cNvSpPr/>
          <p:nvPr/>
        </p:nvSpPr>
        <p:spPr>
          <a:xfrm>
            <a:off x="711200" y="42058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409714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Order E→A: same groups, 3 rounds</a:t>
            </a:r>
          </a:p>
        </p:txBody>
      </p:sp>
      <p:sp>
        <p:nvSpPr>
          <p:cNvPr id="20" name="TextBox 19"/>
          <p:cNvSpPr txBox="1"/>
          <p:nvPr/>
        </p:nvSpPr>
        <p:spPr>
          <a:xfrm>
            <a:off x="6087110" y="1660144"/>
            <a:ext cx="487680" cy="240030"/>
          </a:xfrm>
          <a:prstGeom prst="rect">
            <a:avLst/>
          </a:prstGeom>
          <a:noFill/>
        </p:spPr>
        <p:txBody>
          <a:bodyPr wrap="none" lIns="0" rIns="0" tIns="0" bIns="0">
            <a:spAutoFit/>
          </a:bodyPr>
          <a:lstStyle/>
          <a:p>
            <a:pPr algn="l"/>
            <a:r>
              <a:rPr sz="1400" b="1">
                <a:solidFill>
                  <a:srgbClr val="BCD2D0"/>
                </a:solidFill>
                <a:latin typeface="Noto Sans SC"/>
                <a:ea typeface="Noto Sans SC"/>
              </a:rPr>
              <a:t>visit</a:t>
            </a:r>
          </a:p>
        </p:txBody>
      </p:sp>
      <p:sp>
        <p:nvSpPr>
          <p:cNvPr id="21" name="TextBox 20"/>
          <p:cNvSpPr txBox="1"/>
          <p:nvPr/>
        </p:nvSpPr>
        <p:spPr>
          <a:xfrm>
            <a:off x="6785609" y="1660144"/>
            <a:ext cx="589280" cy="240030"/>
          </a:xfrm>
          <a:prstGeom prst="rect">
            <a:avLst/>
          </a:prstGeom>
          <a:noFill/>
        </p:spPr>
        <p:txBody>
          <a:bodyPr wrap="none" lIns="0" rIns="0" tIns="0" bIns="0">
            <a:spAutoFit/>
          </a:bodyPr>
          <a:lstStyle/>
          <a:p>
            <a:pPr algn="l"/>
            <a:r>
              <a:rPr sz="1400" b="1">
                <a:solidFill>
                  <a:srgbClr val="BCD2D0"/>
                </a:solidFill>
                <a:latin typeface="Noto Sans SC"/>
                <a:ea typeface="Noto Sans SC"/>
              </a:rPr>
              <a:t>votes</a:t>
            </a:r>
          </a:p>
        </p:txBody>
      </p:sp>
      <p:sp>
        <p:nvSpPr>
          <p:cNvPr id="22" name="TextBox 21"/>
          <p:cNvSpPr txBox="1"/>
          <p:nvPr/>
        </p:nvSpPr>
        <p:spPr>
          <a:xfrm>
            <a:off x="8881110" y="1660144"/>
            <a:ext cx="951230" cy="240030"/>
          </a:xfrm>
          <a:prstGeom prst="rect">
            <a:avLst/>
          </a:prstGeom>
          <a:noFill/>
        </p:spPr>
        <p:txBody>
          <a:bodyPr wrap="none" lIns="0" rIns="0" tIns="0" bIns="0">
            <a:spAutoFit/>
          </a:bodyPr>
          <a:lstStyle/>
          <a:p>
            <a:pPr algn="l"/>
            <a:r>
              <a:rPr sz="1400" b="1">
                <a:solidFill>
                  <a:srgbClr val="BCD2D0"/>
                </a:solidFill>
                <a:latin typeface="Noto Sans SC"/>
                <a:ea typeface="Noto Sans SC"/>
              </a:rPr>
              <a:t>new label</a:t>
            </a:r>
          </a:p>
        </p:txBody>
      </p:sp>
      <p:sp>
        <p:nvSpPr>
          <p:cNvPr id="23" name="TextBox 22"/>
          <p:cNvSpPr txBox="1"/>
          <p:nvPr/>
        </p:nvSpPr>
        <p:spPr>
          <a:xfrm>
            <a:off x="10151110" y="1660144"/>
            <a:ext cx="862330" cy="240030"/>
          </a:xfrm>
          <a:prstGeom prst="rect">
            <a:avLst/>
          </a:prstGeom>
          <a:noFill/>
        </p:spPr>
        <p:txBody>
          <a:bodyPr wrap="none" lIns="0" rIns="0" tIns="0" bIns="0">
            <a:spAutoFit/>
          </a:bodyPr>
          <a:lstStyle/>
          <a:p>
            <a:pPr algn="l"/>
            <a:r>
              <a:rPr sz="1400" b="1">
                <a:solidFill>
                  <a:srgbClr val="BCD2D0"/>
                </a:solidFill>
                <a:latin typeface="Noto Sans SC"/>
                <a:ea typeface="Noto Sans SC"/>
              </a:rPr>
              <a:t>changed</a:t>
            </a:r>
          </a:p>
        </p:txBody>
      </p:sp>
      <p:cxnSp>
        <p:nvCxnSpPr>
          <p:cNvPr id="24" name="Connector 23"/>
          <p:cNvCxnSpPr/>
          <p:nvPr/>
        </p:nvCxnSpPr>
        <p:spPr>
          <a:xfrm>
            <a:off x="6057900" y="1943100"/>
            <a:ext cx="4864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85840" y="21168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A</a:t>
            </a:r>
          </a:p>
        </p:txBody>
      </p:sp>
      <p:sp>
        <p:nvSpPr>
          <p:cNvPr id="26" name="TextBox 25"/>
          <p:cNvSpPr txBox="1"/>
          <p:nvPr/>
        </p:nvSpPr>
        <p:spPr>
          <a:xfrm>
            <a:off x="6784340" y="2116836"/>
            <a:ext cx="826769" cy="274320"/>
          </a:xfrm>
          <a:prstGeom prst="rect">
            <a:avLst/>
          </a:prstGeom>
          <a:noFill/>
        </p:spPr>
        <p:txBody>
          <a:bodyPr wrap="none" lIns="0" rIns="0" tIns="0" bIns="0">
            <a:spAutoFit/>
          </a:bodyPr>
          <a:lstStyle/>
          <a:p>
            <a:pPr algn="l"/>
            <a:r>
              <a:rPr sz="1600" b="0">
                <a:solidFill>
                  <a:srgbClr val="F2F3E9"/>
                </a:solidFill>
                <a:latin typeface="Noto Sans SC"/>
                <a:ea typeface="Noto Sans SC"/>
              </a:rPr>
              <a:t>B:5, C:1</a:t>
            </a:r>
          </a:p>
        </p:txBody>
      </p:sp>
      <p:sp>
        <p:nvSpPr>
          <p:cNvPr id="27" name="TextBox 26"/>
          <p:cNvSpPr txBox="1"/>
          <p:nvPr/>
        </p:nvSpPr>
        <p:spPr>
          <a:xfrm>
            <a:off x="8879840" y="2116836"/>
            <a:ext cx="255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B</a:t>
            </a:r>
          </a:p>
        </p:txBody>
      </p:sp>
      <p:sp>
        <p:nvSpPr>
          <p:cNvPr id="28" name="TextBox 27"/>
          <p:cNvSpPr txBox="1"/>
          <p:nvPr/>
        </p:nvSpPr>
        <p:spPr>
          <a:xfrm>
            <a:off x="10149840" y="2116836"/>
            <a:ext cx="439420" cy="274320"/>
          </a:xfrm>
          <a:prstGeom prst="rect">
            <a:avLst/>
          </a:prstGeom>
          <a:noFill/>
        </p:spPr>
        <p:txBody>
          <a:bodyPr wrap="none" lIns="0" rIns="0" tIns="0" bIns="0">
            <a:spAutoFit/>
          </a:bodyPr>
          <a:lstStyle/>
          <a:p>
            <a:pPr algn="l"/>
            <a:r>
              <a:rPr sz="1600" b="0">
                <a:solidFill>
                  <a:srgbClr val="F2F3E9"/>
                </a:solidFill>
                <a:latin typeface="Noto Sans SC"/>
                <a:ea typeface="Noto Sans SC"/>
              </a:rPr>
              <a:t>yes</a:t>
            </a:r>
          </a:p>
        </p:txBody>
      </p:sp>
      <p:sp>
        <p:nvSpPr>
          <p:cNvPr id="29" name="TextBox 28"/>
          <p:cNvSpPr txBox="1"/>
          <p:nvPr/>
        </p:nvSpPr>
        <p:spPr>
          <a:xfrm>
            <a:off x="6085840" y="2599436"/>
            <a:ext cx="255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B</a:t>
            </a:r>
          </a:p>
        </p:txBody>
      </p:sp>
      <p:sp>
        <p:nvSpPr>
          <p:cNvPr id="30" name="TextBox 29"/>
          <p:cNvSpPr txBox="1"/>
          <p:nvPr/>
        </p:nvSpPr>
        <p:spPr>
          <a:xfrm>
            <a:off x="6784340" y="2599436"/>
            <a:ext cx="826769" cy="274320"/>
          </a:xfrm>
          <a:prstGeom prst="rect">
            <a:avLst/>
          </a:prstGeom>
          <a:noFill/>
        </p:spPr>
        <p:txBody>
          <a:bodyPr wrap="none" lIns="0" rIns="0" tIns="0" bIns="0">
            <a:spAutoFit/>
          </a:bodyPr>
          <a:lstStyle/>
          <a:p>
            <a:pPr algn="l"/>
            <a:r>
              <a:rPr sz="1600" b="0">
                <a:solidFill>
                  <a:srgbClr val="F2F3E9"/>
                </a:solidFill>
                <a:latin typeface="Noto Sans SC"/>
                <a:ea typeface="Noto Sans SC"/>
              </a:rPr>
              <a:t>B:5, C:4</a:t>
            </a:r>
          </a:p>
        </p:txBody>
      </p:sp>
      <p:sp>
        <p:nvSpPr>
          <p:cNvPr id="31" name="TextBox 30"/>
          <p:cNvSpPr txBox="1"/>
          <p:nvPr/>
        </p:nvSpPr>
        <p:spPr>
          <a:xfrm>
            <a:off x="8879840" y="2599436"/>
            <a:ext cx="255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B</a:t>
            </a:r>
          </a:p>
        </p:txBody>
      </p:sp>
      <p:sp>
        <p:nvSpPr>
          <p:cNvPr id="32" name="TextBox 31"/>
          <p:cNvSpPr txBox="1"/>
          <p:nvPr/>
        </p:nvSpPr>
        <p:spPr>
          <a:xfrm>
            <a:off x="10149840" y="2599436"/>
            <a:ext cx="369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no</a:t>
            </a:r>
          </a:p>
        </p:txBody>
      </p:sp>
      <p:sp>
        <p:nvSpPr>
          <p:cNvPr id="33" name="TextBox 32"/>
          <p:cNvSpPr txBox="1"/>
          <p:nvPr/>
        </p:nvSpPr>
        <p:spPr>
          <a:xfrm>
            <a:off x="6085840" y="3082036"/>
            <a:ext cx="248920" cy="274320"/>
          </a:xfrm>
          <a:prstGeom prst="rect">
            <a:avLst/>
          </a:prstGeom>
          <a:noFill/>
        </p:spPr>
        <p:txBody>
          <a:bodyPr wrap="none" lIns="0" rIns="0" tIns="0" bIns="0">
            <a:spAutoFit/>
          </a:bodyPr>
          <a:lstStyle/>
          <a:p>
            <a:pPr algn="l"/>
            <a:r>
              <a:rPr sz="1600" b="0">
                <a:solidFill>
                  <a:srgbClr val="F2F3E9"/>
                </a:solidFill>
                <a:latin typeface="Noto Sans SC"/>
                <a:ea typeface="Noto Sans SC"/>
              </a:rPr>
              <a:t>C</a:t>
            </a:r>
          </a:p>
        </p:txBody>
      </p:sp>
      <p:sp>
        <p:nvSpPr>
          <p:cNvPr id="34" name="TextBox 33"/>
          <p:cNvSpPr txBox="1"/>
          <p:nvPr/>
        </p:nvSpPr>
        <p:spPr>
          <a:xfrm>
            <a:off x="6784340" y="3082036"/>
            <a:ext cx="1233170" cy="274320"/>
          </a:xfrm>
          <a:prstGeom prst="rect">
            <a:avLst/>
          </a:prstGeom>
          <a:noFill/>
        </p:spPr>
        <p:txBody>
          <a:bodyPr wrap="none" lIns="0" rIns="0" tIns="0" bIns="0">
            <a:spAutoFit/>
          </a:bodyPr>
          <a:lstStyle/>
          <a:p>
            <a:pPr algn="l"/>
            <a:r>
              <a:rPr sz="1600" b="0">
                <a:solidFill>
                  <a:srgbClr val="F2F3E9"/>
                </a:solidFill>
                <a:latin typeface="Noto Sans SC"/>
                <a:ea typeface="Noto Sans SC"/>
              </a:rPr>
              <a:t>B:5, D:2, E:1</a:t>
            </a:r>
          </a:p>
        </p:txBody>
      </p:sp>
      <p:sp>
        <p:nvSpPr>
          <p:cNvPr id="35" name="TextBox 34"/>
          <p:cNvSpPr txBox="1"/>
          <p:nvPr/>
        </p:nvSpPr>
        <p:spPr>
          <a:xfrm>
            <a:off x="8879840" y="3082036"/>
            <a:ext cx="255270" cy="274320"/>
          </a:xfrm>
          <a:prstGeom prst="rect">
            <a:avLst/>
          </a:prstGeom>
          <a:noFill/>
        </p:spPr>
        <p:txBody>
          <a:bodyPr wrap="none" lIns="0" rIns="0" tIns="0" bIns="0">
            <a:spAutoFit/>
          </a:bodyPr>
          <a:lstStyle/>
          <a:p>
            <a:pPr algn="l"/>
            <a:r>
              <a:rPr sz="1600" b="0">
                <a:solidFill>
                  <a:srgbClr val="F2F3E9"/>
                </a:solidFill>
                <a:latin typeface="Noto Sans SC"/>
                <a:ea typeface="Noto Sans SC"/>
              </a:rPr>
              <a:t>B</a:t>
            </a:r>
          </a:p>
        </p:txBody>
      </p:sp>
      <p:sp>
        <p:nvSpPr>
          <p:cNvPr id="36" name="TextBox 35"/>
          <p:cNvSpPr txBox="1"/>
          <p:nvPr/>
        </p:nvSpPr>
        <p:spPr>
          <a:xfrm>
            <a:off x="10149840" y="3082036"/>
            <a:ext cx="439420" cy="274320"/>
          </a:xfrm>
          <a:prstGeom prst="rect">
            <a:avLst/>
          </a:prstGeom>
          <a:noFill/>
        </p:spPr>
        <p:txBody>
          <a:bodyPr wrap="none" lIns="0" rIns="0" tIns="0" bIns="0">
            <a:spAutoFit/>
          </a:bodyPr>
          <a:lstStyle/>
          <a:p>
            <a:pPr algn="l"/>
            <a:r>
              <a:rPr sz="1600" b="0">
                <a:solidFill>
                  <a:srgbClr val="F2F3E9"/>
                </a:solidFill>
                <a:latin typeface="Noto Sans SC"/>
                <a:ea typeface="Noto Sans SC"/>
              </a:rPr>
              <a:t>yes</a:t>
            </a:r>
          </a:p>
        </p:txBody>
      </p:sp>
      <p:sp>
        <p:nvSpPr>
          <p:cNvPr id="37" name="TextBox 36"/>
          <p:cNvSpPr txBox="1"/>
          <p:nvPr/>
        </p:nvSpPr>
        <p:spPr>
          <a:xfrm>
            <a:off x="6085840" y="3564636"/>
            <a:ext cx="261620" cy="274320"/>
          </a:xfrm>
          <a:prstGeom prst="rect">
            <a:avLst/>
          </a:prstGeom>
          <a:noFill/>
        </p:spPr>
        <p:txBody>
          <a:bodyPr wrap="none" lIns="0" rIns="0" tIns="0" bIns="0">
            <a:spAutoFit/>
          </a:bodyPr>
          <a:lstStyle/>
          <a:p>
            <a:pPr algn="l"/>
            <a:r>
              <a:rPr sz="1600" b="0">
                <a:solidFill>
                  <a:srgbClr val="F2F3E9"/>
                </a:solidFill>
                <a:latin typeface="Noto Sans SC"/>
                <a:ea typeface="Noto Sans SC"/>
              </a:rPr>
              <a:t>D</a:t>
            </a:r>
          </a:p>
        </p:txBody>
      </p:sp>
      <p:sp>
        <p:nvSpPr>
          <p:cNvPr id="38" name="TextBox 37"/>
          <p:cNvSpPr txBox="1"/>
          <p:nvPr/>
        </p:nvSpPr>
        <p:spPr>
          <a:xfrm>
            <a:off x="6784340" y="3564636"/>
            <a:ext cx="820419" cy="274320"/>
          </a:xfrm>
          <a:prstGeom prst="rect">
            <a:avLst/>
          </a:prstGeom>
          <a:noFill/>
        </p:spPr>
        <p:txBody>
          <a:bodyPr wrap="none" lIns="0" rIns="0" tIns="0" bIns="0">
            <a:spAutoFit/>
          </a:bodyPr>
          <a:lstStyle/>
          <a:p>
            <a:pPr algn="l"/>
            <a:r>
              <a:rPr sz="1600" b="0">
                <a:solidFill>
                  <a:srgbClr val="F2F3E9"/>
                </a:solidFill>
                <a:latin typeface="Noto Sans SC"/>
                <a:ea typeface="Noto Sans SC"/>
              </a:rPr>
              <a:t>B:2, E:5</a:t>
            </a:r>
          </a:p>
        </p:txBody>
      </p:sp>
      <p:sp>
        <p:nvSpPr>
          <p:cNvPr id="39" name="TextBox 38"/>
          <p:cNvSpPr txBox="1"/>
          <p:nvPr/>
        </p:nvSpPr>
        <p:spPr>
          <a:xfrm>
            <a:off x="8879840" y="35646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a:t>
            </a:r>
          </a:p>
        </p:txBody>
      </p:sp>
      <p:sp>
        <p:nvSpPr>
          <p:cNvPr id="40" name="TextBox 39"/>
          <p:cNvSpPr txBox="1"/>
          <p:nvPr/>
        </p:nvSpPr>
        <p:spPr>
          <a:xfrm>
            <a:off x="10149840" y="3564636"/>
            <a:ext cx="439420" cy="274320"/>
          </a:xfrm>
          <a:prstGeom prst="rect">
            <a:avLst/>
          </a:prstGeom>
          <a:noFill/>
        </p:spPr>
        <p:txBody>
          <a:bodyPr wrap="none" lIns="0" rIns="0" tIns="0" bIns="0">
            <a:spAutoFit/>
          </a:bodyPr>
          <a:lstStyle/>
          <a:p>
            <a:pPr algn="l"/>
            <a:r>
              <a:rPr sz="1600" b="0">
                <a:solidFill>
                  <a:srgbClr val="F2F3E9"/>
                </a:solidFill>
                <a:latin typeface="Noto Sans SC"/>
                <a:ea typeface="Noto Sans SC"/>
              </a:rPr>
              <a:t>yes</a:t>
            </a:r>
          </a:p>
        </p:txBody>
      </p:sp>
      <p:sp>
        <p:nvSpPr>
          <p:cNvPr id="41" name="TextBox 40"/>
          <p:cNvSpPr txBox="1"/>
          <p:nvPr/>
        </p:nvSpPr>
        <p:spPr>
          <a:xfrm>
            <a:off x="6085840" y="40472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a:t>
            </a:r>
          </a:p>
        </p:txBody>
      </p:sp>
      <p:sp>
        <p:nvSpPr>
          <p:cNvPr id="42" name="TextBox 41"/>
          <p:cNvSpPr txBox="1"/>
          <p:nvPr/>
        </p:nvSpPr>
        <p:spPr>
          <a:xfrm>
            <a:off x="6784340" y="4047236"/>
            <a:ext cx="820419" cy="274320"/>
          </a:xfrm>
          <a:prstGeom prst="rect">
            <a:avLst/>
          </a:prstGeom>
          <a:noFill/>
        </p:spPr>
        <p:txBody>
          <a:bodyPr wrap="none" lIns="0" rIns="0" tIns="0" bIns="0">
            <a:spAutoFit/>
          </a:bodyPr>
          <a:lstStyle/>
          <a:p>
            <a:pPr algn="l"/>
            <a:r>
              <a:rPr sz="1600" b="0">
                <a:solidFill>
                  <a:srgbClr val="F2F3E9"/>
                </a:solidFill>
                <a:latin typeface="Noto Sans SC"/>
                <a:ea typeface="Noto Sans SC"/>
              </a:rPr>
              <a:t>B:1, E:5</a:t>
            </a:r>
          </a:p>
        </p:txBody>
      </p:sp>
      <p:sp>
        <p:nvSpPr>
          <p:cNvPr id="43" name="TextBox 42"/>
          <p:cNvSpPr txBox="1"/>
          <p:nvPr/>
        </p:nvSpPr>
        <p:spPr>
          <a:xfrm>
            <a:off x="8879840" y="4047236"/>
            <a:ext cx="242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E</a:t>
            </a:r>
          </a:p>
        </p:txBody>
      </p:sp>
      <p:sp>
        <p:nvSpPr>
          <p:cNvPr id="44" name="TextBox 43"/>
          <p:cNvSpPr txBox="1"/>
          <p:nvPr/>
        </p:nvSpPr>
        <p:spPr>
          <a:xfrm>
            <a:off x="10149840" y="4047236"/>
            <a:ext cx="369570" cy="274320"/>
          </a:xfrm>
          <a:prstGeom prst="rect">
            <a:avLst/>
          </a:prstGeom>
          <a:noFill/>
        </p:spPr>
        <p:txBody>
          <a:bodyPr wrap="none" lIns="0" rIns="0" tIns="0" bIns="0">
            <a:spAutoFit/>
          </a:bodyPr>
          <a:lstStyle/>
          <a:p>
            <a:pPr algn="l"/>
            <a:r>
              <a:rPr sz="1600" b="0">
                <a:solidFill>
                  <a:srgbClr val="F2F3E9"/>
                </a:solidFill>
                <a:latin typeface="Noto Sans SC"/>
                <a:ea typeface="Noto Sans SC"/>
              </a:rPr>
              <a:t>no</a:t>
            </a:r>
          </a:p>
        </p:txBody>
      </p:sp>
      <p:sp>
        <p:nvSpPr>
          <p:cNvPr id="45" name="Rounded Rectangle 44"/>
          <p:cNvSpPr/>
          <p:nvPr/>
        </p:nvSpPr>
        <p:spPr>
          <a:xfrm>
            <a:off x="6540500" y="4991100"/>
            <a:ext cx="381000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586220" y="5051298"/>
            <a:ext cx="37185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round 2 unchanged → stable, 2 rounds, cut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366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Synchronous updates and oscillation</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p7/12</a:t>
            </a:r>
          </a:p>
        </p:txBody>
      </p:sp>
      <p:sp>
        <p:nvSpPr>
          <p:cNvPr id="9" name="TextBox 8"/>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01:48</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Synchronous: the whole round reads one old snapshot and commits at the end</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Two nodes: A and B swap labels every round</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G01 synchronous: round 3 repeats round 1 (period 2)</a:t>
            </a:r>
          </a:p>
        </p:txBody>
      </p:sp>
      <p:sp>
        <p:nvSpPr>
          <p:cNvPr id="16" name="Oval 15"/>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Stopping status: stable / cycle / limit</a:t>
            </a:r>
          </a:p>
        </p:txBody>
      </p:sp>
      <p:sp>
        <p:nvSpPr>
          <p:cNvPr id="18" name="Oval 17"/>
          <p:cNvSpPr/>
          <p:nvPr/>
        </p:nvSpPr>
        <p:spPr>
          <a:xfrm>
            <a:off x="711200" y="38928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3784092"/>
            <a:ext cx="4718050" cy="313055"/>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Only stable may be called converged</a:t>
            </a:r>
          </a:p>
        </p:txBody>
      </p:sp>
      <p:cxnSp>
        <p:nvCxnSpPr>
          <p:cNvPr id="20" name="Connector 19"/>
          <p:cNvCxnSpPr/>
          <p:nvPr/>
        </p:nvCxnSpPr>
        <p:spPr>
          <a:xfrm>
            <a:off x="6731000" y="2667000"/>
            <a:ext cx="3810000" cy="0"/>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489696" y="229920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514715" y="230733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sp>
        <p:nvSpPr>
          <p:cNvPr id="23" name="Oval 22"/>
          <p:cNvSpPr/>
          <p:nvPr/>
        </p:nvSpPr>
        <p:spPr>
          <a:xfrm>
            <a:off x="6375400" y="2311400"/>
            <a:ext cx="711200" cy="7112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72250" y="2499360"/>
            <a:ext cx="317500" cy="342900"/>
          </a:xfrm>
          <a:prstGeom prst="rect">
            <a:avLst/>
          </a:prstGeom>
          <a:noFill/>
        </p:spPr>
        <p:txBody>
          <a:bodyPr wrap="none" lIns="0" rIns="0" tIns="0" bIns="0">
            <a:spAutoFit/>
          </a:bodyPr>
          <a:lstStyle/>
          <a:p>
            <a:pPr algn="ctr"/>
            <a:r>
              <a:rPr sz="2000" b="1">
                <a:solidFill>
                  <a:srgbClr val="0B1B1F"/>
                </a:solidFill>
                <a:latin typeface="Noto Sans SC"/>
                <a:ea typeface="Noto Sans SC"/>
              </a:rPr>
              <a:t>A</a:t>
            </a:r>
          </a:p>
        </p:txBody>
      </p:sp>
      <p:sp>
        <p:nvSpPr>
          <p:cNvPr id="25" name="Rounded Rectangle 24"/>
          <p:cNvSpPr/>
          <p:nvPr/>
        </p:nvSpPr>
        <p:spPr>
          <a:xfrm>
            <a:off x="6257925" y="3149600"/>
            <a:ext cx="946150" cy="292100"/>
          </a:xfrm>
          <a:prstGeom prst="roundRect">
            <a:avLst>
              <a:gd name="adj" fmla="val 50000"/>
            </a:avLst>
          </a:prstGeom>
          <a:solidFill>
            <a:srgbClr val="0A2126"/>
          </a:solidFill>
          <a:ln w="12700">
            <a:solidFill>
              <a:srgbClr val="8FB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03645" y="3209798"/>
            <a:ext cx="854710" cy="222885"/>
          </a:xfrm>
          <a:prstGeom prst="rect">
            <a:avLst/>
          </a:prstGeom>
          <a:noFill/>
        </p:spPr>
        <p:txBody>
          <a:bodyPr wrap="none" lIns="0" rIns="0" tIns="0" bIns="0">
            <a:spAutoFit/>
          </a:bodyPr>
          <a:lstStyle/>
          <a:p>
            <a:pPr algn="ctr"/>
            <a:r>
              <a:rPr sz="1300" b="1">
                <a:solidFill>
                  <a:srgbClr val="8FB1E6"/>
                </a:solidFill>
                <a:latin typeface="Noto Sans SC"/>
                <a:ea typeface="Noto Sans SC"/>
              </a:rPr>
              <a:t>label B ⇄</a:t>
            </a:r>
          </a:p>
        </p:txBody>
      </p:sp>
      <p:sp>
        <p:nvSpPr>
          <p:cNvPr id="27" name="Oval 26"/>
          <p:cNvSpPr/>
          <p:nvPr/>
        </p:nvSpPr>
        <p:spPr>
          <a:xfrm>
            <a:off x="10185400" y="2311400"/>
            <a:ext cx="711200" cy="711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379075" y="2499360"/>
            <a:ext cx="323850" cy="342900"/>
          </a:xfrm>
          <a:prstGeom prst="rect">
            <a:avLst/>
          </a:prstGeom>
          <a:noFill/>
        </p:spPr>
        <p:txBody>
          <a:bodyPr wrap="none" lIns="0" rIns="0" tIns="0" bIns="0">
            <a:spAutoFit/>
          </a:bodyPr>
          <a:lstStyle/>
          <a:p>
            <a:pPr algn="ctr"/>
            <a:r>
              <a:rPr sz="2000" b="1">
                <a:solidFill>
                  <a:srgbClr val="0B1B1F"/>
                </a:solidFill>
                <a:latin typeface="Noto Sans SC"/>
                <a:ea typeface="Noto Sans SC"/>
              </a:rPr>
              <a:t>B</a:t>
            </a:r>
          </a:p>
        </p:txBody>
      </p:sp>
      <p:sp>
        <p:nvSpPr>
          <p:cNvPr id="29" name="Rounded Rectangle 28"/>
          <p:cNvSpPr/>
          <p:nvPr/>
        </p:nvSpPr>
        <p:spPr>
          <a:xfrm>
            <a:off x="10071100" y="3149600"/>
            <a:ext cx="93980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116820" y="3209798"/>
            <a:ext cx="8483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label A ⇄</a:t>
            </a:r>
          </a:p>
        </p:txBody>
      </p:sp>
      <p:sp>
        <p:nvSpPr>
          <p:cNvPr id="31" name="TextBox 30"/>
          <p:cNvSpPr txBox="1"/>
          <p:nvPr/>
        </p:nvSpPr>
        <p:spPr>
          <a:xfrm>
            <a:off x="6368415" y="1634236"/>
            <a:ext cx="4535170" cy="274320"/>
          </a:xfrm>
          <a:prstGeom prst="rect">
            <a:avLst/>
          </a:prstGeom>
          <a:noFill/>
        </p:spPr>
        <p:txBody>
          <a:bodyPr wrap="none" lIns="0" rIns="0" tIns="0" bIns="0">
            <a:spAutoFit/>
          </a:bodyPr>
          <a:lstStyle/>
          <a:p>
            <a:pPr algn="ctr"/>
            <a:r>
              <a:rPr sz="1600" b="0">
                <a:solidFill>
                  <a:srgbClr val="D8BB78"/>
                </a:solidFill>
                <a:latin typeface="Noto Sans SC"/>
                <a:ea typeface="Noto Sans SC"/>
              </a:rPr>
              <a:t>Synchronous: the two nodes swap every round</a:t>
            </a:r>
          </a:p>
        </p:txBody>
      </p:sp>
      <p:sp>
        <p:nvSpPr>
          <p:cNvPr id="32" name="TextBox 31"/>
          <p:cNvSpPr txBox="1"/>
          <p:nvPr/>
        </p:nvSpPr>
        <p:spPr>
          <a:xfrm>
            <a:off x="6342380" y="4162552"/>
            <a:ext cx="535940" cy="205740"/>
          </a:xfrm>
          <a:prstGeom prst="rect">
            <a:avLst/>
          </a:prstGeom>
          <a:noFill/>
        </p:spPr>
        <p:txBody>
          <a:bodyPr wrap="none" lIns="0" rIns="0" tIns="0" bIns="0">
            <a:spAutoFit/>
          </a:bodyPr>
          <a:lstStyle/>
          <a:p>
            <a:pPr algn="l"/>
            <a:r>
              <a:rPr sz="1200" b="1">
                <a:solidFill>
                  <a:srgbClr val="BCD2D0"/>
                </a:solidFill>
                <a:latin typeface="Noto Sans SC"/>
                <a:ea typeface="Noto Sans SC"/>
              </a:rPr>
              <a:t>round</a:t>
            </a:r>
          </a:p>
        </p:txBody>
      </p:sp>
      <p:sp>
        <p:nvSpPr>
          <p:cNvPr id="33" name="TextBox 32"/>
          <p:cNvSpPr txBox="1"/>
          <p:nvPr/>
        </p:nvSpPr>
        <p:spPr>
          <a:xfrm>
            <a:off x="7104380" y="4162552"/>
            <a:ext cx="186690" cy="205740"/>
          </a:xfrm>
          <a:prstGeom prst="rect">
            <a:avLst/>
          </a:prstGeom>
          <a:noFill/>
        </p:spPr>
        <p:txBody>
          <a:bodyPr wrap="none" lIns="0" rIns="0" tIns="0" bIns="0">
            <a:spAutoFit/>
          </a:bodyPr>
          <a:lstStyle/>
          <a:p>
            <a:pPr algn="l"/>
            <a:r>
              <a:rPr sz="1200" b="1">
                <a:solidFill>
                  <a:srgbClr val="BCD2D0"/>
                </a:solidFill>
                <a:latin typeface="Noto Sans SC"/>
                <a:ea typeface="Noto Sans SC"/>
              </a:rPr>
              <a:t>A</a:t>
            </a:r>
          </a:p>
        </p:txBody>
      </p:sp>
      <p:sp>
        <p:nvSpPr>
          <p:cNvPr id="34" name="TextBox 33"/>
          <p:cNvSpPr txBox="1"/>
          <p:nvPr/>
        </p:nvSpPr>
        <p:spPr>
          <a:xfrm>
            <a:off x="7802880" y="4162552"/>
            <a:ext cx="193040" cy="205740"/>
          </a:xfrm>
          <a:prstGeom prst="rect">
            <a:avLst/>
          </a:prstGeom>
          <a:noFill/>
        </p:spPr>
        <p:txBody>
          <a:bodyPr wrap="none" lIns="0" rIns="0" tIns="0" bIns="0">
            <a:spAutoFit/>
          </a:bodyPr>
          <a:lstStyle/>
          <a:p>
            <a:pPr algn="l"/>
            <a:r>
              <a:rPr sz="1200" b="1">
                <a:solidFill>
                  <a:srgbClr val="BCD2D0"/>
                </a:solidFill>
                <a:latin typeface="Noto Sans SC"/>
                <a:ea typeface="Noto Sans SC"/>
              </a:rPr>
              <a:t>B</a:t>
            </a:r>
          </a:p>
        </p:txBody>
      </p:sp>
      <p:sp>
        <p:nvSpPr>
          <p:cNvPr id="35" name="TextBox 34"/>
          <p:cNvSpPr txBox="1"/>
          <p:nvPr/>
        </p:nvSpPr>
        <p:spPr>
          <a:xfrm>
            <a:off x="8501380" y="4162552"/>
            <a:ext cx="193040" cy="205740"/>
          </a:xfrm>
          <a:prstGeom prst="rect">
            <a:avLst/>
          </a:prstGeom>
          <a:noFill/>
        </p:spPr>
        <p:txBody>
          <a:bodyPr wrap="none" lIns="0" rIns="0" tIns="0" bIns="0">
            <a:spAutoFit/>
          </a:bodyPr>
          <a:lstStyle/>
          <a:p>
            <a:pPr algn="l"/>
            <a:r>
              <a:rPr sz="1200" b="1">
                <a:solidFill>
                  <a:srgbClr val="BCD2D0"/>
                </a:solidFill>
                <a:latin typeface="Noto Sans SC"/>
                <a:ea typeface="Noto Sans SC"/>
              </a:rPr>
              <a:t>C</a:t>
            </a:r>
          </a:p>
        </p:txBody>
      </p:sp>
      <p:sp>
        <p:nvSpPr>
          <p:cNvPr id="36" name="TextBox 35"/>
          <p:cNvSpPr txBox="1"/>
          <p:nvPr/>
        </p:nvSpPr>
        <p:spPr>
          <a:xfrm>
            <a:off x="9199880" y="4162552"/>
            <a:ext cx="199390" cy="205740"/>
          </a:xfrm>
          <a:prstGeom prst="rect">
            <a:avLst/>
          </a:prstGeom>
          <a:noFill/>
        </p:spPr>
        <p:txBody>
          <a:bodyPr wrap="none" lIns="0" rIns="0" tIns="0" bIns="0">
            <a:spAutoFit/>
          </a:bodyPr>
          <a:lstStyle/>
          <a:p>
            <a:pPr algn="l"/>
            <a:r>
              <a:rPr sz="1200" b="1">
                <a:solidFill>
                  <a:srgbClr val="BCD2D0"/>
                </a:solidFill>
                <a:latin typeface="Noto Sans SC"/>
                <a:ea typeface="Noto Sans SC"/>
              </a:rPr>
              <a:t>D</a:t>
            </a:r>
          </a:p>
        </p:txBody>
      </p:sp>
      <p:sp>
        <p:nvSpPr>
          <p:cNvPr id="37" name="TextBox 36"/>
          <p:cNvSpPr txBox="1"/>
          <p:nvPr/>
        </p:nvSpPr>
        <p:spPr>
          <a:xfrm>
            <a:off x="9898380" y="4162552"/>
            <a:ext cx="186690" cy="205740"/>
          </a:xfrm>
          <a:prstGeom prst="rect">
            <a:avLst/>
          </a:prstGeom>
          <a:noFill/>
        </p:spPr>
        <p:txBody>
          <a:bodyPr wrap="none" lIns="0" rIns="0" tIns="0" bIns="0">
            <a:spAutoFit/>
          </a:bodyPr>
          <a:lstStyle/>
          <a:p>
            <a:pPr algn="l"/>
            <a:r>
              <a:rPr sz="1200" b="1">
                <a:solidFill>
                  <a:srgbClr val="BCD2D0"/>
                </a:solidFill>
                <a:latin typeface="Noto Sans SC"/>
                <a:ea typeface="Noto Sans SC"/>
              </a:rPr>
              <a:t>E</a:t>
            </a:r>
          </a:p>
        </p:txBody>
      </p:sp>
      <p:cxnSp>
        <p:nvCxnSpPr>
          <p:cNvPr id="38" name="Connector 37"/>
          <p:cNvCxnSpPr/>
          <p:nvPr/>
        </p:nvCxnSpPr>
        <p:spPr>
          <a:xfrm>
            <a:off x="6311900" y="4419600"/>
            <a:ext cx="42926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341110" y="44541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0</a:t>
            </a:r>
          </a:p>
        </p:txBody>
      </p:sp>
      <p:sp>
        <p:nvSpPr>
          <p:cNvPr id="40" name="TextBox 39"/>
          <p:cNvSpPr txBox="1"/>
          <p:nvPr/>
        </p:nvSpPr>
        <p:spPr>
          <a:xfrm>
            <a:off x="7103109" y="4454144"/>
            <a:ext cx="214629" cy="240030"/>
          </a:xfrm>
          <a:prstGeom prst="rect">
            <a:avLst/>
          </a:prstGeom>
          <a:noFill/>
        </p:spPr>
        <p:txBody>
          <a:bodyPr wrap="none" lIns="0" rIns="0" tIns="0" bIns="0">
            <a:spAutoFit/>
          </a:bodyPr>
          <a:lstStyle/>
          <a:p>
            <a:pPr algn="l"/>
            <a:r>
              <a:rPr sz="1400" b="0">
                <a:solidFill>
                  <a:srgbClr val="F2F3E9"/>
                </a:solidFill>
                <a:latin typeface="Noto Sans SC"/>
                <a:ea typeface="Noto Sans SC"/>
              </a:rPr>
              <a:t>A</a:t>
            </a:r>
          </a:p>
        </p:txBody>
      </p:sp>
      <p:sp>
        <p:nvSpPr>
          <p:cNvPr id="41" name="TextBox 40"/>
          <p:cNvSpPr txBox="1"/>
          <p:nvPr/>
        </p:nvSpPr>
        <p:spPr>
          <a:xfrm>
            <a:off x="7801609" y="44541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B</a:t>
            </a:r>
          </a:p>
        </p:txBody>
      </p:sp>
      <p:sp>
        <p:nvSpPr>
          <p:cNvPr id="42" name="TextBox 41"/>
          <p:cNvSpPr txBox="1"/>
          <p:nvPr/>
        </p:nvSpPr>
        <p:spPr>
          <a:xfrm>
            <a:off x="8500110" y="44541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C</a:t>
            </a:r>
          </a:p>
        </p:txBody>
      </p:sp>
      <p:sp>
        <p:nvSpPr>
          <p:cNvPr id="43" name="TextBox 42"/>
          <p:cNvSpPr txBox="1"/>
          <p:nvPr/>
        </p:nvSpPr>
        <p:spPr>
          <a:xfrm>
            <a:off x="9198610" y="4454144"/>
            <a:ext cx="227329" cy="240030"/>
          </a:xfrm>
          <a:prstGeom prst="rect">
            <a:avLst/>
          </a:prstGeom>
          <a:noFill/>
        </p:spPr>
        <p:txBody>
          <a:bodyPr wrap="none" lIns="0" rIns="0" tIns="0" bIns="0">
            <a:spAutoFit/>
          </a:bodyPr>
          <a:lstStyle/>
          <a:p>
            <a:pPr algn="l"/>
            <a:r>
              <a:rPr sz="1400" b="0">
                <a:solidFill>
                  <a:srgbClr val="F2F3E9"/>
                </a:solidFill>
                <a:latin typeface="Noto Sans SC"/>
                <a:ea typeface="Noto Sans SC"/>
              </a:rPr>
              <a:t>D</a:t>
            </a:r>
          </a:p>
        </p:txBody>
      </p:sp>
      <p:sp>
        <p:nvSpPr>
          <p:cNvPr id="44" name="TextBox 43"/>
          <p:cNvSpPr txBox="1"/>
          <p:nvPr/>
        </p:nvSpPr>
        <p:spPr>
          <a:xfrm>
            <a:off x="9897110" y="44541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E</a:t>
            </a:r>
          </a:p>
        </p:txBody>
      </p:sp>
      <p:sp>
        <p:nvSpPr>
          <p:cNvPr id="45" name="Rounded Rectangle 44"/>
          <p:cNvSpPr/>
          <p:nvPr/>
        </p:nvSpPr>
        <p:spPr>
          <a:xfrm>
            <a:off x="6261100" y="4724400"/>
            <a:ext cx="4432300" cy="292100"/>
          </a:xfrm>
          <a:prstGeom prst="roundRect">
            <a:avLst>
              <a:gd name="adj" fmla="val 17391"/>
            </a:avLst>
          </a:prstGeom>
          <a:solidFill>
            <a:srgbClr val="DB7B72">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341110" y="47716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1</a:t>
            </a:r>
          </a:p>
        </p:txBody>
      </p:sp>
      <p:sp>
        <p:nvSpPr>
          <p:cNvPr id="47" name="TextBox 46"/>
          <p:cNvSpPr txBox="1"/>
          <p:nvPr/>
        </p:nvSpPr>
        <p:spPr>
          <a:xfrm>
            <a:off x="7103109" y="47716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B</a:t>
            </a:r>
          </a:p>
        </p:txBody>
      </p:sp>
      <p:sp>
        <p:nvSpPr>
          <p:cNvPr id="48" name="TextBox 47"/>
          <p:cNvSpPr txBox="1"/>
          <p:nvPr/>
        </p:nvSpPr>
        <p:spPr>
          <a:xfrm>
            <a:off x="7801609" y="4771644"/>
            <a:ext cx="214629" cy="240030"/>
          </a:xfrm>
          <a:prstGeom prst="rect">
            <a:avLst/>
          </a:prstGeom>
          <a:noFill/>
        </p:spPr>
        <p:txBody>
          <a:bodyPr wrap="none" lIns="0" rIns="0" tIns="0" bIns="0">
            <a:spAutoFit/>
          </a:bodyPr>
          <a:lstStyle/>
          <a:p>
            <a:pPr algn="l"/>
            <a:r>
              <a:rPr sz="1400" b="0">
                <a:solidFill>
                  <a:srgbClr val="F2F3E9"/>
                </a:solidFill>
                <a:latin typeface="Noto Sans SC"/>
                <a:ea typeface="Noto Sans SC"/>
              </a:rPr>
              <a:t>A</a:t>
            </a:r>
          </a:p>
        </p:txBody>
      </p:sp>
      <p:sp>
        <p:nvSpPr>
          <p:cNvPr id="49" name="TextBox 48"/>
          <p:cNvSpPr txBox="1"/>
          <p:nvPr/>
        </p:nvSpPr>
        <p:spPr>
          <a:xfrm>
            <a:off x="8500110" y="47716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B</a:t>
            </a:r>
          </a:p>
        </p:txBody>
      </p:sp>
      <p:sp>
        <p:nvSpPr>
          <p:cNvPr id="50" name="TextBox 49"/>
          <p:cNvSpPr txBox="1"/>
          <p:nvPr/>
        </p:nvSpPr>
        <p:spPr>
          <a:xfrm>
            <a:off x="9198610" y="47716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E</a:t>
            </a:r>
          </a:p>
        </p:txBody>
      </p:sp>
      <p:sp>
        <p:nvSpPr>
          <p:cNvPr id="51" name="TextBox 50"/>
          <p:cNvSpPr txBox="1"/>
          <p:nvPr/>
        </p:nvSpPr>
        <p:spPr>
          <a:xfrm>
            <a:off x="9897110" y="4771644"/>
            <a:ext cx="227329" cy="240030"/>
          </a:xfrm>
          <a:prstGeom prst="rect">
            <a:avLst/>
          </a:prstGeom>
          <a:noFill/>
        </p:spPr>
        <p:txBody>
          <a:bodyPr wrap="none" lIns="0" rIns="0" tIns="0" bIns="0">
            <a:spAutoFit/>
          </a:bodyPr>
          <a:lstStyle/>
          <a:p>
            <a:pPr algn="l"/>
            <a:r>
              <a:rPr sz="1400" b="0">
                <a:solidFill>
                  <a:srgbClr val="F2F3E9"/>
                </a:solidFill>
                <a:latin typeface="Noto Sans SC"/>
                <a:ea typeface="Noto Sans SC"/>
              </a:rPr>
              <a:t>D</a:t>
            </a:r>
          </a:p>
        </p:txBody>
      </p:sp>
      <p:sp>
        <p:nvSpPr>
          <p:cNvPr id="52" name="TextBox 51"/>
          <p:cNvSpPr txBox="1"/>
          <p:nvPr/>
        </p:nvSpPr>
        <p:spPr>
          <a:xfrm>
            <a:off x="6341110" y="50891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2</a:t>
            </a:r>
          </a:p>
        </p:txBody>
      </p:sp>
      <p:sp>
        <p:nvSpPr>
          <p:cNvPr id="53" name="TextBox 52"/>
          <p:cNvSpPr txBox="1"/>
          <p:nvPr/>
        </p:nvSpPr>
        <p:spPr>
          <a:xfrm>
            <a:off x="7103109" y="5089144"/>
            <a:ext cx="214629" cy="240030"/>
          </a:xfrm>
          <a:prstGeom prst="rect">
            <a:avLst/>
          </a:prstGeom>
          <a:noFill/>
        </p:spPr>
        <p:txBody>
          <a:bodyPr wrap="none" lIns="0" rIns="0" tIns="0" bIns="0">
            <a:spAutoFit/>
          </a:bodyPr>
          <a:lstStyle/>
          <a:p>
            <a:pPr algn="l"/>
            <a:r>
              <a:rPr sz="1400" b="0">
                <a:solidFill>
                  <a:srgbClr val="F2F3E9"/>
                </a:solidFill>
                <a:latin typeface="Noto Sans SC"/>
                <a:ea typeface="Noto Sans SC"/>
              </a:rPr>
              <a:t>A</a:t>
            </a:r>
          </a:p>
        </p:txBody>
      </p:sp>
      <p:sp>
        <p:nvSpPr>
          <p:cNvPr id="54" name="TextBox 53"/>
          <p:cNvSpPr txBox="1"/>
          <p:nvPr/>
        </p:nvSpPr>
        <p:spPr>
          <a:xfrm>
            <a:off x="7801609" y="50891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B</a:t>
            </a:r>
          </a:p>
        </p:txBody>
      </p:sp>
      <p:sp>
        <p:nvSpPr>
          <p:cNvPr id="55" name="TextBox 54"/>
          <p:cNvSpPr txBox="1"/>
          <p:nvPr/>
        </p:nvSpPr>
        <p:spPr>
          <a:xfrm>
            <a:off x="8500110" y="5089144"/>
            <a:ext cx="214629" cy="240030"/>
          </a:xfrm>
          <a:prstGeom prst="rect">
            <a:avLst/>
          </a:prstGeom>
          <a:noFill/>
        </p:spPr>
        <p:txBody>
          <a:bodyPr wrap="none" lIns="0" rIns="0" tIns="0" bIns="0">
            <a:spAutoFit/>
          </a:bodyPr>
          <a:lstStyle/>
          <a:p>
            <a:pPr algn="l"/>
            <a:r>
              <a:rPr sz="1400" b="0">
                <a:solidFill>
                  <a:srgbClr val="F2F3E9"/>
                </a:solidFill>
                <a:latin typeface="Noto Sans SC"/>
                <a:ea typeface="Noto Sans SC"/>
              </a:rPr>
              <a:t>A</a:t>
            </a:r>
          </a:p>
        </p:txBody>
      </p:sp>
      <p:sp>
        <p:nvSpPr>
          <p:cNvPr id="56" name="TextBox 55"/>
          <p:cNvSpPr txBox="1"/>
          <p:nvPr/>
        </p:nvSpPr>
        <p:spPr>
          <a:xfrm>
            <a:off x="9198610" y="5089144"/>
            <a:ext cx="227329" cy="240030"/>
          </a:xfrm>
          <a:prstGeom prst="rect">
            <a:avLst/>
          </a:prstGeom>
          <a:noFill/>
        </p:spPr>
        <p:txBody>
          <a:bodyPr wrap="none" lIns="0" rIns="0" tIns="0" bIns="0">
            <a:spAutoFit/>
          </a:bodyPr>
          <a:lstStyle/>
          <a:p>
            <a:pPr algn="l"/>
            <a:r>
              <a:rPr sz="1400" b="0">
                <a:solidFill>
                  <a:srgbClr val="F2F3E9"/>
                </a:solidFill>
                <a:latin typeface="Noto Sans SC"/>
                <a:ea typeface="Noto Sans SC"/>
              </a:rPr>
              <a:t>D</a:t>
            </a:r>
          </a:p>
        </p:txBody>
      </p:sp>
      <p:sp>
        <p:nvSpPr>
          <p:cNvPr id="57" name="TextBox 56"/>
          <p:cNvSpPr txBox="1"/>
          <p:nvPr/>
        </p:nvSpPr>
        <p:spPr>
          <a:xfrm>
            <a:off x="9897110" y="50891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E</a:t>
            </a:r>
          </a:p>
        </p:txBody>
      </p:sp>
      <p:sp>
        <p:nvSpPr>
          <p:cNvPr id="58" name="Rounded Rectangle 57"/>
          <p:cNvSpPr/>
          <p:nvPr/>
        </p:nvSpPr>
        <p:spPr>
          <a:xfrm>
            <a:off x="6261100" y="5359400"/>
            <a:ext cx="4432300" cy="292100"/>
          </a:xfrm>
          <a:prstGeom prst="roundRect">
            <a:avLst>
              <a:gd name="adj" fmla="val 17391"/>
            </a:avLst>
          </a:prstGeom>
          <a:solidFill>
            <a:srgbClr val="DB7B72">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41110" y="54066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3</a:t>
            </a:r>
          </a:p>
        </p:txBody>
      </p:sp>
      <p:sp>
        <p:nvSpPr>
          <p:cNvPr id="60" name="TextBox 59"/>
          <p:cNvSpPr txBox="1"/>
          <p:nvPr/>
        </p:nvSpPr>
        <p:spPr>
          <a:xfrm>
            <a:off x="7103109" y="54066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B</a:t>
            </a:r>
          </a:p>
        </p:txBody>
      </p:sp>
      <p:sp>
        <p:nvSpPr>
          <p:cNvPr id="61" name="TextBox 60"/>
          <p:cNvSpPr txBox="1"/>
          <p:nvPr/>
        </p:nvSpPr>
        <p:spPr>
          <a:xfrm>
            <a:off x="7801609" y="5406644"/>
            <a:ext cx="214629" cy="240030"/>
          </a:xfrm>
          <a:prstGeom prst="rect">
            <a:avLst/>
          </a:prstGeom>
          <a:noFill/>
        </p:spPr>
        <p:txBody>
          <a:bodyPr wrap="none" lIns="0" rIns="0" tIns="0" bIns="0">
            <a:spAutoFit/>
          </a:bodyPr>
          <a:lstStyle/>
          <a:p>
            <a:pPr algn="l"/>
            <a:r>
              <a:rPr sz="1400" b="0">
                <a:solidFill>
                  <a:srgbClr val="F2F3E9"/>
                </a:solidFill>
                <a:latin typeface="Noto Sans SC"/>
                <a:ea typeface="Noto Sans SC"/>
              </a:rPr>
              <a:t>A</a:t>
            </a:r>
          </a:p>
        </p:txBody>
      </p:sp>
      <p:sp>
        <p:nvSpPr>
          <p:cNvPr id="62" name="TextBox 61"/>
          <p:cNvSpPr txBox="1"/>
          <p:nvPr/>
        </p:nvSpPr>
        <p:spPr>
          <a:xfrm>
            <a:off x="8500110" y="5406644"/>
            <a:ext cx="220979" cy="240030"/>
          </a:xfrm>
          <a:prstGeom prst="rect">
            <a:avLst/>
          </a:prstGeom>
          <a:noFill/>
        </p:spPr>
        <p:txBody>
          <a:bodyPr wrap="none" lIns="0" rIns="0" tIns="0" bIns="0">
            <a:spAutoFit/>
          </a:bodyPr>
          <a:lstStyle/>
          <a:p>
            <a:pPr algn="l"/>
            <a:r>
              <a:rPr sz="1400" b="0">
                <a:solidFill>
                  <a:srgbClr val="F2F3E9"/>
                </a:solidFill>
                <a:latin typeface="Noto Sans SC"/>
                <a:ea typeface="Noto Sans SC"/>
              </a:rPr>
              <a:t>B</a:t>
            </a:r>
          </a:p>
        </p:txBody>
      </p:sp>
      <p:sp>
        <p:nvSpPr>
          <p:cNvPr id="63" name="TextBox 62"/>
          <p:cNvSpPr txBox="1"/>
          <p:nvPr/>
        </p:nvSpPr>
        <p:spPr>
          <a:xfrm>
            <a:off x="9198610" y="54066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E</a:t>
            </a:r>
          </a:p>
        </p:txBody>
      </p:sp>
      <p:sp>
        <p:nvSpPr>
          <p:cNvPr id="64" name="TextBox 63"/>
          <p:cNvSpPr txBox="1"/>
          <p:nvPr/>
        </p:nvSpPr>
        <p:spPr>
          <a:xfrm>
            <a:off x="9897110" y="5406644"/>
            <a:ext cx="227329" cy="240030"/>
          </a:xfrm>
          <a:prstGeom prst="rect">
            <a:avLst/>
          </a:prstGeom>
          <a:noFill/>
        </p:spPr>
        <p:txBody>
          <a:bodyPr wrap="none" lIns="0" rIns="0" tIns="0" bIns="0">
            <a:spAutoFit/>
          </a:bodyPr>
          <a:lstStyle/>
          <a:p>
            <a:pPr algn="l"/>
            <a:r>
              <a:rPr sz="1400" b="0">
                <a:solidFill>
                  <a:srgbClr val="F2F3E9"/>
                </a:solidFill>
                <a:latin typeface="Noto Sans SC"/>
                <a:ea typeface="Noto Sans SC"/>
              </a:rPr>
              <a:t>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8900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Ties and edge weights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p8/12</a:t>
            </a:r>
          </a:p>
        </p:txBody>
      </p:sp>
      <p:sp>
        <p:nvSpPr>
          <p:cNvPr id="9" name="TextBox 8"/>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02:03</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Tie rule: min (default) / max / keep; it must be deterministic</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Set C–D to 10 and rerun from the initial labels</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 pulls C over: AB | CDE, cut 5</a:t>
            </a:r>
          </a:p>
        </p:txBody>
      </p:sp>
      <p:sp>
        <p:nvSpPr>
          <p:cNvPr id="16" name="Oval 15"/>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When comparing settings, always restart from the same initial state</a:t>
            </a:r>
          </a:p>
        </p:txBody>
      </p:sp>
      <p:cxnSp>
        <p:nvCxnSpPr>
          <p:cNvPr id="18" name="Connector 17"/>
          <p:cNvCxnSpPr/>
          <p:nvPr/>
        </p:nvCxnSpPr>
        <p:spPr>
          <a:xfrm flipV="1">
            <a:off x="6769904" y="1778000"/>
            <a:ext cx="2164367" cy="147570"/>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695417" y="148434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20436" y="1492474"/>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1" name="Connector 20"/>
          <p:cNvCxnSpPr/>
          <p:nvPr/>
        </p:nvCxnSpPr>
        <p:spPr>
          <a:xfrm>
            <a:off x="6769904" y="1925570"/>
            <a:ext cx="1328134"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407013" y="245163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32032" y="245976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4" name="Connector 23"/>
          <p:cNvCxnSpPr/>
          <p:nvPr/>
        </p:nvCxnSpPr>
        <p:spPr>
          <a:xfrm flipH="1">
            <a:off x="8098038" y="1778000"/>
            <a:ext cx="836233" cy="182003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508333" y="25362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3352" y="25443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7" name="Connector 26"/>
          <p:cNvCxnSpPr/>
          <p:nvPr/>
        </p:nvCxnSpPr>
        <p:spPr>
          <a:xfrm>
            <a:off x="8098038" y="3598035"/>
            <a:ext cx="2213557" cy="1032993"/>
          </a:xfrm>
          <a:prstGeom prst="line">
            <a:avLst/>
          </a:prstGeom>
          <a:ln w="44450">
            <a:solidFill>
              <a:srgbClr val="D8BB7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122960" y="376103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87654" y="3769165"/>
            <a:ext cx="363220" cy="274320"/>
          </a:xfrm>
          <a:prstGeom prst="rect">
            <a:avLst/>
          </a:prstGeom>
          <a:noFill/>
        </p:spPr>
        <p:txBody>
          <a:bodyPr wrap="none" lIns="0" rIns="0" tIns="0" bIns="0">
            <a:spAutoFit/>
          </a:bodyPr>
          <a:lstStyle/>
          <a:p>
            <a:pPr algn="ctr"/>
            <a:r>
              <a:rPr sz="1600" b="1">
                <a:solidFill>
                  <a:srgbClr val="D8BB78"/>
                </a:solidFill>
                <a:latin typeface="Noto Sans SC"/>
                <a:ea typeface="Noto Sans SC"/>
              </a:rPr>
              <a:t>10</a:t>
            </a:r>
          </a:p>
        </p:txBody>
      </p:sp>
      <p:cxnSp>
        <p:nvCxnSpPr>
          <p:cNvPr id="30" name="Connector 29"/>
          <p:cNvCxnSpPr/>
          <p:nvPr/>
        </p:nvCxnSpPr>
        <p:spPr>
          <a:xfrm flipH="1">
            <a:off x="7852088" y="3598035"/>
            <a:ext cx="245950" cy="1672465"/>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979537" y="424104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04556" y="424917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3" name="Connector 32"/>
          <p:cNvCxnSpPr/>
          <p:nvPr/>
        </p:nvCxnSpPr>
        <p:spPr>
          <a:xfrm flipH="1">
            <a:off x="7852088" y="4631028"/>
            <a:ext cx="2459507" cy="639472"/>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973886" y="48828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98905" y="48909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36" name="Oval 35"/>
          <p:cNvSpPr/>
          <p:nvPr/>
        </p:nvSpPr>
        <p:spPr>
          <a:xfrm>
            <a:off x="6515904" y="1671570"/>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35284" y="178307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8" name="Oval 37"/>
          <p:cNvSpPr/>
          <p:nvPr/>
        </p:nvSpPr>
        <p:spPr>
          <a:xfrm>
            <a:off x="8680271" y="1524000"/>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796476" y="16355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0" name="Oval 39"/>
          <p:cNvSpPr/>
          <p:nvPr/>
        </p:nvSpPr>
        <p:spPr>
          <a:xfrm>
            <a:off x="7844038" y="3344035"/>
            <a:ext cx="508000" cy="508000"/>
          </a:xfrm>
          <a:prstGeom prst="ellipse">
            <a:avLst/>
          </a:prstGeom>
          <a:solidFill>
            <a:srgbClr val="C2A6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963418" y="3455541"/>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2" name="Oval 41"/>
          <p:cNvSpPr/>
          <p:nvPr/>
        </p:nvSpPr>
        <p:spPr>
          <a:xfrm>
            <a:off x="10057595" y="4377028"/>
            <a:ext cx="508000" cy="508000"/>
          </a:xfrm>
          <a:prstGeom prst="ellipse">
            <a:avLst/>
          </a:prstGeom>
          <a:solidFill>
            <a:srgbClr val="C2A6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170625" y="4488534"/>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4" name="Oval 43"/>
          <p:cNvSpPr/>
          <p:nvPr/>
        </p:nvSpPr>
        <p:spPr>
          <a:xfrm>
            <a:off x="7598088" y="5016500"/>
            <a:ext cx="508000" cy="508000"/>
          </a:xfrm>
          <a:prstGeom prst="ellipse">
            <a:avLst/>
          </a:prstGeom>
          <a:solidFill>
            <a:srgbClr val="C2A6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20643" y="51280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46" name="Rounded Rectangle 45"/>
          <p:cNvSpPr/>
          <p:nvPr/>
        </p:nvSpPr>
        <p:spPr>
          <a:xfrm>
            <a:off x="7508875" y="5689600"/>
            <a:ext cx="2127250" cy="2921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554595" y="5749798"/>
            <a:ext cx="203581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C–D = 10: AB | CDE, cut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893060" cy="480060"/>
          </a:xfrm>
          <a:prstGeom prst="rect">
            <a:avLst/>
          </a:prstGeom>
          <a:noFill/>
        </p:spPr>
        <p:txBody>
          <a:bodyPr wrap="none" lIns="0" rIns="0" tIns="0" bIns="0">
            <a:spAutoFit/>
          </a:bodyPr>
          <a:lstStyle/>
          <a:p>
            <a:pPr algn="l"/>
            <a:r>
              <a:rPr sz="2800" b="0">
                <a:solidFill>
                  <a:srgbClr val="F2F3E9"/>
                </a:solidFill>
                <a:latin typeface="Noto Sans SC"/>
                <a:ea typeface="Noto Sans SC"/>
              </a:rPr>
              <a:t>Back to the chip</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p9/12</a:t>
            </a:r>
          </a:p>
        </p:txBody>
      </p:sp>
      <p:sp>
        <p:nvSpPr>
          <p:cNvPr id="9" name="TextBox 8"/>
          <p:cNvSpPr txBox="1"/>
          <p:nvPr/>
        </p:nvSpPr>
        <p:spPr>
          <a:xfrm>
            <a:off x="8475980" y="377952"/>
            <a:ext cx="3190240"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"Where Do Clusters Come From?" 05:09</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24-cell circuit: label propagation stops after 5 rounds</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It cuts only 2 (the ruler cuts 88)</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Colour spreads along the strongest wires</a:t>
            </a:r>
          </a:p>
        </p:txBody>
      </p:sp>
      <p:sp>
        <p:nvSpPr>
          <p:cNvPr id="16" name="Oval 15"/>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fictional teaching graph: says nothing about optimality in general</a:t>
            </a:r>
          </a:p>
        </p:txBody>
      </p:sp>
      <p:cxnSp>
        <p:nvCxnSpPr>
          <p:cNvPr id="18" name="Connector 17"/>
          <p:cNvCxnSpPr/>
          <p:nvPr/>
        </p:nvCxnSpPr>
        <p:spPr>
          <a:xfrm flipV="1">
            <a:off x="5715000" y="1870137"/>
            <a:ext cx="1348153" cy="39211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715000" y="1949440"/>
            <a:ext cx="2423152" cy="31280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715000" y="2262247"/>
            <a:ext cx="48463" cy="57715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15000" y="2262247"/>
            <a:ext cx="1193953" cy="72254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63153" y="1870137"/>
            <a:ext cx="1074999" cy="7930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063153" y="1870137"/>
            <a:ext cx="2053071" cy="55952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763463" y="1870137"/>
            <a:ext cx="1299690" cy="96926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908953" y="1870137"/>
            <a:ext cx="154200" cy="111465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38152" y="1949440"/>
            <a:ext cx="978072" cy="48022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138152" y="1949440"/>
            <a:ext cx="2141185" cy="58155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763463" y="1949440"/>
            <a:ext cx="2374689" cy="88995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908953" y="1949440"/>
            <a:ext cx="1229199" cy="103534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16224" y="2429665"/>
            <a:ext cx="1163113" cy="10133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116224" y="2244624"/>
            <a:ext cx="2431964" cy="18504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763463" y="2429665"/>
            <a:ext cx="3352761" cy="40973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908953" y="2429665"/>
            <a:ext cx="2207271" cy="55512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279337" y="2244624"/>
            <a:ext cx="1268851" cy="28637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63463" y="2839398"/>
            <a:ext cx="1145490" cy="14538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045631" y="2887861"/>
            <a:ext cx="1282068" cy="3524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85491" y="2923107"/>
            <a:ext cx="2260140" cy="78422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966227" y="2923107"/>
            <a:ext cx="1079404" cy="60358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7961923" y="2923107"/>
            <a:ext cx="83708" cy="88555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045631" y="2923107"/>
            <a:ext cx="1171925" cy="75338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327699" y="2724849"/>
            <a:ext cx="854712" cy="16301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327699" y="2887861"/>
            <a:ext cx="2229301" cy="10133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966227" y="2887861"/>
            <a:ext cx="2361472" cy="638831"/>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961923" y="2887861"/>
            <a:ext cx="1365776" cy="92079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217556" y="2887861"/>
            <a:ext cx="110143" cy="78862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82411" y="2724849"/>
            <a:ext cx="1374589" cy="26434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217556" y="2724849"/>
            <a:ext cx="964855" cy="951638"/>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217556" y="2989193"/>
            <a:ext cx="2339444" cy="68729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85491" y="3526692"/>
            <a:ext cx="1180736" cy="18063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785491" y="3707327"/>
            <a:ext cx="2176432" cy="10133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966227" y="3526692"/>
            <a:ext cx="995696" cy="2819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66227" y="3526692"/>
            <a:ext cx="2251329" cy="14979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961923" y="3676487"/>
            <a:ext cx="1255633" cy="13217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252903" y="3623618"/>
            <a:ext cx="1224793" cy="88115"/>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7120428" y="3623618"/>
            <a:ext cx="3132475" cy="74897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8005980" y="3623618"/>
            <a:ext cx="2246923" cy="111024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235179" y="3623618"/>
            <a:ext cx="1017724" cy="108381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0235280" y="3623618"/>
            <a:ext cx="17623" cy="67407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252903" y="3623618"/>
            <a:ext cx="1061781" cy="74897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8005980" y="3711733"/>
            <a:ext cx="3471716" cy="102212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0235280" y="3711733"/>
            <a:ext cx="1242416" cy="585962"/>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1314684" y="3711733"/>
            <a:ext cx="163012" cy="660859"/>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63463" y="4372592"/>
            <a:ext cx="1356965" cy="11014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763463" y="4482736"/>
            <a:ext cx="2242517" cy="25112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20428" y="4372592"/>
            <a:ext cx="885552" cy="361270"/>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20428" y="4372592"/>
            <a:ext cx="2114751" cy="33483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005980" y="4707428"/>
            <a:ext cx="1229199" cy="26434"/>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005980" y="4297695"/>
            <a:ext cx="2229300" cy="43616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235179" y="4297695"/>
            <a:ext cx="1000101" cy="409733"/>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235179" y="4372592"/>
            <a:ext cx="2079505" cy="334836"/>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235280" y="4297695"/>
            <a:ext cx="1079404" cy="74897"/>
          </a:xfrm>
          <a:prstGeom prst="line">
            <a:avLst/>
          </a:prstGeom>
          <a:ln w="11430">
            <a:solidFill>
              <a:srgbClr val="4F7377">
                <a:alpha val="70000"/>
              </a:srgbClr>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908953" y="2984787"/>
            <a:ext cx="57274" cy="541905"/>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217556" y="3676487"/>
            <a:ext cx="17623" cy="1030941"/>
          </a:xfrm>
          <a:prstGeom prst="line">
            <a:avLst/>
          </a:prstGeom>
          <a:ln w="15240">
            <a:solidFill>
              <a:srgbClr val="DB7B72">
                <a:alpha val="95000"/>
              </a:srgbClr>
            </a:solidFill>
            <a:prstDash val="dash"/>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5626100" y="217334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6974253" y="178123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8049252" y="1860540"/>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9027324" y="2340765"/>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10190437" y="2442096"/>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11459288" y="2155724"/>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5674563" y="2750498"/>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6820053" y="2895887"/>
            <a:ext cx="177800" cy="177800"/>
          </a:xfrm>
          <a:prstGeom prst="ellipse">
            <a:avLst/>
          </a:prstGeom>
          <a:solidFill>
            <a:srgbClr val="77CDBB"/>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7956731" y="2834207"/>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9238799" y="2798961"/>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10093511" y="2635949"/>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11468100" y="2900293"/>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5696591" y="3618427"/>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6877327" y="3437792"/>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7873023" y="3719759"/>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9128656" y="3587587"/>
            <a:ext cx="177800" cy="177800"/>
          </a:xfrm>
          <a:prstGeom prst="ellipse">
            <a:avLst/>
          </a:prstGeom>
          <a:solidFill>
            <a:srgbClr val="8FB1E6"/>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10164003" y="3534718"/>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11388796" y="3622833"/>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5674563" y="4393836"/>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7031528" y="4283692"/>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7917080" y="4644962"/>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9146279" y="4618528"/>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10146380" y="4208795"/>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11225784" y="4283692"/>
            <a:ext cx="177800" cy="177800"/>
          </a:xfrm>
          <a:prstGeom prst="ellipse">
            <a:avLst/>
          </a:prstGeom>
          <a:solidFill>
            <a:srgbClr val="D8BB78"/>
          </a:solidFill>
          <a:ln w="1270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7172325" y="5689600"/>
            <a:ext cx="292735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7218045" y="5749798"/>
            <a:ext cx="28359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label propagation, 5 rounds, cut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9568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pseudocode, line by line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p10/12</a:t>
            </a:r>
          </a:p>
        </p:txBody>
      </p:sp>
      <p:sp>
        <p:nvSpPr>
          <p:cNvPr id="9" name="TextBox 8"/>
          <p:cNvSpPr txBox="1"/>
          <p:nvPr/>
        </p:nvSpPr>
        <p:spPr>
          <a:xfrm>
            <a:off x="9682480" y="377952"/>
            <a:ext cx="1983739" cy="205740"/>
          </a:xfrm>
          <a:prstGeom prst="rect">
            <a:avLst/>
          </a:prstGeom>
          <a:noFill/>
        </p:spPr>
        <p:txBody>
          <a:bodyPr wrap="none" lIns="0" rIns="0" tIns="0" bIns="0">
            <a:spAutoFit/>
          </a:bodyPr>
          <a:lstStyle/>
          <a:p>
            <a:pPr algn="r"/>
            <a:r>
              <a:rPr sz="1200" b="0">
                <a:solidFill>
                  <a:srgbClr val="6F8F8F"/>
                </a:solidFill>
                <a:latin typeface="Noto Sans SC"/>
                <a:ea typeface="Noto Sans SC"/>
              </a:rPr>
              <a:t>Film "The essentials" 01:31</a:t>
            </a:r>
          </a:p>
        </p:txBody>
      </p:sp>
      <p:sp>
        <p:nvSpPr>
          <p:cNvPr id="10" name="Oval 9"/>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4: add up edge weights per neighbour label (Python: count_votes)</a:t>
            </a:r>
          </a:p>
        </p:txBody>
      </p:sp>
      <p:sp>
        <p:nvSpPr>
          <p:cNvPr id="12" name="Oval 11"/>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5: the tie rule (choose)</a:t>
            </a:r>
          </a:p>
        </p:txBody>
      </p:sp>
      <p:sp>
        <p:nvSpPr>
          <p:cNvPr id="14" name="Oval 13"/>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6–7: the only difference between async and sync</a:t>
            </a:r>
          </a:p>
        </p:txBody>
      </p:sp>
      <p:sp>
        <p:nvSpPr>
          <p:cNvPr id="16" name="Oval 15"/>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8: no change → stable, repeat → cycle</a:t>
            </a:r>
          </a:p>
        </p:txBody>
      </p:sp>
      <p:sp>
        <p:nvSpPr>
          <p:cNvPr id="18" name="Rounded Rectangle 17"/>
          <p:cNvSpPr/>
          <p:nvPr/>
        </p:nvSpPr>
        <p:spPr>
          <a:xfrm>
            <a:off x="5753100" y="1574800"/>
            <a:ext cx="5715000" cy="3530600"/>
          </a:xfrm>
          <a:prstGeom prst="roundRect">
            <a:avLst>
              <a:gd name="adj" fmla="val 2158"/>
            </a:avLst>
          </a:prstGeom>
          <a:solidFill>
            <a:srgbClr val="0A1C1F"/>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8832" y="1768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1</a:t>
            </a:r>
          </a:p>
        </p:txBody>
      </p:sp>
      <p:sp>
        <p:nvSpPr>
          <p:cNvPr id="20" name="TextBox 19"/>
          <p:cNvSpPr txBox="1"/>
          <p:nvPr/>
        </p:nvSpPr>
        <p:spPr>
          <a:xfrm>
            <a:off x="6189027" y="1730120"/>
            <a:ext cx="826769" cy="231457"/>
          </a:xfrm>
          <a:prstGeom prst="rect">
            <a:avLst/>
          </a:prstGeom>
          <a:noFill/>
        </p:spPr>
        <p:txBody>
          <a:bodyPr wrap="none" lIns="0" rIns="0" tIns="0" bIns="0">
            <a:spAutoFit/>
          </a:bodyPr>
          <a:lstStyle/>
          <a:p>
            <a:pPr algn="l"/>
            <a:r>
              <a:rPr sz="1350" b="0">
                <a:solidFill>
                  <a:srgbClr val="DFEADF"/>
                </a:solidFill>
                <a:latin typeface="Noto Sans SC"/>
                <a:ea typeface="Noto Sans SC"/>
              </a:rPr>
              <a:t>labels[v] </a:t>
            </a:r>
          </a:p>
        </p:txBody>
      </p:sp>
      <p:sp>
        <p:nvSpPr>
          <p:cNvPr id="21" name="TextBox 20"/>
          <p:cNvSpPr txBox="1"/>
          <p:nvPr/>
        </p:nvSpPr>
        <p:spPr>
          <a:xfrm>
            <a:off x="6912927" y="1730120"/>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2" name="TextBox 21"/>
          <p:cNvSpPr txBox="1"/>
          <p:nvPr/>
        </p:nvSpPr>
        <p:spPr>
          <a:xfrm>
            <a:off x="7084377" y="1730120"/>
            <a:ext cx="2298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v</a:t>
            </a:r>
          </a:p>
        </p:txBody>
      </p:sp>
      <p:sp>
        <p:nvSpPr>
          <p:cNvPr id="23" name="TextBox 22"/>
          <p:cNvSpPr txBox="1"/>
          <p:nvPr/>
        </p:nvSpPr>
        <p:spPr>
          <a:xfrm>
            <a:off x="5898832" y="2175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2</a:t>
            </a:r>
          </a:p>
        </p:txBody>
      </p:sp>
      <p:sp>
        <p:nvSpPr>
          <p:cNvPr id="24" name="TextBox 23"/>
          <p:cNvSpPr txBox="1"/>
          <p:nvPr/>
        </p:nvSpPr>
        <p:spPr>
          <a:xfrm>
            <a:off x="6189027" y="2136521"/>
            <a:ext cx="1607820" cy="231457"/>
          </a:xfrm>
          <a:prstGeom prst="rect">
            <a:avLst/>
          </a:prstGeom>
          <a:noFill/>
        </p:spPr>
        <p:txBody>
          <a:bodyPr wrap="none" lIns="0" rIns="0" tIns="0" bIns="0">
            <a:spAutoFit/>
          </a:bodyPr>
          <a:lstStyle/>
          <a:p>
            <a:pPr algn="l"/>
            <a:r>
              <a:rPr sz="1350" b="0">
                <a:solidFill>
                  <a:srgbClr val="DFEADF"/>
                </a:solidFill>
                <a:latin typeface="Noto Sans SC"/>
                <a:ea typeface="Noto Sans SC"/>
              </a:rPr>
              <a:t>repeat each round:</a:t>
            </a:r>
          </a:p>
        </p:txBody>
      </p:sp>
      <p:sp>
        <p:nvSpPr>
          <p:cNvPr id="25" name="TextBox 24"/>
          <p:cNvSpPr txBox="1"/>
          <p:nvPr/>
        </p:nvSpPr>
        <p:spPr>
          <a:xfrm>
            <a:off x="5898832" y="25817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3</a:t>
            </a:r>
          </a:p>
        </p:txBody>
      </p:sp>
      <p:sp>
        <p:nvSpPr>
          <p:cNvPr id="26" name="TextBox 25"/>
          <p:cNvSpPr txBox="1"/>
          <p:nvPr/>
        </p:nvSpPr>
        <p:spPr>
          <a:xfrm>
            <a:off x="6189027" y="2542921"/>
            <a:ext cx="18364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for v in visiting order:</a:t>
            </a:r>
          </a:p>
        </p:txBody>
      </p:sp>
      <p:sp>
        <p:nvSpPr>
          <p:cNvPr id="27" name="Rectangle 26"/>
          <p:cNvSpPr/>
          <p:nvPr/>
        </p:nvSpPr>
        <p:spPr>
          <a:xfrm>
            <a:off x="5753100" y="29146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753100" y="29146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898832" y="29881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4</a:t>
            </a:r>
          </a:p>
        </p:txBody>
      </p:sp>
      <p:sp>
        <p:nvSpPr>
          <p:cNvPr id="30" name="TextBox 29"/>
          <p:cNvSpPr txBox="1"/>
          <p:nvPr/>
        </p:nvSpPr>
        <p:spPr>
          <a:xfrm>
            <a:off x="6189027" y="2949321"/>
            <a:ext cx="725170" cy="231457"/>
          </a:xfrm>
          <a:prstGeom prst="rect">
            <a:avLst/>
          </a:prstGeom>
          <a:noFill/>
        </p:spPr>
        <p:txBody>
          <a:bodyPr wrap="none" lIns="0" rIns="0" tIns="0" bIns="0">
            <a:spAutoFit/>
          </a:bodyPr>
          <a:lstStyle/>
          <a:p>
            <a:pPr algn="l"/>
            <a:r>
              <a:rPr sz="1350" b="0">
                <a:solidFill>
                  <a:srgbClr val="D8BB78"/>
                </a:solidFill>
                <a:latin typeface="Noto Sans SC"/>
                <a:ea typeface="Noto Sans SC"/>
              </a:rPr>
              <a:t>    votes </a:t>
            </a:r>
          </a:p>
        </p:txBody>
      </p:sp>
      <p:sp>
        <p:nvSpPr>
          <p:cNvPr id="31" name="TextBox 30"/>
          <p:cNvSpPr txBox="1"/>
          <p:nvPr/>
        </p:nvSpPr>
        <p:spPr>
          <a:xfrm>
            <a:off x="6811327" y="29493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32" name="TextBox 31"/>
          <p:cNvSpPr txBox="1"/>
          <p:nvPr/>
        </p:nvSpPr>
        <p:spPr>
          <a:xfrm>
            <a:off x="6982777" y="2949321"/>
            <a:ext cx="31699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sum edge weights per neighbour label</a:t>
            </a:r>
          </a:p>
        </p:txBody>
      </p:sp>
      <p:sp>
        <p:nvSpPr>
          <p:cNvPr id="33" name="Rectangle 32"/>
          <p:cNvSpPr/>
          <p:nvPr/>
        </p:nvSpPr>
        <p:spPr>
          <a:xfrm>
            <a:off x="5753100" y="33210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753100" y="33210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898832" y="33945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5</a:t>
            </a:r>
          </a:p>
        </p:txBody>
      </p:sp>
      <p:sp>
        <p:nvSpPr>
          <p:cNvPr id="36" name="TextBox 35"/>
          <p:cNvSpPr txBox="1"/>
          <p:nvPr/>
        </p:nvSpPr>
        <p:spPr>
          <a:xfrm>
            <a:off x="6189027" y="3355721"/>
            <a:ext cx="6299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new </a:t>
            </a:r>
          </a:p>
        </p:txBody>
      </p:sp>
      <p:sp>
        <p:nvSpPr>
          <p:cNvPr id="37" name="TextBox 36"/>
          <p:cNvSpPr txBox="1"/>
          <p:nvPr/>
        </p:nvSpPr>
        <p:spPr>
          <a:xfrm>
            <a:off x="6716077" y="33557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38" name="TextBox 37"/>
          <p:cNvSpPr txBox="1"/>
          <p:nvPr/>
        </p:nvSpPr>
        <p:spPr>
          <a:xfrm>
            <a:off x="6887527" y="3355721"/>
            <a:ext cx="15062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top vote (tie rule)</a:t>
            </a:r>
          </a:p>
        </p:txBody>
      </p:sp>
      <p:sp>
        <p:nvSpPr>
          <p:cNvPr id="39" name="TextBox 38"/>
          <p:cNvSpPr txBox="1"/>
          <p:nvPr/>
        </p:nvSpPr>
        <p:spPr>
          <a:xfrm>
            <a:off x="5898832" y="3800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6</a:t>
            </a:r>
          </a:p>
        </p:txBody>
      </p:sp>
      <p:sp>
        <p:nvSpPr>
          <p:cNvPr id="40" name="TextBox 39"/>
          <p:cNvSpPr txBox="1"/>
          <p:nvPr/>
        </p:nvSpPr>
        <p:spPr>
          <a:xfrm>
            <a:off x="6189027" y="3762121"/>
            <a:ext cx="26365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async: write now; sync: note it</a:t>
            </a:r>
          </a:p>
        </p:txBody>
      </p:sp>
      <p:sp>
        <p:nvSpPr>
          <p:cNvPr id="41" name="TextBox 40"/>
          <p:cNvSpPr txBox="1"/>
          <p:nvPr/>
        </p:nvSpPr>
        <p:spPr>
          <a:xfrm>
            <a:off x="5898832" y="4207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7</a:t>
            </a:r>
          </a:p>
        </p:txBody>
      </p:sp>
      <p:sp>
        <p:nvSpPr>
          <p:cNvPr id="42" name="TextBox 41"/>
          <p:cNvSpPr txBox="1"/>
          <p:nvPr/>
        </p:nvSpPr>
        <p:spPr>
          <a:xfrm>
            <a:off x="6189027" y="4168521"/>
            <a:ext cx="22999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sync: commit at round end</a:t>
            </a:r>
          </a:p>
        </p:txBody>
      </p:sp>
      <p:sp>
        <p:nvSpPr>
          <p:cNvPr id="43" name="TextBox 42"/>
          <p:cNvSpPr txBox="1"/>
          <p:nvPr/>
        </p:nvSpPr>
        <p:spPr>
          <a:xfrm>
            <a:off x="5898832" y="46137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8</a:t>
            </a:r>
          </a:p>
        </p:txBody>
      </p:sp>
      <p:sp>
        <p:nvSpPr>
          <p:cNvPr id="44" name="TextBox 43"/>
          <p:cNvSpPr txBox="1"/>
          <p:nvPr/>
        </p:nvSpPr>
        <p:spPr>
          <a:xfrm>
            <a:off x="6189027" y="4574921"/>
            <a:ext cx="1036319" cy="231457"/>
          </a:xfrm>
          <a:prstGeom prst="rect">
            <a:avLst/>
          </a:prstGeom>
          <a:noFill/>
        </p:spPr>
        <p:txBody>
          <a:bodyPr wrap="none" lIns="0" rIns="0" tIns="0" bIns="0">
            <a:spAutoFit/>
          </a:bodyPr>
          <a:lstStyle/>
          <a:p>
            <a:pPr algn="l"/>
            <a:r>
              <a:rPr sz="1350" b="0">
                <a:solidFill>
                  <a:srgbClr val="DFEADF"/>
                </a:solidFill>
                <a:latin typeface="Noto Sans SC"/>
                <a:ea typeface="Noto Sans SC"/>
              </a:rPr>
              <a:t>  no change </a:t>
            </a:r>
          </a:p>
        </p:txBody>
      </p:sp>
      <p:sp>
        <p:nvSpPr>
          <p:cNvPr id="45" name="TextBox 44"/>
          <p:cNvSpPr txBox="1"/>
          <p:nvPr/>
        </p:nvSpPr>
        <p:spPr>
          <a:xfrm>
            <a:off x="7122477" y="45749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46" name="TextBox 45"/>
          <p:cNvSpPr txBox="1"/>
          <p:nvPr/>
        </p:nvSpPr>
        <p:spPr>
          <a:xfrm>
            <a:off x="7293927" y="4574921"/>
            <a:ext cx="12839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stable; repeat </a:t>
            </a:r>
          </a:p>
        </p:txBody>
      </p:sp>
      <p:sp>
        <p:nvSpPr>
          <p:cNvPr id="47" name="TextBox 46"/>
          <p:cNvSpPr txBox="1"/>
          <p:nvPr/>
        </p:nvSpPr>
        <p:spPr>
          <a:xfrm>
            <a:off x="8475027" y="45749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48" name="TextBox 47"/>
          <p:cNvSpPr txBox="1"/>
          <p:nvPr/>
        </p:nvSpPr>
        <p:spPr>
          <a:xfrm>
            <a:off x="8646477" y="4574921"/>
            <a:ext cx="5537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cycle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318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Common mistakes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Treating the label as the name: "C became B"</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Counting heads: B with two votes need not beat D with weight 4</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Calling it converged after one unchanged step: it takes a whole quiet round</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Calling an oscillation "not finished" or "converged"</a:t>
            </a:r>
          </a:p>
        </p:txBody>
      </p:sp>
      <p:sp>
        <p:nvSpPr>
          <p:cNvPr id="17" name="Oval 16"/>
          <p:cNvSpPr/>
          <p:nvPr/>
        </p:nvSpPr>
        <p:spPr>
          <a:xfrm>
            <a:off x="711200" y="32666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1579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Comparing results by label names: B/B/B/E/E and A/A/A/D/D are the same grouping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826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Summary</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647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05 · Label propagation</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p12/12</a:t>
            </a:r>
          </a:p>
        </p:txBody>
      </p:sp>
      <p:sp>
        <p:nvSpPr>
          <p:cNvPr id="9" name="TextBox 8"/>
          <p:cNvSpPr txBox="1"/>
          <p:nvPr/>
        </p:nvSpPr>
        <p:spPr>
          <a:xfrm>
            <a:off x="1016000" y="1897380"/>
            <a:ext cx="10350500" cy="1104900"/>
          </a:xfrm>
          <a:prstGeom prst="rect">
            <a:avLst/>
          </a:prstGeom>
          <a:noFill/>
        </p:spPr>
        <p:txBody>
          <a:bodyPr wrap="square" lIns="0" rIns="0" tIns="0" bIns="0">
            <a:spAutoFit/>
          </a:bodyPr>
          <a:lstStyle/>
          <a:p>
            <a:pPr algn="l">
              <a:lnSpc>
                <a:spcPct val="121800"/>
              </a:lnSpc>
            </a:pPr>
            <a:r>
              <a:rPr sz="3000" b="0">
                <a:solidFill>
                  <a:srgbClr val="D8BB78"/>
                </a:solidFill>
                <a:latin typeface="Noto Sans SC"/>
                <a:ea typeface="Noto Sans SC"/>
              </a:rPr>
              <a:t>A name is identity, a label is membership; look at your neighbours and follow the strongest.</a:t>
            </a:r>
          </a:p>
        </p:txBody>
      </p:sp>
      <p:sp>
        <p:nvSpPr>
          <p:cNvPr id="10" name="TextBox 9"/>
          <p:cNvSpPr txBox="1"/>
          <p:nvPr/>
        </p:nvSpPr>
        <p:spPr>
          <a:xfrm>
            <a:off x="1016000" y="3335274"/>
            <a:ext cx="10280650" cy="349885"/>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Only a whole quiet round is stable; synchronous updates can oscillate: report cycle.</a:t>
            </a:r>
          </a:p>
        </p:txBody>
      </p:sp>
      <p:sp>
        <p:nvSpPr>
          <p:cNvPr id="11" name="TextBox 10"/>
          <p:cNvSpPr txBox="1"/>
          <p:nvPr/>
        </p:nvSpPr>
        <p:spPr>
          <a:xfrm>
            <a:off x="1016000" y="3875659"/>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Next module: no more local votes; order the nodes by the spectrum of the whole graph, then 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05 Label propagation</dc:title>
  <dc:subject/>
  <dc:creator>Learning Clustering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