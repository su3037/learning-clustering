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这一模块讲标签传播。每个节点看看邻居现在的标签，加入连接最强的那一组。它不合并节点，也不指定簇数；我们会看到它怎样停下，又怎样陷入振荡。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先看一本虚构的通讯录。每个人看看朋友们现在属于哪个圈子，然后加入联系最多的那一个。重复几轮，圈子就自己浮现了：三轮之后分成三个圈子，只切开权重 4 的联系。这个方法来自 2007 年 Raghavan、Albert 和 Kumara 的论文。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芯片里是同一个问题：块内用短导线，跨块要靠长导线。在这张虚构电路上，按位置切成三块会切断 88。试遍所有分法也不行。我们需要一条只看邻居的局部规则。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输入是图和一组规则：访问顺序、同步还是异步、平票规则和最大轮数。开始时每个节点的标签就是自己的名字。输出包括最终标签、分组、每一票的明细、cut、轮数和停止状态。它不指定 K，也不合并节点。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一次更新只看这个节点的邻居。轮到 C 时，A 已经改为标签 B，B 也是 B，所以标签 B 的票是 1 加 4 等于 5，D 是 2，E 是 1。C 的标签改为 B，但它仍然是节点 C。比的是权重之和，不是邻居的个数。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异步更新时，每次算出新标签就立即写回，后面的节点马上能看到。第一轮结束是 B B B E E，三个节点改变。第二轮全部不变，才确认稳定，所以一共两轮，cut 3。如果反过来从 E 到 A 访问，分组不变，但需要三轮。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同步更新时，所有节点读同一张旧快照，轮末一起提交。两个节点会同时交换标签，然后再换回来，永远停不下。G01 在同步模式下也会以周期 2 振荡。停止状态要分清 stable、cycle 和 limit，只有 stable 才能叫收敛。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平票必须有确定的规则，本课程实现三种。把 C–D 的权重改成 10，从初始标签重新运行，D 会把 C 拉过去，结果是 AB 对 CDE，cut 5。比较不同参数时，要从同一个起点重新开始。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 24 个单元的电路。标签传播五轮停下，只切断 2，而尺子切法要切断 88。但这是一张虚构的教学图，不能说明一般情况下最优。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伪代码第四行按邻居标签累加边权，对应 Python 的 count_votes；第五行处理平票；第六、七行是异步与同步唯一的差别；第八行判断 stable 或 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常见错误包括：把标签当名字；按人数而不是权重计票；一个节点没变就说收敛；把振荡当成没算完或者收敛；以及按标签名字比较两个结果。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小结：名字是身份，标签是归属；每个节点看邻居、跟最强。一整轮零变化才是稳定；同步可能振荡，要报告 cycle。下一模块不再局部投票，而是用全图的谱信息给节点排序，再切一刀。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6679" y="2310892"/>
            <a:ext cx="43586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圈子从哪里来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1473" y="3335782"/>
            <a:ext cx="4669053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Label propagation · 名字是身份，标签是归属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516" y="4136644"/>
            <a:ext cx="418096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Su3037（Issue #4）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通讯录里的圈子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00:14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28 人、61 条联系的虚构通讯录（原作数据）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规则：看朋友们现在属于哪个圈子，加入联系最多的那一个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反复几轮，圈子自己浮现：8 + 10 + 10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Raghavan、Albert、Kumara，2007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00" y="5546598"/>
            <a:ext cx="4908550" cy="4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类比只说明“节点、边、权重”的结构相同，不推断现实中的人应属于哪个圈子。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89801" y="2943008"/>
            <a:ext cx="692155" cy="6715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89801" y="2943008"/>
            <a:ext cx="0" cy="123968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97645" y="2943008"/>
            <a:ext cx="692156" cy="117253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715000" y="2943008"/>
            <a:ext cx="774801" cy="61984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797645" y="2943008"/>
            <a:ext cx="692156" cy="6715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797645" y="3010158"/>
            <a:ext cx="1384311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797645" y="3562849"/>
            <a:ext cx="1466957" cy="55269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715000" y="3562849"/>
            <a:ext cx="1549602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797645" y="3010158"/>
            <a:ext cx="1466957" cy="55269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715000" y="3562849"/>
            <a:ext cx="1466956" cy="55269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797645" y="3010158"/>
            <a:ext cx="1384311" cy="110538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797645" y="4115541"/>
            <a:ext cx="692156" cy="6714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715000" y="3562849"/>
            <a:ext cx="774801" cy="61984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55937" y="2204365"/>
            <a:ext cx="578518" cy="1549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55937" y="2219861"/>
            <a:ext cx="454550" cy="112087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817293" y="2219861"/>
            <a:ext cx="738644" cy="42872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34455" y="2204365"/>
            <a:ext cx="160125" cy="44421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21010" y="2204365"/>
            <a:ext cx="1513445" cy="87810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817293" y="2204365"/>
            <a:ext cx="1317162" cy="44421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977419" y="2204365"/>
            <a:ext cx="1157036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294580" y="2648584"/>
            <a:ext cx="196283" cy="4338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010487" y="2648584"/>
            <a:ext cx="284093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101387" y="2648584"/>
            <a:ext cx="1193193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621010" y="2648584"/>
            <a:ext cx="1673570" cy="4338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817293" y="2648584"/>
            <a:ext cx="1477287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7977419" y="2204365"/>
            <a:ext cx="1317161" cy="44421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010487" y="3082473"/>
            <a:ext cx="480376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7817293" y="2648584"/>
            <a:ext cx="1673570" cy="4338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101387" y="3340740"/>
            <a:ext cx="909100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7621010" y="3082473"/>
            <a:ext cx="1389477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7977419" y="2204365"/>
            <a:ext cx="1033068" cy="113637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101387" y="3340740"/>
            <a:ext cx="454550" cy="28409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7817293" y="2648584"/>
            <a:ext cx="284094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621010" y="2204365"/>
            <a:ext cx="356409" cy="87810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22073" y="2979166"/>
            <a:ext cx="578518" cy="1549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622073" y="2994662"/>
            <a:ext cx="738644" cy="42872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22073" y="2994662"/>
            <a:ext cx="934927" cy="86261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622073" y="2994662"/>
            <a:ext cx="454550" cy="112087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622073" y="2994662"/>
            <a:ext cx="0" cy="140497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687146" y="2994662"/>
            <a:ext cx="934927" cy="86261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883429" y="2994662"/>
            <a:ext cx="738644" cy="42872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200591" y="2979166"/>
            <a:ext cx="160126" cy="44421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200591" y="2979166"/>
            <a:ext cx="356409" cy="87810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0622073" y="2979166"/>
            <a:ext cx="578518" cy="142046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0043555" y="2979166"/>
            <a:ext cx="1157036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60717" y="3423385"/>
            <a:ext cx="196283" cy="4338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1076623" y="3423385"/>
            <a:ext cx="284094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0167523" y="3423385"/>
            <a:ext cx="1193194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1076623" y="3857274"/>
            <a:ext cx="480377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0167523" y="3857274"/>
            <a:ext cx="1389477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9687146" y="3857274"/>
            <a:ext cx="1869854" cy="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687146" y="3857274"/>
            <a:ext cx="1389477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9883429" y="3423385"/>
            <a:ext cx="1193194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9687146" y="3857274"/>
            <a:ext cx="934927" cy="54236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0043555" y="2979166"/>
            <a:ext cx="578518" cy="142046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9687146" y="3857274"/>
            <a:ext cx="480377" cy="2582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9883429" y="3423385"/>
            <a:ext cx="284094" cy="6921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81956" y="3423385"/>
            <a:ext cx="4178761" cy="692156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181956" y="2648584"/>
            <a:ext cx="635337" cy="1466957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81956" y="2979166"/>
            <a:ext cx="2861599" cy="3099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97645" y="2979166"/>
            <a:ext cx="4245910" cy="3099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400901" y="2854108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341211" y="3055022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妈妈</a:t>
            </a:r>
          </a:p>
        </p:txBody>
      </p:sp>
      <p:sp>
        <p:nvSpPr>
          <p:cNvPr id="82" name="Oval 81"/>
          <p:cNvSpPr/>
          <p:nvPr/>
        </p:nvSpPr>
        <p:spPr>
          <a:xfrm>
            <a:off x="7093056" y="2921258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033366" y="3122172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爸爸</a:t>
            </a:r>
          </a:p>
        </p:txBody>
      </p:sp>
      <p:sp>
        <p:nvSpPr>
          <p:cNvPr id="84" name="Oval 83"/>
          <p:cNvSpPr/>
          <p:nvPr/>
        </p:nvSpPr>
        <p:spPr>
          <a:xfrm>
            <a:off x="7175702" y="3473949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116012" y="3674863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外婆</a:t>
            </a:r>
          </a:p>
        </p:txBody>
      </p:sp>
      <p:sp>
        <p:nvSpPr>
          <p:cNvPr id="86" name="Oval 85"/>
          <p:cNvSpPr/>
          <p:nvPr/>
        </p:nvSpPr>
        <p:spPr>
          <a:xfrm>
            <a:off x="7093056" y="4026641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33366" y="4227555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表姐</a:t>
            </a:r>
          </a:p>
        </p:txBody>
      </p:sp>
      <p:sp>
        <p:nvSpPr>
          <p:cNvPr id="88" name="Oval 87"/>
          <p:cNvSpPr/>
          <p:nvPr/>
        </p:nvSpPr>
        <p:spPr>
          <a:xfrm>
            <a:off x="6400901" y="4093790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6341211" y="4294704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舅舅</a:t>
            </a:r>
          </a:p>
        </p:txBody>
      </p:sp>
      <p:sp>
        <p:nvSpPr>
          <p:cNvPr id="90" name="Oval 89"/>
          <p:cNvSpPr/>
          <p:nvPr/>
        </p:nvSpPr>
        <p:spPr>
          <a:xfrm>
            <a:off x="5708745" y="4026641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649055" y="4227555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小姨</a:t>
            </a:r>
          </a:p>
        </p:txBody>
      </p:sp>
      <p:sp>
        <p:nvSpPr>
          <p:cNvPr id="92" name="Oval 91"/>
          <p:cNvSpPr/>
          <p:nvPr/>
        </p:nvSpPr>
        <p:spPr>
          <a:xfrm>
            <a:off x="5626100" y="3473949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566410" y="3674863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堂弟</a:t>
            </a:r>
          </a:p>
        </p:txBody>
      </p:sp>
      <p:sp>
        <p:nvSpPr>
          <p:cNvPr id="94" name="Oval 93"/>
          <p:cNvSpPr/>
          <p:nvPr/>
        </p:nvSpPr>
        <p:spPr>
          <a:xfrm>
            <a:off x="5708745" y="2921258"/>
            <a:ext cx="177800" cy="177800"/>
          </a:xfrm>
          <a:prstGeom prst="ellipse">
            <a:avLst/>
          </a:prstGeom>
          <a:solidFill>
            <a:srgbClr val="9FD27F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5649055" y="3122172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姑姑</a:t>
            </a:r>
          </a:p>
        </p:txBody>
      </p:sp>
      <p:sp>
        <p:nvSpPr>
          <p:cNvPr id="96" name="Oval 95"/>
          <p:cNvSpPr/>
          <p:nvPr/>
        </p:nvSpPr>
        <p:spPr>
          <a:xfrm>
            <a:off x="8467037" y="2130961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8407347" y="2331875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阿杰</a:t>
            </a:r>
          </a:p>
        </p:txBody>
      </p:sp>
      <p:sp>
        <p:nvSpPr>
          <p:cNvPr id="98" name="Oval 97"/>
          <p:cNvSpPr/>
          <p:nvPr/>
        </p:nvSpPr>
        <p:spPr>
          <a:xfrm>
            <a:off x="9045555" y="2115465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985865" y="2316379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小雨</a:t>
            </a:r>
          </a:p>
        </p:txBody>
      </p:sp>
      <p:sp>
        <p:nvSpPr>
          <p:cNvPr id="100" name="Oval 99"/>
          <p:cNvSpPr/>
          <p:nvPr/>
        </p:nvSpPr>
        <p:spPr>
          <a:xfrm>
            <a:off x="9205680" y="2559684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9145990" y="2760598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老周</a:t>
            </a:r>
          </a:p>
        </p:txBody>
      </p:sp>
      <p:sp>
        <p:nvSpPr>
          <p:cNvPr id="102" name="Oval 101"/>
          <p:cNvSpPr/>
          <p:nvPr/>
        </p:nvSpPr>
        <p:spPr>
          <a:xfrm>
            <a:off x="9401963" y="2993573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342273" y="3194487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班长</a:t>
            </a:r>
          </a:p>
        </p:txBody>
      </p:sp>
      <p:sp>
        <p:nvSpPr>
          <p:cNvPr id="104" name="Oval 103"/>
          <p:cNvSpPr/>
          <p:nvPr/>
        </p:nvSpPr>
        <p:spPr>
          <a:xfrm>
            <a:off x="8921587" y="3251840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8861897" y="3452754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婷婷</a:t>
            </a:r>
          </a:p>
        </p:txBody>
      </p:sp>
      <p:sp>
        <p:nvSpPr>
          <p:cNvPr id="106" name="Oval 105"/>
          <p:cNvSpPr/>
          <p:nvPr/>
        </p:nvSpPr>
        <p:spPr>
          <a:xfrm>
            <a:off x="8467037" y="3535933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8407347" y="3736847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大伟</a:t>
            </a:r>
          </a:p>
        </p:txBody>
      </p:sp>
      <p:sp>
        <p:nvSpPr>
          <p:cNvPr id="108" name="Oval 107"/>
          <p:cNvSpPr/>
          <p:nvPr/>
        </p:nvSpPr>
        <p:spPr>
          <a:xfrm>
            <a:off x="8012487" y="3251840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952797" y="3452754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小林</a:t>
            </a:r>
          </a:p>
        </p:txBody>
      </p:sp>
      <p:sp>
        <p:nvSpPr>
          <p:cNvPr id="110" name="Oval 109"/>
          <p:cNvSpPr/>
          <p:nvPr/>
        </p:nvSpPr>
        <p:spPr>
          <a:xfrm>
            <a:off x="7532110" y="2993573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7472420" y="3194487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阿珍</a:t>
            </a:r>
          </a:p>
        </p:txBody>
      </p:sp>
      <p:sp>
        <p:nvSpPr>
          <p:cNvPr id="112" name="Oval 111"/>
          <p:cNvSpPr/>
          <p:nvPr/>
        </p:nvSpPr>
        <p:spPr>
          <a:xfrm>
            <a:off x="7728393" y="2559684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7668703" y="2760598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浩子</a:t>
            </a:r>
          </a:p>
        </p:txBody>
      </p:sp>
      <p:sp>
        <p:nvSpPr>
          <p:cNvPr id="114" name="Oval 113"/>
          <p:cNvSpPr/>
          <p:nvPr/>
        </p:nvSpPr>
        <p:spPr>
          <a:xfrm>
            <a:off x="7888519" y="2115465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7828829" y="2316379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晓明</a:t>
            </a:r>
          </a:p>
        </p:txBody>
      </p:sp>
      <p:sp>
        <p:nvSpPr>
          <p:cNvPr id="116" name="Oval 115"/>
          <p:cNvSpPr/>
          <p:nvPr/>
        </p:nvSpPr>
        <p:spPr>
          <a:xfrm>
            <a:off x="10533173" y="2905762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416333" y="3106676"/>
            <a:ext cx="4114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王经理</a:t>
            </a:r>
          </a:p>
        </p:txBody>
      </p:sp>
      <p:sp>
        <p:nvSpPr>
          <p:cNvPr id="118" name="Oval 117"/>
          <p:cNvSpPr/>
          <p:nvPr/>
        </p:nvSpPr>
        <p:spPr>
          <a:xfrm>
            <a:off x="11111691" y="2890266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11052001" y="3091180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李姐</a:t>
            </a:r>
          </a:p>
        </p:txBody>
      </p:sp>
      <p:sp>
        <p:nvSpPr>
          <p:cNvPr id="120" name="Oval 119"/>
          <p:cNvSpPr/>
          <p:nvPr/>
        </p:nvSpPr>
        <p:spPr>
          <a:xfrm>
            <a:off x="11271817" y="3334485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1212127" y="3535399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小陈</a:t>
            </a:r>
          </a:p>
        </p:txBody>
      </p:sp>
      <p:sp>
        <p:nvSpPr>
          <p:cNvPr id="122" name="Oval 121"/>
          <p:cNvSpPr/>
          <p:nvPr/>
        </p:nvSpPr>
        <p:spPr>
          <a:xfrm>
            <a:off x="11468100" y="3768374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11408410" y="3969288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刘工</a:t>
            </a:r>
          </a:p>
        </p:txBody>
      </p:sp>
      <p:sp>
        <p:nvSpPr>
          <p:cNvPr id="124" name="Oval 123"/>
          <p:cNvSpPr/>
          <p:nvPr/>
        </p:nvSpPr>
        <p:spPr>
          <a:xfrm>
            <a:off x="10987723" y="4026641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10928033" y="4227555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赵总</a:t>
            </a:r>
          </a:p>
        </p:txBody>
      </p:sp>
      <p:sp>
        <p:nvSpPr>
          <p:cNvPr id="126" name="Oval 125"/>
          <p:cNvSpPr/>
          <p:nvPr/>
        </p:nvSpPr>
        <p:spPr>
          <a:xfrm>
            <a:off x="10533173" y="4310734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0473483" y="4511648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小孙</a:t>
            </a:r>
          </a:p>
        </p:txBody>
      </p:sp>
      <p:sp>
        <p:nvSpPr>
          <p:cNvPr id="128" name="Oval 127"/>
          <p:cNvSpPr/>
          <p:nvPr/>
        </p:nvSpPr>
        <p:spPr>
          <a:xfrm>
            <a:off x="10078623" y="4026641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0018933" y="4227555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周姐</a:t>
            </a:r>
          </a:p>
        </p:txBody>
      </p:sp>
      <p:sp>
        <p:nvSpPr>
          <p:cNvPr id="130" name="Oval 129"/>
          <p:cNvSpPr/>
          <p:nvPr/>
        </p:nvSpPr>
        <p:spPr>
          <a:xfrm>
            <a:off x="9598246" y="3768374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9538556" y="3969288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小马</a:t>
            </a:r>
          </a:p>
        </p:txBody>
      </p:sp>
      <p:sp>
        <p:nvSpPr>
          <p:cNvPr id="132" name="Oval 131"/>
          <p:cNvSpPr/>
          <p:nvPr/>
        </p:nvSpPr>
        <p:spPr>
          <a:xfrm>
            <a:off x="9794529" y="3334485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9734839" y="3535399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何工</a:t>
            </a:r>
          </a:p>
        </p:txBody>
      </p:sp>
      <p:sp>
        <p:nvSpPr>
          <p:cNvPr id="134" name="Oval 133"/>
          <p:cNvSpPr/>
          <p:nvPr/>
        </p:nvSpPr>
        <p:spPr>
          <a:xfrm>
            <a:off x="9954655" y="2890266"/>
            <a:ext cx="177800" cy="177800"/>
          </a:xfrm>
          <a:prstGeom prst="ellipse">
            <a:avLst/>
          </a:prstGeom>
          <a:solidFill>
            <a:srgbClr val="E39FB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9894965" y="3091180"/>
            <a:ext cx="297180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老吴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662913" y="5689600"/>
            <a:ext cx="1946173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7708633" y="5749798"/>
            <a:ext cx="1854733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3 轮停下，切开的联系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芯片里的同一个问题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00:29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24 个单元、56 条连线、总权 202（虚构）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按位置用尺子切成三块：切断 88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穷举不可行：平分三组已有 1,577,585,295 种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需要一条只看邻居的局部规则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715000" y="1870137"/>
            <a:ext cx="1348153" cy="39211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715000" y="1949440"/>
            <a:ext cx="2423152" cy="312807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0" y="2262247"/>
            <a:ext cx="48463" cy="57715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2262247"/>
            <a:ext cx="1193953" cy="72254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63153" y="1870137"/>
            <a:ext cx="1074999" cy="79303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63153" y="1870137"/>
            <a:ext cx="2053071" cy="559528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763463" y="1870137"/>
            <a:ext cx="1299690" cy="96926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908953" y="1870137"/>
            <a:ext cx="154200" cy="111465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38152" y="1949440"/>
            <a:ext cx="978072" cy="48022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38152" y="1949440"/>
            <a:ext cx="2141185" cy="581556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763463" y="1949440"/>
            <a:ext cx="2374689" cy="889958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08953" y="1949440"/>
            <a:ext cx="1229199" cy="1035347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16224" y="2429665"/>
            <a:ext cx="1163113" cy="101331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16224" y="2244624"/>
            <a:ext cx="2431964" cy="185041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763463" y="2429665"/>
            <a:ext cx="3352761" cy="409733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908953" y="2429665"/>
            <a:ext cx="2207271" cy="55512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79337" y="2244624"/>
            <a:ext cx="1268851" cy="28637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63463" y="2839398"/>
            <a:ext cx="1145490" cy="1453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045631" y="2887861"/>
            <a:ext cx="1282068" cy="3524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785491" y="2923107"/>
            <a:ext cx="2260140" cy="784220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966227" y="2923107"/>
            <a:ext cx="1079404" cy="603585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961923" y="2923107"/>
            <a:ext cx="83708" cy="88555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5631" y="2923107"/>
            <a:ext cx="1171925" cy="75338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327699" y="2724849"/>
            <a:ext cx="854712" cy="16301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27699" y="2887861"/>
            <a:ext cx="2229301" cy="10133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966227" y="2887861"/>
            <a:ext cx="2361472" cy="638831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961923" y="2887861"/>
            <a:ext cx="1365776" cy="92079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217556" y="2887861"/>
            <a:ext cx="110143" cy="78862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82411" y="2724849"/>
            <a:ext cx="1374589" cy="26434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217556" y="2724849"/>
            <a:ext cx="964855" cy="951638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217556" y="2989193"/>
            <a:ext cx="2339444" cy="687294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785491" y="3526692"/>
            <a:ext cx="1180736" cy="18063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785491" y="3707327"/>
            <a:ext cx="2176432" cy="101332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66227" y="3526692"/>
            <a:ext cx="995696" cy="281967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66227" y="3526692"/>
            <a:ext cx="2251329" cy="149795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61923" y="3676487"/>
            <a:ext cx="1255633" cy="13217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52903" y="3623618"/>
            <a:ext cx="1224793" cy="8811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120428" y="3623618"/>
            <a:ext cx="3132475" cy="748974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005980" y="3623618"/>
            <a:ext cx="2246923" cy="1110244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235179" y="3623618"/>
            <a:ext cx="1017724" cy="1083810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235280" y="3623618"/>
            <a:ext cx="17623" cy="67407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52903" y="3623618"/>
            <a:ext cx="1061781" cy="74897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8005980" y="3711733"/>
            <a:ext cx="3471716" cy="1022129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235280" y="3711733"/>
            <a:ext cx="1242416" cy="58596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1314684" y="3711733"/>
            <a:ext cx="163012" cy="66085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763463" y="4372592"/>
            <a:ext cx="1356965" cy="11014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763463" y="4482736"/>
            <a:ext cx="2242517" cy="251126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120428" y="4372592"/>
            <a:ext cx="885552" cy="361270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120428" y="4372592"/>
            <a:ext cx="2114751" cy="334836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005980" y="4707428"/>
            <a:ext cx="1229199" cy="2643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005980" y="4297695"/>
            <a:ext cx="2229300" cy="436167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35179" y="4297695"/>
            <a:ext cx="1000101" cy="409733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235179" y="4372592"/>
            <a:ext cx="2079505" cy="334836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235280" y="4297695"/>
            <a:ext cx="1079404" cy="7489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908953" y="2984787"/>
            <a:ext cx="57274" cy="54190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217556" y="3676487"/>
            <a:ext cx="17623" cy="103094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626100" y="2173347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6974253" y="1781237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8049252" y="1860540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9027324" y="2340765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10190437" y="2442096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11459288" y="2155724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5674563" y="2750498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820053" y="2895887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956731" y="2834207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9238799" y="2798961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093511" y="2635949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1468100" y="2900293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5696591" y="3618427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6877327" y="3437792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873023" y="3719759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9128656" y="3587587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0164003" y="3534718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11388796" y="3622833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5674563" y="4393836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031528" y="4283692"/>
            <a:ext cx="177800" cy="177800"/>
          </a:xfrm>
          <a:prstGeom prst="ellipse">
            <a:avLst/>
          </a:prstGeom>
          <a:solidFill>
            <a:srgbClr val="77CDBB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7917080" y="4644962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9146279" y="4618528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0146380" y="4208795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1225784" y="4283692"/>
            <a:ext cx="177800" cy="177800"/>
          </a:xfrm>
          <a:prstGeom prst="ellipse">
            <a:avLst/>
          </a:prstGeom>
          <a:solidFill>
            <a:srgbClr val="D8BB78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7944821" y="5689600"/>
            <a:ext cx="1382356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7990541" y="5749798"/>
            <a:ext cx="1290916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B7B72"/>
                </a:solidFill>
                <a:latin typeface="Noto Sans SC"/>
                <a:ea typeface="Noto Sans SC"/>
              </a:rPr>
              <a:t>尺子切法 cut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01:02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输入：图、访问顺序、async/sync、平票规则、最大轮数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初始：每个节点的标签 = 自己的名字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输出：标签、分组、逐节点票数、cut、轮数、停止状态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不指定 K，不合并节点，不保证均衡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769904" y="1651000"/>
            <a:ext cx="2164367" cy="14757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95417" y="13573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20817" y="1365474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9904" y="1798570"/>
            <a:ext cx="1328134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07013" y="23246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32413" y="23327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098038" y="1651000"/>
            <a:ext cx="836233" cy="182003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08333" y="24092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3733" y="241738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8038" y="3471035"/>
            <a:ext cx="2213557" cy="1032993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22960" y="36340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8360" y="3642165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852088" y="3471035"/>
            <a:ext cx="245950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979537" y="41140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04937" y="412217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852088" y="4504028"/>
            <a:ext cx="2459507" cy="639472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973886" y="47558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99286" y="47639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515904" y="154457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35075" y="165607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766" y="2141470"/>
            <a:ext cx="592277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27106" y="2202176"/>
            <a:ext cx="485597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7CDBB"/>
                </a:solidFill>
                <a:latin typeface="Noto Sans SC"/>
                <a:ea typeface="Noto Sans SC"/>
              </a:rPr>
              <a:t>标签 A</a:t>
            </a:r>
          </a:p>
        </p:txBody>
      </p:sp>
      <p:sp>
        <p:nvSpPr>
          <p:cNvPr id="40" name="Oval 39"/>
          <p:cNvSpPr/>
          <p:nvPr/>
        </p:nvSpPr>
        <p:spPr>
          <a:xfrm>
            <a:off x="8680271" y="13970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95987" y="15085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35897" y="1993900"/>
            <a:ext cx="596747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89237" y="2054606"/>
            <a:ext cx="490067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FB1E6"/>
                </a:solidFill>
                <a:latin typeface="Noto Sans SC"/>
                <a:ea typeface="Noto Sans SC"/>
              </a:rPr>
              <a:t>标签 B</a:t>
            </a:r>
          </a:p>
        </p:txBody>
      </p:sp>
      <p:sp>
        <p:nvSpPr>
          <p:cNvPr id="44" name="Oval 43"/>
          <p:cNvSpPr/>
          <p:nvPr/>
        </p:nvSpPr>
        <p:spPr>
          <a:xfrm>
            <a:off x="7844038" y="3217035"/>
            <a:ext cx="508000" cy="5080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962453" y="3328541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01411" y="3813935"/>
            <a:ext cx="593255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54751" y="3874641"/>
            <a:ext cx="486575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标签 C</a:t>
            </a:r>
          </a:p>
        </p:txBody>
      </p:sp>
      <p:sp>
        <p:nvSpPr>
          <p:cNvPr id="48" name="Oval 47"/>
          <p:cNvSpPr/>
          <p:nvPr/>
        </p:nvSpPr>
        <p:spPr>
          <a:xfrm>
            <a:off x="10057595" y="4250028"/>
            <a:ext cx="508000" cy="508000"/>
          </a:xfrm>
          <a:prstGeom prst="ellipse">
            <a:avLst/>
          </a:prstGeom>
          <a:solidFill>
            <a:srgbClr val="C2A6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169748" y="4361534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10916" y="4846928"/>
            <a:ext cx="601357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064256" y="4907634"/>
            <a:ext cx="494677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标签 D</a:t>
            </a:r>
          </a:p>
        </p:txBody>
      </p:sp>
      <p:sp>
        <p:nvSpPr>
          <p:cNvPr id="52" name="Oval 51"/>
          <p:cNvSpPr/>
          <p:nvPr/>
        </p:nvSpPr>
        <p:spPr>
          <a:xfrm>
            <a:off x="7598088" y="4889500"/>
            <a:ext cx="508000" cy="5080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720928" y="50010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58324" y="5486400"/>
            <a:ext cx="587527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E3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611664" y="5547106"/>
            <a:ext cx="480847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39FB8"/>
                </a:solidFill>
                <a:latin typeface="Noto Sans SC"/>
                <a:ea typeface="Noto Sans SC"/>
              </a:rPr>
              <a:t>标签 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一次更新：加权投票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01:18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新标签(v) = 邻居中同标签边权之和最大的那个标签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C（第 1 轮）：B = 1 + 4 = 5，D = 2，E = 1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 的标签改为 B——名字仍是 C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比的是权重，不是邻居个数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351833" y="2336800"/>
            <a:ext cx="1515056" cy="103299"/>
          </a:xfrm>
          <a:prstGeom prst="line">
            <a:avLst/>
          </a:prstGeom>
          <a:ln w="22225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99692" y="2131242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17472" y="2136931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1833" y="2440099"/>
            <a:ext cx="929694" cy="1170725"/>
          </a:xfrm>
          <a:prstGeom prst="line">
            <a:avLst/>
          </a:prstGeom>
          <a:ln w="1778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797809" y="2808345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15589" y="2814034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281527" y="2336800"/>
            <a:ext cx="585362" cy="1274024"/>
          </a:xfrm>
          <a:prstGeom prst="line">
            <a:avLst/>
          </a:prstGeom>
          <a:ln w="1778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568733" y="2867576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6513" y="2873266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81527" y="3610824"/>
            <a:ext cx="1549489" cy="723095"/>
          </a:xfrm>
          <a:prstGeom prst="line">
            <a:avLst/>
          </a:prstGeom>
          <a:ln w="1778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998972" y="3724926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16752" y="3730615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09361" y="3610824"/>
            <a:ext cx="172166" cy="1170726"/>
          </a:xfrm>
          <a:prstGeom prst="line">
            <a:avLst/>
          </a:prstGeom>
          <a:ln w="1778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98576" y="4060934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16356" y="4066623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109361" y="4333919"/>
            <a:ext cx="1721655" cy="447631"/>
          </a:xfrm>
          <a:prstGeom prst="line">
            <a:avLst/>
          </a:prstGeom>
          <a:ln w="1778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94620" y="4510207"/>
            <a:ext cx="204825" cy="204825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12400" y="4515897"/>
            <a:ext cx="169265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174033" y="2262299"/>
            <a:ext cx="355600" cy="355600"/>
          </a:xfrm>
          <a:prstGeom prst="ellipse">
            <a:avLst/>
          </a:prstGeom>
          <a:solidFill>
            <a:srgbClr val="8FB1E6"/>
          </a:solidFill>
          <a:ln w="13334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57452" y="2340353"/>
            <a:ext cx="188761" cy="204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9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2971" y="2680129"/>
            <a:ext cx="417723" cy="18669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889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80309" y="2722623"/>
            <a:ext cx="343047" cy="132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69" b="1">
                <a:solidFill>
                  <a:srgbClr val="8FB1E6"/>
                </a:solidFill>
                <a:latin typeface="Noto Sans SC"/>
                <a:ea typeface="Noto Sans SC"/>
              </a:rPr>
              <a:t>标签 B</a:t>
            </a:r>
          </a:p>
        </p:txBody>
      </p:sp>
      <p:sp>
        <p:nvSpPr>
          <p:cNvPr id="40" name="Oval 39"/>
          <p:cNvSpPr/>
          <p:nvPr/>
        </p:nvSpPr>
        <p:spPr>
          <a:xfrm>
            <a:off x="7689089" y="2159000"/>
            <a:ext cx="355600" cy="355600"/>
          </a:xfrm>
          <a:prstGeom prst="ellipse">
            <a:avLst/>
          </a:prstGeom>
          <a:solidFill>
            <a:srgbClr val="8FB1E6"/>
          </a:solidFill>
          <a:ln w="13334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0091" y="2237054"/>
            <a:ext cx="193597" cy="204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9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58028" y="2576829"/>
            <a:ext cx="417723" cy="18669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889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95366" y="2619324"/>
            <a:ext cx="343047" cy="132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69" b="1">
                <a:solidFill>
                  <a:srgbClr val="8FB1E6"/>
                </a:solidFill>
                <a:latin typeface="Noto Sans SC"/>
                <a:ea typeface="Noto Sans SC"/>
              </a:rPr>
              <a:t>标签 B</a:t>
            </a:r>
          </a:p>
        </p:txBody>
      </p:sp>
      <p:sp>
        <p:nvSpPr>
          <p:cNvPr id="44" name="Oval 43"/>
          <p:cNvSpPr/>
          <p:nvPr/>
        </p:nvSpPr>
        <p:spPr>
          <a:xfrm>
            <a:off x="7059277" y="3388574"/>
            <a:ext cx="444500" cy="444500"/>
          </a:xfrm>
          <a:prstGeom prst="ellipse">
            <a:avLst/>
          </a:prstGeom>
          <a:noFill/>
          <a:ln w="2222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7103727" y="3433024"/>
            <a:ext cx="355600" cy="355600"/>
          </a:xfrm>
          <a:prstGeom prst="ellipse">
            <a:avLst/>
          </a:prstGeom>
          <a:solidFill>
            <a:srgbClr val="D8BB78"/>
          </a:solidFill>
          <a:ln w="13334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86617" y="3511078"/>
            <a:ext cx="189819" cy="204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9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73887" y="3850854"/>
            <a:ext cx="415278" cy="18669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889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11225" y="3893348"/>
            <a:ext cx="340602" cy="132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69" b="1">
                <a:solidFill>
                  <a:srgbClr val="D8BB78"/>
                </a:solidFill>
                <a:latin typeface="Noto Sans SC"/>
                <a:ea typeface="Noto Sans SC"/>
              </a:rPr>
              <a:t>标签 C</a:t>
            </a:r>
          </a:p>
        </p:txBody>
      </p:sp>
      <p:sp>
        <p:nvSpPr>
          <p:cNvPr id="49" name="Oval 48"/>
          <p:cNvSpPr/>
          <p:nvPr/>
        </p:nvSpPr>
        <p:spPr>
          <a:xfrm>
            <a:off x="8653216" y="4156119"/>
            <a:ext cx="355600" cy="355600"/>
          </a:xfrm>
          <a:prstGeom prst="ellipse">
            <a:avLst/>
          </a:prstGeom>
          <a:solidFill>
            <a:srgbClr val="C2A6E6"/>
          </a:solidFill>
          <a:ln w="13334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731724" y="4234173"/>
            <a:ext cx="198584" cy="204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9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20541" y="4573949"/>
            <a:ext cx="420950" cy="18669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889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57879" y="4616443"/>
            <a:ext cx="346274" cy="132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69" b="1">
                <a:solidFill>
                  <a:srgbClr val="C2A6E6"/>
                </a:solidFill>
                <a:latin typeface="Noto Sans SC"/>
                <a:ea typeface="Noto Sans SC"/>
              </a:rPr>
              <a:t>标签 D</a:t>
            </a:r>
          </a:p>
        </p:txBody>
      </p:sp>
      <p:sp>
        <p:nvSpPr>
          <p:cNvPr id="53" name="Oval 52"/>
          <p:cNvSpPr/>
          <p:nvPr/>
        </p:nvSpPr>
        <p:spPr>
          <a:xfrm>
            <a:off x="6931561" y="4603750"/>
            <a:ext cx="355600" cy="355600"/>
          </a:xfrm>
          <a:prstGeom prst="ellipse">
            <a:avLst/>
          </a:prstGeom>
          <a:solidFill>
            <a:srgbClr val="E39FB8"/>
          </a:solidFill>
          <a:ln w="13334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017550" y="4681804"/>
            <a:ext cx="183622" cy="204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89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3727" y="5021580"/>
            <a:ext cx="411269" cy="18669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8890">
            <a:solidFill>
              <a:srgbClr val="E3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941065" y="5064074"/>
            <a:ext cx="336593" cy="132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69" b="1">
                <a:solidFill>
                  <a:srgbClr val="E39FB8"/>
                </a:solidFill>
                <a:latin typeface="Noto Sans SC"/>
                <a:ea typeface="Noto Sans SC"/>
              </a:rPr>
              <a:t>标签 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09000" y="2095500"/>
            <a:ext cx="3556000" cy="2286000"/>
          </a:xfrm>
          <a:prstGeom prst="roundRect">
            <a:avLst>
              <a:gd name="adj" fmla="val 3888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665210" y="2206244"/>
            <a:ext cx="151610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C 的票（第 1 轮）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9975" y="2599690"/>
            <a:ext cx="66313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标签 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88500" y="2654300"/>
            <a:ext cx="1778000" cy="139700"/>
          </a:xfrm>
          <a:prstGeom prst="roundRect">
            <a:avLst>
              <a:gd name="adj" fmla="val 50000"/>
            </a:avLst>
          </a:prstGeom>
          <a:solidFill>
            <a:srgbClr val="16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9588500" y="2654300"/>
            <a:ext cx="1778000" cy="139700"/>
          </a:xfrm>
          <a:prstGeom prst="roundRect">
            <a:avLst>
              <a:gd name="adj" fmla="val 50000"/>
            </a:avLst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1618849" y="2573782"/>
            <a:ext cx="2569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9975" y="3107690"/>
            <a:ext cx="669036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标签 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88500" y="3162300"/>
            <a:ext cx="1778000" cy="139700"/>
          </a:xfrm>
          <a:prstGeom prst="roundRect">
            <a:avLst>
              <a:gd name="adj" fmla="val 50000"/>
            </a:avLst>
          </a:prstGeom>
          <a:solidFill>
            <a:srgbClr val="16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9588500" y="3162300"/>
            <a:ext cx="711200" cy="139700"/>
          </a:xfrm>
          <a:prstGeom prst="roundRect">
            <a:avLst>
              <a:gd name="adj" fmla="val 5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618849" y="3081782"/>
            <a:ext cx="2569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9975" y="3615690"/>
            <a:ext cx="650176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F3E9"/>
                </a:solidFill>
                <a:latin typeface="Noto Sans SC"/>
                <a:ea typeface="Noto Sans SC"/>
              </a:rPr>
              <a:t>标签 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88500" y="3670300"/>
            <a:ext cx="1600199" cy="139700"/>
          </a:xfrm>
          <a:prstGeom prst="roundRect">
            <a:avLst>
              <a:gd name="adj" fmla="val 50000"/>
            </a:avLst>
          </a:prstGeom>
          <a:solidFill>
            <a:srgbClr val="16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9588500" y="3670300"/>
            <a:ext cx="320040" cy="139700"/>
          </a:xfrm>
          <a:prstGeom prst="roundRect">
            <a:avLst>
              <a:gd name="adj" fmla="val 5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618849" y="3589782"/>
            <a:ext cx="2569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一整轮与零变化确认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01:36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异步：每次更新立即写回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1 轮：B B B E E，改变 3 个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2 轮：完整零变化 → stable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共 2 轮（含确认轮），cut 3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E→A 顺序：分组相同，需要 3 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7110" y="1660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5609" y="1660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票数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1110" y="1660144"/>
            <a:ext cx="640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新标签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0610" y="1660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改变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57900" y="1943100"/>
            <a:ext cx="4673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5840" y="2116836"/>
            <a:ext cx="24546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340" y="2116836"/>
            <a:ext cx="9267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B:5，C:1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9840" y="2116836"/>
            <a:ext cx="25542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9340" y="21168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5840" y="2599436"/>
            <a:ext cx="25542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340" y="2599436"/>
            <a:ext cx="9267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B:5，C:4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9840" y="2599436"/>
            <a:ext cx="25542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9340" y="25994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5840" y="3082036"/>
            <a:ext cx="25156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340" y="3082036"/>
            <a:ext cx="14291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B:5，D:2，E:1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9840" y="3082036"/>
            <a:ext cx="25542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9340" y="30820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5840" y="3564636"/>
            <a:ext cx="2617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340" y="3564636"/>
            <a:ext cx="91683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B:2，E:5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9840" y="3564636"/>
            <a:ext cx="2416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9340" y="35646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5840" y="4047236"/>
            <a:ext cx="2416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340" y="4047236"/>
            <a:ext cx="91683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B:1，E:5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9840" y="4047236"/>
            <a:ext cx="2416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9340" y="40472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66381" y="4991100"/>
            <a:ext cx="2958236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12101" y="5051298"/>
            <a:ext cx="2866796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第 2 轮零变化 → stable，2 轮，cut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同步与振荡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01:52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同步：整轮读同一张旧快照，轮末一起提交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两节点：A、B 每轮交换标签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G01 同步：第 3 轮回到第 1 轮的状态（周期 2）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停止状态：stable / cycle / limit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只有 stable 能叫“收敛”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59600" y="2781300"/>
            <a:ext cx="3048000" cy="0"/>
          </a:xfrm>
          <a:prstGeom prst="line">
            <a:avLst/>
          </a:prstGeom>
          <a:ln w="1524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395817" y="2560624"/>
            <a:ext cx="175564" cy="175564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1057" y="2565501"/>
            <a:ext cx="14508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6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6715759" y="2537460"/>
            <a:ext cx="487680" cy="487680"/>
          </a:xfrm>
          <a:prstGeom prst="ellipse">
            <a:avLst/>
          </a:prstGeom>
          <a:solidFill>
            <a:srgbClr val="77CDBB"/>
          </a:solidFill>
          <a:ln w="11429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4908" y="2670657"/>
            <a:ext cx="209382" cy="22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38086" y="3131820"/>
            <a:ext cx="443026" cy="1905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62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60946" y="3167634"/>
            <a:ext cx="397306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7CDBB"/>
                </a:solidFill>
                <a:latin typeface="Noto Sans SC"/>
                <a:ea typeface="Noto Sans SC"/>
              </a:rPr>
              <a:t>标签 A</a:t>
            </a:r>
          </a:p>
        </p:txBody>
      </p:sp>
      <p:sp>
        <p:nvSpPr>
          <p:cNvPr id="27" name="Oval 26"/>
          <p:cNvSpPr/>
          <p:nvPr/>
        </p:nvSpPr>
        <p:spPr>
          <a:xfrm>
            <a:off x="9763760" y="2537460"/>
            <a:ext cx="487680" cy="487680"/>
          </a:xfrm>
          <a:prstGeom prst="ellipse">
            <a:avLst/>
          </a:prstGeom>
          <a:solidFill>
            <a:srgbClr val="8FB1E6"/>
          </a:solidFill>
          <a:ln w="11429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00226" y="2670657"/>
            <a:ext cx="214746" cy="22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257" y="3131820"/>
            <a:ext cx="446684" cy="1905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62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807117" y="3167634"/>
            <a:ext cx="400964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8FB1E6"/>
                </a:solidFill>
                <a:latin typeface="Noto Sans SC"/>
                <a:ea typeface="Noto Sans SC"/>
              </a:rPr>
              <a:t>标签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108" y="1963369"/>
            <a:ext cx="2538984" cy="174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D8BB78"/>
                </a:solidFill>
                <a:latin typeface="Noto Sans SC"/>
                <a:ea typeface="Noto Sans SC"/>
              </a:rPr>
              <a:t>同步：大家读同一张旧快照，轮末一起提交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7688" y="3731514"/>
            <a:ext cx="411822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第 2 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1531" y="4023359"/>
            <a:ext cx="2924136" cy="17526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62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48963" y="4059478"/>
            <a:ext cx="2869272" cy="133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DB7B72"/>
                </a:solidFill>
                <a:latin typeface="Noto Sans SC"/>
                <a:ea typeface="Noto Sans SC"/>
              </a:rPr>
              <a:t>状态重复 → cycle（G01 同步也会以周期 2 振荡，cut 停在 17）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2380" y="4416552"/>
            <a:ext cx="2438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7380" y="4416552"/>
            <a:ext cx="19034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5880" y="4416552"/>
            <a:ext cx="195224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4380" y="4416552"/>
            <a:ext cx="191414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2880" y="4416552"/>
            <a:ext cx="200253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1380" y="4416552"/>
            <a:ext cx="185165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11900" y="4673600"/>
            <a:ext cx="4165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41110" y="47081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109" y="4708144"/>
            <a:ext cx="21478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4609" y="47081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3109" y="4708144"/>
            <a:ext cx="22011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1610" y="4708144"/>
            <a:ext cx="22900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0110" y="4708144"/>
            <a:ext cx="21140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1110" y="50256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109" y="50256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4609" y="5025644"/>
            <a:ext cx="21478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3109" y="50256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1610" y="5025644"/>
            <a:ext cx="21140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0110" y="5025644"/>
            <a:ext cx="22900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1110" y="53431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76109" y="5343144"/>
            <a:ext cx="21478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74609" y="53431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3109" y="5343144"/>
            <a:ext cx="21478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1610" y="5343144"/>
            <a:ext cx="22900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0110" y="5343144"/>
            <a:ext cx="21140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1110" y="56606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109" y="56606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74609" y="5660644"/>
            <a:ext cx="21478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3109" y="5660644"/>
            <a:ext cx="22349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1610" y="5660644"/>
            <a:ext cx="21140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70110" y="5660644"/>
            <a:ext cx="229006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平票与边权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02:08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平票规则：min（默认）/ max / keep，必须确定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C–D 改为 10，从初始标签重新运行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 把 C 拉过去：AB | CDE，cut 5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比较不同参数时，从同一个起点重新开始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769904" y="1778000"/>
            <a:ext cx="2164367" cy="14757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95417" y="14843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20817" y="1492474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9904" y="1925570"/>
            <a:ext cx="1328134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07013" y="24516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32413" y="24597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098038" y="1778000"/>
            <a:ext cx="836233" cy="182003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08333" y="25362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3733" y="254438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8038" y="3598035"/>
            <a:ext cx="2213557" cy="1032993"/>
          </a:xfrm>
          <a:prstGeom prst="line">
            <a:avLst/>
          </a:prstGeom>
          <a:ln w="4445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22960" y="37610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88416" y="3769165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10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852088" y="3598035"/>
            <a:ext cx="245950" cy="1672465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979537" y="42410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04937" y="424917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852088" y="4631028"/>
            <a:ext cx="2459507" cy="639472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973886" y="48828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99286" y="48909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515904" y="167157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35075" y="178307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8680271" y="15240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795987" y="16355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7844038" y="3344035"/>
            <a:ext cx="508000" cy="508000"/>
          </a:xfrm>
          <a:prstGeom prst="ellipse">
            <a:avLst/>
          </a:prstGeom>
          <a:solidFill>
            <a:srgbClr val="C2A6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962453" y="3455541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10057595" y="4377028"/>
            <a:ext cx="508000" cy="508000"/>
          </a:xfrm>
          <a:prstGeom prst="ellipse">
            <a:avLst/>
          </a:prstGeom>
          <a:solidFill>
            <a:srgbClr val="C2A6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169748" y="4488534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7598088" y="5016500"/>
            <a:ext cx="508000" cy="508000"/>
          </a:xfrm>
          <a:prstGeom prst="ellipse">
            <a:avLst/>
          </a:prstGeom>
          <a:solidFill>
            <a:srgbClr val="C2A6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20928" y="51280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36707" y="5689600"/>
            <a:ext cx="2271585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82427" y="5749798"/>
            <a:ext cx="218014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C–D = 10：AB | CDE，cut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回到芯片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02:23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24 单元电路：标签传播 5 轮停下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只切断 2（尺子切法 88）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颜色沿最强的连线扩散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虚构教学图：不说明一般最优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715000" y="1870137"/>
            <a:ext cx="1348153" cy="39211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715000" y="1949440"/>
            <a:ext cx="2423152" cy="31280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0" y="2262247"/>
            <a:ext cx="48463" cy="57715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2262247"/>
            <a:ext cx="1193953" cy="72254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63153" y="1870137"/>
            <a:ext cx="1074999" cy="7930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63153" y="1870137"/>
            <a:ext cx="2053071" cy="55952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763463" y="1870137"/>
            <a:ext cx="1299690" cy="96926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908953" y="1870137"/>
            <a:ext cx="154200" cy="111465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38152" y="1949440"/>
            <a:ext cx="978072" cy="48022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38152" y="1949440"/>
            <a:ext cx="2141185" cy="58155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763463" y="1949440"/>
            <a:ext cx="2374689" cy="88995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08953" y="1949440"/>
            <a:ext cx="1229199" cy="103534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16224" y="2429665"/>
            <a:ext cx="1163113" cy="10133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16224" y="2244624"/>
            <a:ext cx="2431964" cy="18504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763463" y="2429665"/>
            <a:ext cx="3352761" cy="40973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908953" y="2429665"/>
            <a:ext cx="2207271" cy="55512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79337" y="2244624"/>
            <a:ext cx="1268851" cy="28637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63463" y="2839398"/>
            <a:ext cx="1145490" cy="14538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045631" y="2887861"/>
            <a:ext cx="1282068" cy="3524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785491" y="2923107"/>
            <a:ext cx="2260140" cy="78422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966227" y="2923107"/>
            <a:ext cx="1079404" cy="60358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961923" y="2923107"/>
            <a:ext cx="83708" cy="88555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5631" y="2923107"/>
            <a:ext cx="1171925" cy="75338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327699" y="2724849"/>
            <a:ext cx="854712" cy="16301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27699" y="2887861"/>
            <a:ext cx="2229301" cy="10133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966227" y="2887861"/>
            <a:ext cx="2361472" cy="638831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961923" y="2887861"/>
            <a:ext cx="1365776" cy="92079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217556" y="2887861"/>
            <a:ext cx="110143" cy="78862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82411" y="2724849"/>
            <a:ext cx="1374589" cy="26434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217556" y="2724849"/>
            <a:ext cx="964855" cy="951638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217556" y="2989193"/>
            <a:ext cx="2339444" cy="68729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785491" y="3526692"/>
            <a:ext cx="1180736" cy="18063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785491" y="3707327"/>
            <a:ext cx="2176432" cy="10133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66227" y="3526692"/>
            <a:ext cx="995696" cy="2819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66227" y="3526692"/>
            <a:ext cx="2251329" cy="14979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61923" y="3676487"/>
            <a:ext cx="1255633" cy="13217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52903" y="3623618"/>
            <a:ext cx="1224793" cy="88115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120428" y="3623618"/>
            <a:ext cx="3132475" cy="74897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005980" y="3623618"/>
            <a:ext cx="2246923" cy="111024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235179" y="3623618"/>
            <a:ext cx="1017724" cy="108381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0235280" y="3623618"/>
            <a:ext cx="17623" cy="67407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52903" y="3623618"/>
            <a:ext cx="1061781" cy="74897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8005980" y="3711733"/>
            <a:ext cx="3471716" cy="102212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235280" y="3711733"/>
            <a:ext cx="1242416" cy="585962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1314684" y="3711733"/>
            <a:ext cx="163012" cy="660859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763463" y="4372592"/>
            <a:ext cx="1356965" cy="11014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763463" y="4482736"/>
            <a:ext cx="2242517" cy="25112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120428" y="4372592"/>
            <a:ext cx="885552" cy="361270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120428" y="4372592"/>
            <a:ext cx="2114751" cy="33483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005980" y="4707428"/>
            <a:ext cx="1229199" cy="26434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005980" y="4297695"/>
            <a:ext cx="2229300" cy="43616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35179" y="4297695"/>
            <a:ext cx="1000101" cy="409733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235179" y="4372592"/>
            <a:ext cx="2079505" cy="334836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235280" y="4297695"/>
            <a:ext cx="1079404" cy="74897"/>
          </a:xfrm>
          <a:prstGeom prst="line">
            <a:avLst/>
          </a:prstGeom>
          <a:ln w="11430">
            <a:solidFill>
              <a:srgbClr val="4F7377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908953" y="2984787"/>
            <a:ext cx="57274" cy="541905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217556" y="3676487"/>
            <a:ext cx="17623" cy="1030941"/>
          </a:xfrm>
          <a:prstGeom prst="line">
            <a:avLst/>
          </a:prstGeom>
          <a:ln w="15240">
            <a:solidFill>
              <a:srgbClr val="DB7B72">
                <a:alpha val="9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626100" y="2173347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6974253" y="1781237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8049252" y="1860540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9027324" y="2340765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10190437" y="2442096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11459288" y="2155724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5674563" y="2750498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820053" y="2895887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956731" y="2834207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9238799" y="2798961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093511" y="2635949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1468100" y="2900293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5696591" y="3618427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6877327" y="3437792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873023" y="3719759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9128656" y="3587587"/>
            <a:ext cx="177800" cy="177800"/>
          </a:xfrm>
          <a:prstGeom prst="ellipse">
            <a:avLst/>
          </a:prstGeom>
          <a:solidFill>
            <a:srgbClr val="8FB1E6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0164003" y="3534718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11388796" y="3622833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5674563" y="4393836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031528" y="4283692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7917080" y="4644962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9146279" y="4618528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0146380" y="4208795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1225784" y="4283692"/>
            <a:ext cx="177800" cy="177800"/>
          </a:xfrm>
          <a:prstGeom prst="ellipse">
            <a:avLst/>
          </a:prstGeom>
          <a:solidFill>
            <a:srgbClr val="E8A06A"/>
          </a:solidFill>
          <a:ln w="1270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7760982" y="5689600"/>
            <a:ext cx="1750034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7806702" y="5749798"/>
            <a:ext cx="165859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标签传播 5 轮，cut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809" y="377952"/>
            <a:ext cx="20644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《圈子从哪里来》 02:42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4 行：按邻居标签累加边权（Python：count_votes）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5 行：平票规则（choose）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6–7 行：异步与同步的唯一差别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8 行：零变化 → stable，重复 → 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53100" y="1574800"/>
            <a:ext cx="5715000" cy="3530600"/>
          </a:xfrm>
          <a:prstGeom prst="roundRect">
            <a:avLst>
              <a:gd name="adj" fmla="val 2158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98832" y="1768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9027" y="1730120"/>
            <a:ext cx="821588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labels[v]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7745" y="1730120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9195" y="1730120"/>
            <a:ext cx="23060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8832" y="2175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9027" y="2136521"/>
            <a:ext cx="665226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repeat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383" y="21365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每一轮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5733" y="2136521"/>
            <a:ext cx="150533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8832" y="2581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9027" y="2542921"/>
            <a:ext cx="762095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for v in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252" y="2542921"/>
            <a:ext cx="7886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访问顺序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052" y="2542921"/>
            <a:ext cx="150533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53100" y="29146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753100" y="29146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98832" y="29881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9027" y="2949321"/>
            <a:ext cx="727976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votes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4134" y="29493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5584" y="29493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3989" y="29493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按邻居标签累加边权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53100" y="33210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753100" y="33210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898832" y="33945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9027" y="3355721"/>
            <a:ext cx="63196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new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8122" y="33557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9572" y="33557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7977" y="33557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最大票（平票规则）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8832" y="3800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9027" y="3762121"/>
            <a:ext cx="25648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2646" y="3762121"/>
            <a:ext cx="25031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异步：立即写回；同步：先记下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8832" y="4207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9027" y="4168521"/>
            <a:ext cx="17967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5837" y="41685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同步：轮末一起提交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8832" y="4613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9027" y="4574921"/>
            <a:ext cx="17967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5837" y="4574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零变化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0187" y="45749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8591" y="45749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0041" y="4574921"/>
            <a:ext cx="632307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stable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9479" y="4574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；重复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33829" y="45749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72234" y="45749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3684" y="4574921"/>
            <a:ext cx="54915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cycle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把标签当名字：说“C 变成了 B”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按人数计票：两票的 B 未必赢四权的 D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一步没变就说收敛：要整轮零变化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把振荡当“没算完”或“收敛”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按标签名比较结果：B/B/B/E/E 与 A/A/A/D/D 是同一分组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6558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05 · 标签传播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名字是身份，标签是归属；看邻居，跟最强。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整轮零变化才是 stable；同步可能振荡，报告 cycle。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下一模块：不再局部投票，用全图的谱信息排序再切。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标签传播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