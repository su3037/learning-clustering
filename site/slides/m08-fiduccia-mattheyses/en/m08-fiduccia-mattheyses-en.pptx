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covers FM refinement: move one node at a time, with a balance window limiting the side sizes. Gains, locks, trials and the best prefix are the same as in KL; the key difference is that the largest gain is compared only among legal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FM’s input is a graph, an initial bisection and a balance parameter. Each step moves one node; after the move both sides must be nonempty and the size difference at most maxDiff. Gains, locks, trials and the best prefix mean the same as in the last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seed, A and E both gain 6, but they are on the left, which has only two nodes; moving either makes it 1 to 4, which breaks the balance. The largest gain among the legal candidates is D’s, plus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gain splits into two parts. FS: the node is a net’s only pin on its side, so after the move the net is no longer cut, plus w. TE: a net has no pin on the target side, so after the move it becomes cut, minus w. D’s gain is 5 minus 2, which is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 1: D, plus 3, cut 9; now the left has three nodes, A becomes legal, plus 6, cut 3. Every gain after that is negative; C, E and B are tried in turn, and the cut ends back at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cumulative gains are 3, 9, 7, 1 and 0; the largest is the first two steps. Back at the start, do only D and A, and accept ABC versus DE, cut 3. Pass 2’s best prefix is empty, and the algorithm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original attachment has a case about climbing out with negative gains; we check it with its own data. The initial cut is 18, not 9; E’s move is legal, with gain plus 10; pass 1’s best and the exhaustive optimum are both 8, not 4. So it cannot serve as the example, and this course keeps it only as a regression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course’s replacement example: at the start every legal move has gain at most 0, so moving only on positive gains stops at cut 6. FM moves A and B one step each, the cut rises to 8, and then E’s gain becomes plus 4, cut 4 after the move. Keeping the first three steps gives exactly the balanced optimum found by exhaustive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reaches linear time with bucket lists and a max-gain pointer. This course updates gains incrementally, but still scans to choose, so it cannot be called linear time. A real multi-pin net is decided by counting pins: in the example A’s gain is 0, while splitting it into a clique and counting edges gives minus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2 of the pseudocode computes gains by counting per net; lines 3 and 4 take the largest among legal candidates only; lines 5 and 6 make the trial, lock and update incrementally; lines 7 and 8 roll back to the best prefix; on the empty prefix it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mistakes: picking the largest gain without looking at the balance; copying an unverified example; taking a bucket display for a linear-time implementation; calling a 2-pin example a hypergraph; and taking count balance for area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summary: filter for legality first, then take the largest; try negative gains too, and accept only the best prefix. Examples must be verified by independent computation, and buckets on screen are not a linear-time implementation. The next module changes the goal from the cut to delay, and allows nodes to be copied.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1079" y="2310892"/>
            <a:ext cx="5069840" cy="891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0" b="0">
                <a:solidFill>
                  <a:srgbClr val="D8BB78"/>
                </a:solidFill>
                <a:latin typeface="Noto Sans SC"/>
                <a:ea typeface="Noto Sans SC"/>
              </a:rPr>
              <a:t>The legal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3304" y="3335782"/>
            <a:ext cx="75653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BCD2D0"/>
                </a:solidFill>
                <a:latin typeface="Noto Sans SC"/>
                <a:ea typeface="Noto Sans SC"/>
              </a:rPr>
              <a:t>Fiduccia–Mattheyses refinement · single moves and the balance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4035" y="4136644"/>
            <a:ext cx="60439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F8F"/>
                </a:solidFill>
                <a:latin typeface="Noto Sans SC"/>
                <a:ea typeface="Noto Sans SC"/>
              </a:rPr>
              <a:t>Learning Clustering · original author stephQ-lab (Issue #7 attachment)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80465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problem, and how it differs from KL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p2/12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Input: a graph (or a multi-pin netlist), an initial bisection, maxDiff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Move: one node at a time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Legal: after the move both sides are nonempty and |n</a:t>
            </a:r>
            <a:r>
              <a:rPr sz="1700" b="0" baseline="-2500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 − n</a:t>
            </a:r>
            <a:r>
              <a:rPr sz="1700" b="0" baseline="-2500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| ≤ maxDiff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Output: the trial moves, cumulative gains, the best prefix, the accepted bisection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420585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09714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Review: gain, lock, trial and best prefix are as in Module 07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973006" y="1770380"/>
            <a:ext cx="1212045" cy="82639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91293" y="1605933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05304" y="1610485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73006" y="1853019"/>
            <a:ext cx="743755" cy="936580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329787" y="2147616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43798" y="2152167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716761" y="1770380"/>
            <a:ext cx="468290" cy="1019219"/>
          </a:xfrm>
          <a:prstGeom prst="line">
            <a:avLst/>
          </a:prstGeom>
          <a:ln w="1778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946526" y="2195001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60537" y="2199553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16761" y="2789599"/>
            <a:ext cx="1239592" cy="578476"/>
          </a:xfrm>
          <a:prstGeom prst="line">
            <a:avLst/>
          </a:prstGeom>
          <a:ln w="1778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290717" y="2880880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04728" y="2885432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6579029" y="2789599"/>
            <a:ext cx="137732" cy="936581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650401" y="3149687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64411" y="3154239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6579029" y="3368075"/>
            <a:ext cx="1377324" cy="358105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207236" y="3509106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21247" y="3513657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5795206" y="1675219"/>
            <a:ext cx="355600" cy="355600"/>
          </a:xfrm>
          <a:prstGeom prst="ellipse">
            <a:avLst/>
          </a:prstGeom>
          <a:noFill/>
          <a:ln w="1778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5830766" y="1710779"/>
            <a:ext cx="284480" cy="284480"/>
          </a:xfrm>
          <a:prstGeom prst="ellipse">
            <a:avLst/>
          </a:prstGeom>
          <a:solidFill>
            <a:srgbClr val="77CDBB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97619" y="1773222"/>
            <a:ext cx="150774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0" name="Oval 39"/>
          <p:cNvSpPr/>
          <p:nvPr/>
        </p:nvSpPr>
        <p:spPr>
          <a:xfrm>
            <a:off x="7042811" y="1628140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07886" y="1690583"/>
            <a:ext cx="154330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2" name="Oval 41"/>
          <p:cNvSpPr/>
          <p:nvPr/>
        </p:nvSpPr>
        <p:spPr>
          <a:xfrm>
            <a:off x="6574521" y="2647359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41374" y="2709803"/>
            <a:ext cx="150774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4" name="Oval 43"/>
          <p:cNvSpPr/>
          <p:nvPr/>
        </p:nvSpPr>
        <p:spPr>
          <a:xfrm>
            <a:off x="7778553" y="3190275"/>
            <a:ext cx="355600" cy="355600"/>
          </a:xfrm>
          <a:prstGeom prst="ellipse">
            <a:avLst/>
          </a:prstGeom>
          <a:noFill/>
          <a:ln w="1778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7814113" y="3225835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7410" y="3288279"/>
            <a:ext cx="157886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7" name="Oval 46"/>
          <p:cNvSpPr/>
          <p:nvPr/>
        </p:nvSpPr>
        <p:spPr>
          <a:xfrm>
            <a:off x="6401229" y="3548380"/>
            <a:ext cx="355600" cy="355600"/>
          </a:xfrm>
          <a:prstGeom prst="ellipse">
            <a:avLst/>
          </a:prstGeom>
          <a:noFill/>
          <a:ln w="1778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6436789" y="3583940"/>
            <a:ext cx="284480" cy="284480"/>
          </a:xfrm>
          <a:prstGeom prst="ellipse">
            <a:avLst/>
          </a:prstGeom>
          <a:solidFill>
            <a:srgbClr val="77CDBB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05420" y="3646383"/>
            <a:ext cx="147218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3109" y="1723644"/>
            <a:ext cx="5702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Node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5110" y="1723644"/>
            <a:ext cx="4876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Side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06610" y="1723644"/>
            <a:ext cx="513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Gain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2110" y="1723644"/>
            <a:ext cx="5829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Legal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343900" y="2006600"/>
            <a:ext cx="3149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293100" y="20447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371840" y="20914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33840" y="2091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05340" y="20914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30840" y="2091436"/>
            <a:ext cx="369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no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1840" y="2485136"/>
            <a:ext cx="2552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3840" y="2485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05340" y="24851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30840" y="2485136"/>
            <a:ext cx="4394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yes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71840" y="28788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33840" y="2878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05340" y="2878836"/>
            <a:ext cx="306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-4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30840" y="2878836"/>
            <a:ext cx="4394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yes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93100" y="32258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371840" y="3272536"/>
            <a:ext cx="2616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33840" y="3272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05340" y="32725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30840" y="3272536"/>
            <a:ext cx="4394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yes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93100" y="36195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8371840" y="36662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33840" y="3666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05340" y="36662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30840" y="3666236"/>
            <a:ext cx="369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86815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largest may not be allowed to move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p3/12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Seed AE | BCD, maxDiff = 1: only 2:3 or 3:2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 and E gain +6, but sit on the left, which has 2 nodes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Moving either leaves 1 : 4: not legal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8BB78"/>
                </a:solidFill>
                <a:latin typeface="Noto Sans SC"/>
                <a:ea typeface="Noto Sans SC"/>
              </a:rPr>
              <a:t>Legal candidates B +1, C −4, D +3 → choose 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973006" y="1770380"/>
            <a:ext cx="1212045" cy="82639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91293" y="1605933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05304" y="1610485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73006" y="1853019"/>
            <a:ext cx="743755" cy="936580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29787" y="2147616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43798" y="2152167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716761" y="1770380"/>
            <a:ext cx="468290" cy="1019219"/>
          </a:xfrm>
          <a:prstGeom prst="line">
            <a:avLst/>
          </a:prstGeom>
          <a:ln w="1778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946526" y="2195001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960537" y="2199553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16761" y="2789599"/>
            <a:ext cx="1239592" cy="578476"/>
          </a:xfrm>
          <a:prstGeom prst="line">
            <a:avLst/>
          </a:prstGeom>
          <a:ln w="1778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290717" y="2880880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04728" y="2885432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579029" y="2789599"/>
            <a:ext cx="137732" cy="936581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650401" y="3149687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664411" y="3154239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579029" y="3368075"/>
            <a:ext cx="1377324" cy="358105"/>
          </a:xfrm>
          <a:prstGeom prst="line">
            <a:avLst/>
          </a:prstGeom>
          <a:ln w="14224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207236" y="3509106"/>
            <a:ext cx="163860" cy="163860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221247" y="3513657"/>
            <a:ext cx="135839" cy="153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96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5795206" y="1675219"/>
            <a:ext cx="355600" cy="355600"/>
          </a:xfrm>
          <a:prstGeom prst="ellipse">
            <a:avLst/>
          </a:prstGeom>
          <a:noFill/>
          <a:ln w="1778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5830766" y="1710779"/>
            <a:ext cx="284480" cy="284480"/>
          </a:xfrm>
          <a:prstGeom prst="ellipse">
            <a:avLst/>
          </a:prstGeom>
          <a:solidFill>
            <a:srgbClr val="77CDBB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897619" y="1773222"/>
            <a:ext cx="150774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8" name="Oval 37"/>
          <p:cNvSpPr/>
          <p:nvPr/>
        </p:nvSpPr>
        <p:spPr>
          <a:xfrm>
            <a:off x="7042811" y="1628140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07886" y="1690583"/>
            <a:ext cx="154330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0" name="Oval 39"/>
          <p:cNvSpPr/>
          <p:nvPr/>
        </p:nvSpPr>
        <p:spPr>
          <a:xfrm>
            <a:off x="6574521" y="2647359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41374" y="2709803"/>
            <a:ext cx="150774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2" name="Oval 41"/>
          <p:cNvSpPr/>
          <p:nvPr/>
        </p:nvSpPr>
        <p:spPr>
          <a:xfrm>
            <a:off x="7778553" y="3190275"/>
            <a:ext cx="355600" cy="355600"/>
          </a:xfrm>
          <a:prstGeom prst="ellipse">
            <a:avLst/>
          </a:prstGeom>
          <a:noFill/>
          <a:ln w="1778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814113" y="3225835"/>
            <a:ext cx="284480" cy="284480"/>
          </a:xfrm>
          <a:prstGeom prst="ellipse">
            <a:avLst/>
          </a:prstGeom>
          <a:solidFill>
            <a:srgbClr val="8FB1E6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7410" y="3288279"/>
            <a:ext cx="157886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5" name="Oval 44"/>
          <p:cNvSpPr/>
          <p:nvPr/>
        </p:nvSpPr>
        <p:spPr>
          <a:xfrm>
            <a:off x="6401229" y="3548380"/>
            <a:ext cx="355600" cy="355600"/>
          </a:xfrm>
          <a:prstGeom prst="ellipse">
            <a:avLst/>
          </a:prstGeom>
          <a:noFill/>
          <a:ln w="17780">
            <a:solidFill>
              <a:srgbClr val="DB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436789" y="3583940"/>
            <a:ext cx="284480" cy="284480"/>
          </a:xfrm>
          <a:prstGeom prst="ellipse">
            <a:avLst/>
          </a:prstGeom>
          <a:solidFill>
            <a:srgbClr val="77CDBB"/>
          </a:solidFill>
          <a:ln w="10668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05420" y="3646383"/>
            <a:ext cx="147218" cy="163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2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3109" y="1723644"/>
            <a:ext cx="5702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Node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35110" y="1723644"/>
            <a:ext cx="4876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Side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06610" y="1723644"/>
            <a:ext cx="513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Gain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32110" y="1723644"/>
            <a:ext cx="5829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Legal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43900" y="2006600"/>
            <a:ext cx="3149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293100" y="20447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371840" y="20914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3840" y="20914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05340" y="20914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30840" y="2091436"/>
            <a:ext cx="369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71840" y="2485136"/>
            <a:ext cx="2552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3840" y="24851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05340" y="24851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0840" y="2485136"/>
            <a:ext cx="4394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yes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1840" y="2878836"/>
            <a:ext cx="248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3840" y="28788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05340" y="2878836"/>
            <a:ext cx="306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-4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30840" y="2878836"/>
            <a:ext cx="4394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yes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93100" y="32258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371840" y="3272536"/>
            <a:ext cx="2616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33840" y="32725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05340" y="32725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30840" y="3272536"/>
            <a:ext cx="4394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yes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93100" y="3619500"/>
            <a:ext cx="3289300" cy="368300"/>
          </a:xfrm>
          <a:prstGeom prst="roundRect">
            <a:avLst>
              <a:gd name="adj" fmla="val 13793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371840" y="366623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33840" y="3666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05340" y="36662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30840" y="3666236"/>
            <a:ext cx="369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5313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Splitting a gain: FS and 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p4/12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FS: v is a net's only pin on its side → +w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TE: a net has no pin on the target side → −w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D: FS = D–E (5), TE = C–D (2), gain 3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On 2-pin edges: FS − TE = external − internal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674654" y="1714500"/>
            <a:ext cx="2164367" cy="14757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600167" y="1420846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25186" y="1428974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4654" y="1862070"/>
            <a:ext cx="1328134" cy="167246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1763" y="23881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36782" y="2396263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002788" y="1714500"/>
            <a:ext cx="836233" cy="1820035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413083" y="2472752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38102" y="2480880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02788" y="3534535"/>
            <a:ext cx="2213557" cy="1032993"/>
          </a:xfrm>
          <a:prstGeom prst="line">
            <a:avLst/>
          </a:prstGeom>
          <a:ln w="31750">
            <a:solidFill>
              <a:srgbClr val="D8B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027710" y="369753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729" y="3705665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756838" y="3534535"/>
            <a:ext cx="245950" cy="1672465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884287" y="417754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909306" y="418567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756838" y="4567528"/>
            <a:ext cx="2459507" cy="639472"/>
          </a:xfrm>
          <a:prstGeom prst="line">
            <a:avLst/>
          </a:prstGeom>
          <a:ln w="44450">
            <a:solidFill>
              <a:srgbClr val="D8B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78636" y="4819368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903655" y="4827496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8BB78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5" name="Oval 34"/>
          <p:cNvSpPr/>
          <p:nvPr/>
        </p:nvSpPr>
        <p:spPr>
          <a:xfrm>
            <a:off x="6420654" y="1608070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40034" y="1719576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7" name="Oval 36"/>
          <p:cNvSpPr/>
          <p:nvPr/>
        </p:nvSpPr>
        <p:spPr>
          <a:xfrm>
            <a:off x="8585021" y="1460500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701226" y="1572006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39" name="Oval 38"/>
          <p:cNvSpPr/>
          <p:nvPr/>
        </p:nvSpPr>
        <p:spPr>
          <a:xfrm>
            <a:off x="7748788" y="3280535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68168" y="3392041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1" name="Oval 40"/>
          <p:cNvSpPr/>
          <p:nvPr/>
        </p:nvSpPr>
        <p:spPr>
          <a:xfrm>
            <a:off x="9898845" y="4250028"/>
            <a:ext cx="635000" cy="635000"/>
          </a:xfrm>
          <a:prstGeom prst="ellipse">
            <a:avLst/>
          </a:prstGeom>
          <a:noFill/>
          <a:ln w="3175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962345" y="4313528"/>
            <a:ext cx="508000" cy="5080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075375" y="4425034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4" name="Oval 43"/>
          <p:cNvSpPr/>
          <p:nvPr/>
        </p:nvSpPr>
        <p:spPr>
          <a:xfrm>
            <a:off x="7502838" y="4953000"/>
            <a:ext cx="508000" cy="5080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25393" y="5064506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86625" y="5880100"/>
            <a:ext cx="257175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32345" y="5940298"/>
            <a:ext cx="24803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FS D–E +5, TE C–D −2 → gain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23469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One full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p5/12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 +3 (cut 9) → the left has 3 nodes, and A becomes legal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 +6 (cut 3)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Then C −2, E −6, B −1: tried anyway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cut runs 12, 9, 3, 5, 11,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3475" y="1710689"/>
            <a:ext cx="5461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475" y="1710689"/>
            <a:ext cx="61595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7475" y="1710689"/>
            <a:ext cx="5461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6475" y="1710689"/>
            <a:ext cx="4191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5475" y="1710689"/>
            <a:ext cx="6096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Cum.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84900" y="2006600"/>
            <a:ext cx="4229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2205" y="21673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7205" y="2167382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6205" y="21673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25205" y="21673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4205" y="21673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4100" y="2603500"/>
            <a:ext cx="4368800" cy="457200"/>
          </a:xfrm>
          <a:prstGeom prst="roundRect">
            <a:avLst>
              <a:gd name="adj" fmla="val 11111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2205" y="26499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7205" y="2649982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6205" y="26499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5205" y="26499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4205" y="26499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2205" y="31325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7205" y="3132582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36205" y="3132582"/>
            <a:ext cx="3263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-2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5205" y="31325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14205" y="31325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2205" y="36151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7205" y="3615182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6205" y="3615182"/>
            <a:ext cx="3263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-6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5205" y="36151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4205" y="36151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2205" y="40977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7205" y="4097782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36205" y="4097782"/>
            <a:ext cx="3263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-1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25205" y="4097782"/>
            <a:ext cx="3708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14205" y="4097782"/>
            <a:ext cx="2501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9631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best prefix and roll-back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p6/12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Cumulative gains 3, 9, 7, 1, 0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k* = 2: apply only D and A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Accept ABC | DE, cut 3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trials' end at cut 12 is discarded; pass 2's prefix is empty, so stop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0000" y="1587500"/>
            <a:ext cx="4318000" cy="2921000"/>
          </a:xfrm>
          <a:prstGeom prst="roundRect">
            <a:avLst>
              <a:gd name="adj" fmla="val 3043"/>
            </a:avLst>
          </a:prstGeom>
          <a:solidFill>
            <a:srgbClr val="0D272D">
              <a:alpha val="96000"/>
            </a:srgbClr>
          </a:solidFill>
          <a:ln w="12700">
            <a:solidFill>
              <a:srgbClr val="24474D">
                <a:alpha val="9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06209" y="1698244"/>
            <a:ext cx="274193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8BB78"/>
                </a:solidFill>
                <a:latin typeface="Noto Sans SC"/>
                <a:ea typeface="Noto Sans SC"/>
              </a:rPr>
              <a:t>Cumulative gain (first k steps)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04000" y="3378200"/>
            <a:ext cx="3873500" cy="0"/>
          </a:xfrm>
          <a:prstGeom prst="line">
            <a:avLst/>
          </a:prstGeom>
          <a:ln w="12700">
            <a:solidFill>
              <a:srgbClr val="3B5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31000" y="3378200"/>
            <a:ext cx="444500" cy="31750"/>
          </a:xfrm>
          <a:prstGeom prst="roundRect">
            <a:avLst>
              <a:gd name="adj" fmla="val 50000"/>
            </a:avLst>
          </a:prstGeom>
          <a:solidFill>
            <a:srgbClr val="BCD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38950" y="3107690"/>
            <a:ext cx="2286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3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6000" y="3035300"/>
            <a:ext cx="444500" cy="342900"/>
          </a:xfrm>
          <a:prstGeom prst="roundRect">
            <a:avLst>
              <a:gd name="adj" fmla="val 11111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16800" y="2764790"/>
            <a:ext cx="3429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7CDBB"/>
                </a:solidFill>
                <a:latin typeface="Noto Sans SC"/>
                <a:ea typeface="Noto Sans SC"/>
              </a:rPr>
              <a:t>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8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349500"/>
            <a:ext cx="444500" cy="1028700"/>
          </a:xfrm>
          <a:prstGeom prst="roundRect">
            <a:avLst>
              <a:gd name="adj" fmla="val 8571"/>
            </a:avLst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51800" y="2078989"/>
            <a:ext cx="3429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8BB78"/>
                </a:solidFill>
                <a:latin typeface="Noto Sans SC"/>
                <a:ea typeface="Noto Sans SC"/>
              </a:rPr>
              <a:t>+9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3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7500" y="1968500"/>
            <a:ext cx="571500" cy="2540000"/>
          </a:xfrm>
          <a:prstGeom prst="roundRect">
            <a:avLst>
              <a:gd name="adj" fmla="val 11111"/>
            </a:avLst>
          </a:prstGeom>
          <a:noFill/>
          <a:ln w="19050">
            <a:solidFill>
              <a:srgbClr val="D8B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636000" y="2578100"/>
            <a:ext cx="444500" cy="800100"/>
          </a:xfrm>
          <a:prstGeom prst="roundRect">
            <a:avLst>
              <a:gd name="adj" fmla="val 8571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0" y="2307590"/>
            <a:ext cx="3429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7CDBB"/>
                </a:solidFill>
                <a:latin typeface="Noto Sans SC"/>
                <a:ea typeface="Noto Sans SC"/>
              </a:rPr>
              <a:t>+7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8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71000" y="3263900"/>
            <a:ext cx="444500" cy="114300"/>
          </a:xfrm>
          <a:prstGeom prst="roundRect">
            <a:avLst>
              <a:gd name="adj" fmla="val 33333"/>
            </a:avLst>
          </a:prstGeom>
          <a:solidFill>
            <a:srgbClr val="77CD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321800" y="2993390"/>
            <a:ext cx="3429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77CDBB"/>
                </a:solidFill>
                <a:latin typeface="Noto Sans SC"/>
                <a:ea typeface="Noto Sans SC"/>
              </a:rPr>
              <a:t>+1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3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06000" y="3378200"/>
            <a:ext cx="444500" cy="31750"/>
          </a:xfrm>
          <a:prstGeom prst="roundRect">
            <a:avLst>
              <a:gd name="adj" fmla="val 50000"/>
            </a:avLst>
          </a:prstGeom>
          <a:solidFill>
            <a:srgbClr val="BCD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013950" y="3107690"/>
            <a:ext cx="228600" cy="257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CD2D0"/>
                </a:solidFill>
                <a:latin typeface="Noto Sans SC"/>
                <a:ea typeface="Noto Sans SC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58705" y="4226052"/>
            <a:ext cx="339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BCD2D0"/>
                </a:solidFill>
                <a:latin typeface="Noto Sans SC"/>
                <a:ea typeface="Noto Sans SC"/>
              </a:rPr>
              <a:t>k=5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96125" y="4864100"/>
            <a:ext cx="282575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41845" y="4924298"/>
            <a:ext cx="27343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Accept the first 2: ABC | DE, cut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706500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Auditing the attachment's hillclimb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p7/12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text: initial cut 9, legal gains all ≤ 0, final 4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From the attachment's data: initial cut 18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E is legal, with gain +10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Pass 1's best 8 = the exhaustive balanced optimum 8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84091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DB7B72"/>
                </a:solidFill>
                <a:latin typeface="Noto Sans SC"/>
                <a:ea typeface="Noto Sans SC"/>
              </a:rPr>
              <a:t>Text and data disagree: a regression test only, not teaching 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5109" y="1850644"/>
            <a:ext cx="8305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The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9110" y="1850644"/>
            <a:ext cx="12750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CD2D0"/>
                </a:solidFill>
                <a:latin typeface="Noto Sans SC"/>
                <a:ea typeface="Noto Sans SC"/>
              </a:rPr>
              <a:t>From its 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57900" y="2133600"/>
            <a:ext cx="54991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07100" y="2349500"/>
            <a:ext cx="5638800" cy="546100"/>
          </a:xfrm>
          <a:prstGeom prst="roundRect">
            <a:avLst>
              <a:gd name="adj" fmla="val 9302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5840" y="2396236"/>
            <a:ext cx="10109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Initial cut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96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7840" y="2396236"/>
            <a:ext cx="350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07100" y="2921000"/>
            <a:ext cx="5638800" cy="546100"/>
          </a:xfrm>
          <a:prstGeom prst="roundRect">
            <a:avLst>
              <a:gd name="adj" fmla="val 9302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085840" y="2967736"/>
            <a:ext cx="11823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Legal gains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67736"/>
            <a:ext cx="756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all ≤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7840" y="2967736"/>
            <a:ext cx="1188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 legal, +10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07100" y="3492500"/>
            <a:ext cx="5638800" cy="546100"/>
          </a:xfrm>
          <a:prstGeom prst="roundRect">
            <a:avLst>
              <a:gd name="adj" fmla="val 9302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85840" y="3539236"/>
            <a:ext cx="93471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Final cut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5392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7840" y="3539236"/>
            <a:ext cx="92836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pass 1: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07100" y="4064000"/>
            <a:ext cx="5638800" cy="546100"/>
          </a:xfrm>
          <a:prstGeom prst="roundRect">
            <a:avLst>
              <a:gd name="adj" fmla="val 9302"/>
            </a:avLst>
          </a:prstGeom>
          <a:solidFill>
            <a:srgbClr val="DB7B72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085840" y="4110736"/>
            <a:ext cx="2077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Exhaustive optimum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110736"/>
            <a:ext cx="3060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7840" y="4110736"/>
            <a:ext cx="2362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772540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replacement: negative first, then positive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p8/12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6 nodes, seed ADE | BCF, maxDiff = 2, cut 6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At the start every legal gain ≤ 0: hill climbing stops at 6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7161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607437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FM: A −1, B −1 (cut 8), then E +4 (cut 4)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147948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039236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Keep 3 steps: cut 4 = the exhaustive balanced optimum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8928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784091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Found by a seeded search, verified exhaustively in the tests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1947333"/>
            <a:ext cx="1979083" cy="0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939237" y="1579541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64256" y="1587669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6000" y="1947333"/>
            <a:ext cx="989541" cy="756708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537042" y="1989235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62061" y="1997363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8075083" y="1947333"/>
            <a:ext cx="814917" cy="756708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32536" y="222197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57555" y="2230101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085541" y="2704041"/>
            <a:ext cx="1804459" cy="0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841466" y="2641049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66485" y="2649177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75083" y="1947333"/>
            <a:ext cx="698500" cy="1629833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418107" y="2486824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43126" y="2494952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096000" y="2704041"/>
            <a:ext cx="989541" cy="756709"/>
          </a:xfrm>
          <a:prstGeom prst="line">
            <a:avLst/>
          </a:prstGeom>
          <a:ln w="25400">
            <a:solidFill>
              <a:srgbClr val="DB7B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351891" y="2745943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76910" y="2754071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85541" y="2704041"/>
            <a:ext cx="1688042" cy="873125"/>
          </a:xfrm>
          <a:prstGeom prst="line">
            <a:avLst/>
          </a:prstGeom>
          <a:ln w="31750">
            <a:solidFill>
              <a:srgbClr val="9FC9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853274" y="2789847"/>
            <a:ext cx="292608" cy="292608"/>
          </a:xfrm>
          <a:prstGeom prst="ellipse">
            <a:avLst/>
          </a:prstGeom>
          <a:solidFill>
            <a:srgbClr val="071C2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878293" y="2797975"/>
            <a:ext cx="24257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D9E4E1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5880100" y="1731433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961380" y="1804839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42" name="Oval 41"/>
          <p:cNvSpPr/>
          <p:nvPr/>
        </p:nvSpPr>
        <p:spPr>
          <a:xfrm>
            <a:off x="6869641" y="2488141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954096" y="2561547"/>
            <a:ext cx="2628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44" name="Oval 43"/>
          <p:cNvSpPr/>
          <p:nvPr/>
        </p:nvSpPr>
        <p:spPr>
          <a:xfrm>
            <a:off x="5880100" y="3244850"/>
            <a:ext cx="431800" cy="4318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55030" y="3318256"/>
            <a:ext cx="281939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sp>
        <p:nvSpPr>
          <p:cNvPr id="46" name="Oval 45"/>
          <p:cNvSpPr/>
          <p:nvPr/>
        </p:nvSpPr>
        <p:spPr>
          <a:xfrm>
            <a:off x="7859183" y="1731433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940463" y="1804839"/>
            <a:ext cx="2692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48" name="Oval 47"/>
          <p:cNvSpPr/>
          <p:nvPr/>
        </p:nvSpPr>
        <p:spPr>
          <a:xfrm>
            <a:off x="8674100" y="2488141"/>
            <a:ext cx="431800" cy="431800"/>
          </a:xfrm>
          <a:prstGeom prst="ellipse">
            <a:avLst/>
          </a:prstGeom>
          <a:solidFill>
            <a:srgbClr val="77CDBB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752205" y="2561547"/>
            <a:ext cx="27559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50" name="Oval 49"/>
          <p:cNvSpPr/>
          <p:nvPr/>
        </p:nvSpPr>
        <p:spPr>
          <a:xfrm>
            <a:off x="8557683" y="3361266"/>
            <a:ext cx="431800" cy="431800"/>
          </a:xfrm>
          <a:prstGeom prst="ellipse">
            <a:avLst/>
          </a:prstGeom>
          <a:solidFill>
            <a:srgbClr val="8FB1E6"/>
          </a:solidFill>
          <a:ln w="19050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645313" y="3434672"/>
            <a:ext cx="256540" cy="2914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B1B1F"/>
                </a:solidFill>
                <a:latin typeface="Noto Sans SC"/>
                <a:ea typeface="Noto Sans SC"/>
              </a:rPr>
              <a:t>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380" y="1622552"/>
            <a:ext cx="4343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98380" y="1622552"/>
            <a:ext cx="4914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Move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96880" y="1622552"/>
            <a:ext cx="4279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Gain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31880" y="1622552"/>
            <a:ext cx="33274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CD2D0"/>
                </a:solidFill>
                <a:latin typeface="Noto Sans SC"/>
                <a:ea typeface="Noto Sans SC"/>
              </a:rPr>
              <a:t>cut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359900" y="1879600"/>
            <a:ext cx="2387600" cy="0"/>
          </a:xfrm>
          <a:prstGeom prst="line">
            <a:avLst/>
          </a:prstGeom>
          <a:ln w="12700">
            <a:solidFill>
              <a:srgbClr val="2D4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389110" y="19649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97110" y="1964944"/>
            <a:ext cx="21462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95610" y="1964944"/>
            <a:ext cx="2717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-1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30610" y="19649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89110" y="23332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97110" y="2333244"/>
            <a:ext cx="2209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95610" y="2333244"/>
            <a:ext cx="2717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-1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30610" y="23332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309100" y="2654300"/>
            <a:ext cx="2527300" cy="342900"/>
          </a:xfrm>
          <a:prstGeom prst="roundRect">
            <a:avLst>
              <a:gd name="adj" fmla="val 14814"/>
            </a:avLst>
          </a:prstGeom>
          <a:solidFill>
            <a:srgbClr val="D8BB7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389110" y="27015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97110" y="27015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95610" y="2701544"/>
            <a:ext cx="309880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+4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230610" y="2701544"/>
            <a:ext cx="208279" cy="240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3E9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67475" y="5245100"/>
            <a:ext cx="421005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77CD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513195" y="5305298"/>
            <a:ext cx="41186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7CDBB"/>
                </a:solidFill>
                <a:latin typeface="Noto Sans SC"/>
                <a:ea typeface="Noto Sans SC"/>
              </a:rPr>
              <a:t>Keep 3 steps: cut 6 → 4 = the exhaustive optimum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6696709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Buckets, complexity and multi-pin nets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3770" y="6499098"/>
            <a:ext cx="5562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p9/12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paper: bucket lists + a max-gain pointer → O(P) per pass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This course: gains update incrementally, but selection still scans: not O(P)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30292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9204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Multi-pin nets: decide FS/TE by counting pins per side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77405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66534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net{A,B,C,D}, D on the right: A gains 0, D +3; a clique would give −1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451891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41020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The attachment's "hypergraph" case has only 2-pin edges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6616700" y="2552700"/>
            <a:ext cx="2413000" cy="603250"/>
          </a:xfrm>
          <a:prstGeom prst="line">
            <a:avLst/>
          </a:prstGeom>
          <a:ln w="24130">
            <a:solidFill>
              <a:srgbClr val="C2A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616700" y="3155950"/>
            <a:ext cx="2413000" cy="603250"/>
          </a:xfrm>
          <a:prstGeom prst="line">
            <a:avLst/>
          </a:prstGeom>
          <a:ln w="24130">
            <a:solidFill>
              <a:srgbClr val="C2A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823200" y="3155950"/>
            <a:ext cx="1206500" cy="0"/>
          </a:xfrm>
          <a:prstGeom prst="line">
            <a:avLst/>
          </a:prstGeom>
          <a:ln w="24130">
            <a:solidFill>
              <a:srgbClr val="C2A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29700" y="3155950"/>
            <a:ext cx="1447800" cy="0"/>
          </a:xfrm>
          <a:prstGeom prst="line">
            <a:avLst/>
          </a:prstGeom>
          <a:ln w="24130">
            <a:solidFill>
              <a:srgbClr val="C2A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945245" y="3071495"/>
            <a:ext cx="168910" cy="168910"/>
          </a:xfrm>
          <a:prstGeom prst="ellipse">
            <a:avLst/>
          </a:prstGeom>
          <a:solidFill>
            <a:srgbClr val="C2A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22087" y="2694343"/>
            <a:ext cx="1173924" cy="211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35" b="1">
                <a:solidFill>
                  <a:srgbClr val="C2A6E6"/>
                </a:solidFill>
                <a:latin typeface="Noto Sans SC"/>
                <a:ea typeface="Noto Sans SC"/>
              </a:rPr>
              <a:t>net (weight 3)</a:t>
            </a:r>
          </a:p>
        </p:txBody>
      </p:sp>
      <p:sp>
        <p:nvSpPr>
          <p:cNvPr id="25" name="Oval 24"/>
          <p:cNvSpPr/>
          <p:nvPr/>
        </p:nvSpPr>
        <p:spPr>
          <a:xfrm>
            <a:off x="6375400" y="2311400"/>
            <a:ext cx="482600" cy="48260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88811" y="2417330"/>
            <a:ext cx="255778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6375400" y="3517900"/>
            <a:ext cx="482600" cy="48260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85794" y="3623830"/>
            <a:ext cx="261810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7581900" y="2914650"/>
            <a:ext cx="482600" cy="482600"/>
          </a:xfrm>
          <a:prstGeom prst="ellipse">
            <a:avLst/>
          </a:prstGeom>
          <a:solidFill>
            <a:srgbClr val="77CDBB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95310" y="3020580"/>
            <a:ext cx="255778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10236200" y="2914650"/>
            <a:ext cx="482600" cy="482600"/>
          </a:xfrm>
          <a:prstGeom prst="ellipse">
            <a:avLst/>
          </a:prstGeom>
          <a:solidFill>
            <a:srgbClr val="8FB1E6"/>
          </a:solidFill>
          <a:ln w="18097">
            <a:solidFill>
              <a:srgbClr val="06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43578" y="3020580"/>
            <a:ext cx="267842" cy="276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14" b="1">
                <a:solidFill>
                  <a:srgbClr val="0B1B1F"/>
                </a:solidFill>
                <a:latin typeface="Noto Sans SC"/>
                <a:ea typeface="Noto Sans SC"/>
              </a:rPr>
              <a:t>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32950" y="1949450"/>
            <a:ext cx="0" cy="2654300"/>
          </a:xfrm>
          <a:prstGeom prst="line">
            <a:avLst/>
          </a:prstGeom>
          <a:ln w="18097">
            <a:solidFill>
              <a:srgbClr val="D8BB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75450" y="5245100"/>
            <a:ext cx="3467100" cy="292100"/>
          </a:xfrm>
          <a:prstGeom prst="roundRect">
            <a:avLst>
              <a:gd name="adj" fmla="val 50000"/>
            </a:avLst>
          </a:prstGeom>
          <a:solidFill>
            <a:srgbClr val="0A2126"/>
          </a:solidFill>
          <a:ln w="12700">
            <a:solidFill>
              <a:srgbClr val="D8B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21170" y="5305298"/>
            <a:ext cx="337566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8BB78"/>
                </a:solidFill>
                <a:latin typeface="Noto Sans SC"/>
                <a:ea typeface="Noto Sans SC"/>
              </a:rPr>
              <a:t>Counting pins: A 0, D +3; as a clique: A −1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49568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The pseudocode, line by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p10/12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 2: compute gains by counting per net (gain)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2284349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175637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Lines 3–4: take the largest among legal candidates only (legal_moves)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30292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920492"/>
            <a:ext cx="4718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Lines 5–6: trial, lock, incremental update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346100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3352292"/>
            <a:ext cx="4718050" cy="6261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Lines 7–8: best prefix and roll-back; line 9: stop on the empty prefix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53100" y="1511300"/>
            <a:ext cx="5715000" cy="3822700"/>
          </a:xfrm>
          <a:prstGeom prst="roundRect">
            <a:avLst>
              <a:gd name="adj" fmla="val 1993"/>
            </a:avLst>
          </a:prstGeom>
          <a:solidFill>
            <a:srgbClr val="0A1C1F"/>
          </a:solidFill>
          <a:ln w="12700">
            <a:solidFill>
              <a:srgbClr val="244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98832" y="17054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9027" y="1666620"/>
            <a:ext cx="31191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repeat: unlock all, remember the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8832" y="20991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9027" y="2060320"/>
            <a:ext cx="32651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count pins per net, compute every gain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53100" y="2419350"/>
            <a:ext cx="5715000" cy="3810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753100" y="2419350"/>
            <a:ext cx="38100" cy="3810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898832" y="24928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9027" y="2454021"/>
            <a:ext cx="2934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while a legal unlocked node exists: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53100" y="2813050"/>
            <a:ext cx="5715000" cy="381000"/>
          </a:xfrm>
          <a:prstGeom prst="rect">
            <a:avLst/>
          </a:prstGeom>
          <a:solidFill>
            <a:srgbClr val="2A3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753100" y="2813050"/>
            <a:ext cx="38100" cy="3810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898832" y="28865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9027" y="2847721"/>
            <a:ext cx="3822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   v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8427" y="28477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9877" y="2847721"/>
            <a:ext cx="33096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8BB78"/>
                </a:solidFill>
                <a:latin typeface="Noto Sans SC"/>
                <a:ea typeface="Noto Sans SC"/>
              </a:rPr>
              <a:t> the legal candidate with the largest gain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8832" y="32802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9027" y="3241421"/>
            <a:ext cx="19824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move v (a trial), lock 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8832" y="36739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9027" y="3635121"/>
            <a:ext cx="32397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  update only the affected nodes' gains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8832" y="40676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9027" y="4028821"/>
            <a:ext cx="39497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k*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1127" y="4028821"/>
            <a:ext cx="2743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2577" y="4028821"/>
            <a:ext cx="22047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the best prefix (0 allowed)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8832" y="44613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9027" y="4422521"/>
            <a:ext cx="3258820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  back to the start, apply only the first k*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8832" y="4855083"/>
            <a:ext cx="156210" cy="1800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6F8F8F"/>
                </a:solidFill>
                <a:latin typeface="Noto Sans SC"/>
                <a:ea typeface="Noto Sans SC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9027" y="4816221"/>
            <a:ext cx="947419" cy="2314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DFEADF"/>
                </a:solidFill>
                <a:latin typeface="Noto Sans SC"/>
                <a:ea typeface="Noto Sans SC"/>
              </a:rPr>
              <a:t>until k* =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331851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Common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p11/12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15394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4307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Picking the largest gain outright (ignoring balance)</a:t>
            </a:r>
          </a:p>
        </p:txBody>
      </p:sp>
      <p:sp>
        <p:nvSpPr>
          <p:cNvPr id="11" name="Oval 10"/>
          <p:cNvSpPr/>
          <p:nvPr/>
        </p:nvSpPr>
        <p:spPr>
          <a:xfrm>
            <a:off x="711200" y="19712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8625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Copying the attachment's hillclimb claim</a:t>
            </a:r>
          </a:p>
        </p:txBody>
      </p:sp>
      <p:sp>
        <p:nvSpPr>
          <p:cNvPr id="13" name="Oval 12"/>
          <p:cNvSpPr/>
          <p:nvPr/>
        </p:nvSpPr>
        <p:spPr>
          <a:xfrm>
            <a:off x="711200" y="24030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2943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Taking "buckets drawn" for "linear time implemented"</a:t>
            </a:r>
          </a:p>
        </p:txBody>
      </p:sp>
      <p:sp>
        <p:nvSpPr>
          <p:cNvPr id="15" name="Oval 14"/>
          <p:cNvSpPr/>
          <p:nvPr/>
        </p:nvSpPr>
        <p:spPr>
          <a:xfrm>
            <a:off x="711200" y="28348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27261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Calling a 2-pin example a hypergraph</a:t>
            </a:r>
          </a:p>
        </p:txBody>
      </p:sp>
      <p:sp>
        <p:nvSpPr>
          <p:cNvPr id="17" name="Oval 16"/>
          <p:cNvSpPr/>
          <p:nvPr/>
        </p:nvSpPr>
        <p:spPr>
          <a:xfrm>
            <a:off x="711200" y="3266694"/>
            <a:ext cx="76200" cy="76200"/>
          </a:xfrm>
          <a:prstGeom prst="ellipse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157982"/>
            <a:ext cx="10433050" cy="313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700" b="0">
                <a:solidFill>
                  <a:srgbClr val="F2F3E9"/>
                </a:solidFill>
                <a:latin typeface="Noto Sans SC"/>
                <a:ea typeface="Noto Sans SC"/>
              </a:rPr>
              <a:t>Thinking count balance is area balance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77CDB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53720" y="450088"/>
            <a:ext cx="1826260" cy="480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2F3E9"/>
                </a:solidFill>
                <a:latin typeface="Noto Sans SC"/>
                <a:ea typeface="Noto Sans SC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5200"/>
            <a:ext cx="571500" cy="25400"/>
          </a:xfrm>
          <a:prstGeom prst="rect">
            <a:avLst/>
          </a:prstGeom>
          <a:solidFill>
            <a:srgbClr val="D8B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571500" y="6426200"/>
            <a:ext cx="11049000" cy="0"/>
          </a:xfrm>
          <a:prstGeom prst="line">
            <a:avLst/>
          </a:prstGeom>
          <a:ln w="12700">
            <a:solidFill>
              <a:srgbClr val="1D3D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3880" y="6512052"/>
            <a:ext cx="3387090" cy="2057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F8F"/>
                </a:solidFill>
                <a:latin typeface="Noto Sans SC"/>
                <a:ea typeface="Noto Sans SC"/>
              </a:rPr>
              <a:t>Module 08 · Fiduccia–Mattheyses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99098"/>
            <a:ext cx="651510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BCD2D0"/>
                </a:solidFill>
                <a:latin typeface="Noto Sans SC"/>
                <a:ea typeface="Noto Sans SC"/>
              </a:rPr>
              <a:t>p12/12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897380"/>
            <a:ext cx="10350500" cy="1104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3000" b="0">
                <a:solidFill>
                  <a:srgbClr val="D8BB78"/>
                </a:solidFill>
                <a:latin typeface="Noto Sans SC"/>
                <a:ea typeface="Noto Sans SC"/>
              </a:rPr>
              <a:t>Filter for legality, then take the largest; try negative gains too; accept only the best prefix.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335274"/>
            <a:ext cx="10280650" cy="699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Verify examples by independent computation; buckets on screen are not a linear-time 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25544"/>
            <a:ext cx="10280650" cy="3498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1800"/>
              </a:lnSpc>
            </a:pPr>
            <a:r>
              <a:rPr sz="1900" b="0">
                <a:solidFill>
                  <a:srgbClr val="F2F3E9"/>
                </a:solidFill>
                <a:latin typeface="Noto Sans SC"/>
                <a:ea typeface="Noto Sans SC"/>
              </a:rPr>
              <a:t>Next module: the goal changes from the cut to delay, and nodes may be copied.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08 Fiduccia–Mattheyses Refinement</dc:title>
  <dc:subject/>
  <dc:creator>Learning Clustering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