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这一模块讲 FM 改进：一次只移动一个节点，用平衡窗口限制两侧人数。收益、锁定、试探和最佳前缀都与 KL 相同，关键差别是：最大收益只在合法的候选中比较。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FM 的输入是图、初始二分和平衡参数。每次移动一个节点，移动后两侧都要非空，人数差不超过 maxDiff。收益、锁定、试探和最佳前缀的含义与上一模块相同。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在种子上，A 和 E 的收益都是正 6，但它们在只有两个人的左侧，移走就变成 1 比 4，违反平衡。合法候选里收益最大的是 D，正 3。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收益可以拆成两部分。FS：节点是某个 net 在本侧唯一的引脚，移走后这个 net 不再被切，加 w。TE：某个 net 在目标侧没有引脚，移走后它开始被切，减 w。D 的收益是 5 减 2 等于 3。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第一轮：D 正 3，cut 9；这时左侧有三人，A 变成合法，正 6，cut 3。之后全是负收益，C、E、B 依次试探，cut 最后回到 12。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累计收益是 3、9、7、1、0，最大的是前两步。回到起点只做 D 和 A，接受 ABC 对 DE，cut 3。第二轮最佳前缀为空，算法停止。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原附件有一个负收益爬坡的案例，我们用它自己的数据核验：初始 cut 是 18 而不是 9；E 的移动合法，收益正 10；首轮最佳和穷举最优都是 8，不是 4。所以它不能当作反例，本课程只把它留作回归测试。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本课程的替换反例：初始时所有合法移动的收益都不大于 0，只走正收益就停在 cut 6。FM 先把 A 和 B 各移一步，cut 升到 8，这时 E 的收益变成正 4，移动后 cut 4。保留前三步，正是穷举得到的平衡最优。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论文用桶链表和最大收益指针实现线性时间。本课程的收益是增量更新的，但选择时仍在扫描，所以不能称为线性时间。真正的多引脚 net 要按引脚计数：例子里 A 的收益是 0，而拆成团按边算会得到负 1。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伪代码第二行按 net 计数算收益；第三、四行只在合法候选中取最大；第五、六行试探、锁定并增量更新；第七、八行回退到最佳前缀；空前缀时停止。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常见错误：不看平衡就选收益最大的节点；照搬未经核验的反例；把桶的展示当成线性时间实现；把二端边的例子叫作超图；以及把人数平衡当成面积平衡。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小结：先筛合法，再选最大；负收益也要试探，接受只看最佳前缀。反例必须用独立计算核验，展示出来的桶不等于线性时间的实现。下一模块把目标从 cut 换成延迟，并允许复制节点。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1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38100"/>
          </a:xfrm>
          <a:prstGeom prst="rect">
            <a:avLst/>
          </a:prstGeom>
          <a:solidFill>
            <a:srgbClr val="77CDBB">
              <a:alpha val="6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4" name="Connector 3"/>
          <p:cNvCxnSpPr/>
          <p:nvPr/>
        </p:nvCxnSpPr>
        <p:spPr>
          <a:xfrm>
            <a:off x="571500" y="6426200"/>
            <a:ext cx="11049000" cy="0"/>
          </a:xfrm>
          <a:prstGeom prst="line">
            <a:avLst/>
          </a:prstGeom>
          <a:ln w="12700">
            <a:solidFill>
              <a:srgbClr val="1D3D4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63880" y="6512052"/>
            <a:ext cx="2870911" cy="2057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0">
                <a:solidFill>
                  <a:srgbClr val="6F8F8F"/>
                </a:solidFill>
                <a:latin typeface="Noto Sans SC"/>
                <a:ea typeface="Noto Sans SC"/>
              </a:rPr>
              <a:t>Module 08 · Fiduccia–Mattheyses 改进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08524" y="6499098"/>
            <a:ext cx="561505" cy="2228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300" b="1">
                <a:solidFill>
                  <a:srgbClr val="BCD2D0"/>
                </a:solidFill>
                <a:latin typeface="Noto Sans SC"/>
                <a:ea typeface="Noto Sans SC"/>
              </a:rPr>
              <a:t>p1/12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55147" y="377952"/>
            <a:ext cx="811072" cy="2057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200" b="0">
                <a:solidFill>
                  <a:srgbClr val="6F8F8F"/>
                </a:solidFill>
                <a:latin typeface="Noto Sans SC"/>
                <a:ea typeface="Noto Sans SC"/>
              </a:rPr>
              <a:t>影片 00:00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16679" y="2310892"/>
            <a:ext cx="4358640" cy="8915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5200" b="0">
                <a:solidFill>
                  <a:srgbClr val="D8BB78"/>
                </a:solidFill>
                <a:latin typeface="Noto Sans SC"/>
                <a:ea typeface="Noto Sans SC"/>
              </a:rPr>
              <a:t>合法的那一步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68357" y="3335782"/>
            <a:ext cx="5655284" cy="2914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700" b="0">
                <a:solidFill>
                  <a:srgbClr val="BCD2D0"/>
                </a:solidFill>
                <a:latin typeface="Noto Sans SC"/>
                <a:ea typeface="Noto Sans SC"/>
              </a:rPr>
              <a:t>Fiduccia–Mattheyses refinement · 单点移动与平衡窗口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1605" y="4136644"/>
            <a:ext cx="4888788" cy="2400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400" b="0">
                <a:solidFill>
                  <a:srgbClr val="6F8F8F"/>
                </a:solidFill>
                <a:latin typeface="Noto Sans SC"/>
                <a:ea typeface="Noto Sans SC"/>
              </a:rPr>
              <a:t>Learning Clustering · 原作者 stephQ-lab（Issue #7 附件）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1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38100"/>
          </a:xfrm>
          <a:prstGeom prst="rect">
            <a:avLst/>
          </a:prstGeom>
          <a:solidFill>
            <a:srgbClr val="77CDBB">
              <a:alpha val="6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53720" y="450088"/>
            <a:ext cx="3640277" cy="4800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2800" b="0">
                <a:solidFill>
                  <a:srgbClr val="F2F3E9"/>
                </a:solidFill>
                <a:latin typeface="Noto Sans SC"/>
                <a:ea typeface="Noto Sans SC"/>
              </a:rPr>
              <a:t>问题定义与 KL 的差别</a:t>
            </a:r>
          </a:p>
        </p:txBody>
      </p:sp>
      <p:sp>
        <p:nvSpPr>
          <p:cNvPr id="5" name="Rectangle 4"/>
          <p:cNvSpPr/>
          <p:nvPr/>
        </p:nvSpPr>
        <p:spPr>
          <a:xfrm>
            <a:off x="571500" y="965200"/>
            <a:ext cx="571500" cy="25400"/>
          </a:xfrm>
          <a:prstGeom prst="rect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6" name="Connector 5"/>
          <p:cNvCxnSpPr/>
          <p:nvPr/>
        </p:nvCxnSpPr>
        <p:spPr>
          <a:xfrm>
            <a:off x="571500" y="6426200"/>
            <a:ext cx="11049000" cy="0"/>
          </a:xfrm>
          <a:prstGeom prst="line">
            <a:avLst/>
          </a:prstGeom>
          <a:ln w="12700">
            <a:solidFill>
              <a:srgbClr val="1D3D4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63880" y="6512052"/>
            <a:ext cx="2870911" cy="2057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0">
                <a:solidFill>
                  <a:srgbClr val="6F8F8F"/>
                </a:solidFill>
                <a:latin typeface="Noto Sans SC"/>
                <a:ea typeface="Noto Sans SC"/>
              </a:rPr>
              <a:t>Module 08 · Fiduccia–Mattheyses 改进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08524" y="6499098"/>
            <a:ext cx="561505" cy="2228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300" b="1">
                <a:solidFill>
                  <a:srgbClr val="BCD2D0"/>
                </a:solidFill>
                <a:latin typeface="Noto Sans SC"/>
                <a:ea typeface="Noto Sans SC"/>
              </a:rPr>
              <a:t>p2/12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55147" y="377952"/>
            <a:ext cx="811072" cy="2057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200" b="0">
                <a:solidFill>
                  <a:srgbClr val="6F8F8F"/>
                </a:solidFill>
                <a:latin typeface="Noto Sans SC"/>
                <a:ea typeface="Noto Sans SC"/>
              </a:rPr>
              <a:t>影片 00:03</a:t>
            </a:r>
          </a:p>
        </p:txBody>
      </p:sp>
      <p:sp>
        <p:nvSpPr>
          <p:cNvPr id="10" name="Oval 9"/>
          <p:cNvSpPr/>
          <p:nvPr/>
        </p:nvSpPr>
        <p:spPr>
          <a:xfrm>
            <a:off x="711200" y="1539494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14400" y="1430782"/>
            <a:ext cx="4718050" cy="62611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输入：图（或多引脚网表）、初始二分、maxDiff</a:t>
            </a:r>
          </a:p>
        </p:txBody>
      </p:sp>
      <p:sp>
        <p:nvSpPr>
          <p:cNvPr id="12" name="Oval 11"/>
          <p:cNvSpPr/>
          <p:nvPr/>
        </p:nvSpPr>
        <p:spPr>
          <a:xfrm>
            <a:off x="711200" y="2284349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14400" y="2175637"/>
            <a:ext cx="4718050" cy="3130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操作：一次移动一个节点</a:t>
            </a:r>
          </a:p>
        </p:txBody>
      </p:sp>
      <p:sp>
        <p:nvSpPr>
          <p:cNvPr id="14" name="Oval 13"/>
          <p:cNvSpPr/>
          <p:nvPr/>
        </p:nvSpPr>
        <p:spPr>
          <a:xfrm>
            <a:off x="711200" y="2716149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14400" y="2607437"/>
            <a:ext cx="4718050" cy="3130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合法：移动后两侧非空且 |n</a:t>
            </a:r>
            <a:r>
              <a:rPr sz="1700" b="0" baseline="-25000">
                <a:solidFill>
                  <a:srgbClr val="F2F3E9"/>
                </a:solidFill>
                <a:latin typeface="Noto Sans SC"/>
                <a:ea typeface="Noto Sans SC"/>
              </a:rPr>
              <a:t>0</a:t>
            </a: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 − n</a:t>
            </a:r>
            <a:r>
              <a:rPr sz="1700" b="0" baseline="-25000">
                <a:solidFill>
                  <a:srgbClr val="F2F3E9"/>
                </a:solidFill>
                <a:latin typeface="Noto Sans SC"/>
                <a:ea typeface="Noto Sans SC"/>
              </a:rPr>
              <a:t>1</a:t>
            </a: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| ≤ maxDiff</a:t>
            </a:r>
          </a:p>
        </p:txBody>
      </p:sp>
      <p:sp>
        <p:nvSpPr>
          <p:cNvPr id="16" name="Oval 15"/>
          <p:cNvSpPr/>
          <p:nvPr/>
        </p:nvSpPr>
        <p:spPr>
          <a:xfrm>
            <a:off x="711200" y="3147948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14400" y="3039236"/>
            <a:ext cx="4718050" cy="62611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输出：试探移动、累计收益、最佳前缀、接受的二分</a:t>
            </a:r>
          </a:p>
        </p:txBody>
      </p:sp>
      <p:sp>
        <p:nvSpPr>
          <p:cNvPr id="18" name="Oval 17"/>
          <p:cNvSpPr/>
          <p:nvPr/>
        </p:nvSpPr>
        <p:spPr>
          <a:xfrm>
            <a:off x="711200" y="3892804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14400" y="3784091"/>
            <a:ext cx="4718050" cy="62611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复习：收益、锁定、试探、最佳前缀与 Module 07 相同</a:t>
            </a:r>
          </a:p>
        </p:txBody>
      </p:sp>
      <p:cxnSp>
        <p:nvCxnSpPr>
          <p:cNvPr id="20" name="Connector 19"/>
          <p:cNvCxnSpPr/>
          <p:nvPr/>
        </p:nvCxnSpPr>
        <p:spPr>
          <a:xfrm flipV="1">
            <a:off x="5973006" y="1770380"/>
            <a:ext cx="1212045" cy="82639"/>
          </a:xfrm>
          <a:prstGeom prst="line">
            <a:avLst/>
          </a:prstGeom>
          <a:ln w="14224">
            <a:solidFill>
              <a:srgbClr val="DB7B72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6491293" y="1605933"/>
            <a:ext cx="163860" cy="163860"/>
          </a:xfrm>
          <a:prstGeom prst="ellipse">
            <a:avLst/>
          </a:prstGeom>
          <a:solidFill>
            <a:srgbClr val="071C22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505517" y="1610485"/>
            <a:ext cx="135412" cy="15361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96" b="1">
                <a:solidFill>
                  <a:srgbClr val="D9E4E1"/>
                </a:solidFill>
                <a:latin typeface="Noto Sans SC"/>
                <a:ea typeface="Noto Sans SC"/>
              </a:rPr>
              <a:t>5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5973006" y="1853019"/>
            <a:ext cx="743755" cy="936580"/>
          </a:xfrm>
          <a:prstGeom prst="line">
            <a:avLst/>
          </a:prstGeom>
          <a:ln w="14224">
            <a:solidFill>
              <a:srgbClr val="DB7B72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Oval 23"/>
          <p:cNvSpPr/>
          <p:nvPr/>
        </p:nvSpPr>
        <p:spPr>
          <a:xfrm>
            <a:off x="6329787" y="2147616"/>
            <a:ext cx="163860" cy="163860"/>
          </a:xfrm>
          <a:prstGeom prst="ellipse">
            <a:avLst/>
          </a:prstGeom>
          <a:solidFill>
            <a:srgbClr val="071C22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6344011" y="2152167"/>
            <a:ext cx="135412" cy="15361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96" b="1">
                <a:solidFill>
                  <a:srgbClr val="D9E4E1"/>
                </a:solidFill>
                <a:latin typeface="Noto Sans SC"/>
                <a:ea typeface="Noto Sans SC"/>
              </a:rPr>
              <a:t>1</a:t>
            </a:r>
          </a:p>
        </p:txBody>
      </p:sp>
      <p:cxnSp>
        <p:nvCxnSpPr>
          <p:cNvPr id="26" name="Connector 25"/>
          <p:cNvCxnSpPr/>
          <p:nvPr/>
        </p:nvCxnSpPr>
        <p:spPr>
          <a:xfrm flipH="1">
            <a:off x="6716761" y="1770380"/>
            <a:ext cx="468290" cy="1019219"/>
          </a:xfrm>
          <a:prstGeom prst="line">
            <a:avLst/>
          </a:prstGeom>
          <a:ln w="17780">
            <a:solidFill>
              <a:srgbClr val="9FC9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Oval 26"/>
          <p:cNvSpPr/>
          <p:nvPr/>
        </p:nvSpPr>
        <p:spPr>
          <a:xfrm>
            <a:off x="6946526" y="2195001"/>
            <a:ext cx="163860" cy="163860"/>
          </a:xfrm>
          <a:prstGeom prst="ellipse">
            <a:avLst/>
          </a:prstGeom>
          <a:solidFill>
            <a:srgbClr val="071C22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6960750" y="2199553"/>
            <a:ext cx="135412" cy="15361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96" b="1">
                <a:solidFill>
                  <a:srgbClr val="D9E4E1"/>
                </a:solidFill>
                <a:latin typeface="Noto Sans SC"/>
                <a:ea typeface="Noto Sans SC"/>
              </a:rPr>
              <a:t>4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6716761" y="2789599"/>
            <a:ext cx="1239592" cy="578476"/>
          </a:xfrm>
          <a:prstGeom prst="line">
            <a:avLst/>
          </a:prstGeom>
          <a:ln w="17780">
            <a:solidFill>
              <a:srgbClr val="9FC9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Oval 29"/>
          <p:cNvSpPr/>
          <p:nvPr/>
        </p:nvSpPr>
        <p:spPr>
          <a:xfrm>
            <a:off x="7290717" y="2880880"/>
            <a:ext cx="163860" cy="163860"/>
          </a:xfrm>
          <a:prstGeom prst="ellipse">
            <a:avLst/>
          </a:prstGeom>
          <a:solidFill>
            <a:srgbClr val="071C22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7304941" y="2885432"/>
            <a:ext cx="135412" cy="15361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96" b="1">
                <a:solidFill>
                  <a:srgbClr val="D9E4E1"/>
                </a:solidFill>
                <a:latin typeface="Noto Sans SC"/>
                <a:ea typeface="Noto Sans SC"/>
              </a:rPr>
              <a:t>2</a:t>
            </a:r>
          </a:p>
        </p:txBody>
      </p:sp>
      <p:cxnSp>
        <p:nvCxnSpPr>
          <p:cNvPr id="32" name="Connector 31"/>
          <p:cNvCxnSpPr/>
          <p:nvPr/>
        </p:nvCxnSpPr>
        <p:spPr>
          <a:xfrm flipH="1">
            <a:off x="6579029" y="2789599"/>
            <a:ext cx="137732" cy="936581"/>
          </a:xfrm>
          <a:prstGeom prst="line">
            <a:avLst/>
          </a:prstGeom>
          <a:ln w="14224">
            <a:solidFill>
              <a:srgbClr val="DB7B72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Oval 32"/>
          <p:cNvSpPr/>
          <p:nvPr/>
        </p:nvSpPr>
        <p:spPr>
          <a:xfrm>
            <a:off x="6650401" y="3149687"/>
            <a:ext cx="163860" cy="163860"/>
          </a:xfrm>
          <a:prstGeom prst="ellipse">
            <a:avLst/>
          </a:prstGeom>
          <a:solidFill>
            <a:srgbClr val="071C22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6664625" y="3154239"/>
            <a:ext cx="135412" cy="15361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96" b="1">
                <a:solidFill>
                  <a:srgbClr val="D9E4E1"/>
                </a:solidFill>
                <a:latin typeface="Noto Sans SC"/>
                <a:ea typeface="Noto Sans SC"/>
              </a:rPr>
              <a:t>1</a:t>
            </a:r>
          </a:p>
        </p:txBody>
      </p:sp>
      <p:cxnSp>
        <p:nvCxnSpPr>
          <p:cNvPr id="35" name="Connector 34"/>
          <p:cNvCxnSpPr/>
          <p:nvPr/>
        </p:nvCxnSpPr>
        <p:spPr>
          <a:xfrm flipH="1">
            <a:off x="6579029" y="3368075"/>
            <a:ext cx="1377324" cy="358105"/>
          </a:xfrm>
          <a:prstGeom prst="line">
            <a:avLst/>
          </a:prstGeom>
          <a:ln w="14224">
            <a:solidFill>
              <a:srgbClr val="DB7B72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Oval 35"/>
          <p:cNvSpPr/>
          <p:nvPr/>
        </p:nvSpPr>
        <p:spPr>
          <a:xfrm>
            <a:off x="7207236" y="3509106"/>
            <a:ext cx="163860" cy="163860"/>
          </a:xfrm>
          <a:prstGeom prst="ellipse">
            <a:avLst/>
          </a:prstGeom>
          <a:solidFill>
            <a:srgbClr val="071C22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7221460" y="3513657"/>
            <a:ext cx="135412" cy="15361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96" b="1">
                <a:solidFill>
                  <a:srgbClr val="D9E4E1"/>
                </a:solidFill>
                <a:latin typeface="Noto Sans SC"/>
                <a:ea typeface="Noto Sans SC"/>
              </a:rPr>
              <a:t>5</a:t>
            </a:r>
          </a:p>
        </p:txBody>
      </p:sp>
      <p:sp>
        <p:nvSpPr>
          <p:cNvPr id="38" name="Oval 37"/>
          <p:cNvSpPr/>
          <p:nvPr/>
        </p:nvSpPr>
        <p:spPr>
          <a:xfrm>
            <a:off x="5795206" y="1675219"/>
            <a:ext cx="355600" cy="355600"/>
          </a:xfrm>
          <a:prstGeom prst="ellipse">
            <a:avLst/>
          </a:prstGeom>
          <a:noFill/>
          <a:ln w="17780">
            <a:solidFill>
              <a:srgbClr val="DB7B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Oval 38"/>
          <p:cNvSpPr/>
          <p:nvPr/>
        </p:nvSpPr>
        <p:spPr>
          <a:xfrm>
            <a:off x="5830766" y="1710779"/>
            <a:ext cx="284480" cy="284480"/>
          </a:xfrm>
          <a:prstGeom prst="ellipse">
            <a:avLst/>
          </a:prstGeom>
          <a:solidFill>
            <a:srgbClr val="77CDBB"/>
          </a:solidFill>
          <a:ln w="10668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5897502" y="1773222"/>
            <a:ext cx="151009" cy="1632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52" b="1">
                <a:solidFill>
                  <a:srgbClr val="0B1B1F"/>
                </a:solidFill>
                <a:latin typeface="Noto Sans SC"/>
                <a:ea typeface="Noto Sans SC"/>
              </a:rPr>
              <a:t>A</a:t>
            </a:r>
          </a:p>
        </p:txBody>
      </p:sp>
      <p:sp>
        <p:nvSpPr>
          <p:cNvPr id="41" name="Oval 40"/>
          <p:cNvSpPr/>
          <p:nvPr/>
        </p:nvSpPr>
        <p:spPr>
          <a:xfrm>
            <a:off x="7042811" y="1628140"/>
            <a:ext cx="284480" cy="284480"/>
          </a:xfrm>
          <a:prstGeom prst="ellipse">
            <a:avLst/>
          </a:prstGeom>
          <a:solidFill>
            <a:srgbClr val="8FB1E6"/>
          </a:solidFill>
          <a:ln w="10668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7107612" y="1690583"/>
            <a:ext cx="154878" cy="1632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52" b="1">
                <a:solidFill>
                  <a:srgbClr val="0B1B1F"/>
                </a:solidFill>
                <a:latin typeface="Noto Sans SC"/>
                <a:ea typeface="Noto Sans SC"/>
              </a:rPr>
              <a:t>B</a:t>
            </a:r>
          </a:p>
        </p:txBody>
      </p:sp>
      <p:sp>
        <p:nvSpPr>
          <p:cNvPr id="43" name="Oval 42"/>
          <p:cNvSpPr/>
          <p:nvPr/>
        </p:nvSpPr>
        <p:spPr>
          <a:xfrm>
            <a:off x="6574521" y="2647359"/>
            <a:ext cx="284480" cy="284480"/>
          </a:xfrm>
          <a:prstGeom prst="ellipse">
            <a:avLst/>
          </a:prstGeom>
          <a:solidFill>
            <a:srgbClr val="8FB1E6"/>
          </a:solidFill>
          <a:ln w="10668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6640833" y="2709803"/>
            <a:ext cx="151855" cy="1632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52" b="1">
                <a:solidFill>
                  <a:srgbClr val="0B1B1F"/>
                </a:solidFill>
                <a:latin typeface="Noto Sans SC"/>
                <a:ea typeface="Noto Sans SC"/>
              </a:rPr>
              <a:t>C</a:t>
            </a:r>
          </a:p>
        </p:txBody>
      </p:sp>
      <p:sp>
        <p:nvSpPr>
          <p:cNvPr id="45" name="Oval 44"/>
          <p:cNvSpPr/>
          <p:nvPr/>
        </p:nvSpPr>
        <p:spPr>
          <a:xfrm>
            <a:off x="7778553" y="3190275"/>
            <a:ext cx="355600" cy="355600"/>
          </a:xfrm>
          <a:prstGeom prst="ellipse">
            <a:avLst/>
          </a:prstGeom>
          <a:noFill/>
          <a:ln w="17780">
            <a:solidFill>
              <a:srgbClr val="D8BB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Oval 45"/>
          <p:cNvSpPr/>
          <p:nvPr/>
        </p:nvSpPr>
        <p:spPr>
          <a:xfrm>
            <a:off x="7814113" y="3225835"/>
            <a:ext cx="284480" cy="284480"/>
          </a:xfrm>
          <a:prstGeom prst="ellipse">
            <a:avLst/>
          </a:prstGeom>
          <a:solidFill>
            <a:srgbClr val="8FB1E6"/>
          </a:solidFill>
          <a:ln w="10668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7876919" y="3288279"/>
            <a:ext cx="158867" cy="1632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52" b="1">
                <a:solidFill>
                  <a:srgbClr val="0B1B1F"/>
                </a:solidFill>
                <a:latin typeface="Noto Sans SC"/>
                <a:ea typeface="Noto Sans SC"/>
              </a:rPr>
              <a:t>D</a:t>
            </a:r>
          </a:p>
        </p:txBody>
      </p:sp>
      <p:sp>
        <p:nvSpPr>
          <p:cNvPr id="48" name="Oval 47"/>
          <p:cNvSpPr/>
          <p:nvPr/>
        </p:nvSpPr>
        <p:spPr>
          <a:xfrm>
            <a:off x="6401229" y="3548380"/>
            <a:ext cx="355600" cy="355600"/>
          </a:xfrm>
          <a:prstGeom prst="ellipse">
            <a:avLst/>
          </a:prstGeom>
          <a:noFill/>
          <a:ln w="17780">
            <a:solidFill>
              <a:srgbClr val="DB7B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Oval 48"/>
          <p:cNvSpPr/>
          <p:nvPr/>
        </p:nvSpPr>
        <p:spPr>
          <a:xfrm>
            <a:off x="6436789" y="3583940"/>
            <a:ext cx="284480" cy="284480"/>
          </a:xfrm>
          <a:prstGeom prst="ellipse">
            <a:avLst/>
          </a:prstGeom>
          <a:solidFill>
            <a:srgbClr val="77CDBB"/>
          </a:solidFill>
          <a:ln w="10668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6505580" y="3646383"/>
            <a:ext cx="146898" cy="1632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52" b="1">
                <a:solidFill>
                  <a:srgbClr val="0B1B1F"/>
                </a:solidFill>
                <a:latin typeface="Noto Sans SC"/>
                <a:ea typeface="Noto Sans SC"/>
              </a:rPr>
              <a:t>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373109" y="1723644"/>
            <a:ext cx="462280" cy="2400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400" b="1">
                <a:solidFill>
                  <a:srgbClr val="BCD2D0"/>
                </a:solidFill>
                <a:latin typeface="Noto Sans SC"/>
                <a:ea typeface="Noto Sans SC"/>
              </a:rPr>
              <a:t>节点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135110" y="1723644"/>
            <a:ext cx="284480" cy="2400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400" b="1">
                <a:solidFill>
                  <a:srgbClr val="BCD2D0"/>
                </a:solidFill>
                <a:latin typeface="Noto Sans SC"/>
                <a:ea typeface="Noto Sans SC"/>
              </a:rPr>
              <a:t>侧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706610" y="1723644"/>
            <a:ext cx="462280" cy="2400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400" b="1">
                <a:solidFill>
                  <a:srgbClr val="BCD2D0"/>
                </a:solidFill>
                <a:latin typeface="Noto Sans SC"/>
                <a:ea typeface="Noto Sans SC"/>
              </a:rPr>
              <a:t>收益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532110" y="1723644"/>
            <a:ext cx="462280" cy="2400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400" b="1">
                <a:solidFill>
                  <a:srgbClr val="BCD2D0"/>
                </a:solidFill>
                <a:latin typeface="Noto Sans SC"/>
                <a:ea typeface="Noto Sans SC"/>
              </a:rPr>
              <a:t>合法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8343900" y="2006600"/>
            <a:ext cx="3149600" cy="0"/>
          </a:xfrm>
          <a:prstGeom prst="line">
            <a:avLst/>
          </a:prstGeom>
          <a:ln w="12700">
            <a:solidFill>
              <a:srgbClr val="2D4A4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Rounded Rectangle 55"/>
          <p:cNvSpPr/>
          <p:nvPr/>
        </p:nvSpPr>
        <p:spPr>
          <a:xfrm>
            <a:off x="8293100" y="2044700"/>
            <a:ext cx="3289300" cy="368300"/>
          </a:xfrm>
          <a:prstGeom prst="roundRect">
            <a:avLst>
              <a:gd name="adj" fmla="val 13793"/>
            </a:avLst>
          </a:prstGeom>
          <a:solidFill>
            <a:srgbClr val="DB7B72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" name="TextBox 56"/>
          <p:cNvSpPr txBox="1"/>
          <p:nvPr/>
        </p:nvSpPr>
        <p:spPr>
          <a:xfrm>
            <a:off x="8371840" y="2091436"/>
            <a:ext cx="245465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b="0">
                <a:solidFill>
                  <a:srgbClr val="F2F3E9"/>
                </a:solidFill>
                <a:latin typeface="Noto Sans SC"/>
                <a:ea typeface="Noto Sans SC"/>
              </a:rPr>
              <a:t>A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133840" y="2091436"/>
            <a:ext cx="234696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b="0">
                <a:solidFill>
                  <a:srgbClr val="F2F3E9"/>
                </a:solidFill>
                <a:latin typeface="Noto Sans SC"/>
                <a:ea typeface="Noto Sans SC"/>
              </a:rPr>
              <a:t>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705340" y="2091436"/>
            <a:ext cx="347472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b="0">
                <a:solidFill>
                  <a:srgbClr val="F2F3E9"/>
                </a:solidFill>
                <a:latin typeface="Noto Sans SC"/>
                <a:ea typeface="Noto Sans SC"/>
              </a:rPr>
              <a:t>+6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530840" y="2091436"/>
            <a:ext cx="32512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b="0">
                <a:solidFill>
                  <a:srgbClr val="F2F3E9"/>
                </a:solidFill>
                <a:latin typeface="Noto Sans SC"/>
                <a:ea typeface="Noto Sans SC"/>
              </a:rPr>
              <a:t>否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371840" y="2485136"/>
            <a:ext cx="255422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b="0">
                <a:solidFill>
                  <a:srgbClr val="F2F3E9"/>
                </a:solidFill>
                <a:latin typeface="Noto Sans SC"/>
                <a:ea typeface="Noto Sans SC"/>
              </a:rPr>
              <a:t>B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133840" y="2485136"/>
            <a:ext cx="234696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b="0">
                <a:solidFill>
                  <a:srgbClr val="F2F3E9"/>
                </a:solidFill>
                <a:latin typeface="Noto Sans SC"/>
                <a:ea typeface="Noto Sans SC"/>
              </a:rPr>
              <a:t>1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705340" y="2485136"/>
            <a:ext cx="347472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b="0">
                <a:solidFill>
                  <a:srgbClr val="F2F3E9"/>
                </a:solidFill>
                <a:latin typeface="Noto Sans SC"/>
                <a:ea typeface="Noto Sans SC"/>
              </a:rPr>
              <a:t>+1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530840" y="2485136"/>
            <a:ext cx="32512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b="0">
                <a:solidFill>
                  <a:srgbClr val="F2F3E9"/>
                </a:solidFill>
                <a:latin typeface="Noto Sans SC"/>
                <a:ea typeface="Noto Sans SC"/>
              </a:rPr>
              <a:t>是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371840" y="2878836"/>
            <a:ext cx="251561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b="0">
                <a:solidFill>
                  <a:srgbClr val="F2F3E9"/>
                </a:solidFill>
                <a:latin typeface="Noto Sans SC"/>
                <a:ea typeface="Noto Sans SC"/>
              </a:rPr>
              <a:t>C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133840" y="2878836"/>
            <a:ext cx="234696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b="0">
                <a:solidFill>
                  <a:srgbClr val="F2F3E9"/>
                </a:solidFill>
                <a:latin typeface="Noto Sans SC"/>
                <a:ea typeface="Noto Sans SC"/>
              </a:rPr>
              <a:t>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705340" y="2878836"/>
            <a:ext cx="305206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b="0">
                <a:solidFill>
                  <a:srgbClr val="F2F3E9"/>
                </a:solidFill>
                <a:latin typeface="Noto Sans SC"/>
                <a:ea typeface="Noto Sans SC"/>
              </a:rPr>
              <a:t>-4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530840" y="2878836"/>
            <a:ext cx="32512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b="0">
                <a:solidFill>
                  <a:srgbClr val="F2F3E9"/>
                </a:solidFill>
                <a:latin typeface="Noto Sans SC"/>
                <a:ea typeface="Noto Sans SC"/>
              </a:rPr>
              <a:t>是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8293100" y="3225800"/>
            <a:ext cx="3289300" cy="368300"/>
          </a:xfrm>
          <a:prstGeom prst="roundRect">
            <a:avLst>
              <a:gd name="adj" fmla="val 13793"/>
            </a:avLst>
          </a:prstGeom>
          <a:solidFill>
            <a:srgbClr val="D8BB78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0" name="TextBox 69"/>
          <p:cNvSpPr txBox="1"/>
          <p:nvPr/>
        </p:nvSpPr>
        <p:spPr>
          <a:xfrm>
            <a:off x="8371840" y="3272536"/>
            <a:ext cx="261721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b="0">
                <a:solidFill>
                  <a:srgbClr val="F2F3E9"/>
                </a:solidFill>
                <a:latin typeface="Noto Sans SC"/>
                <a:ea typeface="Noto Sans SC"/>
              </a:rPr>
              <a:t>D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133840" y="3272536"/>
            <a:ext cx="234696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b="0">
                <a:solidFill>
                  <a:srgbClr val="F2F3E9"/>
                </a:solidFill>
                <a:latin typeface="Noto Sans SC"/>
                <a:ea typeface="Noto Sans SC"/>
              </a:rPr>
              <a:t>1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705340" y="3272536"/>
            <a:ext cx="347472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b="0">
                <a:solidFill>
                  <a:srgbClr val="F2F3E9"/>
                </a:solidFill>
                <a:latin typeface="Noto Sans SC"/>
                <a:ea typeface="Noto Sans SC"/>
              </a:rPr>
              <a:t>+3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530840" y="3272536"/>
            <a:ext cx="32512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b="0">
                <a:solidFill>
                  <a:srgbClr val="F2F3E9"/>
                </a:solidFill>
                <a:latin typeface="Noto Sans SC"/>
                <a:ea typeface="Noto Sans SC"/>
              </a:rPr>
              <a:t>是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8293100" y="3619500"/>
            <a:ext cx="3289300" cy="368300"/>
          </a:xfrm>
          <a:prstGeom prst="roundRect">
            <a:avLst>
              <a:gd name="adj" fmla="val 13793"/>
            </a:avLst>
          </a:prstGeom>
          <a:solidFill>
            <a:srgbClr val="DB7B72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5" name="TextBox 74"/>
          <p:cNvSpPr txBox="1"/>
          <p:nvPr/>
        </p:nvSpPr>
        <p:spPr>
          <a:xfrm>
            <a:off x="8371840" y="3666236"/>
            <a:ext cx="241604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b="0">
                <a:solidFill>
                  <a:srgbClr val="F2F3E9"/>
                </a:solidFill>
                <a:latin typeface="Noto Sans SC"/>
                <a:ea typeface="Noto Sans SC"/>
              </a:rPr>
              <a:t>E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9133840" y="3666236"/>
            <a:ext cx="234696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b="0">
                <a:solidFill>
                  <a:srgbClr val="F2F3E9"/>
                </a:solidFill>
                <a:latin typeface="Noto Sans SC"/>
                <a:ea typeface="Noto Sans SC"/>
              </a:rPr>
              <a:t>0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9705340" y="3666236"/>
            <a:ext cx="347472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b="0">
                <a:solidFill>
                  <a:srgbClr val="F2F3E9"/>
                </a:solidFill>
                <a:latin typeface="Noto Sans SC"/>
                <a:ea typeface="Noto Sans SC"/>
              </a:rPr>
              <a:t>+6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530840" y="3666236"/>
            <a:ext cx="32512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b="0">
                <a:solidFill>
                  <a:srgbClr val="F2F3E9"/>
                </a:solidFill>
                <a:latin typeface="Noto Sans SC"/>
                <a:ea typeface="Noto Sans SC"/>
              </a:rPr>
              <a:t>否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1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38100"/>
          </a:xfrm>
          <a:prstGeom prst="rect">
            <a:avLst/>
          </a:prstGeom>
          <a:solidFill>
            <a:srgbClr val="77CDBB">
              <a:alpha val="6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53720" y="450088"/>
            <a:ext cx="3769360" cy="4800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2800" b="0">
                <a:solidFill>
                  <a:srgbClr val="F2F3E9"/>
                </a:solidFill>
                <a:latin typeface="Noto Sans SC"/>
                <a:ea typeface="Noto Sans SC"/>
              </a:rPr>
              <a:t>最大的那个不一定能动</a:t>
            </a:r>
          </a:p>
        </p:txBody>
      </p:sp>
      <p:sp>
        <p:nvSpPr>
          <p:cNvPr id="5" name="Rectangle 4"/>
          <p:cNvSpPr/>
          <p:nvPr/>
        </p:nvSpPr>
        <p:spPr>
          <a:xfrm>
            <a:off x="571500" y="965200"/>
            <a:ext cx="571500" cy="25400"/>
          </a:xfrm>
          <a:prstGeom prst="rect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6" name="Connector 5"/>
          <p:cNvCxnSpPr/>
          <p:nvPr/>
        </p:nvCxnSpPr>
        <p:spPr>
          <a:xfrm>
            <a:off x="571500" y="6426200"/>
            <a:ext cx="11049000" cy="0"/>
          </a:xfrm>
          <a:prstGeom prst="line">
            <a:avLst/>
          </a:prstGeom>
          <a:ln w="12700">
            <a:solidFill>
              <a:srgbClr val="1D3D4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63880" y="6512052"/>
            <a:ext cx="2870911" cy="2057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0">
                <a:solidFill>
                  <a:srgbClr val="6F8F8F"/>
                </a:solidFill>
                <a:latin typeface="Noto Sans SC"/>
                <a:ea typeface="Noto Sans SC"/>
              </a:rPr>
              <a:t>Module 08 · Fiduccia–Mattheyses 改进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08524" y="6499098"/>
            <a:ext cx="561505" cy="2228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300" b="1">
                <a:solidFill>
                  <a:srgbClr val="BCD2D0"/>
                </a:solidFill>
                <a:latin typeface="Noto Sans SC"/>
                <a:ea typeface="Noto Sans SC"/>
              </a:rPr>
              <a:t>p3/12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55147" y="377952"/>
            <a:ext cx="811072" cy="2057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200" b="0">
                <a:solidFill>
                  <a:srgbClr val="6F8F8F"/>
                </a:solidFill>
                <a:latin typeface="Noto Sans SC"/>
                <a:ea typeface="Noto Sans SC"/>
              </a:rPr>
              <a:t>影片 00:20</a:t>
            </a:r>
          </a:p>
        </p:txBody>
      </p:sp>
      <p:sp>
        <p:nvSpPr>
          <p:cNvPr id="10" name="Oval 9"/>
          <p:cNvSpPr/>
          <p:nvPr/>
        </p:nvSpPr>
        <p:spPr>
          <a:xfrm>
            <a:off x="711200" y="1539494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14400" y="1430782"/>
            <a:ext cx="4718050" cy="3130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种子 AE | BCD，maxDiff = 1：只能 2:3 或 3:2</a:t>
            </a:r>
          </a:p>
        </p:txBody>
      </p:sp>
      <p:sp>
        <p:nvSpPr>
          <p:cNvPr id="12" name="Oval 11"/>
          <p:cNvSpPr/>
          <p:nvPr/>
        </p:nvSpPr>
        <p:spPr>
          <a:xfrm>
            <a:off x="711200" y="1971294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14400" y="1862582"/>
            <a:ext cx="4718050" cy="3130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A、E 收益 +6，但在只有 2 人的左侧</a:t>
            </a:r>
          </a:p>
        </p:txBody>
      </p:sp>
      <p:sp>
        <p:nvSpPr>
          <p:cNvPr id="14" name="Oval 13"/>
          <p:cNvSpPr/>
          <p:nvPr/>
        </p:nvSpPr>
        <p:spPr>
          <a:xfrm>
            <a:off x="711200" y="2403094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14400" y="2294382"/>
            <a:ext cx="4718050" cy="3130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移走后 1 : 4：不合法</a:t>
            </a:r>
          </a:p>
        </p:txBody>
      </p:sp>
      <p:sp>
        <p:nvSpPr>
          <p:cNvPr id="16" name="Oval 15"/>
          <p:cNvSpPr/>
          <p:nvPr/>
        </p:nvSpPr>
        <p:spPr>
          <a:xfrm>
            <a:off x="711200" y="2834894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14400" y="2726182"/>
            <a:ext cx="4718050" cy="3130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D8BB78"/>
                </a:solidFill>
                <a:latin typeface="Noto Sans SC"/>
                <a:ea typeface="Noto Sans SC"/>
              </a:rPr>
              <a:t>合法候选 B +1、C −4、D +3 → 选 D</a:t>
            </a:r>
          </a:p>
        </p:txBody>
      </p:sp>
      <p:cxnSp>
        <p:nvCxnSpPr>
          <p:cNvPr id="18" name="Connector 17"/>
          <p:cNvCxnSpPr/>
          <p:nvPr/>
        </p:nvCxnSpPr>
        <p:spPr>
          <a:xfrm flipV="1">
            <a:off x="5973006" y="1770380"/>
            <a:ext cx="1212045" cy="82639"/>
          </a:xfrm>
          <a:prstGeom prst="line">
            <a:avLst/>
          </a:prstGeom>
          <a:ln w="14224">
            <a:solidFill>
              <a:srgbClr val="DB7B72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Oval 18"/>
          <p:cNvSpPr/>
          <p:nvPr/>
        </p:nvSpPr>
        <p:spPr>
          <a:xfrm>
            <a:off x="6491293" y="1605933"/>
            <a:ext cx="163860" cy="163860"/>
          </a:xfrm>
          <a:prstGeom prst="ellipse">
            <a:avLst/>
          </a:prstGeom>
          <a:solidFill>
            <a:srgbClr val="071C22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6505517" y="1610485"/>
            <a:ext cx="135412" cy="15361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96" b="1">
                <a:solidFill>
                  <a:srgbClr val="D9E4E1"/>
                </a:solidFill>
                <a:latin typeface="Noto Sans SC"/>
                <a:ea typeface="Noto Sans SC"/>
              </a:rPr>
              <a:t>5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973006" y="1853019"/>
            <a:ext cx="743755" cy="936580"/>
          </a:xfrm>
          <a:prstGeom prst="line">
            <a:avLst/>
          </a:prstGeom>
          <a:ln w="14224">
            <a:solidFill>
              <a:srgbClr val="DB7B72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Oval 21"/>
          <p:cNvSpPr/>
          <p:nvPr/>
        </p:nvSpPr>
        <p:spPr>
          <a:xfrm>
            <a:off x="6329787" y="2147616"/>
            <a:ext cx="163860" cy="163860"/>
          </a:xfrm>
          <a:prstGeom prst="ellipse">
            <a:avLst/>
          </a:prstGeom>
          <a:solidFill>
            <a:srgbClr val="071C22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344011" y="2152167"/>
            <a:ext cx="135412" cy="15361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96" b="1">
                <a:solidFill>
                  <a:srgbClr val="D9E4E1"/>
                </a:solidFill>
                <a:latin typeface="Noto Sans SC"/>
                <a:ea typeface="Noto Sans SC"/>
              </a:rPr>
              <a:t>1</a:t>
            </a:r>
          </a:p>
        </p:txBody>
      </p:sp>
      <p:cxnSp>
        <p:nvCxnSpPr>
          <p:cNvPr id="24" name="Connector 23"/>
          <p:cNvCxnSpPr/>
          <p:nvPr/>
        </p:nvCxnSpPr>
        <p:spPr>
          <a:xfrm flipH="1">
            <a:off x="6716761" y="1770380"/>
            <a:ext cx="468290" cy="1019219"/>
          </a:xfrm>
          <a:prstGeom prst="line">
            <a:avLst/>
          </a:prstGeom>
          <a:ln w="17780">
            <a:solidFill>
              <a:srgbClr val="9FC9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Oval 24"/>
          <p:cNvSpPr/>
          <p:nvPr/>
        </p:nvSpPr>
        <p:spPr>
          <a:xfrm>
            <a:off x="6946526" y="2195001"/>
            <a:ext cx="163860" cy="163860"/>
          </a:xfrm>
          <a:prstGeom prst="ellipse">
            <a:avLst/>
          </a:prstGeom>
          <a:solidFill>
            <a:srgbClr val="071C22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6960750" y="2199553"/>
            <a:ext cx="135412" cy="15361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96" b="1">
                <a:solidFill>
                  <a:srgbClr val="D9E4E1"/>
                </a:solidFill>
                <a:latin typeface="Noto Sans SC"/>
                <a:ea typeface="Noto Sans SC"/>
              </a:rPr>
              <a:t>4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716761" y="2789599"/>
            <a:ext cx="1239592" cy="578476"/>
          </a:xfrm>
          <a:prstGeom prst="line">
            <a:avLst/>
          </a:prstGeom>
          <a:ln w="17780">
            <a:solidFill>
              <a:srgbClr val="9FC9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Oval 27"/>
          <p:cNvSpPr/>
          <p:nvPr/>
        </p:nvSpPr>
        <p:spPr>
          <a:xfrm>
            <a:off x="7290717" y="2880880"/>
            <a:ext cx="163860" cy="163860"/>
          </a:xfrm>
          <a:prstGeom prst="ellipse">
            <a:avLst/>
          </a:prstGeom>
          <a:solidFill>
            <a:srgbClr val="071C22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7304941" y="2885432"/>
            <a:ext cx="135412" cy="15361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96" b="1">
                <a:solidFill>
                  <a:srgbClr val="D9E4E1"/>
                </a:solidFill>
                <a:latin typeface="Noto Sans SC"/>
                <a:ea typeface="Noto Sans SC"/>
              </a:rPr>
              <a:t>2</a:t>
            </a:r>
          </a:p>
        </p:txBody>
      </p:sp>
      <p:cxnSp>
        <p:nvCxnSpPr>
          <p:cNvPr id="30" name="Connector 29"/>
          <p:cNvCxnSpPr/>
          <p:nvPr/>
        </p:nvCxnSpPr>
        <p:spPr>
          <a:xfrm flipH="1">
            <a:off x="6579029" y="2789599"/>
            <a:ext cx="137732" cy="936581"/>
          </a:xfrm>
          <a:prstGeom prst="line">
            <a:avLst/>
          </a:prstGeom>
          <a:ln w="14224">
            <a:solidFill>
              <a:srgbClr val="DB7B72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Oval 30"/>
          <p:cNvSpPr/>
          <p:nvPr/>
        </p:nvSpPr>
        <p:spPr>
          <a:xfrm>
            <a:off x="6650401" y="3149687"/>
            <a:ext cx="163860" cy="163860"/>
          </a:xfrm>
          <a:prstGeom prst="ellipse">
            <a:avLst/>
          </a:prstGeom>
          <a:solidFill>
            <a:srgbClr val="071C22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6664625" y="3154239"/>
            <a:ext cx="135412" cy="15361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96" b="1">
                <a:solidFill>
                  <a:srgbClr val="D9E4E1"/>
                </a:solidFill>
                <a:latin typeface="Noto Sans SC"/>
                <a:ea typeface="Noto Sans SC"/>
              </a:rPr>
              <a:t>1</a:t>
            </a:r>
          </a:p>
        </p:txBody>
      </p:sp>
      <p:cxnSp>
        <p:nvCxnSpPr>
          <p:cNvPr id="33" name="Connector 32"/>
          <p:cNvCxnSpPr/>
          <p:nvPr/>
        </p:nvCxnSpPr>
        <p:spPr>
          <a:xfrm flipH="1">
            <a:off x="6579029" y="3368075"/>
            <a:ext cx="1377324" cy="358105"/>
          </a:xfrm>
          <a:prstGeom prst="line">
            <a:avLst/>
          </a:prstGeom>
          <a:ln w="14224">
            <a:solidFill>
              <a:srgbClr val="DB7B72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Oval 33"/>
          <p:cNvSpPr/>
          <p:nvPr/>
        </p:nvSpPr>
        <p:spPr>
          <a:xfrm>
            <a:off x="7207236" y="3509106"/>
            <a:ext cx="163860" cy="163860"/>
          </a:xfrm>
          <a:prstGeom prst="ellipse">
            <a:avLst/>
          </a:prstGeom>
          <a:solidFill>
            <a:srgbClr val="071C22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7221460" y="3513657"/>
            <a:ext cx="135412" cy="15361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96" b="1">
                <a:solidFill>
                  <a:srgbClr val="D9E4E1"/>
                </a:solidFill>
                <a:latin typeface="Noto Sans SC"/>
                <a:ea typeface="Noto Sans SC"/>
              </a:rPr>
              <a:t>5</a:t>
            </a:r>
          </a:p>
        </p:txBody>
      </p:sp>
      <p:sp>
        <p:nvSpPr>
          <p:cNvPr id="36" name="Oval 35"/>
          <p:cNvSpPr/>
          <p:nvPr/>
        </p:nvSpPr>
        <p:spPr>
          <a:xfrm>
            <a:off x="5795206" y="1675219"/>
            <a:ext cx="355600" cy="355600"/>
          </a:xfrm>
          <a:prstGeom prst="ellipse">
            <a:avLst/>
          </a:prstGeom>
          <a:noFill/>
          <a:ln w="17780">
            <a:solidFill>
              <a:srgbClr val="DB7B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Oval 36"/>
          <p:cNvSpPr/>
          <p:nvPr/>
        </p:nvSpPr>
        <p:spPr>
          <a:xfrm>
            <a:off x="5830766" y="1710779"/>
            <a:ext cx="284480" cy="284480"/>
          </a:xfrm>
          <a:prstGeom prst="ellipse">
            <a:avLst/>
          </a:prstGeom>
          <a:solidFill>
            <a:srgbClr val="77CDBB"/>
          </a:solidFill>
          <a:ln w="10668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5897502" y="1773222"/>
            <a:ext cx="151009" cy="1632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52" b="1">
                <a:solidFill>
                  <a:srgbClr val="0B1B1F"/>
                </a:solidFill>
                <a:latin typeface="Noto Sans SC"/>
                <a:ea typeface="Noto Sans SC"/>
              </a:rPr>
              <a:t>A</a:t>
            </a:r>
          </a:p>
        </p:txBody>
      </p:sp>
      <p:sp>
        <p:nvSpPr>
          <p:cNvPr id="39" name="Oval 38"/>
          <p:cNvSpPr/>
          <p:nvPr/>
        </p:nvSpPr>
        <p:spPr>
          <a:xfrm>
            <a:off x="7042811" y="1628140"/>
            <a:ext cx="284480" cy="284480"/>
          </a:xfrm>
          <a:prstGeom prst="ellipse">
            <a:avLst/>
          </a:prstGeom>
          <a:solidFill>
            <a:srgbClr val="8FB1E6"/>
          </a:solidFill>
          <a:ln w="10668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7107612" y="1690583"/>
            <a:ext cx="154878" cy="1632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52" b="1">
                <a:solidFill>
                  <a:srgbClr val="0B1B1F"/>
                </a:solidFill>
                <a:latin typeface="Noto Sans SC"/>
                <a:ea typeface="Noto Sans SC"/>
              </a:rPr>
              <a:t>B</a:t>
            </a:r>
          </a:p>
        </p:txBody>
      </p:sp>
      <p:sp>
        <p:nvSpPr>
          <p:cNvPr id="41" name="Oval 40"/>
          <p:cNvSpPr/>
          <p:nvPr/>
        </p:nvSpPr>
        <p:spPr>
          <a:xfrm>
            <a:off x="6574521" y="2647359"/>
            <a:ext cx="284480" cy="284480"/>
          </a:xfrm>
          <a:prstGeom prst="ellipse">
            <a:avLst/>
          </a:prstGeom>
          <a:solidFill>
            <a:srgbClr val="8FB1E6"/>
          </a:solidFill>
          <a:ln w="10668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6640833" y="2709803"/>
            <a:ext cx="151855" cy="1632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52" b="1">
                <a:solidFill>
                  <a:srgbClr val="0B1B1F"/>
                </a:solidFill>
                <a:latin typeface="Noto Sans SC"/>
                <a:ea typeface="Noto Sans SC"/>
              </a:rPr>
              <a:t>C</a:t>
            </a:r>
          </a:p>
        </p:txBody>
      </p:sp>
      <p:sp>
        <p:nvSpPr>
          <p:cNvPr id="43" name="Oval 42"/>
          <p:cNvSpPr/>
          <p:nvPr/>
        </p:nvSpPr>
        <p:spPr>
          <a:xfrm>
            <a:off x="7778553" y="3190275"/>
            <a:ext cx="355600" cy="355600"/>
          </a:xfrm>
          <a:prstGeom prst="ellipse">
            <a:avLst/>
          </a:prstGeom>
          <a:noFill/>
          <a:ln w="17780">
            <a:solidFill>
              <a:srgbClr val="D8BB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Oval 43"/>
          <p:cNvSpPr/>
          <p:nvPr/>
        </p:nvSpPr>
        <p:spPr>
          <a:xfrm>
            <a:off x="7814113" y="3225835"/>
            <a:ext cx="284480" cy="284480"/>
          </a:xfrm>
          <a:prstGeom prst="ellipse">
            <a:avLst/>
          </a:prstGeom>
          <a:solidFill>
            <a:srgbClr val="8FB1E6"/>
          </a:solidFill>
          <a:ln w="10668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7876919" y="3288279"/>
            <a:ext cx="158867" cy="1632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52" b="1">
                <a:solidFill>
                  <a:srgbClr val="0B1B1F"/>
                </a:solidFill>
                <a:latin typeface="Noto Sans SC"/>
                <a:ea typeface="Noto Sans SC"/>
              </a:rPr>
              <a:t>D</a:t>
            </a:r>
          </a:p>
        </p:txBody>
      </p:sp>
      <p:sp>
        <p:nvSpPr>
          <p:cNvPr id="46" name="Oval 45"/>
          <p:cNvSpPr/>
          <p:nvPr/>
        </p:nvSpPr>
        <p:spPr>
          <a:xfrm>
            <a:off x="6401229" y="3548380"/>
            <a:ext cx="355600" cy="355600"/>
          </a:xfrm>
          <a:prstGeom prst="ellipse">
            <a:avLst/>
          </a:prstGeom>
          <a:noFill/>
          <a:ln w="17780">
            <a:solidFill>
              <a:srgbClr val="DB7B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Oval 46"/>
          <p:cNvSpPr/>
          <p:nvPr/>
        </p:nvSpPr>
        <p:spPr>
          <a:xfrm>
            <a:off x="6436789" y="3583940"/>
            <a:ext cx="284480" cy="284480"/>
          </a:xfrm>
          <a:prstGeom prst="ellipse">
            <a:avLst/>
          </a:prstGeom>
          <a:solidFill>
            <a:srgbClr val="77CDBB"/>
          </a:solidFill>
          <a:ln w="10668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6505580" y="3646383"/>
            <a:ext cx="146898" cy="1632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52" b="1">
                <a:solidFill>
                  <a:srgbClr val="0B1B1F"/>
                </a:solidFill>
                <a:latin typeface="Noto Sans SC"/>
                <a:ea typeface="Noto Sans SC"/>
              </a:rPr>
              <a:t>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373109" y="1723644"/>
            <a:ext cx="462280" cy="2400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400" b="1">
                <a:solidFill>
                  <a:srgbClr val="BCD2D0"/>
                </a:solidFill>
                <a:latin typeface="Noto Sans SC"/>
                <a:ea typeface="Noto Sans SC"/>
              </a:rPr>
              <a:t>节点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135110" y="1723644"/>
            <a:ext cx="284480" cy="2400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400" b="1">
                <a:solidFill>
                  <a:srgbClr val="BCD2D0"/>
                </a:solidFill>
                <a:latin typeface="Noto Sans SC"/>
                <a:ea typeface="Noto Sans SC"/>
              </a:rPr>
              <a:t>侧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706610" y="1723644"/>
            <a:ext cx="462280" cy="2400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400" b="1">
                <a:solidFill>
                  <a:srgbClr val="BCD2D0"/>
                </a:solidFill>
                <a:latin typeface="Noto Sans SC"/>
                <a:ea typeface="Noto Sans SC"/>
              </a:rPr>
              <a:t>收益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532110" y="1723644"/>
            <a:ext cx="462280" cy="2400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400" b="1">
                <a:solidFill>
                  <a:srgbClr val="BCD2D0"/>
                </a:solidFill>
                <a:latin typeface="Noto Sans SC"/>
                <a:ea typeface="Noto Sans SC"/>
              </a:rPr>
              <a:t>合法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8343900" y="2006600"/>
            <a:ext cx="3149600" cy="0"/>
          </a:xfrm>
          <a:prstGeom prst="line">
            <a:avLst/>
          </a:prstGeom>
          <a:ln w="12700">
            <a:solidFill>
              <a:srgbClr val="2D4A4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Rounded Rectangle 53"/>
          <p:cNvSpPr/>
          <p:nvPr/>
        </p:nvSpPr>
        <p:spPr>
          <a:xfrm>
            <a:off x="8293100" y="2044700"/>
            <a:ext cx="3289300" cy="368300"/>
          </a:xfrm>
          <a:prstGeom prst="roundRect">
            <a:avLst>
              <a:gd name="adj" fmla="val 13793"/>
            </a:avLst>
          </a:prstGeom>
          <a:solidFill>
            <a:srgbClr val="DB7B72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TextBox 54"/>
          <p:cNvSpPr txBox="1"/>
          <p:nvPr/>
        </p:nvSpPr>
        <p:spPr>
          <a:xfrm>
            <a:off x="8371840" y="2091436"/>
            <a:ext cx="245465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b="0">
                <a:solidFill>
                  <a:srgbClr val="F2F3E9"/>
                </a:solidFill>
                <a:latin typeface="Noto Sans SC"/>
                <a:ea typeface="Noto Sans SC"/>
              </a:rPr>
              <a:t>A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133840" y="2091436"/>
            <a:ext cx="234696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b="0">
                <a:solidFill>
                  <a:srgbClr val="F2F3E9"/>
                </a:solidFill>
                <a:latin typeface="Noto Sans SC"/>
                <a:ea typeface="Noto Sans SC"/>
              </a:rPr>
              <a:t>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705340" y="2091436"/>
            <a:ext cx="347472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b="0">
                <a:solidFill>
                  <a:srgbClr val="F2F3E9"/>
                </a:solidFill>
                <a:latin typeface="Noto Sans SC"/>
                <a:ea typeface="Noto Sans SC"/>
              </a:rPr>
              <a:t>+6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530840" y="2091436"/>
            <a:ext cx="32512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b="0">
                <a:solidFill>
                  <a:srgbClr val="F2F3E9"/>
                </a:solidFill>
                <a:latin typeface="Noto Sans SC"/>
                <a:ea typeface="Noto Sans SC"/>
              </a:rPr>
              <a:t>否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371840" y="2485136"/>
            <a:ext cx="255422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b="0">
                <a:solidFill>
                  <a:srgbClr val="F2F3E9"/>
                </a:solidFill>
                <a:latin typeface="Noto Sans SC"/>
                <a:ea typeface="Noto Sans SC"/>
              </a:rPr>
              <a:t>B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133840" y="2485136"/>
            <a:ext cx="234696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b="0">
                <a:solidFill>
                  <a:srgbClr val="F2F3E9"/>
                </a:solidFill>
                <a:latin typeface="Noto Sans SC"/>
                <a:ea typeface="Noto Sans SC"/>
              </a:rPr>
              <a:t>1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705340" y="2485136"/>
            <a:ext cx="347472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b="0">
                <a:solidFill>
                  <a:srgbClr val="F2F3E9"/>
                </a:solidFill>
                <a:latin typeface="Noto Sans SC"/>
                <a:ea typeface="Noto Sans SC"/>
              </a:rPr>
              <a:t>+1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530840" y="2485136"/>
            <a:ext cx="32512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b="0">
                <a:solidFill>
                  <a:srgbClr val="F2F3E9"/>
                </a:solidFill>
                <a:latin typeface="Noto Sans SC"/>
                <a:ea typeface="Noto Sans SC"/>
              </a:rPr>
              <a:t>是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371840" y="2878836"/>
            <a:ext cx="251561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b="0">
                <a:solidFill>
                  <a:srgbClr val="F2F3E9"/>
                </a:solidFill>
                <a:latin typeface="Noto Sans SC"/>
                <a:ea typeface="Noto Sans SC"/>
              </a:rPr>
              <a:t>C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133840" y="2878836"/>
            <a:ext cx="234696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b="0">
                <a:solidFill>
                  <a:srgbClr val="F2F3E9"/>
                </a:solidFill>
                <a:latin typeface="Noto Sans SC"/>
                <a:ea typeface="Noto Sans SC"/>
              </a:rPr>
              <a:t>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705340" y="2878836"/>
            <a:ext cx="305206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b="0">
                <a:solidFill>
                  <a:srgbClr val="F2F3E9"/>
                </a:solidFill>
                <a:latin typeface="Noto Sans SC"/>
                <a:ea typeface="Noto Sans SC"/>
              </a:rPr>
              <a:t>-4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530840" y="2878836"/>
            <a:ext cx="32512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b="0">
                <a:solidFill>
                  <a:srgbClr val="F2F3E9"/>
                </a:solidFill>
                <a:latin typeface="Noto Sans SC"/>
                <a:ea typeface="Noto Sans SC"/>
              </a:rPr>
              <a:t>是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8293100" y="3225800"/>
            <a:ext cx="3289300" cy="368300"/>
          </a:xfrm>
          <a:prstGeom prst="roundRect">
            <a:avLst>
              <a:gd name="adj" fmla="val 13793"/>
            </a:avLst>
          </a:prstGeom>
          <a:solidFill>
            <a:srgbClr val="D8BB78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8" name="TextBox 67"/>
          <p:cNvSpPr txBox="1"/>
          <p:nvPr/>
        </p:nvSpPr>
        <p:spPr>
          <a:xfrm>
            <a:off x="8371840" y="3272536"/>
            <a:ext cx="261721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b="0">
                <a:solidFill>
                  <a:srgbClr val="F2F3E9"/>
                </a:solidFill>
                <a:latin typeface="Noto Sans SC"/>
                <a:ea typeface="Noto Sans SC"/>
              </a:rPr>
              <a:t>D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133840" y="3272536"/>
            <a:ext cx="234696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b="0">
                <a:solidFill>
                  <a:srgbClr val="F2F3E9"/>
                </a:solidFill>
                <a:latin typeface="Noto Sans SC"/>
                <a:ea typeface="Noto Sans SC"/>
              </a:rPr>
              <a:t>1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705340" y="3272536"/>
            <a:ext cx="347472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b="0">
                <a:solidFill>
                  <a:srgbClr val="F2F3E9"/>
                </a:solidFill>
                <a:latin typeface="Noto Sans SC"/>
                <a:ea typeface="Noto Sans SC"/>
              </a:rPr>
              <a:t>+3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530840" y="3272536"/>
            <a:ext cx="32512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b="0">
                <a:solidFill>
                  <a:srgbClr val="F2F3E9"/>
                </a:solidFill>
                <a:latin typeface="Noto Sans SC"/>
                <a:ea typeface="Noto Sans SC"/>
              </a:rPr>
              <a:t>是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8293100" y="3619500"/>
            <a:ext cx="3289300" cy="368300"/>
          </a:xfrm>
          <a:prstGeom prst="roundRect">
            <a:avLst>
              <a:gd name="adj" fmla="val 13793"/>
            </a:avLst>
          </a:prstGeom>
          <a:solidFill>
            <a:srgbClr val="DB7B72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3" name="TextBox 72"/>
          <p:cNvSpPr txBox="1"/>
          <p:nvPr/>
        </p:nvSpPr>
        <p:spPr>
          <a:xfrm>
            <a:off x="8371840" y="3666236"/>
            <a:ext cx="241604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b="0">
                <a:solidFill>
                  <a:srgbClr val="F2F3E9"/>
                </a:solidFill>
                <a:latin typeface="Noto Sans SC"/>
                <a:ea typeface="Noto Sans SC"/>
              </a:rPr>
              <a:t>E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133840" y="3666236"/>
            <a:ext cx="234696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b="0">
                <a:solidFill>
                  <a:srgbClr val="F2F3E9"/>
                </a:solidFill>
                <a:latin typeface="Noto Sans SC"/>
                <a:ea typeface="Noto Sans SC"/>
              </a:rPr>
              <a:t>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705340" y="3666236"/>
            <a:ext cx="347472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b="0">
                <a:solidFill>
                  <a:srgbClr val="F2F3E9"/>
                </a:solidFill>
                <a:latin typeface="Noto Sans SC"/>
                <a:ea typeface="Noto Sans SC"/>
              </a:rPr>
              <a:t>+6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530840" y="3666236"/>
            <a:ext cx="32512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b="0">
                <a:solidFill>
                  <a:srgbClr val="F2F3E9"/>
                </a:solidFill>
                <a:latin typeface="Noto Sans SC"/>
                <a:ea typeface="Noto Sans SC"/>
              </a:rPr>
              <a:t>否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1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38100"/>
          </a:xfrm>
          <a:prstGeom prst="rect">
            <a:avLst/>
          </a:prstGeom>
          <a:solidFill>
            <a:srgbClr val="77CDBB">
              <a:alpha val="6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53720" y="450088"/>
            <a:ext cx="3692550" cy="4800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2800" b="0">
                <a:solidFill>
                  <a:srgbClr val="F2F3E9"/>
                </a:solidFill>
                <a:latin typeface="Noto Sans SC"/>
                <a:ea typeface="Noto Sans SC"/>
              </a:rPr>
              <a:t>收益的分解：FS 与 TE</a:t>
            </a:r>
          </a:p>
        </p:txBody>
      </p:sp>
      <p:sp>
        <p:nvSpPr>
          <p:cNvPr id="5" name="Rectangle 4"/>
          <p:cNvSpPr/>
          <p:nvPr/>
        </p:nvSpPr>
        <p:spPr>
          <a:xfrm>
            <a:off x="571500" y="965200"/>
            <a:ext cx="571500" cy="25400"/>
          </a:xfrm>
          <a:prstGeom prst="rect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6" name="Connector 5"/>
          <p:cNvCxnSpPr/>
          <p:nvPr/>
        </p:nvCxnSpPr>
        <p:spPr>
          <a:xfrm>
            <a:off x="571500" y="6426200"/>
            <a:ext cx="11049000" cy="0"/>
          </a:xfrm>
          <a:prstGeom prst="line">
            <a:avLst/>
          </a:prstGeom>
          <a:ln w="12700">
            <a:solidFill>
              <a:srgbClr val="1D3D4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63880" y="6512052"/>
            <a:ext cx="2870911" cy="2057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0">
                <a:solidFill>
                  <a:srgbClr val="6F8F8F"/>
                </a:solidFill>
                <a:latin typeface="Noto Sans SC"/>
                <a:ea typeface="Noto Sans SC"/>
              </a:rPr>
              <a:t>Module 08 · Fiduccia–Mattheyses 改进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08524" y="6499098"/>
            <a:ext cx="561505" cy="2228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300" b="1">
                <a:solidFill>
                  <a:srgbClr val="BCD2D0"/>
                </a:solidFill>
                <a:latin typeface="Noto Sans SC"/>
                <a:ea typeface="Noto Sans SC"/>
              </a:rPr>
              <a:t>p4/12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55147" y="377952"/>
            <a:ext cx="811072" cy="2057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200" b="0">
                <a:solidFill>
                  <a:srgbClr val="6F8F8F"/>
                </a:solidFill>
                <a:latin typeface="Noto Sans SC"/>
                <a:ea typeface="Noto Sans SC"/>
              </a:rPr>
              <a:t>影片 00:38</a:t>
            </a:r>
          </a:p>
        </p:txBody>
      </p:sp>
      <p:sp>
        <p:nvSpPr>
          <p:cNvPr id="10" name="Oval 9"/>
          <p:cNvSpPr/>
          <p:nvPr/>
        </p:nvSpPr>
        <p:spPr>
          <a:xfrm>
            <a:off x="711200" y="1539494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14400" y="1430782"/>
            <a:ext cx="4718050" cy="3130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FS：v 是某 net 在本侧唯一的引脚 → +w</a:t>
            </a:r>
          </a:p>
        </p:txBody>
      </p:sp>
      <p:sp>
        <p:nvSpPr>
          <p:cNvPr id="12" name="Oval 11"/>
          <p:cNvSpPr/>
          <p:nvPr/>
        </p:nvSpPr>
        <p:spPr>
          <a:xfrm>
            <a:off x="711200" y="1971294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14400" y="1862582"/>
            <a:ext cx="4718050" cy="3130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TE：某 net 在目标侧没有引脚 → −w</a:t>
            </a:r>
          </a:p>
        </p:txBody>
      </p:sp>
      <p:sp>
        <p:nvSpPr>
          <p:cNvPr id="14" name="Oval 13"/>
          <p:cNvSpPr/>
          <p:nvPr/>
        </p:nvSpPr>
        <p:spPr>
          <a:xfrm>
            <a:off x="711200" y="2403094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14400" y="2294382"/>
            <a:ext cx="4718050" cy="3130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D：FS = D–E（5），TE = C–D（2），收益 3</a:t>
            </a:r>
          </a:p>
        </p:txBody>
      </p:sp>
      <p:sp>
        <p:nvSpPr>
          <p:cNvPr id="16" name="Oval 15"/>
          <p:cNvSpPr/>
          <p:nvPr/>
        </p:nvSpPr>
        <p:spPr>
          <a:xfrm>
            <a:off x="711200" y="2834894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14400" y="2726182"/>
            <a:ext cx="4718050" cy="3130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二端边上：FS − TE = 外部 − 内部</a:t>
            </a:r>
          </a:p>
        </p:txBody>
      </p:sp>
      <p:cxnSp>
        <p:nvCxnSpPr>
          <p:cNvPr id="18" name="Connector 17"/>
          <p:cNvCxnSpPr/>
          <p:nvPr/>
        </p:nvCxnSpPr>
        <p:spPr>
          <a:xfrm flipV="1">
            <a:off x="6674654" y="1714500"/>
            <a:ext cx="2164367" cy="147570"/>
          </a:xfrm>
          <a:prstGeom prst="line">
            <a:avLst/>
          </a:prstGeom>
          <a:ln w="25400">
            <a:solidFill>
              <a:srgbClr val="DB7B72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Oval 18"/>
          <p:cNvSpPr/>
          <p:nvPr/>
        </p:nvSpPr>
        <p:spPr>
          <a:xfrm>
            <a:off x="7600167" y="1420846"/>
            <a:ext cx="292608" cy="292608"/>
          </a:xfrm>
          <a:prstGeom prst="ellipse">
            <a:avLst/>
          </a:prstGeom>
          <a:solidFill>
            <a:srgbClr val="071C22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625567" y="1428974"/>
            <a:ext cx="241808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D9E4E1"/>
                </a:solidFill>
                <a:latin typeface="Noto Sans SC"/>
                <a:ea typeface="Noto Sans SC"/>
              </a:rPr>
              <a:t>5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674654" y="1862070"/>
            <a:ext cx="1328134" cy="1672465"/>
          </a:xfrm>
          <a:prstGeom prst="line">
            <a:avLst/>
          </a:prstGeom>
          <a:ln w="25400">
            <a:solidFill>
              <a:srgbClr val="DB7B72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Oval 21"/>
          <p:cNvSpPr/>
          <p:nvPr/>
        </p:nvSpPr>
        <p:spPr>
          <a:xfrm>
            <a:off x="7311763" y="2388135"/>
            <a:ext cx="292608" cy="292608"/>
          </a:xfrm>
          <a:prstGeom prst="ellipse">
            <a:avLst/>
          </a:prstGeom>
          <a:solidFill>
            <a:srgbClr val="071C22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7337163" y="2396263"/>
            <a:ext cx="241808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D9E4E1"/>
                </a:solidFill>
                <a:latin typeface="Noto Sans SC"/>
                <a:ea typeface="Noto Sans SC"/>
              </a:rPr>
              <a:t>1</a:t>
            </a:r>
          </a:p>
        </p:txBody>
      </p:sp>
      <p:cxnSp>
        <p:nvCxnSpPr>
          <p:cNvPr id="24" name="Connector 23"/>
          <p:cNvCxnSpPr/>
          <p:nvPr/>
        </p:nvCxnSpPr>
        <p:spPr>
          <a:xfrm flipH="1">
            <a:off x="8002788" y="1714500"/>
            <a:ext cx="836233" cy="1820035"/>
          </a:xfrm>
          <a:prstGeom prst="line">
            <a:avLst/>
          </a:prstGeom>
          <a:ln w="31750">
            <a:solidFill>
              <a:srgbClr val="9FC9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Oval 24"/>
          <p:cNvSpPr/>
          <p:nvPr/>
        </p:nvSpPr>
        <p:spPr>
          <a:xfrm>
            <a:off x="8413083" y="2472752"/>
            <a:ext cx="292608" cy="292608"/>
          </a:xfrm>
          <a:prstGeom prst="ellipse">
            <a:avLst/>
          </a:prstGeom>
          <a:solidFill>
            <a:srgbClr val="071C22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38483" y="2480880"/>
            <a:ext cx="241808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D9E4E1"/>
                </a:solidFill>
                <a:latin typeface="Noto Sans SC"/>
                <a:ea typeface="Noto Sans SC"/>
              </a:rPr>
              <a:t>4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002788" y="3534535"/>
            <a:ext cx="2213557" cy="1032993"/>
          </a:xfrm>
          <a:prstGeom prst="line">
            <a:avLst/>
          </a:prstGeom>
          <a:ln w="31750">
            <a:solidFill>
              <a:srgbClr val="D8BB78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Oval 27"/>
          <p:cNvSpPr/>
          <p:nvPr/>
        </p:nvSpPr>
        <p:spPr>
          <a:xfrm>
            <a:off x="9027710" y="3697537"/>
            <a:ext cx="292608" cy="292608"/>
          </a:xfrm>
          <a:prstGeom prst="ellipse">
            <a:avLst/>
          </a:prstGeom>
          <a:solidFill>
            <a:srgbClr val="071C22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9053110" y="3705665"/>
            <a:ext cx="241808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D9E4E1"/>
                </a:solidFill>
                <a:latin typeface="Noto Sans SC"/>
                <a:ea typeface="Noto Sans SC"/>
              </a:rPr>
              <a:t>2</a:t>
            </a:r>
          </a:p>
        </p:txBody>
      </p:sp>
      <p:cxnSp>
        <p:nvCxnSpPr>
          <p:cNvPr id="30" name="Connector 29"/>
          <p:cNvCxnSpPr/>
          <p:nvPr/>
        </p:nvCxnSpPr>
        <p:spPr>
          <a:xfrm flipH="1">
            <a:off x="7756838" y="3534535"/>
            <a:ext cx="245950" cy="1672465"/>
          </a:xfrm>
          <a:prstGeom prst="line">
            <a:avLst/>
          </a:prstGeom>
          <a:ln w="25400">
            <a:solidFill>
              <a:srgbClr val="DB7B72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Oval 30"/>
          <p:cNvSpPr/>
          <p:nvPr/>
        </p:nvSpPr>
        <p:spPr>
          <a:xfrm>
            <a:off x="7884287" y="4177548"/>
            <a:ext cx="292608" cy="292608"/>
          </a:xfrm>
          <a:prstGeom prst="ellipse">
            <a:avLst/>
          </a:prstGeom>
          <a:solidFill>
            <a:srgbClr val="071C22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7909687" y="4185676"/>
            <a:ext cx="241808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D9E4E1"/>
                </a:solidFill>
                <a:latin typeface="Noto Sans SC"/>
                <a:ea typeface="Noto Sans SC"/>
              </a:rPr>
              <a:t>1</a:t>
            </a:r>
          </a:p>
        </p:txBody>
      </p:sp>
      <p:cxnSp>
        <p:nvCxnSpPr>
          <p:cNvPr id="33" name="Connector 32"/>
          <p:cNvCxnSpPr/>
          <p:nvPr/>
        </p:nvCxnSpPr>
        <p:spPr>
          <a:xfrm flipH="1">
            <a:off x="7756838" y="4567528"/>
            <a:ext cx="2459507" cy="639472"/>
          </a:xfrm>
          <a:prstGeom prst="line">
            <a:avLst/>
          </a:prstGeom>
          <a:ln w="44450">
            <a:solidFill>
              <a:srgbClr val="D8BB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Oval 33"/>
          <p:cNvSpPr/>
          <p:nvPr/>
        </p:nvSpPr>
        <p:spPr>
          <a:xfrm>
            <a:off x="8878636" y="4819368"/>
            <a:ext cx="292608" cy="292608"/>
          </a:xfrm>
          <a:prstGeom prst="ellipse">
            <a:avLst/>
          </a:prstGeom>
          <a:solidFill>
            <a:srgbClr val="071C22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8904036" y="4827496"/>
            <a:ext cx="241808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D8BB78"/>
                </a:solidFill>
                <a:latin typeface="Noto Sans SC"/>
                <a:ea typeface="Noto Sans SC"/>
              </a:rPr>
              <a:t>5</a:t>
            </a:r>
          </a:p>
        </p:txBody>
      </p:sp>
      <p:sp>
        <p:nvSpPr>
          <p:cNvPr id="36" name="Oval 35"/>
          <p:cNvSpPr/>
          <p:nvPr/>
        </p:nvSpPr>
        <p:spPr>
          <a:xfrm>
            <a:off x="6420654" y="1608070"/>
            <a:ext cx="508000" cy="508000"/>
          </a:xfrm>
          <a:prstGeom prst="ellipse">
            <a:avLst/>
          </a:prstGeom>
          <a:solidFill>
            <a:srgbClr val="77CDBB"/>
          </a:solidFill>
          <a:ln w="19050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6539825" y="1719576"/>
            <a:ext cx="269659" cy="2914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0B1B1F"/>
                </a:solidFill>
                <a:latin typeface="Noto Sans SC"/>
                <a:ea typeface="Noto Sans SC"/>
              </a:rPr>
              <a:t>A</a:t>
            </a:r>
          </a:p>
        </p:txBody>
      </p:sp>
      <p:sp>
        <p:nvSpPr>
          <p:cNvPr id="38" name="Oval 37"/>
          <p:cNvSpPr/>
          <p:nvPr/>
        </p:nvSpPr>
        <p:spPr>
          <a:xfrm>
            <a:off x="8585021" y="1460500"/>
            <a:ext cx="508000" cy="508000"/>
          </a:xfrm>
          <a:prstGeom prst="ellipse">
            <a:avLst/>
          </a:prstGeom>
          <a:solidFill>
            <a:srgbClr val="8FB1E6"/>
          </a:solidFill>
          <a:ln w="19050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8700737" y="1572006"/>
            <a:ext cx="276567" cy="2914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0B1B1F"/>
                </a:solidFill>
                <a:latin typeface="Noto Sans SC"/>
                <a:ea typeface="Noto Sans SC"/>
              </a:rPr>
              <a:t>B</a:t>
            </a:r>
          </a:p>
        </p:txBody>
      </p:sp>
      <p:sp>
        <p:nvSpPr>
          <p:cNvPr id="40" name="Oval 39"/>
          <p:cNvSpPr/>
          <p:nvPr/>
        </p:nvSpPr>
        <p:spPr>
          <a:xfrm>
            <a:off x="7748788" y="3280535"/>
            <a:ext cx="508000" cy="508000"/>
          </a:xfrm>
          <a:prstGeom prst="ellipse">
            <a:avLst/>
          </a:prstGeom>
          <a:solidFill>
            <a:srgbClr val="8FB1E6"/>
          </a:solidFill>
          <a:ln w="19050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7867203" y="3392041"/>
            <a:ext cx="271170" cy="2914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0B1B1F"/>
                </a:solidFill>
                <a:latin typeface="Noto Sans SC"/>
                <a:ea typeface="Noto Sans SC"/>
              </a:rPr>
              <a:t>C</a:t>
            </a:r>
          </a:p>
        </p:txBody>
      </p:sp>
      <p:sp>
        <p:nvSpPr>
          <p:cNvPr id="42" name="Oval 41"/>
          <p:cNvSpPr/>
          <p:nvPr/>
        </p:nvSpPr>
        <p:spPr>
          <a:xfrm>
            <a:off x="9898845" y="4250028"/>
            <a:ext cx="635000" cy="635000"/>
          </a:xfrm>
          <a:prstGeom prst="ellipse">
            <a:avLst/>
          </a:prstGeom>
          <a:noFill/>
          <a:ln w="31750">
            <a:solidFill>
              <a:srgbClr val="D8BB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Oval 42"/>
          <p:cNvSpPr/>
          <p:nvPr/>
        </p:nvSpPr>
        <p:spPr>
          <a:xfrm>
            <a:off x="9962345" y="4313528"/>
            <a:ext cx="508000" cy="508000"/>
          </a:xfrm>
          <a:prstGeom prst="ellipse">
            <a:avLst/>
          </a:prstGeom>
          <a:solidFill>
            <a:srgbClr val="8FB1E6"/>
          </a:solidFill>
          <a:ln w="19050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10074498" y="4425034"/>
            <a:ext cx="283692" cy="2914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0B1B1F"/>
                </a:solidFill>
                <a:latin typeface="Noto Sans SC"/>
                <a:ea typeface="Noto Sans SC"/>
              </a:rPr>
              <a:t>D</a:t>
            </a:r>
          </a:p>
        </p:txBody>
      </p:sp>
      <p:sp>
        <p:nvSpPr>
          <p:cNvPr id="45" name="Oval 44"/>
          <p:cNvSpPr/>
          <p:nvPr/>
        </p:nvSpPr>
        <p:spPr>
          <a:xfrm>
            <a:off x="7502838" y="4953000"/>
            <a:ext cx="508000" cy="508000"/>
          </a:xfrm>
          <a:prstGeom prst="ellipse">
            <a:avLst/>
          </a:prstGeom>
          <a:solidFill>
            <a:srgbClr val="77CDBB"/>
          </a:solidFill>
          <a:ln w="19050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7625678" y="5064506"/>
            <a:ext cx="262318" cy="2914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0B1B1F"/>
                </a:solidFill>
                <a:latin typeface="Noto Sans SC"/>
                <a:ea typeface="Noto Sans SC"/>
              </a:rPr>
              <a:t>E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257573" y="5880100"/>
            <a:ext cx="2629852" cy="292100"/>
          </a:xfrm>
          <a:prstGeom prst="roundRect">
            <a:avLst>
              <a:gd name="adj" fmla="val 50000"/>
            </a:avLst>
          </a:prstGeom>
          <a:solidFill>
            <a:srgbClr val="0A2126"/>
          </a:solidFill>
          <a:ln w="12700">
            <a:solidFill>
              <a:srgbClr val="D8BB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7303293" y="5940298"/>
            <a:ext cx="2538412" cy="2228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D8BB78"/>
                </a:solidFill>
                <a:latin typeface="Noto Sans SC"/>
                <a:ea typeface="Noto Sans SC"/>
              </a:rPr>
              <a:t>FS D–E +5，TE C–D −2 → 收益 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1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38100"/>
          </a:xfrm>
          <a:prstGeom prst="rect">
            <a:avLst/>
          </a:prstGeom>
          <a:solidFill>
            <a:srgbClr val="77CDBB">
              <a:alpha val="6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53720" y="450088"/>
            <a:ext cx="1635760" cy="4800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2800" b="0">
                <a:solidFill>
                  <a:srgbClr val="F2F3E9"/>
                </a:solidFill>
                <a:latin typeface="Noto Sans SC"/>
                <a:ea typeface="Noto Sans SC"/>
              </a:rPr>
              <a:t>走完一轮</a:t>
            </a:r>
          </a:p>
        </p:txBody>
      </p:sp>
      <p:sp>
        <p:nvSpPr>
          <p:cNvPr id="5" name="Rectangle 4"/>
          <p:cNvSpPr/>
          <p:nvPr/>
        </p:nvSpPr>
        <p:spPr>
          <a:xfrm>
            <a:off x="571500" y="965200"/>
            <a:ext cx="571500" cy="25400"/>
          </a:xfrm>
          <a:prstGeom prst="rect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6" name="Connector 5"/>
          <p:cNvCxnSpPr/>
          <p:nvPr/>
        </p:nvCxnSpPr>
        <p:spPr>
          <a:xfrm>
            <a:off x="571500" y="6426200"/>
            <a:ext cx="11049000" cy="0"/>
          </a:xfrm>
          <a:prstGeom prst="line">
            <a:avLst/>
          </a:prstGeom>
          <a:ln w="12700">
            <a:solidFill>
              <a:srgbClr val="1D3D4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63880" y="6512052"/>
            <a:ext cx="2870911" cy="2057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0">
                <a:solidFill>
                  <a:srgbClr val="6F8F8F"/>
                </a:solidFill>
                <a:latin typeface="Noto Sans SC"/>
                <a:ea typeface="Noto Sans SC"/>
              </a:rPr>
              <a:t>Module 08 · Fiduccia–Mattheyses 改进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08524" y="6499098"/>
            <a:ext cx="561505" cy="2228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300" b="1">
                <a:solidFill>
                  <a:srgbClr val="BCD2D0"/>
                </a:solidFill>
                <a:latin typeface="Noto Sans SC"/>
                <a:ea typeface="Noto Sans SC"/>
              </a:rPr>
              <a:t>p5/12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55147" y="377952"/>
            <a:ext cx="811072" cy="2057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200" b="0">
                <a:solidFill>
                  <a:srgbClr val="6F8F8F"/>
                </a:solidFill>
                <a:latin typeface="Noto Sans SC"/>
                <a:ea typeface="Noto Sans SC"/>
              </a:rPr>
              <a:t>影片 00:56</a:t>
            </a:r>
          </a:p>
        </p:txBody>
      </p:sp>
      <p:sp>
        <p:nvSpPr>
          <p:cNvPr id="10" name="Oval 9"/>
          <p:cNvSpPr/>
          <p:nvPr/>
        </p:nvSpPr>
        <p:spPr>
          <a:xfrm>
            <a:off x="711200" y="1539494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14400" y="1430782"/>
            <a:ext cx="4718050" cy="3130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D +3（cut 9）→ 左侧 3 人，A 变合法</a:t>
            </a:r>
          </a:p>
        </p:txBody>
      </p:sp>
      <p:sp>
        <p:nvSpPr>
          <p:cNvPr id="12" name="Oval 11"/>
          <p:cNvSpPr/>
          <p:nvPr/>
        </p:nvSpPr>
        <p:spPr>
          <a:xfrm>
            <a:off x="711200" y="1971294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14400" y="1862582"/>
            <a:ext cx="4718050" cy="3130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A +6（cut 3）</a:t>
            </a:r>
          </a:p>
        </p:txBody>
      </p:sp>
      <p:sp>
        <p:nvSpPr>
          <p:cNvPr id="14" name="Oval 13"/>
          <p:cNvSpPr/>
          <p:nvPr/>
        </p:nvSpPr>
        <p:spPr>
          <a:xfrm>
            <a:off x="711200" y="2403094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14400" y="2294382"/>
            <a:ext cx="4718050" cy="3130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之后 C −2、E −6、B −1：照样试探</a:t>
            </a:r>
          </a:p>
        </p:txBody>
      </p:sp>
      <p:sp>
        <p:nvSpPr>
          <p:cNvPr id="16" name="Oval 15"/>
          <p:cNvSpPr/>
          <p:nvPr/>
        </p:nvSpPr>
        <p:spPr>
          <a:xfrm>
            <a:off x="711200" y="2834894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14400" y="2726182"/>
            <a:ext cx="4718050" cy="3130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cut 轨迹 12, 9, 3, 5, 11, 12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3475" y="1710689"/>
            <a:ext cx="304800" cy="2571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500" b="1">
                <a:solidFill>
                  <a:srgbClr val="BCD2D0"/>
                </a:solidFill>
                <a:latin typeface="Noto Sans SC"/>
                <a:ea typeface="Noto Sans SC"/>
              </a:rPr>
              <a:t>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48475" y="1710689"/>
            <a:ext cx="495300" cy="2571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500" b="1">
                <a:solidFill>
                  <a:srgbClr val="BCD2D0"/>
                </a:solidFill>
                <a:latin typeface="Noto Sans SC"/>
                <a:ea typeface="Noto Sans SC"/>
              </a:rPr>
              <a:t>移动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37475" y="1710689"/>
            <a:ext cx="495300" cy="2571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500" b="1">
                <a:solidFill>
                  <a:srgbClr val="BCD2D0"/>
                </a:solidFill>
                <a:latin typeface="Noto Sans SC"/>
                <a:ea typeface="Noto Sans SC"/>
              </a:rPr>
              <a:t>收益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26475" y="1710689"/>
            <a:ext cx="416242" cy="2571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500" b="1">
                <a:solidFill>
                  <a:srgbClr val="BCD2D0"/>
                </a:solidFill>
                <a:latin typeface="Noto Sans SC"/>
                <a:ea typeface="Noto Sans SC"/>
              </a:rPr>
              <a:t>cut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15475" y="1710689"/>
            <a:ext cx="495300" cy="2571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500" b="1">
                <a:solidFill>
                  <a:srgbClr val="BCD2D0"/>
                </a:solidFill>
                <a:latin typeface="Noto Sans SC"/>
                <a:ea typeface="Noto Sans SC"/>
              </a:rPr>
              <a:t>累计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184900" y="2006600"/>
            <a:ext cx="4229100" cy="0"/>
          </a:xfrm>
          <a:prstGeom prst="line">
            <a:avLst/>
          </a:prstGeom>
          <a:ln w="12700">
            <a:solidFill>
              <a:srgbClr val="2D4A4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212205" y="2167382"/>
            <a:ext cx="249364" cy="2914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47205" y="2167382"/>
            <a:ext cx="278079" cy="2914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36205" y="2167382"/>
            <a:ext cx="369189" cy="2914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+3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25205" y="2167382"/>
            <a:ext cx="249364" cy="2914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514205" y="2167382"/>
            <a:ext cx="369189" cy="2914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+3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134100" y="2603500"/>
            <a:ext cx="4368800" cy="457200"/>
          </a:xfrm>
          <a:prstGeom prst="roundRect">
            <a:avLst>
              <a:gd name="adj" fmla="val 11111"/>
            </a:avLst>
          </a:prstGeom>
          <a:solidFill>
            <a:srgbClr val="D8BB78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212205" y="2649982"/>
            <a:ext cx="249364" cy="2914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47205" y="2649982"/>
            <a:ext cx="260807" cy="2914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36205" y="2649982"/>
            <a:ext cx="369189" cy="2914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+6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25205" y="2649982"/>
            <a:ext cx="249364" cy="2914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514205" y="2649982"/>
            <a:ext cx="369189" cy="2914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+9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12205" y="3132582"/>
            <a:ext cx="249364" cy="2914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47205" y="3132582"/>
            <a:ext cx="267284" cy="2914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36205" y="3132582"/>
            <a:ext cx="324281" cy="2914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-2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25205" y="3132582"/>
            <a:ext cx="249364" cy="2914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514205" y="3132582"/>
            <a:ext cx="369189" cy="2914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+7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12205" y="3615182"/>
            <a:ext cx="249364" cy="2914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847205" y="3615182"/>
            <a:ext cx="256705" cy="2914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736205" y="3615182"/>
            <a:ext cx="324281" cy="2914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-6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625205" y="3615182"/>
            <a:ext cx="369189" cy="2914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11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514205" y="3615182"/>
            <a:ext cx="369189" cy="2914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+1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212205" y="4097782"/>
            <a:ext cx="249364" cy="2914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47205" y="4097782"/>
            <a:ext cx="271386" cy="2914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B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736205" y="4097782"/>
            <a:ext cx="324281" cy="2914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-1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25205" y="4097782"/>
            <a:ext cx="369189" cy="2914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12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514205" y="4097782"/>
            <a:ext cx="369189" cy="2914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+0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1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38100"/>
          </a:xfrm>
          <a:prstGeom prst="rect">
            <a:avLst/>
          </a:prstGeom>
          <a:solidFill>
            <a:srgbClr val="77CDBB">
              <a:alpha val="6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53720" y="450088"/>
            <a:ext cx="2702560" cy="4800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2800" b="0">
                <a:solidFill>
                  <a:srgbClr val="F2F3E9"/>
                </a:solidFill>
                <a:latin typeface="Noto Sans SC"/>
                <a:ea typeface="Noto Sans SC"/>
              </a:rPr>
              <a:t>最佳前缀与回退</a:t>
            </a:r>
          </a:p>
        </p:txBody>
      </p:sp>
      <p:sp>
        <p:nvSpPr>
          <p:cNvPr id="5" name="Rectangle 4"/>
          <p:cNvSpPr/>
          <p:nvPr/>
        </p:nvSpPr>
        <p:spPr>
          <a:xfrm>
            <a:off x="571500" y="965200"/>
            <a:ext cx="571500" cy="25400"/>
          </a:xfrm>
          <a:prstGeom prst="rect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6" name="Connector 5"/>
          <p:cNvCxnSpPr/>
          <p:nvPr/>
        </p:nvCxnSpPr>
        <p:spPr>
          <a:xfrm>
            <a:off x="571500" y="6426200"/>
            <a:ext cx="11049000" cy="0"/>
          </a:xfrm>
          <a:prstGeom prst="line">
            <a:avLst/>
          </a:prstGeom>
          <a:ln w="12700">
            <a:solidFill>
              <a:srgbClr val="1D3D4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63880" y="6512052"/>
            <a:ext cx="2870911" cy="2057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0">
                <a:solidFill>
                  <a:srgbClr val="6F8F8F"/>
                </a:solidFill>
                <a:latin typeface="Noto Sans SC"/>
                <a:ea typeface="Noto Sans SC"/>
              </a:rPr>
              <a:t>Module 08 · Fiduccia–Mattheyses 改进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08524" y="6499098"/>
            <a:ext cx="561505" cy="2228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300" b="1">
                <a:solidFill>
                  <a:srgbClr val="BCD2D0"/>
                </a:solidFill>
                <a:latin typeface="Noto Sans SC"/>
                <a:ea typeface="Noto Sans SC"/>
              </a:rPr>
              <a:t>p6/12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55147" y="377952"/>
            <a:ext cx="811072" cy="2057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200" b="0">
                <a:solidFill>
                  <a:srgbClr val="6F8F8F"/>
                </a:solidFill>
                <a:latin typeface="Noto Sans SC"/>
                <a:ea typeface="Noto Sans SC"/>
              </a:rPr>
              <a:t>影片 01:24</a:t>
            </a:r>
          </a:p>
        </p:txBody>
      </p:sp>
      <p:sp>
        <p:nvSpPr>
          <p:cNvPr id="10" name="Oval 9"/>
          <p:cNvSpPr/>
          <p:nvPr/>
        </p:nvSpPr>
        <p:spPr>
          <a:xfrm>
            <a:off x="711200" y="1539494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14400" y="1430782"/>
            <a:ext cx="4718050" cy="3130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累计收益 3, 9, 7, 1, 0</a:t>
            </a:r>
          </a:p>
        </p:txBody>
      </p:sp>
      <p:sp>
        <p:nvSpPr>
          <p:cNvPr id="12" name="Oval 11"/>
          <p:cNvSpPr/>
          <p:nvPr/>
        </p:nvSpPr>
        <p:spPr>
          <a:xfrm>
            <a:off x="711200" y="1971294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14400" y="1862582"/>
            <a:ext cx="4718050" cy="3130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k* = 2：只应用 D、A</a:t>
            </a:r>
          </a:p>
        </p:txBody>
      </p:sp>
      <p:sp>
        <p:nvSpPr>
          <p:cNvPr id="14" name="Oval 13"/>
          <p:cNvSpPr/>
          <p:nvPr/>
        </p:nvSpPr>
        <p:spPr>
          <a:xfrm>
            <a:off x="711200" y="2403094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14400" y="2294382"/>
            <a:ext cx="4718050" cy="3130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接受 ABC | DE，cut 3</a:t>
            </a:r>
          </a:p>
        </p:txBody>
      </p:sp>
      <p:sp>
        <p:nvSpPr>
          <p:cNvPr id="16" name="Oval 15"/>
          <p:cNvSpPr/>
          <p:nvPr/>
        </p:nvSpPr>
        <p:spPr>
          <a:xfrm>
            <a:off x="711200" y="2834894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14400" y="2726182"/>
            <a:ext cx="4718050" cy="3130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试探终点 cut 12 被丢弃；第二轮空前缀，停止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50000" y="1587500"/>
            <a:ext cx="4318000" cy="2667000"/>
          </a:xfrm>
          <a:prstGeom prst="roundRect">
            <a:avLst>
              <a:gd name="adj" fmla="val 3333"/>
            </a:avLst>
          </a:prstGeom>
          <a:solidFill>
            <a:srgbClr val="0D272D">
              <a:alpha val="96000"/>
            </a:srgbClr>
          </a:solidFill>
          <a:ln w="12700">
            <a:solidFill>
              <a:srgbClr val="24474D">
                <a:alpha val="9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506209" y="1698244"/>
            <a:ext cx="817880" cy="2400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400" b="1">
                <a:solidFill>
                  <a:srgbClr val="D8BB78"/>
                </a:solidFill>
                <a:latin typeface="Noto Sans SC"/>
                <a:ea typeface="Noto Sans SC"/>
              </a:rPr>
              <a:t>累计收益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604000" y="3238500"/>
            <a:ext cx="3873500" cy="0"/>
          </a:xfrm>
          <a:prstGeom prst="line">
            <a:avLst/>
          </a:prstGeom>
          <a:ln w="12700">
            <a:solidFill>
              <a:srgbClr val="3B5A5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6731000" y="3238500"/>
            <a:ext cx="444500" cy="31750"/>
          </a:xfrm>
          <a:prstGeom prst="roundRect">
            <a:avLst>
              <a:gd name="adj" fmla="val 50000"/>
            </a:avLst>
          </a:prstGeom>
          <a:solidFill>
            <a:srgbClr val="BCD2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839902" y="2967990"/>
            <a:ext cx="226695" cy="2571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BCD2D0"/>
                </a:solidFill>
                <a:latin typeface="Noto Sans SC"/>
                <a:ea typeface="Noto Sans SC"/>
              </a:rPr>
              <a:t>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80885" y="3972052"/>
            <a:ext cx="344728" cy="2057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BCD2D0"/>
                </a:solidFill>
                <a:latin typeface="Noto Sans SC"/>
                <a:ea typeface="Noto Sans SC"/>
              </a:rPr>
              <a:t>k=0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66000" y="2895600"/>
            <a:ext cx="444500" cy="342900"/>
          </a:xfrm>
          <a:prstGeom prst="roundRect">
            <a:avLst>
              <a:gd name="adj" fmla="val 11111"/>
            </a:avLst>
          </a:prstGeom>
          <a:solidFill>
            <a:srgbClr val="77CD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418705" y="2625090"/>
            <a:ext cx="339090" cy="2571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77CDBB"/>
                </a:solidFill>
                <a:latin typeface="Noto Sans SC"/>
                <a:ea typeface="Noto Sans SC"/>
              </a:rPr>
              <a:t>+3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15885" y="3972052"/>
            <a:ext cx="344728" cy="2057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BCD2D0"/>
                </a:solidFill>
                <a:latin typeface="Noto Sans SC"/>
                <a:ea typeface="Noto Sans SC"/>
              </a:rPr>
              <a:t>k=1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01000" y="2209800"/>
            <a:ext cx="444500" cy="1028700"/>
          </a:xfrm>
          <a:prstGeom prst="roundRect">
            <a:avLst>
              <a:gd name="adj" fmla="val 8571"/>
            </a:avLst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8053705" y="1939289"/>
            <a:ext cx="339090" cy="2571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D8BB78"/>
                </a:solidFill>
                <a:latin typeface="Noto Sans SC"/>
                <a:ea typeface="Noto Sans SC"/>
              </a:rPr>
              <a:t>+9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50885" y="3972052"/>
            <a:ext cx="344728" cy="2057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BCD2D0"/>
                </a:solidFill>
                <a:latin typeface="Noto Sans SC"/>
                <a:ea typeface="Noto Sans SC"/>
              </a:rPr>
              <a:t>k=2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937500" y="1968500"/>
            <a:ext cx="571500" cy="2286000"/>
          </a:xfrm>
          <a:prstGeom prst="roundRect">
            <a:avLst>
              <a:gd name="adj" fmla="val 11111"/>
            </a:avLst>
          </a:prstGeom>
          <a:noFill/>
          <a:ln w="19050">
            <a:solidFill>
              <a:srgbClr val="D8BB7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Rounded Rectangle 30"/>
          <p:cNvSpPr/>
          <p:nvPr/>
        </p:nvSpPr>
        <p:spPr>
          <a:xfrm>
            <a:off x="8636000" y="2438400"/>
            <a:ext cx="444500" cy="800100"/>
          </a:xfrm>
          <a:prstGeom prst="roundRect">
            <a:avLst>
              <a:gd name="adj" fmla="val 8571"/>
            </a:avLst>
          </a:prstGeom>
          <a:solidFill>
            <a:srgbClr val="77CD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8688705" y="2167890"/>
            <a:ext cx="339090" cy="2571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77CDBB"/>
                </a:solidFill>
                <a:latin typeface="Noto Sans SC"/>
                <a:ea typeface="Noto Sans SC"/>
              </a:rPr>
              <a:t>+7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85885" y="3972052"/>
            <a:ext cx="344728" cy="2057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BCD2D0"/>
                </a:solidFill>
                <a:latin typeface="Noto Sans SC"/>
                <a:ea typeface="Noto Sans SC"/>
              </a:rPr>
              <a:t>k=3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271000" y="3124200"/>
            <a:ext cx="444500" cy="114300"/>
          </a:xfrm>
          <a:prstGeom prst="roundRect">
            <a:avLst>
              <a:gd name="adj" fmla="val 33333"/>
            </a:avLst>
          </a:prstGeom>
          <a:solidFill>
            <a:srgbClr val="77CD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9323705" y="2853690"/>
            <a:ext cx="339090" cy="2571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77CDBB"/>
                </a:solidFill>
                <a:latin typeface="Noto Sans SC"/>
                <a:ea typeface="Noto Sans SC"/>
              </a:rPr>
              <a:t>+1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20885" y="3972052"/>
            <a:ext cx="344728" cy="2057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BCD2D0"/>
                </a:solidFill>
                <a:latin typeface="Noto Sans SC"/>
                <a:ea typeface="Noto Sans SC"/>
              </a:rPr>
              <a:t>k=4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906000" y="3238500"/>
            <a:ext cx="444500" cy="31750"/>
          </a:xfrm>
          <a:prstGeom prst="roundRect">
            <a:avLst>
              <a:gd name="adj" fmla="val 50000"/>
            </a:avLst>
          </a:prstGeom>
          <a:solidFill>
            <a:srgbClr val="BCD2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10014902" y="2967990"/>
            <a:ext cx="226695" cy="2571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BCD2D0"/>
                </a:solidFill>
                <a:latin typeface="Noto Sans SC"/>
                <a:ea typeface="Noto Sans SC"/>
              </a:rPr>
              <a:t>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955885" y="3972052"/>
            <a:ext cx="344728" cy="2057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BCD2D0"/>
                </a:solidFill>
                <a:latin typeface="Noto Sans SC"/>
                <a:ea typeface="Noto Sans SC"/>
              </a:rPr>
              <a:t>k=5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298416" y="4737100"/>
            <a:ext cx="2421166" cy="292100"/>
          </a:xfrm>
          <a:prstGeom prst="roundRect">
            <a:avLst>
              <a:gd name="adj" fmla="val 50000"/>
            </a:avLst>
          </a:prstGeom>
          <a:solidFill>
            <a:srgbClr val="0A2126"/>
          </a:solidFill>
          <a:ln w="12700">
            <a:solidFill>
              <a:srgbClr val="77CD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7344136" y="4797298"/>
            <a:ext cx="2329726" cy="2228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77CDBB"/>
                </a:solidFill>
                <a:latin typeface="Noto Sans SC"/>
                <a:ea typeface="Noto Sans SC"/>
              </a:rPr>
              <a:t>接受前 2 步：ABC | DE，cut 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1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38100"/>
          </a:xfrm>
          <a:prstGeom prst="rect">
            <a:avLst/>
          </a:prstGeom>
          <a:solidFill>
            <a:srgbClr val="77CDBB">
              <a:alpha val="6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53720" y="450088"/>
            <a:ext cx="4662271" cy="4800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2800" b="0">
                <a:solidFill>
                  <a:srgbClr val="F2F3E9"/>
                </a:solidFill>
                <a:latin typeface="Noto Sans SC"/>
                <a:ea typeface="Noto Sans SC"/>
              </a:rPr>
              <a:t>审查原附件的 hillclimb 说明</a:t>
            </a:r>
          </a:p>
        </p:txBody>
      </p:sp>
      <p:sp>
        <p:nvSpPr>
          <p:cNvPr id="5" name="Rectangle 4"/>
          <p:cNvSpPr/>
          <p:nvPr/>
        </p:nvSpPr>
        <p:spPr>
          <a:xfrm>
            <a:off x="571500" y="965200"/>
            <a:ext cx="571500" cy="25400"/>
          </a:xfrm>
          <a:prstGeom prst="rect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6" name="Connector 5"/>
          <p:cNvCxnSpPr/>
          <p:nvPr/>
        </p:nvCxnSpPr>
        <p:spPr>
          <a:xfrm>
            <a:off x="571500" y="6426200"/>
            <a:ext cx="11049000" cy="0"/>
          </a:xfrm>
          <a:prstGeom prst="line">
            <a:avLst/>
          </a:prstGeom>
          <a:ln w="12700">
            <a:solidFill>
              <a:srgbClr val="1D3D4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63880" y="6512052"/>
            <a:ext cx="2870911" cy="2057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0">
                <a:solidFill>
                  <a:srgbClr val="6F8F8F"/>
                </a:solidFill>
                <a:latin typeface="Noto Sans SC"/>
                <a:ea typeface="Noto Sans SC"/>
              </a:rPr>
              <a:t>Module 08 · Fiduccia–Mattheyses 改进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08524" y="6499098"/>
            <a:ext cx="561505" cy="2228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300" b="1">
                <a:solidFill>
                  <a:srgbClr val="BCD2D0"/>
                </a:solidFill>
                <a:latin typeface="Noto Sans SC"/>
                <a:ea typeface="Noto Sans SC"/>
              </a:rPr>
              <a:t>p7/12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55147" y="377952"/>
            <a:ext cx="811072" cy="2057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200" b="0">
                <a:solidFill>
                  <a:srgbClr val="6F8F8F"/>
                </a:solidFill>
                <a:latin typeface="Noto Sans SC"/>
                <a:ea typeface="Noto Sans SC"/>
              </a:rPr>
              <a:t>影片 01:42</a:t>
            </a:r>
          </a:p>
        </p:txBody>
      </p:sp>
      <p:sp>
        <p:nvSpPr>
          <p:cNvPr id="10" name="Oval 9"/>
          <p:cNvSpPr/>
          <p:nvPr/>
        </p:nvSpPr>
        <p:spPr>
          <a:xfrm>
            <a:off x="711200" y="1539494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14400" y="1430782"/>
            <a:ext cx="4718050" cy="3130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原文：初始 cut 9，合法收益全 ≤ 0，最终 4</a:t>
            </a:r>
          </a:p>
        </p:txBody>
      </p:sp>
      <p:sp>
        <p:nvSpPr>
          <p:cNvPr id="12" name="Oval 11"/>
          <p:cNvSpPr/>
          <p:nvPr/>
        </p:nvSpPr>
        <p:spPr>
          <a:xfrm>
            <a:off x="711200" y="1971294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14400" y="1862582"/>
            <a:ext cx="4718050" cy="3130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按附件数据：初始 cut 18</a:t>
            </a:r>
          </a:p>
        </p:txBody>
      </p:sp>
      <p:sp>
        <p:nvSpPr>
          <p:cNvPr id="14" name="Oval 13"/>
          <p:cNvSpPr/>
          <p:nvPr/>
        </p:nvSpPr>
        <p:spPr>
          <a:xfrm>
            <a:off x="711200" y="2403094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14400" y="2294382"/>
            <a:ext cx="4718050" cy="3130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E 合法且收益 +10</a:t>
            </a:r>
          </a:p>
        </p:txBody>
      </p:sp>
      <p:sp>
        <p:nvSpPr>
          <p:cNvPr id="16" name="Oval 15"/>
          <p:cNvSpPr/>
          <p:nvPr/>
        </p:nvSpPr>
        <p:spPr>
          <a:xfrm>
            <a:off x="711200" y="2834894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14400" y="2726182"/>
            <a:ext cx="4718050" cy="3130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首轮最佳 8 = 穷举平衡最优 8</a:t>
            </a:r>
          </a:p>
        </p:txBody>
      </p:sp>
      <p:sp>
        <p:nvSpPr>
          <p:cNvPr id="18" name="Oval 17"/>
          <p:cNvSpPr/>
          <p:nvPr/>
        </p:nvSpPr>
        <p:spPr>
          <a:xfrm>
            <a:off x="711200" y="3266694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14400" y="3157982"/>
            <a:ext cx="4718050" cy="3130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DB7B72"/>
                </a:solidFill>
                <a:latin typeface="Noto Sans SC"/>
                <a:ea typeface="Noto Sans SC"/>
              </a:rPr>
              <a:t>文字与数据不符：只作回归测试，不作教材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37475" y="1837689"/>
            <a:ext cx="495300" cy="2571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500" b="1">
                <a:solidFill>
                  <a:srgbClr val="BCD2D0"/>
                </a:solidFill>
                <a:latin typeface="Noto Sans SC"/>
                <a:ea typeface="Noto Sans SC"/>
              </a:rPr>
              <a:t>原文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88475" y="1837689"/>
            <a:ext cx="1066800" cy="2571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500" b="1">
                <a:solidFill>
                  <a:srgbClr val="BCD2D0"/>
                </a:solidFill>
                <a:latin typeface="Noto Sans SC"/>
                <a:ea typeface="Noto Sans SC"/>
              </a:rPr>
              <a:t>按数据计算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184900" y="2133600"/>
            <a:ext cx="5372100" cy="0"/>
          </a:xfrm>
          <a:prstGeom prst="line">
            <a:avLst/>
          </a:prstGeom>
          <a:ln w="12700">
            <a:solidFill>
              <a:srgbClr val="2D4A4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6134100" y="2336800"/>
            <a:ext cx="5511800" cy="546100"/>
          </a:xfrm>
          <a:prstGeom prst="roundRect">
            <a:avLst>
              <a:gd name="adj" fmla="val 9302"/>
            </a:avLst>
          </a:prstGeom>
          <a:solidFill>
            <a:srgbClr val="DB7B72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6212205" y="2383282"/>
            <a:ext cx="932256" cy="2914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初始 cut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36205" y="2383282"/>
            <a:ext cx="249364" cy="2914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87205" y="2383282"/>
            <a:ext cx="369189" cy="2914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18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34100" y="2908300"/>
            <a:ext cx="5511800" cy="546100"/>
          </a:xfrm>
          <a:prstGeom prst="roundRect">
            <a:avLst>
              <a:gd name="adj" fmla="val 9302"/>
            </a:avLst>
          </a:prstGeom>
          <a:solidFill>
            <a:srgbClr val="DB7B72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6212205" y="2954782"/>
            <a:ext cx="993140" cy="2914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合法收益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36205" y="2954782"/>
            <a:ext cx="993787" cy="2914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全部 ≤ 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87205" y="2954782"/>
            <a:ext cx="1144701" cy="2914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E 合法 +10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134100" y="3479800"/>
            <a:ext cx="5511800" cy="546100"/>
          </a:xfrm>
          <a:prstGeom prst="roundRect">
            <a:avLst>
              <a:gd name="adj" fmla="val 9302"/>
            </a:avLst>
          </a:prstGeom>
          <a:solidFill>
            <a:srgbClr val="DB7B72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6212205" y="3526282"/>
            <a:ext cx="932256" cy="2914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最终 cut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36205" y="3526282"/>
            <a:ext cx="249364" cy="2914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387205" y="3526282"/>
            <a:ext cx="729526" cy="2914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首轮 8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134100" y="4051300"/>
            <a:ext cx="5511800" cy="546100"/>
          </a:xfrm>
          <a:prstGeom prst="roundRect">
            <a:avLst>
              <a:gd name="adj" fmla="val 9302"/>
            </a:avLst>
          </a:prstGeom>
          <a:solidFill>
            <a:srgbClr val="DB7B72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6212205" y="4097782"/>
            <a:ext cx="993140" cy="2914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穷举最优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36205" y="4097782"/>
            <a:ext cx="322554" cy="2914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387205" y="4097782"/>
            <a:ext cx="249364" cy="2914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1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38100"/>
          </a:xfrm>
          <a:prstGeom prst="rect">
            <a:avLst/>
          </a:prstGeom>
          <a:solidFill>
            <a:srgbClr val="77CDBB">
              <a:alpha val="6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53720" y="450088"/>
            <a:ext cx="3413760" cy="4800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2800" b="0">
                <a:solidFill>
                  <a:srgbClr val="F2F3E9"/>
                </a:solidFill>
                <a:latin typeface="Noto Sans SC"/>
                <a:ea typeface="Noto Sans SC"/>
              </a:rPr>
              <a:t>替换反例：先负后正</a:t>
            </a:r>
          </a:p>
        </p:txBody>
      </p:sp>
      <p:sp>
        <p:nvSpPr>
          <p:cNvPr id="5" name="Rectangle 4"/>
          <p:cNvSpPr/>
          <p:nvPr/>
        </p:nvSpPr>
        <p:spPr>
          <a:xfrm>
            <a:off x="571500" y="965200"/>
            <a:ext cx="571500" cy="25400"/>
          </a:xfrm>
          <a:prstGeom prst="rect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6" name="Connector 5"/>
          <p:cNvCxnSpPr/>
          <p:nvPr/>
        </p:nvCxnSpPr>
        <p:spPr>
          <a:xfrm>
            <a:off x="571500" y="6426200"/>
            <a:ext cx="11049000" cy="0"/>
          </a:xfrm>
          <a:prstGeom prst="line">
            <a:avLst/>
          </a:prstGeom>
          <a:ln w="12700">
            <a:solidFill>
              <a:srgbClr val="1D3D4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63880" y="6512052"/>
            <a:ext cx="2870911" cy="2057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0">
                <a:solidFill>
                  <a:srgbClr val="6F8F8F"/>
                </a:solidFill>
                <a:latin typeface="Noto Sans SC"/>
                <a:ea typeface="Noto Sans SC"/>
              </a:rPr>
              <a:t>Module 08 · Fiduccia–Mattheyses 改进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08524" y="6499098"/>
            <a:ext cx="561505" cy="2228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300" b="1">
                <a:solidFill>
                  <a:srgbClr val="BCD2D0"/>
                </a:solidFill>
                <a:latin typeface="Noto Sans SC"/>
                <a:ea typeface="Noto Sans SC"/>
              </a:rPr>
              <a:t>p8/12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55147" y="377952"/>
            <a:ext cx="811072" cy="2057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200" b="0">
                <a:solidFill>
                  <a:srgbClr val="6F8F8F"/>
                </a:solidFill>
                <a:latin typeface="Noto Sans SC"/>
                <a:ea typeface="Noto Sans SC"/>
              </a:rPr>
              <a:t>影片 02:07</a:t>
            </a:r>
          </a:p>
        </p:txBody>
      </p:sp>
      <p:sp>
        <p:nvSpPr>
          <p:cNvPr id="10" name="Oval 9"/>
          <p:cNvSpPr/>
          <p:nvPr/>
        </p:nvSpPr>
        <p:spPr>
          <a:xfrm>
            <a:off x="711200" y="1539494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14400" y="1430782"/>
            <a:ext cx="4718050" cy="3130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6 节点，种子 ADE | BCF，maxDiff = 2，cut 6</a:t>
            </a:r>
          </a:p>
        </p:txBody>
      </p:sp>
      <p:sp>
        <p:nvSpPr>
          <p:cNvPr id="12" name="Oval 11"/>
          <p:cNvSpPr/>
          <p:nvPr/>
        </p:nvSpPr>
        <p:spPr>
          <a:xfrm>
            <a:off x="711200" y="1971294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14400" y="1862582"/>
            <a:ext cx="4718050" cy="3130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初始所有合法收益 ≤ 0：爬山法停在 6</a:t>
            </a:r>
          </a:p>
        </p:txBody>
      </p:sp>
      <p:sp>
        <p:nvSpPr>
          <p:cNvPr id="14" name="Oval 13"/>
          <p:cNvSpPr/>
          <p:nvPr/>
        </p:nvSpPr>
        <p:spPr>
          <a:xfrm>
            <a:off x="711200" y="2403094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14400" y="2294382"/>
            <a:ext cx="4718050" cy="3130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FM：A −1、B −1（cut 8），然后 E +4（cut 4）</a:t>
            </a:r>
          </a:p>
        </p:txBody>
      </p:sp>
      <p:sp>
        <p:nvSpPr>
          <p:cNvPr id="16" name="Oval 15"/>
          <p:cNvSpPr/>
          <p:nvPr/>
        </p:nvSpPr>
        <p:spPr>
          <a:xfrm>
            <a:off x="711200" y="2834894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14400" y="2726182"/>
            <a:ext cx="4718050" cy="3130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保留 3 步：cut 4 = 穷举平衡最优</a:t>
            </a:r>
          </a:p>
        </p:txBody>
      </p:sp>
      <p:sp>
        <p:nvSpPr>
          <p:cNvPr id="18" name="Oval 17"/>
          <p:cNvSpPr/>
          <p:nvPr/>
        </p:nvSpPr>
        <p:spPr>
          <a:xfrm>
            <a:off x="711200" y="3266694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14400" y="3157982"/>
            <a:ext cx="4718050" cy="3130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由固定种子搜索得到，测试中穷举核验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096000" y="2005541"/>
            <a:ext cx="1979083" cy="0"/>
          </a:xfrm>
          <a:prstGeom prst="line">
            <a:avLst/>
          </a:prstGeom>
          <a:ln w="31750">
            <a:solidFill>
              <a:srgbClr val="9FC9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6939237" y="1637749"/>
            <a:ext cx="292608" cy="292608"/>
          </a:xfrm>
          <a:prstGeom prst="ellipse">
            <a:avLst/>
          </a:prstGeom>
          <a:solidFill>
            <a:srgbClr val="071C22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964637" y="1645877"/>
            <a:ext cx="241808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D9E4E1"/>
                </a:solidFill>
                <a:latin typeface="Noto Sans SC"/>
                <a:ea typeface="Noto Sans SC"/>
              </a:rPr>
              <a:t>4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096000" y="2005541"/>
            <a:ext cx="989541" cy="756709"/>
          </a:xfrm>
          <a:prstGeom prst="line">
            <a:avLst/>
          </a:prstGeom>
          <a:ln w="31750">
            <a:solidFill>
              <a:srgbClr val="9FC9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Oval 23"/>
          <p:cNvSpPr/>
          <p:nvPr/>
        </p:nvSpPr>
        <p:spPr>
          <a:xfrm>
            <a:off x="6537042" y="2047443"/>
            <a:ext cx="292608" cy="292608"/>
          </a:xfrm>
          <a:prstGeom prst="ellipse">
            <a:avLst/>
          </a:prstGeom>
          <a:solidFill>
            <a:srgbClr val="071C22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6562442" y="2055571"/>
            <a:ext cx="241808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D9E4E1"/>
                </a:solidFill>
                <a:latin typeface="Noto Sans SC"/>
                <a:ea typeface="Noto Sans SC"/>
              </a:rPr>
              <a:t>5</a:t>
            </a:r>
          </a:p>
        </p:txBody>
      </p:sp>
      <p:cxnSp>
        <p:nvCxnSpPr>
          <p:cNvPr id="26" name="Connector 25"/>
          <p:cNvCxnSpPr/>
          <p:nvPr/>
        </p:nvCxnSpPr>
        <p:spPr>
          <a:xfrm flipH="1" flipV="1">
            <a:off x="8075083" y="2005541"/>
            <a:ext cx="814917" cy="756709"/>
          </a:xfrm>
          <a:prstGeom prst="line">
            <a:avLst/>
          </a:prstGeom>
          <a:ln w="25400">
            <a:solidFill>
              <a:srgbClr val="DB7B72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Oval 26"/>
          <p:cNvSpPr/>
          <p:nvPr/>
        </p:nvSpPr>
        <p:spPr>
          <a:xfrm>
            <a:off x="8232536" y="2280181"/>
            <a:ext cx="292608" cy="292608"/>
          </a:xfrm>
          <a:prstGeom prst="ellipse">
            <a:avLst/>
          </a:prstGeom>
          <a:solidFill>
            <a:srgbClr val="071C22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8257936" y="2288309"/>
            <a:ext cx="241808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D9E4E1"/>
                </a:solidFill>
                <a:latin typeface="Noto Sans SC"/>
                <a:ea typeface="Noto Sans SC"/>
              </a:rPr>
              <a:t>2</a:t>
            </a:r>
          </a:p>
        </p:txBody>
      </p:sp>
      <p:cxnSp>
        <p:nvCxnSpPr>
          <p:cNvPr id="29" name="Connector 28"/>
          <p:cNvCxnSpPr/>
          <p:nvPr/>
        </p:nvCxnSpPr>
        <p:spPr>
          <a:xfrm flipH="1">
            <a:off x="7085541" y="2762250"/>
            <a:ext cx="1804459" cy="0"/>
          </a:xfrm>
          <a:prstGeom prst="line">
            <a:avLst/>
          </a:prstGeom>
          <a:ln w="25400">
            <a:solidFill>
              <a:srgbClr val="DB7B72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Oval 29"/>
          <p:cNvSpPr/>
          <p:nvPr/>
        </p:nvSpPr>
        <p:spPr>
          <a:xfrm>
            <a:off x="7841466" y="2699258"/>
            <a:ext cx="292608" cy="292608"/>
          </a:xfrm>
          <a:prstGeom prst="ellipse">
            <a:avLst/>
          </a:prstGeom>
          <a:solidFill>
            <a:srgbClr val="071C22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7866866" y="2707386"/>
            <a:ext cx="241808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D9E4E1"/>
                </a:solidFill>
                <a:latin typeface="Noto Sans SC"/>
                <a:ea typeface="Noto Sans SC"/>
              </a:rPr>
              <a:t>1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8075083" y="2005541"/>
            <a:ext cx="0" cy="1513417"/>
          </a:xfrm>
          <a:prstGeom prst="line">
            <a:avLst/>
          </a:prstGeom>
          <a:ln w="31750">
            <a:solidFill>
              <a:srgbClr val="9FC9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Oval 32"/>
          <p:cNvSpPr/>
          <p:nvPr/>
        </p:nvSpPr>
        <p:spPr>
          <a:xfrm>
            <a:off x="8081179" y="2546858"/>
            <a:ext cx="292608" cy="292608"/>
          </a:xfrm>
          <a:prstGeom prst="ellipse">
            <a:avLst/>
          </a:prstGeom>
          <a:solidFill>
            <a:srgbClr val="071C22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106579" y="2554986"/>
            <a:ext cx="241808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D9E4E1"/>
                </a:solidFill>
                <a:latin typeface="Noto Sans SC"/>
                <a:ea typeface="Noto Sans SC"/>
              </a:rPr>
              <a:t>3</a:t>
            </a:r>
          </a:p>
        </p:txBody>
      </p:sp>
      <p:cxnSp>
        <p:nvCxnSpPr>
          <p:cNvPr id="35" name="Connector 34"/>
          <p:cNvCxnSpPr/>
          <p:nvPr/>
        </p:nvCxnSpPr>
        <p:spPr>
          <a:xfrm flipV="1">
            <a:off x="6096000" y="2762250"/>
            <a:ext cx="989541" cy="756708"/>
          </a:xfrm>
          <a:prstGeom prst="line">
            <a:avLst/>
          </a:prstGeom>
          <a:ln w="25400">
            <a:solidFill>
              <a:srgbClr val="DB7B72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Oval 35"/>
          <p:cNvSpPr/>
          <p:nvPr/>
        </p:nvSpPr>
        <p:spPr>
          <a:xfrm>
            <a:off x="6351891" y="2804152"/>
            <a:ext cx="292608" cy="292608"/>
          </a:xfrm>
          <a:prstGeom prst="ellipse">
            <a:avLst/>
          </a:prstGeom>
          <a:solidFill>
            <a:srgbClr val="071C22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6377291" y="2812280"/>
            <a:ext cx="241808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D9E4E1"/>
                </a:solidFill>
                <a:latin typeface="Noto Sans SC"/>
                <a:ea typeface="Noto Sans SC"/>
              </a:rPr>
              <a:t>1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7085541" y="2762250"/>
            <a:ext cx="989542" cy="756708"/>
          </a:xfrm>
          <a:prstGeom prst="line">
            <a:avLst/>
          </a:prstGeom>
          <a:ln w="31750">
            <a:solidFill>
              <a:srgbClr val="9FC9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Oval 38"/>
          <p:cNvSpPr/>
          <p:nvPr/>
        </p:nvSpPr>
        <p:spPr>
          <a:xfrm>
            <a:off x="7526583" y="2804152"/>
            <a:ext cx="292608" cy="292608"/>
          </a:xfrm>
          <a:prstGeom prst="ellipse">
            <a:avLst/>
          </a:prstGeom>
          <a:solidFill>
            <a:srgbClr val="071C22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7551983" y="2812280"/>
            <a:ext cx="241808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D9E4E1"/>
                </a:solidFill>
                <a:latin typeface="Noto Sans SC"/>
                <a:ea typeface="Noto Sans SC"/>
              </a:rPr>
              <a:t>1</a:t>
            </a:r>
          </a:p>
        </p:txBody>
      </p:sp>
      <p:sp>
        <p:nvSpPr>
          <p:cNvPr id="41" name="Oval 40"/>
          <p:cNvSpPr/>
          <p:nvPr/>
        </p:nvSpPr>
        <p:spPr>
          <a:xfrm>
            <a:off x="5880100" y="1789641"/>
            <a:ext cx="431800" cy="431800"/>
          </a:xfrm>
          <a:prstGeom prst="ellipse">
            <a:avLst/>
          </a:prstGeom>
          <a:solidFill>
            <a:srgbClr val="8FB1E6"/>
          </a:solidFill>
          <a:ln w="19050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5961170" y="1863047"/>
            <a:ext cx="269659" cy="2914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0B1B1F"/>
                </a:solidFill>
                <a:latin typeface="Noto Sans SC"/>
                <a:ea typeface="Noto Sans SC"/>
              </a:rPr>
              <a:t>A</a:t>
            </a:r>
          </a:p>
        </p:txBody>
      </p:sp>
      <p:sp>
        <p:nvSpPr>
          <p:cNvPr id="43" name="Oval 42"/>
          <p:cNvSpPr/>
          <p:nvPr/>
        </p:nvSpPr>
        <p:spPr>
          <a:xfrm>
            <a:off x="6869641" y="2546350"/>
            <a:ext cx="431800" cy="431800"/>
          </a:xfrm>
          <a:prstGeom prst="ellipse">
            <a:avLst/>
          </a:prstGeom>
          <a:solidFill>
            <a:srgbClr val="8FB1E6"/>
          </a:solidFill>
          <a:ln w="19050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6954382" y="2619756"/>
            <a:ext cx="262318" cy="2914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0B1B1F"/>
                </a:solidFill>
                <a:latin typeface="Noto Sans SC"/>
                <a:ea typeface="Noto Sans SC"/>
              </a:rPr>
              <a:t>E</a:t>
            </a:r>
          </a:p>
        </p:txBody>
      </p:sp>
      <p:sp>
        <p:nvSpPr>
          <p:cNvPr id="45" name="Oval 44"/>
          <p:cNvSpPr/>
          <p:nvPr/>
        </p:nvSpPr>
        <p:spPr>
          <a:xfrm>
            <a:off x="5880100" y="3303058"/>
            <a:ext cx="431800" cy="431800"/>
          </a:xfrm>
          <a:prstGeom prst="ellipse">
            <a:avLst/>
          </a:prstGeom>
          <a:solidFill>
            <a:srgbClr val="77CDBB"/>
          </a:solidFill>
          <a:ln w="19050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5954153" y="3376464"/>
            <a:ext cx="283692" cy="2914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0B1B1F"/>
                </a:solidFill>
                <a:latin typeface="Noto Sans SC"/>
                <a:ea typeface="Noto Sans SC"/>
              </a:rPr>
              <a:t>D</a:t>
            </a:r>
          </a:p>
        </p:txBody>
      </p:sp>
      <p:sp>
        <p:nvSpPr>
          <p:cNvPr id="47" name="Oval 46"/>
          <p:cNvSpPr/>
          <p:nvPr/>
        </p:nvSpPr>
        <p:spPr>
          <a:xfrm>
            <a:off x="7859183" y="1789641"/>
            <a:ext cx="431800" cy="431800"/>
          </a:xfrm>
          <a:prstGeom prst="ellipse">
            <a:avLst/>
          </a:prstGeom>
          <a:solidFill>
            <a:srgbClr val="8FB1E6"/>
          </a:solidFill>
          <a:ln w="19050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7939498" y="1863047"/>
            <a:ext cx="271170" cy="2914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0B1B1F"/>
                </a:solidFill>
                <a:latin typeface="Noto Sans SC"/>
                <a:ea typeface="Noto Sans SC"/>
              </a:rPr>
              <a:t>C</a:t>
            </a:r>
          </a:p>
        </p:txBody>
      </p:sp>
      <p:sp>
        <p:nvSpPr>
          <p:cNvPr id="49" name="Oval 48"/>
          <p:cNvSpPr/>
          <p:nvPr/>
        </p:nvSpPr>
        <p:spPr>
          <a:xfrm>
            <a:off x="8674100" y="2546350"/>
            <a:ext cx="431800" cy="431800"/>
          </a:xfrm>
          <a:prstGeom prst="ellipse">
            <a:avLst/>
          </a:prstGeom>
          <a:solidFill>
            <a:srgbClr val="77CDBB"/>
          </a:solidFill>
          <a:ln w="19050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8751716" y="2619756"/>
            <a:ext cx="276567" cy="2914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0B1B1F"/>
                </a:solidFill>
                <a:latin typeface="Noto Sans SC"/>
                <a:ea typeface="Noto Sans SC"/>
              </a:rPr>
              <a:t>B</a:t>
            </a:r>
          </a:p>
        </p:txBody>
      </p:sp>
      <p:sp>
        <p:nvSpPr>
          <p:cNvPr id="51" name="Oval 50"/>
          <p:cNvSpPr/>
          <p:nvPr/>
        </p:nvSpPr>
        <p:spPr>
          <a:xfrm>
            <a:off x="7859183" y="3303058"/>
            <a:ext cx="431800" cy="431800"/>
          </a:xfrm>
          <a:prstGeom prst="ellipse">
            <a:avLst/>
          </a:prstGeom>
          <a:solidFill>
            <a:srgbClr val="8FB1E6"/>
          </a:solidFill>
          <a:ln w="19050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7947162" y="3376464"/>
            <a:ext cx="255841" cy="2914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0B1B1F"/>
                </a:solidFill>
                <a:latin typeface="Noto Sans SC"/>
                <a:ea typeface="Noto Sans SC"/>
              </a:rPr>
              <a:t>F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390380" y="1622552"/>
            <a:ext cx="243840" cy="2057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>
                <a:solidFill>
                  <a:srgbClr val="BCD2D0"/>
                </a:solidFill>
                <a:latin typeface="Noto Sans SC"/>
                <a:ea typeface="Noto Sans SC"/>
              </a:rPr>
              <a:t>步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834880" y="1622552"/>
            <a:ext cx="396240" cy="2057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>
                <a:solidFill>
                  <a:srgbClr val="BCD2D0"/>
                </a:solidFill>
                <a:latin typeface="Noto Sans SC"/>
                <a:ea typeface="Noto Sans SC"/>
              </a:rPr>
              <a:t>移动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469880" y="1622552"/>
            <a:ext cx="396240" cy="2057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>
                <a:solidFill>
                  <a:srgbClr val="BCD2D0"/>
                </a:solidFill>
                <a:latin typeface="Noto Sans SC"/>
                <a:ea typeface="Noto Sans SC"/>
              </a:rPr>
              <a:t>收益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104880" y="1622552"/>
            <a:ext cx="332994" cy="2057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>
                <a:solidFill>
                  <a:srgbClr val="BCD2D0"/>
                </a:solidFill>
                <a:latin typeface="Noto Sans SC"/>
                <a:ea typeface="Noto Sans SC"/>
              </a:rPr>
              <a:t>cut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9359900" y="1879600"/>
            <a:ext cx="2260600" cy="0"/>
          </a:xfrm>
          <a:prstGeom prst="line">
            <a:avLst/>
          </a:prstGeom>
          <a:ln w="12700">
            <a:solidFill>
              <a:srgbClr val="2D4A4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/>
          <p:cNvSpPr txBox="1"/>
          <p:nvPr/>
        </p:nvSpPr>
        <p:spPr>
          <a:xfrm>
            <a:off x="9389110" y="1964944"/>
            <a:ext cx="205359" cy="2400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400" b="0">
                <a:solidFill>
                  <a:srgbClr val="F2F3E9"/>
                </a:solidFill>
                <a:latin typeface="Noto Sans SC"/>
                <a:ea typeface="Noto Sans SC"/>
              </a:rPr>
              <a:t>1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833610" y="1964944"/>
            <a:ext cx="214782" cy="2400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400" b="0">
                <a:solidFill>
                  <a:srgbClr val="F2F3E9"/>
                </a:solidFill>
                <a:latin typeface="Noto Sans SC"/>
                <a:ea typeface="Noto Sans SC"/>
              </a:rPr>
              <a:t>A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468610" y="1964944"/>
            <a:ext cx="267055" cy="2400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400" b="0">
                <a:solidFill>
                  <a:srgbClr val="F2F3E9"/>
                </a:solidFill>
                <a:latin typeface="Noto Sans SC"/>
                <a:ea typeface="Noto Sans SC"/>
              </a:rPr>
              <a:t>-1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1103610" y="1964944"/>
            <a:ext cx="205359" cy="2400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400" b="0">
                <a:solidFill>
                  <a:srgbClr val="F2F3E9"/>
                </a:solidFill>
                <a:latin typeface="Noto Sans SC"/>
                <a:ea typeface="Noto Sans SC"/>
              </a:rPr>
              <a:t>7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389110" y="2333244"/>
            <a:ext cx="205359" cy="2400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400" b="0">
                <a:solidFill>
                  <a:srgbClr val="F2F3E9"/>
                </a:solidFill>
                <a:latin typeface="Noto Sans SC"/>
                <a:ea typeface="Noto Sans SC"/>
              </a:rPr>
              <a:t>2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833610" y="2333244"/>
            <a:ext cx="223494" cy="2400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400" b="0">
                <a:solidFill>
                  <a:srgbClr val="F2F3E9"/>
                </a:solidFill>
                <a:latin typeface="Noto Sans SC"/>
                <a:ea typeface="Noto Sans SC"/>
              </a:rPr>
              <a:t>B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468610" y="2333244"/>
            <a:ext cx="267055" cy="2400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400" b="0">
                <a:solidFill>
                  <a:srgbClr val="F2F3E9"/>
                </a:solidFill>
                <a:latin typeface="Noto Sans SC"/>
                <a:ea typeface="Noto Sans SC"/>
              </a:rPr>
              <a:t>-1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1103610" y="2333244"/>
            <a:ext cx="205359" cy="2400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400" b="0">
                <a:solidFill>
                  <a:srgbClr val="F2F3E9"/>
                </a:solidFill>
                <a:latin typeface="Noto Sans SC"/>
                <a:ea typeface="Noto Sans SC"/>
              </a:rPr>
              <a:t>8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9309100" y="2654300"/>
            <a:ext cx="2400300" cy="342900"/>
          </a:xfrm>
          <a:prstGeom prst="roundRect">
            <a:avLst>
              <a:gd name="adj" fmla="val 14814"/>
            </a:avLst>
          </a:prstGeom>
          <a:solidFill>
            <a:srgbClr val="D8BB78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7" name="TextBox 66"/>
          <p:cNvSpPr txBox="1"/>
          <p:nvPr/>
        </p:nvSpPr>
        <p:spPr>
          <a:xfrm>
            <a:off x="9389110" y="2701544"/>
            <a:ext cx="205359" cy="2400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400" b="0">
                <a:solidFill>
                  <a:srgbClr val="F2F3E9"/>
                </a:solidFill>
                <a:latin typeface="Noto Sans SC"/>
                <a:ea typeface="Noto Sans SC"/>
              </a:rPr>
              <a:t>3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833610" y="2701544"/>
            <a:ext cx="211404" cy="2400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400" b="0">
                <a:solidFill>
                  <a:srgbClr val="F2F3E9"/>
                </a:solidFill>
                <a:latin typeface="Noto Sans SC"/>
                <a:ea typeface="Noto Sans SC"/>
              </a:rPr>
              <a:t>E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468610" y="2701544"/>
            <a:ext cx="304038" cy="2400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400" b="0">
                <a:solidFill>
                  <a:srgbClr val="F2F3E9"/>
                </a:solidFill>
                <a:latin typeface="Noto Sans SC"/>
                <a:ea typeface="Noto Sans SC"/>
              </a:rPr>
              <a:t>+4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1103610" y="2701544"/>
            <a:ext cx="205359" cy="2400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400" b="0">
                <a:solidFill>
                  <a:srgbClr val="F2F3E9"/>
                </a:solidFill>
                <a:latin typeface="Noto Sans SC"/>
                <a:ea typeface="Noto Sans SC"/>
              </a:rPr>
              <a:t>4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7277468" y="5245100"/>
            <a:ext cx="2590063" cy="292100"/>
          </a:xfrm>
          <a:prstGeom prst="roundRect">
            <a:avLst>
              <a:gd name="adj" fmla="val 50000"/>
            </a:avLst>
          </a:prstGeom>
          <a:solidFill>
            <a:srgbClr val="0A2126"/>
          </a:solidFill>
          <a:ln w="12700">
            <a:solidFill>
              <a:srgbClr val="77CD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2" name="TextBox 71"/>
          <p:cNvSpPr txBox="1"/>
          <p:nvPr/>
        </p:nvSpPr>
        <p:spPr>
          <a:xfrm>
            <a:off x="7323188" y="5305298"/>
            <a:ext cx="2498623" cy="2228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77CDBB"/>
                </a:solidFill>
                <a:latin typeface="Noto Sans SC"/>
                <a:ea typeface="Noto Sans SC"/>
              </a:rPr>
              <a:t>保留 3 步：cut 6 → 4 = 穷举最优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1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38100"/>
          </a:xfrm>
          <a:prstGeom prst="rect">
            <a:avLst/>
          </a:prstGeom>
          <a:solidFill>
            <a:srgbClr val="77CDBB">
              <a:alpha val="6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53720" y="450088"/>
            <a:ext cx="4041393" cy="4800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2800" b="0">
                <a:solidFill>
                  <a:srgbClr val="F2F3E9"/>
                </a:solidFill>
                <a:latin typeface="Noto Sans SC"/>
                <a:ea typeface="Noto Sans SC"/>
              </a:rPr>
              <a:t>桶、复杂度与多引脚 net</a:t>
            </a:r>
          </a:p>
        </p:txBody>
      </p:sp>
      <p:sp>
        <p:nvSpPr>
          <p:cNvPr id="5" name="Rectangle 4"/>
          <p:cNvSpPr/>
          <p:nvPr/>
        </p:nvSpPr>
        <p:spPr>
          <a:xfrm>
            <a:off x="571500" y="965200"/>
            <a:ext cx="571500" cy="25400"/>
          </a:xfrm>
          <a:prstGeom prst="rect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6" name="Connector 5"/>
          <p:cNvCxnSpPr/>
          <p:nvPr/>
        </p:nvCxnSpPr>
        <p:spPr>
          <a:xfrm>
            <a:off x="571500" y="6426200"/>
            <a:ext cx="11049000" cy="0"/>
          </a:xfrm>
          <a:prstGeom prst="line">
            <a:avLst/>
          </a:prstGeom>
          <a:ln w="12700">
            <a:solidFill>
              <a:srgbClr val="1D3D4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63880" y="6512052"/>
            <a:ext cx="2870911" cy="2057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0">
                <a:solidFill>
                  <a:srgbClr val="6F8F8F"/>
                </a:solidFill>
                <a:latin typeface="Noto Sans SC"/>
                <a:ea typeface="Noto Sans SC"/>
              </a:rPr>
              <a:t>Module 08 · Fiduccia–Mattheyses 改进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08524" y="6499098"/>
            <a:ext cx="561505" cy="2228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300" b="1">
                <a:solidFill>
                  <a:srgbClr val="BCD2D0"/>
                </a:solidFill>
                <a:latin typeface="Noto Sans SC"/>
                <a:ea typeface="Noto Sans SC"/>
              </a:rPr>
              <a:t>p9/12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55147" y="377952"/>
            <a:ext cx="811072" cy="2057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200" b="0">
                <a:solidFill>
                  <a:srgbClr val="6F8F8F"/>
                </a:solidFill>
                <a:latin typeface="Noto Sans SC"/>
                <a:ea typeface="Noto Sans SC"/>
              </a:rPr>
              <a:t>影片 02:56</a:t>
            </a:r>
          </a:p>
        </p:txBody>
      </p:sp>
      <p:sp>
        <p:nvSpPr>
          <p:cNvPr id="10" name="Oval 9"/>
          <p:cNvSpPr/>
          <p:nvPr/>
        </p:nvSpPr>
        <p:spPr>
          <a:xfrm>
            <a:off x="711200" y="1539494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14400" y="1430782"/>
            <a:ext cx="4718050" cy="3130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论文：桶链表 + 最大收益指针 → 每轮 O(P)</a:t>
            </a:r>
          </a:p>
        </p:txBody>
      </p:sp>
      <p:sp>
        <p:nvSpPr>
          <p:cNvPr id="12" name="Oval 11"/>
          <p:cNvSpPr/>
          <p:nvPr/>
        </p:nvSpPr>
        <p:spPr>
          <a:xfrm>
            <a:off x="711200" y="1971294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14400" y="1862582"/>
            <a:ext cx="4718050" cy="62611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本课程：收益增量更新，但选择仍扫描——不是 O(P)</a:t>
            </a:r>
          </a:p>
        </p:txBody>
      </p:sp>
      <p:sp>
        <p:nvSpPr>
          <p:cNvPr id="14" name="Oval 13"/>
          <p:cNvSpPr/>
          <p:nvPr/>
        </p:nvSpPr>
        <p:spPr>
          <a:xfrm>
            <a:off x="711200" y="2716149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14400" y="2607437"/>
            <a:ext cx="4718050" cy="3130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多引脚 net：按两侧引脚计数判定 FS/TE</a:t>
            </a:r>
          </a:p>
        </p:txBody>
      </p:sp>
      <p:sp>
        <p:nvSpPr>
          <p:cNvPr id="16" name="Oval 15"/>
          <p:cNvSpPr/>
          <p:nvPr/>
        </p:nvSpPr>
        <p:spPr>
          <a:xfrm>
            <a:off x="711200" y="3147948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14400" y="3039236"/>
            <a:ext cx="4718050" cy="62611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net{A,B,C,D}，D 在右：A 收益 0，D +3；拆成团会得 −1</a:t>
            </a:r>
          </a:p>
        </p:txBody>
      </p:sp>
      <p:sp>
        <p:nvSpPr>
          <p:cNvPr id="18" name="Oval 17"/>
          <p:cNvSpPr/>
          <p:nvPr/>
        </p:nvSpPr>
        <p:spPr>
          <a:xfrm>
            <a:off x="711200" y="3892804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14400" y="3784091"/>
            <a:ext cx="4718050" cy="3130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原附件“hypergraph”案例只有二端边</a:t>
            </a:r>
          </a:p>
        </p:txBody>
      </p:sp>
      <p:cxnSp>
        <p:nvCxnSpPr>
          <p:cNvPr id="20" name="Connector 19"/>
          <p:cNvCxnSpPr/>
          <p:nvPr/>
        </p:nvCxnSpPr>
        <p:spPr>
          <a:xfrm flipH="1" flipV="1">
            <a:off x="6616700" y="2552700"/>
            <a:ext cx="2413000" cy="603250"/>
          </a:xfrm>
          <a:prstGeom prst="line">
            <a:avLst/>
          </a:prstGeom>
          <a:ln w="24130">
            <a:solidFill>
              <a:srgbClr val="C2A6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H="1">
            <a:off x="6616700" y="3155950"/>
            <a:ext cx="2413000" cy="603250"/>
          </a:xfrm>
          <a:prstGeom prst="line">
            <a:avLst/>
          </a:prstGeom>
          <a:ln w="24130">
            <a:solidFill>
              <a:srgbClr val="C2A6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H="1">
            <a:off x="7823200" y="3155950"/>
            <a:ext cx="1206500" cy="0"/>
          </a:xfrm>
          <a:prstGeom prst="line">
            <a:avLst/>
          </a:prstGeom>
          <a:ln w="24130">
            <a:solidFill>
              <a:srgbClr val="C2A6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9029700" y="3155950"/>
            <a:ext cx="1447800" cy="0"/>
          </a:xfrm>
          <a:prstGeom prst="line">
            <a:avLst/>
          </a:prstGeom>
          <a:ln w="24130">
            <a:solidFill>
              <a:srgbClr val="C2A6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Oval 23"/>
          <p:cNvSpPr/>
          <p:nvPr/>
        </p:nvSpPr>
        <p:spPr>
          <a:xfrm>
            <a:off x="8945245" y="3071495"/>
            <a:ext cx="168910" cy="168910"/>
          </a:xfrm>
          <a:prstGeom prst="ellipse">
            <a:avLst/>
          </a:prstGeom>
          <a:solidFill>
            <a:srgbClr val="C2A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8554459" y="2754668"/>
            <a:ext cx="950480" cy="2117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235" b="1">
                <a:solidFill>
                  <a:srgbClr val="C2A6E6"/>
                </a:solidFill>
                <a:latin typeface="Noto Sans SC"/>
                <a:ea typeface="Noto Sans SC"/>
              </a:rPr>
              <a:t>net（权 3）</a:t>
            </a:r>
          </a:p>
        </p:txBody>
      </p:sp>
      <p:sp>
        <p:nvSpPr>
          <p:cNvPr id="26" name="Oval 25"/>
          <p:cNvSpPr/>
          <p:nvPr/>
        </p:nvSpPr>
        <p:spPr>
          <a:xfrm>
            <a:off x="6375400" y="2311400"/>
            <a:ext cx="482600" cy="482600"/>
          </a:xfrm>
          <a:prstGeom prst="ellipse">
            <a:avLst/>
          </a:prstGeom>
          <a:solidFill>
            <a:srgbClr val="77CDBB"/>
          </a:solidFill>
          <a:ln w="18097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6488611" y="2417330"/>
            <a:ext cx="256176" cy="27689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14" b="1">
                <a:solidFill>
                  <a:srgbClr val="0B1B1F"/>
                </a:solidFill>
                <a:latin typeface="Noto Sans SC"/>
                <a:ea typeface="Noto Sans SC"/>
              </a:rPr>
              <a:t>A</a:t>
            </a:r>
          </a:p>
        </p:txBody>
      </p:sp>
      <p:sp>
        <p:nvSpPr>
          <p:cNvPr id="28" name="Oval 27"/>
          <p:cNvSpPr/>
          <p:nvPr/>
        </p:nvSpPr>
        <p:spPr>
          <a:xfrm>
            <a:off x="6375400" y="3517900"/>
            <a:ext cx="482600" cy="482600"/>
          </a:xfrm>
          <a:prstGeom prst="ellipse">
            <a:avLst/>
          </a:prstGeom>
          <a:solidFill>
            <a:srgbClr val="77CDBB"/>
          </a:solidFill>
          <a:ln w="18097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6485330" y="3623830"/>
            <a:ext cx="262739" cy="27689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14" b="1">
                <a:solidFill>
                  <a:srgbClr val="0B1B1F"/>
                </a:solidFill>
                <a:latin typeface="Noto Sans SC"/>
                <a:ea typeface="Noto Sans SC"/>
              </a:rPr>
              <a:t>B</a:t>
            </a:r>
          </a:p>
        </p:txBody>
      </p:sp>
      <p:sp>
        <p:nvSpPr>
          <p:cNvPr id="30" name="Oval 29"/>
          <p:cNvSpPr/>
          <p:nvPr/>
        </p:nvSpPr>
        <p:spPr>
          <a:xfrm>
            <a:off x="7581900" y="2914650"/>
            <a:ext cx="482600" cy="482600"/>
          </a:xfrm>
          <a:prstGeom prst="ellipse">
            <a:avLst/>
          </a:prstGeom>
          <a:solidFill>
            <a:srgbClr val="77CDBB"/>
          </a:solidFill>
          <a:ln w="18097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7694394" y="3020580"/>
            <a:ext cx="257611" cy="27689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14" b="1">
                <a:solidFill>
                  <a:srgbClr val="0B1B1F"/>
                </a:solidFill>
                <a:latin typeface="Noto Sans SC"/>
                <a:ea typeface="Noto Sans SC"/>
              </a:rPr>
              <a:t>C</a:t>
            </a:r>
          </a:p>
        </p:txBody>
      </p:sp>
      <p:sp>
        <p:nvSpPr>
          <p:cNvPr id="32" name="Oval 31"/>
          <p:cNvSpPr/>
          <p:nvPr/>
        </p:nvSpPr>
        <p:spPr>
          <a:xfrm>
            <a:off x="10236200" y="2914650"/>
            <a:ext cx="482600" cy="482600"/>
          </a:xfrm>
          <a:prstGeom prst="ellipse">
            <a:avLst/>
          </a:prstGeom>
          <a:solidFill>
            <a:srgbClr val="8FB1E6"/>
          </a:solidFill>
          <a:ln w="18097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10342746" y="3020580"/>
            <a:ext cx="269507" cy="27689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14" b="1">
                <a:solidFill>
                  <a:srgbClr val="0B1B1F"/>
                </a:solidFill>
                <a:latin typeface="Noto Sans SC"/>
                <a:ea typeface="Noto Sans SC"/>
              </a:rPr>
              <a:t>D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9391650" y="1949450"/>
            <a:ext cx="0" cy="2654300"/>
          </a:xfrm>
          <a:prstGeom prst="line">
            <a:avLst/>
          </a:prstGeom>
          <a:ln w="18097">
            <a:solidFill>
              <a:srgbClr val="D8BB78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/>
          <p:cNvSpPr/>
          <p:nvPr/>
        </p:nvSpPr>
        <p:spPr>
          <a:xfrm>
            <a:off x="6957320" y="5245100"/>
            <a:ext cx="3103359" cy="292100"/>
          </a:xfrm>
          <a:prstGeom prst="roundRect">
            <a:avLst>
              <a:gd name="adj" fmla="val 50000"/>
            </a:avLst>
          </a:prstGeom>
          <a:solidFill>
            <a:srgbClr val="0A2126"/>
          </a:solidFill>
          <a:ln w="12700">
            <a:solidFill>
              <a:srgbClr val="D8BB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7003040" y="5305298"/>
            <a:ext cx="3011919" cy="2228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D8BB78"/>
                </a:solidFill>
                <a:latin typeface="Noto Sans SC"/>
                <a:ea typeface="Noto Sans SC"/>
              </a:rPr>
              <a:t>按引脚计数：A 0，D +3；拆成团：A −1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1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38100"/>
          </a:xfrm>
          <a:prstGeom prst="rect">
            <a:avLst/>
          </a:prstGeom>
          <a:solidFill>
            <a:srgbClr val="77CDBB">
              <a:alpha val="6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53720" y="450088"/>
            <a:ext cx="1991360" cy="4800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2800" b="0">
                <a:solidFill>
                  <a:srgbClr val="F2F3E9"/>
                </a:solidFill>
                <a:latin typeface="Noto Sans SC"/>
                <a:ea typeface="Noto Sans SC"/>
              </a:rPr>
              <a:t>伪代码逐行</a:t>
            </a:r>
          </a:p>
        </p:txBody>
      </p:sp>
      <p:sp>
        <p:nvSpPr>
          <p:cNvPr id="5" name="Rectangle 4"/>
          <p:cNvSpPr/>
          <p:nvPr/>
        </p:nvSpPr>
        <p:spPr>
          <a:xfrm>
            <a:off x="571500" y="965200"/>
            <a:ext cx="571500" cy="25400"/>
          </a:xfrm>
          <a:prstGeom prst="rect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6" name="Connector 5"/>
          <p:cNvCxnSpPr/>
          <p:nvPr/>
        </p:nvCxnSpPr>
        <p:spPr>
          <a:xfrm>
            <a:off x="571500" y="6426200"/>
            <a:ext cx="11049000" cy="0"/>
          </a:xfrm>
          <a:prstGeom prst="line">
            <a:avLst/>
          </a:prstGeom>
          <a:ln w="12700">
            <a:solidFill>
              <a:srgbClr val="1D3D4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63880" y="6512052"/>
            <a:ext cx="2870911" cy="2057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0">
                <a:solidFill>
                  <a:srgbClr val="6F8F8F"/>
                </a:solidFill>
                <a:latin typeface="Noto Sans SC"/>
                <a:ea typeface="Noto Sans SC"/>
              </a:rPr>
              <a:t>Module 08 · Fiduccia–Mattheyses 改进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11115" y="6499098"/>
            <a:ext cx="658914" cy="2228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300" b="1">
                <a:solidFill>
                  <a:srgbClr val="BCD2D0"/>
                </a:solidFill>
                <a:latin typeface="Noto Sans SC"/>
                <a:ea typeface="Noto Sans SC"/>
              </a:rPr>
              <a:t>p10/12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55147" y="377952"/>
            <a:ext cx="811072" cy="2057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200" b="0">
                <a:solidFill>
                  <a:srgbClr val="6F8F8F"/>
                </a:solidFill>
                <a:latin typeface="Noto Sans SC"/>
                <a:ea typeface="Noto Sans SC"/>
              </a:rPr>
              <a:t>影片 03:12</a:t>
            </a:r>
          </a:p>
        </p:txBody>
      </p:sp>
      <p:sp>
        <p:nvSpPr>
          <p:cNvPr id="10" name="Oval 9"/>
          <p:cNvSpPr/>
          <p:nvPr/>
        </p:nvSpPr>
        <p:spPr>
          <a:xfrm>
            <a:off x="711200" y="1539494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14400" y="1430782"/>
            <a:ext cx="4718050" cy="3130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第 2 行：按 net 计数算收益（gain）</a:t>
            </a:r>
          </a:p>
        </p:txBody>
      </p:sp>
      <p:sp>
        <p:nvSpPr>
          <p:cNvPr id="12" name="Oval 11"/>
          <p:cNvSpPr/>
          <p:nvPr/>
        </p:nvSpPr>
        <p:spPr>
          <a:xfrm>
            <a:off x="711200" y="1971294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14400" y="1862582"/>
            <a:ext cx="4718050" cy="62611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第 3–4 行：只在合法候选中取最大（legal_moves）</a:t>
            </a:r>
          </a:p>
        </p:txBody>
      </p:sp>
      <p:sp>
        <p:nvSpPr>
          <p:cNvPr id="14" name="Oval 13"/>
          <p:cNvSpPr/>
          <p:nvPr/>
        </p:nvSpPr>
        <p:spPr>
          <a:xfrm>
            <a:off x="711200" y="2716149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14400" y="2607437"/>
            <a:ext cx="4718050" cy="3130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第 5–6 行：试探、锁定、增量更新</a:t>
            </a:r>
          </a:p>
        </p:txBody>
      </p:sp>
      <p:sp>
        <p:nvSpPr>
          <p:cNvPr id="16" name="Oval 15"/>
          <p:cNvSpPr/>
          <p:nvPr/>
        </p:nvSpPr>
        <p:spPr>
          <a:xfrm>
            <a:off x="711200" y="3147948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14400" y="3039236"/>
            <a:ext cx="4718050" cy="62611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第 7–8 行：最佳前缀与回退；第 9 行：空前缀停止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753100" y="1511300"/>
            <a:ext cx="5715000" cy="3822700"/>
          </a:xfrm>
          <a:prstGeom prst="roundRect">
            <a:avLst>
              <a:gd name="adj" fmla="val 1993"/>
            </a:avLst>
          </a:prstGeom>
          <a:solidFill>
            <a:srgbClr val="0A1C1F"/>
          </a:solidFill>
          <a:ln w="12700">
            <a:solidFill>
              <a:srgbClr val="2447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898832" y="1705483"/>
            <a:ext cx="154019" cy="18002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0">
                <a:solidFill>
                  <a:srgbClr val="6F8F8F"/>
                </a:solidFill>
                <a:latin typeface="Noto Sans SC"/>
                <a:ea typeface="Noto Sans SC"/>
              </a:rPr>
              <a:t>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89027" y="1666620"/>
            <a:ext cx="626821" cy="23145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0">
                <a:solidFill>
                  <a:srgbClr val="DFEADF"/>
                </a:solidFill>
                <a:latin typeface="Noto Sans SC"/>
                <a:ea typeface="Noto Sans SC"/>
              </a:rPr>
              <a:t>repeat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12978" y="1666620"/>
            <a:ext cx="1817370" cy="23145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0">
                <a:solidFill>
                  <a:srgbClr val="DFEADF"/>
                </a:solidFill>
                <a:latin typeface="Noto Sans SC"/>
                <a:ea typeface="Noto Sans SC"/>
              </a:rPr>
              <a:t>：全部解锁，记下起点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98832" y="2099183"/>
            <a:ext cx="154019" cy="18002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0">
                <a:solidFill>
                  <a:srgbClr val="6F8F8F"/>
                </a:solidFill>
                <a:latin typeface="Noto Sans SC"/>
                <a:ea typeface="Noto Sans SC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89027" y="2060320"/>
            <a:ext cx="179679" cy="23145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0">
                <a:solidFill>
                  <a:srgbClr val="DFEADF"/>
                </a:solidFill>
                <a:latin typeface="Noto Sans SC"/>
                <a:ea typeface="Noto Sans SC"/>
              </a:rPr>
              <a:t>  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65837" y="2060320"/>
            <a:ext cx="274320" cy="23145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0">
                <a:solidFill>
                  <a:srgbClr val="DFEADF"/>
                </a:solidFill>
                <a:latin typeface="Noto Sans SC"/>
                <a:ea typeface="Noto Sans SC"/>
              </a:rPr>
              <a:t>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37287" y="2060320"/>
            <a:ext cx="443884" cy="23145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0">
                <a:solidFill>
                  <a:srgbClr val="DFEADF"/>
                </a:solidFill>
                <a:latin typeface="Noto Sans SC"/>
                <a:ea typeface="Noto Sans SC"/>
              </a:rPr>
              <a:t> net 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78301" y="2060320"/>
            <a:ext cx="1645920" cy="23145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0">
                <a:solidFill>
                  <a:srgbClr val="DFEADF"/>
                </a:solidFill>
                <a:latin typeface="Noto Sans SC"/>
                <a:ea typeface="Noto Sans SC"/>
              </a:rPr>
              <a:t>计数，算出所有收益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753100" y="2419350"/>
            <a:ext cx="5715000" cy="381000"/>
          </a:xfrm>
          <a:prstGeom prst="rect">
            <a:avLst/>
          </a:prstGeom>
          <a:solidFill>
            <a:srgbClr val="2A3D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5753100" y="2419350"/>
            <a:ext cx="38100" cy="381000"/>
          </a:xfrm>
          <a:prstGeom prst="rect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5898832" y="2492883"/>
            <a:ext cx="154019" cy="18002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0">
                <a:solidFill>
                  <a:srgbClr val="6F8F8F"/>
                </a:solidFill>
                <a:latin typeface="Noto Sans SC"/>
                <a:ea typeface="Noto Sans SC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89027" y="2454021"/>
            <a:ext cx="650481" cy="23145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0">
                <a:solidFill>
                  <a:srgbClr val="D8BB78"/>
                </a:solidFill>
                <a:latin typeface="Noto Sans SC"/>
                <a:ea typeface="Noto Sans SC"/>
              </a:rPr>
              <a:t>  while 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36638" y="2454021"/>
            <a:ext cx="1645920" cy="23145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0">
                <a:solidFill>
                  <a:srgbClr val="D8BB78"/>
                </a:solidFill>
                <a:latin typeface="Noto Sans SC"/>
                <a:ea typeface="Noto Sans SC"/>
              </a:rPr>
              <a:t>有合法的未锁定节点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79688" y="2454021"/>
            <a:ext cx="150533" cy="23145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0">
                <a:solidFill>
                  <a:srgbClr val="D8BB78"/>
                </a:solidFill>
                <a:latin typeface="Noto Sans SC"/>
                <a:ea typeface="Noto Sans SC"/>
              </a:rPr>
              <a:t>: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753100" y="2813050"/>
            <a:ext cx="5715000" cy="381000"/>
          </a:xfrm>
          <a:prstGeom prst="rect">
            <a:avLst/>
          </a:prstGeom>
          <a:solidFill>
            <a:srgbClr val="2A3D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5753100" y="2813050"/>
            <a:ext cx="38100" cy="381000"/>
          </a:xfrm>
          <a:prstGeom prst="rect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5898832" y="2886583"/>
            <a:ext cx="154019" cy="18002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0">
                <a:solidFill>
                  <a:srgbClr val="6F8F8F"/>
                </a:solidFill>
                <a:latin typeface="Noto Sans SC"/>
                <a:ea typeface="Noto Sans SC"/>
              </a:rPr>
              <a:t>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89027" y="2847721"/>
            <a:ext cx="384219" cy="23145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0">
                <a:solidFill>
                  <a:srgbClr val="D8BB78"/>
                </a:solidFill>
                <a:latin typeface="Noto Sans SC"/>
                <a:ea typeface="Noto Sans SC"/>
              </a:rPr>
              <a:t>    v 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70376" y="2847721"/>
            <a:ext cx="274320" cy="23145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0">
                <a:solidFill>
                  <a:srgbClr val="D8BB78"/>
                </a:solidFill>
                <a:latin typeface="Noto Sans SC"/>
                <a:ea typeface="Noto Sans SC"/>
              </a:rPr>
              <a:t>←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41826" y="2847721"/>
            <a:ext cx="141274" cy="23145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0">
                <a:solidFill>
                  <a:srgbClr val="D8BB78"/>
                </a:solidFill>
                <a:latin typeface="Noto Sans SC"/>
                <a:ea typeface="Noto Sans SC"/>
              </a:rPr>
              <a:t> 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680231" y="2847721"/>
            <a:ext cx="1817370" cy="23145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0">
                <a:solidFill>
                  <a:srgbClr val="D8BB78"/>
                </a:solidFill>
                <a:latin typeface="Noto Sans SC"/>
                <a:ea typeface="Noto Sans SC"/>
              </a:rPr>
              <a:t>合法候选中收益最大者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898832" y="3280283"/>
            <a:ext cx="154019" cy="18002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0">
                <a:solidFill>
                  <a:srgbClr val="6F8F8F"/>
                </a:solidFill>
                <a:latin typeface="Noto Sans SC"/>
                <a:ea typeface="Noto Sans SC"/>
              </a:rPr>
              <a:t>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189027" y="3241421"/>
            <a:ext cx="256489" cy="23145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0">
                <a:solidFill>
                  <a:srgbClr val="DFEADF"/>
                </a:solidFill>
                <a:latin typeface="Noto Sans SC"/>
                <a:ea typeface="Noto Sans SC"/>
              </a:rPr>
              <a:t>    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42646" y="3241421"/>
            <a:ext cx="445770" cy="23145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0">
                <a:solidFill>
                  <a:srgbClr val="DFEADF"/>
                </a:solidFill>
                <a:latin typeface="Noto Sans SC"/>
                <a:ea typeface="Noto Sans SC"/>
              </a:rPr>
              <a:t>移动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685546" y="3241421"/>
            <a:ext cx="230600" cy="23145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0">
                <a:solidFill>
                  <a:srgbClr val="DFEADF"/>
                </a:solidFill>
                <a:latin typeface="Noto Sans SC"/>
                <a:ea typeface="Noto Sans SC"/>
              </a:rPr>
              <a:t> v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13276" y="3241421"/>
            <a:ext cx="1303020" cy="23145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0">
                <a:solidFill>
                  <a:srgbClr val="DFEADF"/>
                </a:solidFill>
                <a:latin typeface="Noto Sans SC"/>
                <a:ea typeface="Noto Sans SC"/>
              </a:rPr>
              <a:t>（试探），锁定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013426" y="3241421"/>
            <a:ext cx="230600" cy="23145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0">
                <a:solidFill>
                  <a:srgbClr val="DFEADF"/>
                </a:solidFill>
                <a:latin typeface="Noto Sans SC"/>
                <a:ea typeface="Noto Sans SC"/>
              </a:rPr>
              <a:t> v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898832" y="3673983"/>
            <a:ext cx="154019" cy="18002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0">
                <a:solidFill>
                  <a:srgbClr val="6F8F8F"/>
                </a:solidFill>
                <a:latin typeface="Noto Sans SC"/>
                <a:ea typeface="Noto Sans SC"/>
              </a:rPr>
              <a:t>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189027" y="3635121"/>
            <a:ext cx="256489" cy="23145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0">
                <a:solidFill>
                  <a:srgbClr val="DFEADF"/>
                </a:solidFill>
                <a:latin typeface="Noto Sans SC"/>
                <a:ea typeface="Noto Sans SC"/>
              </a:rPr>
              <a:t>    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342646" y="3635121"/>
            <a:ext cx="1988820" cy="23145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0">
                <a:solidFill>
                  <a:srgbClr val="DFEADF"/>
                </a:solidFill>
                <a:latin typeface="Noto Sans SC"/>
                <a:ea typeface="Noto Sans SC"/>
              </a:rPr>
              <a:t>只更新受影响节点的收益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898832" y="4067683"/>
            <a:ext cx="154019" cy="18002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0">
                <a:solidFill>
                  <a:srgbClr val="6F8F8F"/>
                </a:solidFill>
                <a:latin typeface="Noto Sans SC"/>
                <a:ea typeface="Noto Sans SC"/>
              </a:rPr>
              <a:t>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189027" y="4028821"/>
            <a:ext cx="392791" cy="23145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0">
                <a:solidFill>
                  <a:srgbClr val="DFEADF"/>
                </a:solidFill>
                <a:latin typeface="Noto Sans SC"/>
                <a:ea typeface="Noto Sans SC"/>
              </a:rPr>
              <a:t>  k* 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478949" y="4028821"/>
            <a:ext cx="274320" cy="23145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0">
                <a:solidFill>
                  <a:srgbClr val="DFEADF"/>
                </a:solidFill>
                <a:latin typeface="Noto Sans SC"/>
                <a:ea typeface="Noto Sans SC"/>
              </a:rPr>
              <a:t>←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650399" y="4028821"/>
            <a:ext cx="141274" cy="23145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0">
                <a:solidFill>
                  <a:srgbClr val="DFEADF"/>
                </a:solidFill>
                <a:latin typeface="Noto Sans SC"/>
                <a:ea typeface="Noto Sans SC"/>
              </a:rPr>
              <a:t> 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688804" y="4028821"/>
            <a:ext cx="1303020" cy="23145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0">
                <a:solidFill>
                  <a:srgbClr val="DFEADF"/>
                </a:solidFill>
                <a:latin typeface="Noto Sans SC"/>
                <a:ea typeface="Noto Sans SC"/>
              </a:rPr>
              <a:t>最佳前缀（允许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888954" y="4028821"/>
            <a:ext cx="236429" cy="23145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0">
                <a:solidFill>
                  <a:srgbClr val="DFEADF"/>
                </a:solidFill>
                <a:latin typeface="Noto Sans SC"/>
                <a:ea typeface="Noto Sans SC"/>
              </a:rPr>
              <a:t> 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022513" y="4028821"/>
            <a:ext cx="274320" cy="23145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0">
                <a:solidFill>
                  <a:srgbClr val="DFEADF"/>
                </a:solidFill>
                <a:latin typeface="Noto Sans SC"/>
                <a:ea typeface="Noto Sans SC"/>
              </a:rPr>
              <a:t>）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898832" y="4461383"/>
            <a:ext cx="154019" cy="18002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0">
                <a:solidFill>
                  <a:srgbClr val="6F8F8F"/>
                </a:solidFill>
                <a:latin typeface="Noto Sans SC"/>
                <a:ea typeface="Noto Sans SC"/>
              </a:rPr>
              <a:t>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189027" y="4422521"/>
            <a:ext cx="179679" cy="23145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0">
                <a:solidFill>
                  <a:srgbClr val="DFEADF"/>
                </a:solidFill>
                <a:latin typeface="Noto Sans SC"/>
                <a:ea typeface="Noto Sans SC"/>
              </a:rPr>
              <a:t>  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265837" y="4422521"/>
            <a:ext cx="1645920" cy="23145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0">
                <a:solidFill>
                  <a:srgbClr val="DFEADF"/>
                </a:solidFill>
                <a:latin typeface="Noto Sans SC"/>
                <a:ea typeface="Noto Sans SC"/>
              </a:rPr>
              <a:t>回到起点，只应用前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808887" y="4422521"/>
            <a:ext cx="354387" cy="23145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0">
                <a:solidFill>
                  <a:srgbClr val="DFEADF"/>
                </a:solidFill>
                <a:latin typeface="Noto Sans SC"/>
                <a:ea typeface="Noto Sans SC"/>
              </a:rPr>
              <a:t> k* 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060404" y="4422521"/>
            <a:ext cx="274320" cy="23145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0">
                <a:solidFill>
                  <a:srgbClr val="DFEADF"/>
                </a:solidFill>
                <a:latin typeface="Noto Sans SC"/>
                <a:ea typeface="Noto Sans SC"/>
              </a:rPr>
              <a:t>步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898832" y="4855083"/>
            <a:ext cx="154019" cy="18002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0">
                <a:solidFill>
                  <a:srgbClr val="6F8F8F"/>
                </a:solidFill>
                <a:latin typeface="Noto Sans SC"/>
                <a:ea typeface="Noto Sans SC"/>
              </a:rPr>
              <a:t>9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189027" y="4816221"/>
            <a:ext cx="952233" cy="23145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0">
                <a:solidFill>
                  <a:srgbClr val="DFEADF"/>
                </a:solidFill>
                <a:latin typeface="Noto Sans SC"/>
                <a:ea typeface="Noto Sans SC"/>
              </a:rPr>
              <a:t>until k* = 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1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38100"/>
          </a:xfrm>
          <a:prstGeom prst="rect">
            <a:avLst/>
          </a:prstGeom>
          <a:solidFill>
            <a:srgbClr val="77CDBB">
              <a:alpha val="6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53720" y="450088"/>
            <a:ext cx="1635760" cy="4800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2800" b="0">
                <a:solidFill>
                  <a:srgbClr val="F2F3E9"/>
                </a:solidFill>
                <a:latin typeface="Noto Sans SC"/>
                <a:ea typeface="Noto Sans SC"/>
              </a:rPr>
              <a:t>常见错误</a:t>
            </a:r>
          </a:p>
        </p:txBody>
      </p:sp>
      <p:sp>
        <p:nvSpPr>
          <p:cNvPr id="5" name="Rectangle 4"/>
          <p:cNvSpPr/>
          <p:nvPr/>
        </p:nvSpPr>
        <p:spPr>
          <a:xfrm>
            <a:off x="571500" y="965200"/>
            <a:ext cx="571500" cy="25400"/>
          </a:xfrm>
          <a:prstGeom prst="rect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6" name="Connector 5"/>
          <p:cNvCxnSpPr/>
          <p:nvPr/>
        </p:nvCxnSpPr>
        <p:spPr>
          <a:xfrm>
            <a:off x="571500" y="6426200"/>
            <a:ext cx="11049000" cy="0"/>
          </a:xfrm>
          <a:prstGeom prst="line">
            <a:avLst/>
          </a:prstGeom>
          <a:ln w="12700">
            <a:solidFill>
              <a:srgbClr val="1D3D4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63880" y="6512052"/>
            <a:ext cx="2870911" cy="2057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0">
                <a:solidFill>
                  <a:srgbClr val="6F8F8F"/>
                </a:solidFill>
                <a:latin typeface="Noto Sans SC"/>
                <a:ea typeface="Noto Sans SC"/>
              </a:rPr>
              <a:t>Module 08 · Fiduccia–Mattheyses 改进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11115" y="6499098"/>
            <a:ext cx="658914" cy="2228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300" b="1">
                <a:solidFill>
                  <a:srgbClr val="BCD2D0"/>
                </a:solidFill>
                <a:latin typeface="Noto Sans SC"/>
                <a:ea typeface="Noto Sans SC"/>
              </a:rPr>
              <a:t>p11/12</a:t>
            </a:r>
          </a:p>
        </p:txBody>
      </p:sp>
      <p:sp>
        <p:nvSpPr>
          <p:cNvPr id="9" name="Oval 8"/>
          <p:cNvSpPr/>
          <p:nvPr/>
        </p:nvSpPr>
        <p:spPr>
          <a:xfrm>
            <a:off x="711200" y="1539494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914400" y="1430782"/>
            <a:ext cx="10433050" cy="3130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直接选收益最大的节点（不看平衡）</a:t>
            </a:r>
          </a:p>
        </p:txBody>
      </p:sp>
      <p:sp>
        <p:nvSpPr>
          <p:cNvPr id="11" name="Oval 10"/>
          <p:cNvSpPr/>
          <p:nvPr/>
        </p:nvSpPr>
        <p:spPr>
          <a:xfrm>
            <a:off x="711200" y="1971294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14400" y="1862582"/>
            <a:ext cx="10433050" cy="3130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照搬原附件的 hillclimb 说明</a:t>
            </a:r>
          </a:p>
        </p:txBody>
      </p:sp>
      <p:sp>
        <p:nvSpPr>
          <p:cNvPr id="13" name="Oval 12"/>
          <p:cNvSpPr/>
          <p:nvPr/>
        </p:nvSpPr>
        <p:spPr>
          <a:xfrm>
            <a:off x="711200" y="2403094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14400" y="2294382"/>
            <a:ext cx="10433050" cy="3130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把“画了桶”当成“线性时间实现”</a:t>
            </a:r>
          </a:p>
        </p:txBody>
      </p:sp>
      <p:sp>
        <p:nvSpPr>
          <p:cNvPr id="15" name="Oval 14"/>
          <p:cNvSpPr/>
          <p:nvPr/>
        </p:nvSpPr>
        <p:spPr>
          <a:xfrm>
            <a:off x="711200" y="2834894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14400" y="2726182"/>
            <a:ext cx="10433050" cy="3130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把二端边的例子叫作超图</a:t>
            </a:r>
          </a:p>
        </p:txBody>
      </p:sp>
      <p:sp>
        <p:nvSpPr>
          <p:cNvPr id="17" name="Oval 16"/>
          <p:cNvSpPr/>
          <p:nvPr/>
        </p:nvSpPr>
        <p:spPr>
          <a:xfrm>
            <a:off x="711200" y="3266694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14400" y="3157982"/>
            <a:ext cx="10433050" cy="3130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以为人数平衡等于面积平衡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1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38100"/>
          </a:xfrm>
          <a:prstGeom prst="rect">
            <a:avLst/>
          </a:prstGeom>
          <a:solidFill>
            <a:srgbClr val="77CDBB">
              <a:alpha val="6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53720" y="450088"/>
            <a:ext cx="924560" cy="4800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2800" b="0">
                <a:solidFill>
                  <a:srgbClr val="F2F3E9"/>
                </a:solidFill>
                <a:latin typeface="Noto Sans SC"/>
                <a:ea typeface="Noto Sans SC"/>
              </a:rPr>
              <a:t>小结</a:t>
            </a:r>
          </a:p>
        </p:txBody>
      </p:sp>
      <p:sp>
        <p:nvSpPr>
          <p:cNvPr id="5" name="Rectangle 4"/>
          <p:cNvSpPr/>
          <p:nvPr/>
        </p:nvSpPr>
        <p:spPr>
          <a:xfrm>
            <a:off x="571500" y="965200"/>
            <a:ext cx="571500" cy="25400"/>
          </a:xfrm>
          <a:prstGeom prst="rect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6" name="Connector 5"/>
          <p:cNvCxnSpPr/>
          <p:nvPr/>
        </p:nvCxnSpPr>
        <p:spPr>
          <a:xfrm>
            <a:off x="571500" y="6426200"/>
            <a:ext cx="11049000" cy="0"/>
          </a:xfrm>
          <a:prstGeom prst="line">
            <a:avLst/>
          </a:prstGeom>
          <a:ln w="12700">
            <a:solidFill>
              <a:srgbClr val="1D3D4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63880" y="6512052"/>
            <a:ext cx="2870911" cy="2057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0">
                <a:solidFill>
                  <a:srgbClr val="6F8F8F"/>
                </a:solidFill>
                <a:latin typeface="Noto Sans SC"/>
                <a:ea typeface="Noto Sans SC"/>
              </a:rPr>
              <a:t>Module 08 · Fiduccia–Mattheyses 改进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11115" y="6499098"/>
            <a:ext cx="658914" cy="2228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300" b="1">
                <a:solidFill>
                  <a:srgbClr val="BCD2D0"/>
                </a:solidFill>
                <a:latin typeface="Noto Sans SC"/>
                <a:ea typeface="Noto Sans SC"/>
              </a:rPr>
              <a:t>p12/12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6000" y="1897380"/>
            <a:ext cx="10350500" cy="5524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3000" b="0">
                <a:solidFill>
                  <a:srgbClr val="D8BB78"/>
                </a:solidFill>
                <a:latin typeface="Noto Sans SC"/>
                <a:ea typeface="Noto Sans SC"/>
              </a:rPr>
              <a:t>先筛合法，再选最大；负收益也试探，接受只看最佳前缀。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6000" y="2782824"/>
            <a:ext cx="10280650" cy="34988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900" b="0">
                <a:solidFill>
                  <a:srgbClr val="F2F3E9"/>
                </a:solidFill>
                <a:latin typeface="Noto Sans SC"/>
                <a:ea typeface="Noto Sans SC"/>
              </a:rPr>
              <a:t>反例要用独立计算核验；展示的桶不等于线性时间实现。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6000" y="3323209"/>
            <a:ext cx="10280650" cy="34988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900" b="0">
                <a:solidFill>
                  <a:srgbClr val="F2F3E9"/>
                </a:solidFill>
                <a:latin typeface="Noto Sans SC"/>
                <a:ea typeface="Noto Sans SC"/>
              </a:rPr>
              <a:t>下一模块：目标从 cut 换成延迟，并允许复制节点。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08 Fiduccia–Mattheyses 改进</dc:title>
  <dc:subject/>
  <dc:creator>Learning Clustering（统一课程）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