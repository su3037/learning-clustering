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这一模块讲 FM 改进：一次只移动一个节点，用平衡窗口限制两侧人数。收益、锁定、试探和最佳前缀都与 KL 相同，关键差别是：最大收益只在合法的候选中比较。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的输入是图、初始二分和平衡参数。每次移动一个节点，移动后两侧都要非空，人数差不超过 maxDiff。收益、锁定、试探和最佳前缀的含义与上一模块相同。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在种子上，A 和 E 的收益都是正 6，但它们在只有两个人的左侧，移走就变成 1 比 4，违反平衡。合法候选里收益最大的是 D，正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收益可以拆成两部分。FS：节点是某个 net 在本侧唯一的引脚，移走后这个 net 不再被切，加 w。TE：某个 net 在目标侧没有引脚，移走后它开始被切，减 w。D 的收益是 5 减 2 等于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第一轮：D 正 3，cut 9；这时左侧有三人，A 变成合法，正 6，cut 3。之后全是负收益，C、E、B 依次试探，cut 最后回到 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累计收益是 3、9、7、1、0，最大的是前两步。回到起点只做 D 和 A，接受 ABC 对 DE，cut 3。第二轮最佳前缀为空，算法停止。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原附件有一个负收益爬坡的案例，我们用它自己的数据核验：初始 cut 是 18 而不是 9；E 的移动合法，收益正 10；首轮最佳和穷举最优都是 8，不是 4。所以它不能当作反例，本课程只把它留作回归测试。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本课程的替换反例：初始时所有合法移动的收益都不大于 0，只走正收益就停在 cut 6。FM 先把 A 和 B 各移一步，cut 升到 8，这时 E 的收益变成正 4，移动后 cut 4。保留前三步，正是穷举得到的平衡最优。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论文用桶链表和最大收益指针实现线性时间。本课程的收益是增量更新的，但选择时仍在扫描，所以不能称为线性时间。真正的多引脚 net 要按引脚计数：例子里 A 的收益是 0，而拆成团按边算会得到负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伪代码第二行按 net 计数算收益；第三、四行只在合法候选中取最大；第五、六行试探、锁定并增量更新；第七、八行回退到最佳前缀；空前缀时停止。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常见错误：不看平衡就选收益最大的节点；照搬未经核验的反例；把桶的展示当成线性时间实现；把二端边的例子叫作超图；以及把人数平衡当成面积平衡。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小结：先筛合法，再选最大；负收益也要试探，接受只看最佳前缀。反例必须用独立计算核验，展示出来的桶不等于线性时间的实现。下一模块把目标从 cut 换成延迟，并允许复制节点。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6679" y="2310892"/>
            <a:ext cx="43586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合法的那一步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2629" y="3335782"/>
            <a:ext cx="56667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Fiduccia–Mattheyses refinement · 单点移动与平衡窗口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2360" y="4136644"/>
            <a:ext cx="4907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stephQ-lab（Issue #7 附件）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642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问题定义与 KL 的差别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输入：图（或多引脚网表）、初始二分、maxDiff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操作：一次移动一个节点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合法：移动后两侧非空且 |n</a:t>
            </a:r>
            <a:r>
              <a:rPr sz="1700" b="0" baseline="-2500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 − n</a:t>
            </a:r>
            <a:r>
              <a:rPr sz="1700" b="0" baseline="-2500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| ≤ maxDiff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输出：试探移动、累计收益、最佳前缀、接受的二分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1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复习：收益、锁定、试探、最佳前缀与 Module 07 相同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973006" y="1770380"/>
            <a:ext cx="1212045" cy="82639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91293" y="1605933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05304" y="1610485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3006" y="1853019"/>
            <a:ext cx="743755" cy="936580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329787" y="214761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43798" y="215216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716761" y="1770380"/>
            <a:ext cx="468290" cy="1019219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946526" y="2195001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60537" y="2199553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16761" y="2789599"/>
            <a:ext cx="1239592" cy="578476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290717" y="2880880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04728" y="2885432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579029" y="2789599"/>
            <a:ext cx="137732" cy="936581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650401" y="3149687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4411" y="3154239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579029" y="3368075"/>
            <a:ext cx="1377324" cy="358105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207236" y="350910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21247" y="351365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5795206" y="1675219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830766" y="1710779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97619" y="1773222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0" name="Oval 39"/>
          <p:cNvSpPr/>
          <p:nvPr/>
        </p:nvSpPr>
        <p:spPr>
          <a:xfrm>
            <a:off x="7042811" y="1628140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07886" y="1690583"/>
            <a:ext cx="154330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Oval 41"/>
          <p:cNvSpPr/>
          <p:nvPr/>
        </p:nvSpPr>
        <p:spPr>
          <a:xfrm>
            <a:off x="6574521" y="2647359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41374" y="2709803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Oval 43"/>
          <p:cNvSpPr/>
          <p:nvPr/>
        </p:nvSpPr>
        <p:spPr>
          <a:xfrm>
            <a:off x="7778553" y="3190275"/>
            <a:ext cx="355600" cy="355600"/>
          </a:xfrm>
          <a:prstGeom prst="ellipse">
            <a:avLst/>
          </a:prstGeom>
          <a:noFill/>
          <a:ln w="1778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7814113" y="3225835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7410" y="3288279"/>
            <a:ext cx="157886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7" name="Oval 46"/>
          <p:cNvSpPr/>
          <p:nvPr/>
        </p:nvSpPr>
        <p:spPr>
          <a:xfrm>
            <a:off x="6401229" y="3548380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436789" y="3583940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05420" y="3646383"/>
            <a:ext cx="147218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3109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节点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5110" y="1723644"/>
            <a:ext cx="284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06610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收益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2110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合法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43900" y="2006600"/>
            <a:ext cx="3149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293100" y="20447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71840" y="20914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3840" y="2091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5340" y="2091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0840" y="20914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1840" y="2485136"/>
            <a:ext cx="255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3840" y="248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05340" y="24851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30840" y="24851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71840" y="2878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3840" y="2878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5340" y="28788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-4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0840" y="28788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93100" y="32258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371840" y="3272536"/>
            <a:ext cx="261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33840" y="3272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5340" y="32725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0840" y="32725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93100" y="36195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371840" y="36662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33840" y="366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5340" y="366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30840" y="36662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769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最大的那个不一定能动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种子 AE | BCD，maxDiff = 1：只能 2:3 或 3:2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A、E 收益 +6，但在只有 2 人的左侧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移走后 1 : 4：不合法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合法候选 B +1、C −4、D +3 → 选 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973006" y="1770380"/>
            <a:ext cx="1212045" cy="82639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91293" y="1605933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5304" y="1610485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3006" y="1853019"/>
            <a:ext cx="743755" cy="936580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29787" y="214761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3798" y="215216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716761" y="1770380"/>
            <a:ext cx="468290" cy="1019219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946526" y="2195001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60537" y="2199553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16761" y="2789599"/>
            <a:ext cx="1239592" cy="578476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90717" y="2880880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04728" y="2885432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579029" y="2789599"/>
            <a:ext cx="137732" cy="936581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50401" y="3149687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664411" y="3154239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579029" y="3368075"/>
            <a:ext cx="1377324" cy="358105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207236" y="350910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21247" y="351365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5795206" y="1675219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5830766" y="1710779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97619" y="1773222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7042811" y="1628140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07886" y="1690583"/>
            <a:ext cx="154330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6574521" y="2647359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41374" y="2709803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7778553" y="3190275"/>
            <a:ext cx="355600" cy="355600"/>
          </a:xfrm>
          <a:prstGeom prst="ellipse">
            <a:avLst/>
          </a:prstGeom>
          <a:noFill/>
          <a:ln w="1778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814113" y="3225835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7410" y="3288279"/>
            <a:ext cx="157886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6401229" y="3548380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436789" y="3583940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05420" y="3646383"/>
            <a:ext cx="147218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3109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节点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5110" y="1723644"/>
            <a:ext cx="284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06610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收益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2110" y="1723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合法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43900" y="2006600"/>
            <a:ext cx="3149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293100" y="20447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371840" y="20914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3840" y="2091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05340" y="2091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30840" y="20914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1840" y="2485136"/>
            <a:ext cx="255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3840" y="248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5340" y="24851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0840" y="24851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1840" y="2878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3840" y="2878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5340" y="28788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-4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0840" y="28788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93100" y="32258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371840" y="3272536"/>
            <a:ext cx="261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33840" y="3272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05340" y="32725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30840" y="32725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93100" y="36195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371840" y="36662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33840" y="366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05340" y="366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30840" y="36662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6995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收益的分解：FS 与 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FS：v 是某 net 在本侧唯一的引脚 → +w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TE：某 net 在目标侧没有引脚 → −w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D：FS = D–E（5），TE = C–D（2），收益 3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二端边上：FS − TE = 外部 − 内部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674654" y="1714500"/>
            <a:ext cx="2164367" cy="14757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600167" y="14208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5186" y="1428974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4654" y="1862070"/>
            <a:ext cx="1328134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1763" y="23881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36782" y="239626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002788" y="1714500"/>
            <a:ext cx="836233" cy="1820035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413083" y="24727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38102" y="248088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2788" y="3534535"/>
            <a:ext cx="2213557" cy="1032993"/>
          </a:xfrm>
          <a:prstGeom prst="line">
            <a:avLst/>
          </a:prstGeom>
          <a:ln w="31750">
            <a:solidFill>
              <a:srgbClr val="D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027710" y="36975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729" y="370566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756838" y="3534535"/>
            <a:ext cx="245950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884287" y="41775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09306" y="418567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756838" y="4567528"/>
            <a:ext cx="2459507" cy="639472"/>
          </a:xfrm>
          <a:prstGeom prst="line">
            <a:avLst/>
          </a:prstGeom>
          <a:ln w="4445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78636" y="48193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03655" y="482749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6420654" y="160807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40034" y="1719576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8585021" y="14605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701226" y="15720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7748788" y="3280535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8168" y="3392041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1" name="Oval 40"/>
          <p:cNvSpPr/>
          <p:nvPr/>
        </p:nvSpPr>
        <p:spPr>
          <a:xfrm>
            <a:off x="9898845" y="4250028"/>
            <a:ext cx="635000" cy="635000"/>
          </a:xfrm>
          <a:prstGeom prst="ellipse">
            <a:avLst/>
          </a:prstGeom>
          <a:noFill/>
          <a:ln w="3175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962345" y="4313528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75375" y="4425034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7502838" y="495300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25393" y="50645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61225" y="5880100"/>
            <a:ext cx="26225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06945" y="5940298"/>
            <a:ext cx="25311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FS D–E +5，TE C–D −2 → 收益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走完一轮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 +3（cut 9）→ 左侧 3 人，A 变合法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+6（cut 3）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之后 C −2、E −6、B −1：照样试探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cut 轨迹 12, 9, 3, 5, 11,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475" y="1710689"/>
            <a:ext cx="3048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475" y="1710689"/>
            <a:ext cx="495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移动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7475" y="1710689"/>
            <a:ext cx="495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收益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6475" y="1710689"/>
            <a:ext cx="4191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5475" y="1710689"/>
            <a:ext cx="495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累计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4900" y="2006600"/>
            <a:ext cx="422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2205" y="21673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7205" y="2167382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6205" y="21673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5205" y="21673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4205" y="21673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4100" y="2603500"/>
            <a:ext cx="4368800" cy="457200"/>
          </a:xfrm>
          <a:prstGeom prst="roundRect">
            <a:avLst>
              <a:gd name="adj" fmla="val 11111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2205" y="26499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7205" y="2649982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6205" y="26499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5205" y="26499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4205" y="26499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2205" y="31325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7205" y="313258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6205" y="31325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205" y="31325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4205" y="31325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2205" y="36151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7205" y="3615182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6205" y="36151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5205" y="36151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4205" y="36151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2205" y="40977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7205" y="409778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6205" y="40977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5205" y="40977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14205" y="40977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最佳前缀与回退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累计收益 3, 9, 7, 1, 0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k* = 2：只应用 D、A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接受 ABC | DE，cut 3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试探终点 cut 12 被丢弃；第二轮空前缀，停止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0000" y="1587500"/>
            <a:ext cx="4318000" cy="2921000"/>
          </a:xfrm>
          <a:prstGeom prst="roundRect">
            <a:avLst>
              <a:gd name="adj" fmla="val 304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6209" y="1698244"/>
            <a:ext cx="17132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累计收益（前 k 步）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04000" y="3378200"/>
            <a:ext cx="38735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31000" y="3378200"/>
            <a:ext cx="444500" cy="31750"/>
          </a:xfrm>
          <a:prstGeom prst="roundRect">
            <a:avLst>
              <a:gd name="adj" fmla="val 50000"/>
            </a:avLst>
          </a:prstGeom>
          <a:solidFill>
            <a:srgbClr val="BCD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38950" y="3107690"/>
            <a:ext cx="228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6000" y="3035300"/>
            <a:ext cx="444500" cy="342900"/>
          </a:xfrm>
          <a:prstGeom prst="roundRect">
            <a:avLst>
              <a:gd name="adj" fmla="val 11111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16800" y="27647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349500"/>
            <a:ext cx="444500" cy="1028700"/>
          </a:xfrm>
          <a:prstGeom prst="roundRect">
            <a:avLst>
              <a:gd name="adj" fmla="val 8571"/>
            </a:avLst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51800" y="2078989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8BB78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7500" y="1968500"/>
            <a:ext cx="571500" cy="2540000"/>
          </a:xfrm>
          <a:prstGeom prst="roundRect">
            <a:avLst>
              <a:gd name="adj" fmla="val 11111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636000" y="2578100"/>
            <a:ext cx="444500" cy="800100"/>
          </a:xfrm>
          <a:prstGeom prst="roundRect">
            <a:avLst>
              <a:gd name="adj" fmla="val 8571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0" y="23075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1000" y="3263900"/>
            <a:ext cx="444500" cy="114300"/>
          </a:xfrm>
          <a:prstGeom prst="roundRect">
            <a:avLst>
              <a:gd name="adj" fmla="val 33333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1800" y="29933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6000" y="3378200"/>
            <a:ext cx="444500" cy="31750"/>
          </a:xfrm>
          <a:prstGeom prst="roundRect">
            <a:avLst>
              <a:gd name="adj" fmla="val 50000"/>
            </a:avLst>
          </a:prstGeom>
          <a:solidFill>
            <a:srgbClr val="BCD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13950" y="3107690"/>
            <a:ext cx="228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2975" y="4864100"/>
            <a:ext cx="24320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38695" y="4924298"/>
            <a:ext cx="2340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接受前 2 步：ABC | DE，cut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6710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审查原附件的 hillclimb 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原文：初始 cut 9，合法收益全 ≤ 0，最终 4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按附件数据：初始 cut 18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 合法且收益 +10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首轮最佳 8 = 穷举平衡最优 8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B7B72"/>
                </a:solidFill>
                <a:latin typeface="Noto Sans SC"/>
                <a:ea typeface="Noto Sans SC"/>
              </a:rPr>
              <a:t>文字与数据不符：只作回归测试，不作教材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5109" y="1850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原文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9110" y="1850644"/>
            <a:ext cx="995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按数据计算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7900" y="2133600"/>
            <a:ext cx="549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07100" y="23495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5840" y="2396236"/>
            <a:ext cx="8712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初始 cut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9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7840" y="239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7100" y="29210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85840" y="2967736"/>
            <a:ext cx="9347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合法收益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7736"/>
            <a:ext cx="9347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全部 ≤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840" y="2967736"/>
            <a:ext cx="10807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 合法 +10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07100" y="34925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85840" y="3539236"/>
            <a:ext cx="8712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最终 cut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539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7840" y="3539236"/>
            <a:ext cx="687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首轮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7100" y="40640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85840" y="4110736"/>
            <a:ext cx="9347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穷举最优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1107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7840" y="4110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替换反例：先负后正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6 节点，种子 ADE | BCF，maxDiff = 2，cut 6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初始所有合法收益 ≤ 0：爬山法停在 6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FM：A −1、B −1（cut 8），然后 E +4（cut 4）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保留 3 步：cut 4 = 穷举平衡最优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由固定种子搜索得到，测试中穷举核验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1947333"/>
            <a:ext cx="1979083" cy="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39237" y="1579541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64256" y="1587669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1947333"/>
            <a:ext cx="989541" cy="756708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37042" y="19892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62061" y="199736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8075083" y="1947333"/>
            <a:ext cx="814917" cy="756708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32536" y="222197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57555" y="223010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085541" y="2704041"/>
            <a:ext cx="1804459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841466" y="264104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66485" y="2649177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75083" y="1947333"/>
            <a:ext cx="698500" cy="1629833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418107" y="248682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3126" y="249495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096000" y="2704041"/>
            <a:ext cx="989541" cy="756709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351891" y="274594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76910" y="275407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85541" y="2704041"/>
            <a:ext cx="1688042" cy="873125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53274" y="278984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878293" y="279797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5880100" y="1731433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61380" y="180483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6869641" y="2488141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954096" y="2561547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4" name="Oval 43"/>
          <p:cNvSpPr/>
          <p:nvPr/>
        </p:nvSpPr>
        <p:spPr>
          <a:xfrm>
            <a:off x="5880100" y="3244850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55030" y="3318256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7859183" y="1731433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940463" y="180483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8" name="Oval 47"/>
          <p:cNvSpPr/>
          <p:nvPr/>
        </p:nvSpPr>
        <p:spPr>
          <a:xfrm>
            <a:off x="8674100" y="2488141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52205" y="2561547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0" name="Oval 49"/>
          <p:cNvSpPr/>
          <p:nvPr/>
        </p:nvSpPr>
        <p:spPr>
          <a:xfrm>
            <a:off x="8557683" y="3361266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45313" y="3434672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380" y="1622552"/>
            <a:ext cx="2438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98380" y="1622552"/>
            <a:ext cx="396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移动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96880" y="1622552"/>
            <a:ext cx="396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收益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31880" y="1622552"/>
            <a:ext cx="3327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359900" y="1879600"/>
            <a:ext cx="2387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389110" y="19649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97110" y="19649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95610" y="1964944"/>
            <a:ext cx="2717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30610" y="19649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89110" y="23332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97110" y="2333244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95610" y="2333244"/>
            <a:ext cx="2717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30610" y="23332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09100" y="2654300"/>
            <a:ext cx="2527300" cy="342900"/>
          </a:xfrm>
          <a:prstGeom prst="roundRect">
            <a:avLst>
              <a:gd name="adj" fmla="val 14814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3891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71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95610" y="2701544"/>
            <a:ext cx="3098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+4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306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77100" y="5245100"/>
            <a:ext cx="25908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322820" y="5305298"/>
            <a:ext cx="24993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保留 3 步：cut 6 → 4 = 穷举最优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0424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桶、复杂度与多引脚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论文：桶链表 + 最大收益指针 → 每轮 O(P)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本课程：收益增量更新，但选择仍扫描——不是 O(P)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多引脚 net：按两侧引脚计数判定 FS/TE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net{A,B,C,D}，D 在右：A 收益 0，D +3；拆成团会得 −1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1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原附件“hypergraph”案例只有二端边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6616700" y="2552700"/>
            <a:ext cx="2413000" cy="60325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16700" y="3155950"/>
            <a:ext cx="2413000" cy="60325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23200" y="3155950"/>
            <a:ext cx="1206500" cy="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29700" y="3155950"/>
            <a:ext cx="1447800" cy="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945245" y="3071495"/>
            <a:ext cx="168910" cy="168910"/>
          </a:xfrm>
          <a:prstGeom prst="ellipse">
            <a:avLst/>
          </a:prstGeom>
          <a:solidFill>
            <a:srgbClr val="C2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33689" y="2694343"/>
            <a:ext cx="950722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C2A6E6"/>
                </a:solidFill>
                <a:latin typeface="Noto Sans SC"/>
                <a:ea typeface="Noto Sans SC"/>
              </a:rPr>
              <a:t>net（权 3）</a:t>
            </a:r>
          </a:p>
        </p:txBody>
      </p:sp>
      <p:sp>
        <p:nvSpPr>
          <p:cNvPr id="25" name="Oval 24"/>
          <p:cNvSpPr/>
          <p:nvPr/>
        </p:nvSpPr>
        <p:spPr>
          <a:xfrm>
            <a:off x="6375400" y="231140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88811" y="2417330"/>
            <a:ext cx="255778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6375400" y="351790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85794" y="3623830"/>
            <a:ext cx="261810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7581900" y="291465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95310" y="3020580"/>
            <a:ext cx="255778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10236200" y="2914650"/>
            <a:ext cx="482600" cy="48260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43578" y="3020580"/>
            <a:ext cx="26784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32950" y="1949450"/>
            <a:ext cx="0" cy="2654300"/>
          </a:xfrm>
          <a:prstGeom prst="line">
            <a:avLst/>
          </a:prstGeom>
          <a:ln w="18097">
            <a:solidFill>
              <a:srgbClr val="D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59600" y="5245100"/>
            <a:ext cx="30988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05320" y="5305298"/>
            <a:ext cx="30073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按引脚计数：A 0，D +3；拆成团：A −1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2 行：按 net 计数算收益（gain）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3–4 行：只在合法候选中取最大（legal_moves）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5–6 行：试探、锁定、增量更新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7–8 行：最佳前缀与回退；第 9 行：空前缀停止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3100" y="1511300"/>
            <a:ext cx="5715000" cy="3822700"/>
          </a:xfrm>
          <a:prstGeom prst="roundRect">
            <a:avLst>
              <a:gd name="adj" fmla="val 1993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8832" y="17054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027" y="1666620"/>
            <a:ext cx="6235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9727" y="1666620"/>
            <a:ext cx="18173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：全部解锁，记下起点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8832" y="20991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9027" y="2060320"/>
            <a:ext cx="1790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227" y="2060320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6677" y="2060320"/>
            <a:ext cx="4394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net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3227" y="2060320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计数，算出所有收益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53100" y="2419350"/>
            <a:ext cx="5715000" cy="3810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53100" y="2419350"/>
            <a:ext cx="38100" cy="3810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8832" y="24928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9027" y="2454021"/>
            <a:ext cx="648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while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5127" y="24540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有合法的未锁定节点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8177" y="2454021"/>
            <a:ext cx="1536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3100" y="2813050"/>
            <a:ext cx="5715000" cy="3810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53100" y="2813050"/>
            <a:ext cx="38100" cy="3810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898832" y="28865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9027" y="2847721"/>
            <a:ext cx="382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v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8427" y="28477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9877" y="28477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7977" y="2847721"/>
            <a:ext cx="18173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合法候选中收益最大者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8832" y="32802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9027" y="3241421"/>
            <a:ext cx="255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1427" y="32414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移动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4327" y="3241421"/>
            <a:ext cx="2298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1327" y="3241421"/>
            <a:ext cx="13030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（试探），锁定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1477" y="3241421"/>
            <a:ext cx="2298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8832" y="36739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9027" y="3635121"/>
            <a:ext cx="255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1427" y="3635121"/>
            <a:ext cx="19888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只更新受影响节点的收益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8832" y="40676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9027" y="4028821"/>
            <a:ext cx="394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k*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1127" y="40288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2577" y="40288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0677" y="4028821"/>
            <a:ext cx="13030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最佳前缀（允许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0827" y="4028821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4177" y="40288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8832" y="44613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89027" y="4422521"/>
            <a:ext cx="1790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5227" y="44225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回到起点，只应用前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08277" y="4422521"/>
            <a:ext cx="3568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k*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2277" y="44225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8832" y="48550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9027" y="4816221"/>
            <a:ext cx="9474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until k*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直接选收益最大的节点（不看平衡）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照搬原附件的 hillclimb 说明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把“画了桶”当成“线性时间实现”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把二端边的例子叫作超图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以为人数平衡等于面积平衡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8663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先筛合法，再选最大；负收益也试探，接受只看最佳前缀。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反例要用独立计算核验；展示的桶不等于线性时间实现。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下一模块：目标从 cut 换成延迟，并允许复制节点。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Fiduccia–Mattheyses 改进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