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这一模块用整张图的信息做二分：构造拉普拉斯矩阵，取第二特征向量给每个节点一个数，排序后在平衡窗口里逐个位置试切。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二分必须先写清约定：两组都非空，不区分左右，再给一个平衡窗口。5 个节点一共有 15 种非空无标签的分法，原题库写的 16 多算了空组那一种。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拉普拉斯矩阵的对角线是每个节点的度数，非对角是负的边权。每条边对四个位置做贡献。两个自检：矩阵对称，每行和为 0。这里的 D 是度矩阵，和 Module 09 里的跨簇延迟 D 不是一回事。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 有一个关键性质：x 转置 L x 等于每条边的权重乘上两端数值差的平方。如果 x 只取正负 1，被切的边各贡献 4w，所以它等于 4 倍的 cut。把 x 放松为任意实数，最优解就是第二小特征值的特征向量。可以把边想成弹簧，但这只是类比。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G01 的最小特征值是 0，第二小是约 1.7733。它的特征向量叫 Fiedler 向量。使用时要注意：图要连通，λ2 不能简并；向量整体翻号只会交换左右。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按 Fiedler 值排序是 E、D、C、B、A。沿着数轴在四个位置试切，cut 依次是 6、3、5、6。窗口只允许 k 等于 2 和 3，选 cut 更小的 k 等于 2，得到 DE 对 ABC。切在正中间反而更差。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更正两个误解。第一，没有平衡约束时，最优并不总是孤立一个点：这张图上孤立一个点最少切 6，而 ABC 对 DE 只切 3。第二，原页面存储的是三位小数的特征向量，残差 0.0044 是舍入造成的，但改了图它不会重算。本课程在浏览器里实时求解。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图不连通时，每个分量各贡献一个零特征值，λ2 也是 0。这时 Fiedler 向量只告诉你谁在同一个分量。使用前要先检查连通性。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伪代码先构造 L 并自检，然后做特征分解并检查连通性、简并和残差，统一符号后排序，最后扫描所有位置，在窗口内选 cut 最小的那一刀。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谱二分常用来给出一个好的初始二分，再交给 KL 或 FM 改进。本章使用未归一化的 L。大规模问题需要稀疏迭代求解。弹簧只是帮助理解的类比。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小结：构造拉普拉斯矩阵，用 Fiedler 向量给每个点一个数；排序后扫描所有切点，只在平衡窗口内选最小 cut。翻号只交换左右。下一模块从这个二分出发，用成对交换继续改进。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77CDBB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571500" y="6426200"/>
            <a:ext cx="11049000" cy="0"/>
          </a:xfrm>
          <a:prstGeom prst="line">
            <a:avLst/>
          </a:prstGeom>
          <a:ln w="12700">
            <a:solidFill>
              <a:srgbClr val="1D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3880" y="6512052"/>
            <a:ext cx="149479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Module 06 · 谱二分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13770" y="6499098"/>
            <a:ext cx="55626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p1/11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86479" y="2310892"/>
            <a:ext cx="5019040" cy="8915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200" b="0">
                <a:solidFill>
                  <a:srgbClr val="D8BB78"/>
                </a:solidFill>
                <a:latin typeface="Noto Sans SC"/>
                <a:ea typeface="Noto Sans SC"/>
              </a:rPr>
              <a:t>给每个点一个数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4379" y="3335782"/>
            <a:ext cx="560324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BCD2D0"/>
                </a:solidFill>
                <a:latin typeface="Noto Sans SC"/>
                <a:ea typeface="Noto Sans SC"/>
              </a:rPr>
              <a:t>Spectral bisection · 拉普拉斯矩阵、Fiedler 向量与扫描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3785" y="4136644"/>
            <a:ext cx="4964430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6F8F8F"/>
                </a:solidFill>
                <a:latin typeface="Noto Sans SC"/>
                <a:ea typeface="Noto Sans SC"/>
              </a:rPr>
              <a:t>Learning Clustering · 原作者 xingguangyaoyu（Issue #5）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77CDBB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53720" y="450088"/>
            <a:ext cx="1635760" cy="4800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0">
                <a:solidFill>
                  <a:srgbClr val="F2F3E9"/>
                </a:solidFill>
                <a:latin typeface="Noto Sans SC"/>
                <a:ea typeface="Noto Sans SC"/>
              </a:rPr>
              <a:t>问题定义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965200"/>
            <a:ext cx="571500" cy="254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571500" y="6426200"/>
            <a:ext cx="11049000" cy="0"/>
          </a:xfrm>
          <a:prstGeom prst="line">
            <a:avLst/>
          </a:prstGeom>
          <a:ln w="12700">
            <a:solidFill>
              <a:srgbClr val="1D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3880" y="6512052"/>
            <a:ext cx="149479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Module 06 · 谱二分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13770" y="6499098"/>
            <a:ext cx="55626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p2/11</a:t>
            </a:r>
          </a:p>
        </p:txBody>
      </p:sp>
      <p:sp>
        <p:nvSpPr>
          <p:cNvPr id="9" name="Oval 8"/>
          <p:cNvSpPr/>
          <p:nvPr/>
        </p:nvSpPr>
        <p:spPr>
          <a:xfrm>
            <a:off x="711200" y="15394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14400" y="14307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两组都非空，不区分左右</a:t>
            </a:r>
          </a:p>
        </p:txBody>
      </p:sp>
      <p:sp>
        <p:nvSpPr>
          <p:cNvPr id="11" name="Oval 10"/>
          <p:cNvSpPr/>
          <p:nvPr/>
        </p:nvSpPr>
        <p:spPr>
          <a:xfrm>
            <a:off x="711200" y="19712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14400" y="18625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5 个节点：(2</a:t>
            </a:r>
            <a:r>
              <a:rPr sz="1700" b="0" baseline="30000">
                <a:solidFill>
                  <a:srgbClr val="F2F3E9"/>
                </a:solidFill>
                <a:latin typeface="Noto Sans SC"/>
                <a:ea typeface="Noto Sans SC"/>
              </a:rPr>
              <a:t>5</a:t>
            </a: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 − 2) ÷ 2 = 15 种（不是 16）</a:t>
            </a:r>
          </a:p>
        </p:txBody>
      </p:sp>
      <p:sp>
        <p:nvSpPr>
          <p:cNvPr id="13" name="Oval 12"/>
          <p:cNvSpPr/>
          <p:nvPr/>
        </p:nvSpPr>
        <p:spPr>
          <a:xfrm>
            <a:off x="711200" y="24030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4400" y="22943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平衡窗口：每组 40%–60%（这里每组 2–3 个）</a:t>
            </a:r>
          </a:p>
        </p:txBody>
      </p:sp>
      <p:sp>
        <p:nvSpPr>
          <p:cNvPr id="15" name="Oval 14"/>
          <p:cNvSpPr/>
          <p:nvPr/>
        </p:nvSpPr>
        <p:spPr>
          <a:xfrm>
            <a:off x="711200" y="28348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14400" y="2726182"/>
            <a:ext cx="4718050" cy="626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输出：二分、cut、Fiedler 排序、扫描表、数值诊断</a:t>
            </a:r>
          </a:p>
        </p:txBody>
      </p:sp>
      <p:sp>
        <p:nvSpPr>
          <p:cNvPr id="17" name="Oval 16"/>
          <p:cNvSpPr/>
          <p:nvPr/>
        </p:nvSpPr>
        <p:spPr>
          <a:xfrm>
            <a:off x="711200" y="3579749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14400" y="3471037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D8BB78"/>
                </a:solidFill>
                <a:latin typeface="Noto Sans SC"/>
                <a:ea typeface="Noto Sans SC"/>
              </a:rPr>
              <a:t>谱方法给出好的候选，不保证全局最优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6833852" y="1651000"/>
            <a:ext cx="2125014" cy="144887"/>
          </a:xfrm>
          <a:prstGeom prst="line">
            <a:avLst/>
          </a:prstGeom>
          <a:ln w="2540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7739688" y="1356004"/>
            <a:ext cx="292608" cy="292608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764707" y="1364132"/>
            <a:ext cx="24257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D9E4E1"/>
                </a:solidFill>
                <a:latin typeface="Noto Sans SC"/>
                <a:ea typeface="Noto Sans SC"/>
              </a:rPr>
              <a:t>5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833852" y="1795887"/>
            <a:ext cx="1303986" cy="1642056"/>
          </a:xfrm>
          <a:prstGeom prst="line">
            <a:avLst/>
          </a:prstGeom>
          <a:ln w="2540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7458887" y="2306748"/>
            <a:ext cx="292608" cy="292608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483906" y="2314876"/>
            <a:ext cx="24257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D9E4E1"/>
                </a:solidFill>
                <a:latin typeface="Noto Sans SC"/>
                <a:ea typeface="Noto Sans SC"/>
              </a:rPr>
              <a:t>1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8137838" y="1651000"/>
            <a:ext cx="821028" cy="1786943"/>
          </a:xfrm>
          <a:prstGeom prst="line">
            <a:avLst/>
          </a:prstGeom>
          <a:ln w="2540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8540530" y="2392706"/>
            <a:ext cx="292608" cy="292608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565549" y="2400834"/>
            <a:ext cx="24257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D9E4E1"/>
                </a:solidFill>
                <a:latin typeface="Noto Sans SC"/>
                <a:ea typeface="Noto Sans SC"/>
              </a:rPr>
              <a:t>4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137838" y="3437943"/>
            <a:ext cx="2173309" cy="1014211"/>
          </a:xfrm>
          <a:prstGeom prst="line">
            <a:avLst/>
          </a:prstGeom>
          <a:ln w="2540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9142636" y="3591554"/>
            <a:ext cx="292608" cy="292608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9167655" y="3599682"/>
            <a:ext cx="24257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D9E4E1"/>
                </a:solidFill>
                <a:latin typeface="Noto Sans SC"/>
                <a:ea typeface="Noto Sans SC"/>
              </a:rPr>
              <a:t>2</a:t>
            </a:r>
          </a:p>
        </p:txBody>
      </p:sp>
      <p:cxnSp>
        <p:nvCxnSpPr>
          <p:cNvPr id="31" name="Connector 30"/>
          <p:cNvCxnSpPr/>
          <p:nvPr/>
        </p:nvCxnSpPr>
        <p:spPr>
          <a:xfrm flipH="1">
            <a:off x="7896359" y="3437943"/>
            <a:ext cx="241479" cy="1642057"/>
          </a:xfrm>
          <a:prstGeom prst="line">
            <a:avLst/>
          </a:prstGeom>
          <a:ln w="2540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8021572" y="4065753"/>
            <a:ext cx="292608" cy="292608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046591" y="4073881"/>
            <a:ext cx="24257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D9E4E1"/>
                </a:solidFill>
                <a:latin typeface="Noto Sans SC"/>
                <a:ea typeface="Noto Sans SC"/>
              </a:rPr>
              <a:t>1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7896359" y="4452154"/>
            <a:ext cx="2414788" cy="627846"/>
          </a:xfrm>
          <a:prstGeom prst="line">
            <a:avLst/>
          </a:prstGeom>
          <a:ln w="2540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8995798" y="4698181"/>
            <a:ext cx="292608" cy="292608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9020817" y="4706309"/>
            <a:ext cx="24257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D9E4E1"/>
                </a:solidFill>
                <a:latin typeface="Noto Sans SC"/>
                <a:ea typeface="Noto Sans SC"/>
              </a:rPr>
              <a:t>5</a:t>
            </a:r>
          </a:p>
        </p:txBody>
      </p:sp>
      <p:sp>
        <p:nvSpPr>
          <p:cNvPr id="37" name="Oval 36"/>
          <p:cNvSpPr/>
          <p:nvPr/>
        </p:nvSpPr>
        <p:spPr>
          <a:xfrm>
            <a:off x="6579852" y="1541887"/>
            <a:ext cx="508000" cy="508000"/>
          </a:xfrm>
          <a:prstGeom prst="ellipse">
            <a:avLst/>
          </a:prstGeom>
          <a:solidFill>
            <a:srgbClr val="A9BD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699232" y="1653393"/>
            <a:ext cx="26924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0B1B1F"/>
                </a:solidFill>
                <a:latin typeface="Noto Sans SC"/>
                <a:ea typeface="Noto Sans SC"/>
              </a:rPr>
              <a:t>A</a:t>
            </a:r>
          </a:p>
        </p:txBody>
      </p:sp>
      <p:sp>
        <p:nvSpPr>
          <p:cNvPr id="39" name="Oval 38"/>
          <p:cNvSpPr/>
          <p:nvPr/>
        </p:nvSpPr>
        <p:spPr>
          <a:xfrm>
            <a:off x="8704866" y="1397000"/>
            <a:ext cx="508000" cy="508000"/>
          </a:xfrm>
          <a:prstGeom prst="ellipse">
            <a:avLst/>
          </a:prstGeom>
          <a:solidFill>
            <a:srgbClr val="A9BD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8821071" y="1508506"/>
            <a:ext cx="27559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0B1B1F"/>
                </a:solidFill>
                <a:latin typeface="Noto Sans SC"/>
                <a:ea typeface="Noto Sans SC"/>
              </a:rPr>
              <a:t>B</a:t>
            </a:r>
          </a:p>
        </p:txBody>
      </p:sp>
      <p:sp>
        <p:nvSpPr>
          <p:cNvPr id="41" name="Oval 40"/>
          <p:cNvSpPr/>
          <p:nvPr/>
        </p:nvSpPr>
        <p:spPr>
          <a:xfrm>
            <a:off x="7883838" y="3183943"/>
            <a:ext cx="508000" cy="508000"/>
          </a:xfrm>
          <a:prstGeom prst="ellipse">
            <a:avLst/>
          </a:prstGeom>
          <a:solidFill>
            <a:srgbClr val="A9BD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8003218" y="3295449"/>
            <a:ext cx="26924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0B1B1F"/>
                </a:solidFill>
                <a:latin typeface="Noto Sans SC"/>
                <a:ea typeface="Noto Sans SC"/>
              </a:rPr>
              <a:t>C</a:t>
            </a:r>
          </a:p>
        </p:txBody>
      </p:sp>
      <p:sp>
        <p:nvSpPr>
          <p:cNvPr id="43" name="Oval 42"/>
          <p:cNvSpPr/>
          <p:nvPr/>
        </p:nvSpPr>
        <p:spPr>
          <a:xfrm>
            <a:off x="10057147" y="4198154"/>
            <a:ext cx="508000" cy="508000"/>
          </a:xfrm>
          <a:prstGeom prst="ellipse">
            <a:avLst/>
          </a:prstGeom>
          <a:solidFill>
            <a:srgbClr val="A9BD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10170177" y="4309660"/>
            <a:ext cx="281939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0B1B1F"/>
                </a:solidFill>
                <a:latin typeface="Noto Sans SC"/>
                <a:ea typeface="Noto Sans SC"/>
              </a:rPr>
              <a:t>D</a:t>
            </a:r>
          </a:p>
        </p:txBody>
      </p:sp>
      <p:sp>
        <p:nvSpPr>
          <p:cNvPr id="45" name="Oval 44"/>
          <p:cNvSpPr/>
          <p:nvPr/>
        </p:nvSpPr>
        <p:spPr>
          <a:xfrm>
            <a:off x="7642359" y="4826000"/>
            <a:ext cx="508000" cy="508000"/>
          </a:xfrm>
          <a:prstGeom prst="ellipse">
            <a:avLst/>
          </a:prstGeom>
          <a:solidFill>
            <a:srgbClr val="A9BD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7764914" y="4937506"/>
            <a:ext cx="26289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0B1B1F"/>
                </a:solidFill>
                <a:latin typeface="Noto Sans SC"/>
                <a:ea typeface="Noto Sans SC"/>
              </a:rPr>
              <a:t>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77CDBB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53720" y="450088"/>
            <a:ext cx="3807460" cy="4800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0">
                <a:solidFill>
                  <a:srgbClr val="F2F3E9"/>
                </a:solidFill>
                <a:latin typeface="Noto Sans SC"/>
                <a:ea typeface="Noto Sans SC"/>
              </a:rPr>
              <a:t>拉普拉斯矩阵 L = D − A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965200"/>
            <a:ext cx="571500" cy="254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571500" y="6426200"/>
            <a:ext cx="11049000" cy="0"/>
          </a:xfrm>
          <a:prstGeom prst="line">
            <a:avLst/>
          </a:prstGeom>
          <a:ln w="12700">
            <a:solidFill>
              <a:srgbClr val="1D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3880" y="6512052"/>
            <a:ext cx="149479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Module 06 · 谱二分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13770" y="6499098"/>
            <a:ext cx="55626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p3/11</a:t>
            </a:r>
          </a:p>
        </p:txBody>
      </p:sp>
      <p:sp>
        <p:nvSpPr>
          <p:cNvPr id="9" name="Oval 8"/>
          <p:cNvSpPr/>
          <p:nvPr/>
        </p:nvSpPr>
        <p:spPr>
          <a:xfrm>
            <a:off x="711200" y="15394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14400" y="14307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对角：度数（相连边权之和）</a:t>
            </a:r>
          </a:p>
        </p:txBody>
      </p:sp>
      <p:sp>
        <p:nvSpPr>
          <p:cNvPr id="11" name="Oval 10"/>
          <p:cNvSpPr/>
          <p:nvPr/>
        </p:nvSpPr>
        <p:spPr>
          <a:xfrm>
            <a:off x="711200" y="19712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14400" y="18625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非对角：负的边权；没有边为 0</a:t>
            </a:r>
          </a:p>
        </p:txBody>
      </p:sp>
      <p:sp>
        <p:nvSpPr>
          <p:cNvPr id="13" name="Oval 12"/>
          <p:cNvSpPr/>
          <p:nvPr/>
        </p:nvSpPr>
        <p:spPr>
          <a:xfrm>
            <a:off x="711200" y="24030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4400" y="22943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每条边贡献四处：±w</a:t>
            </a:r>
          </a:p>
        </p:txBody>
      </p:sp>
      <p:sp>
        <p:nvSpPr>
          <p:cNvPr id="15" name="Oval 14"/>
          <p:cNvSpPr/>
          <p:nvPr/>
        </p:nvSpPr>
        <p:spPr>
          <a:xfrm>
            <a:off x="711200" y="28348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14400" y="27261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自检：L 对称、每行和为 0</a:t>
            </a:r>
          </a:p>
        </p:txBody>
      </p:sp>
      <p:sp>
        <p:nvSpPr>
          <p:cNvPr id="17" name="Oval 16"/>
          <p:cNvSpPr/>
          <p:nvPr/>
        </p:nvSpPr>
        <p:spPr>
          <a:xfrm>
            <a:off x="711200" y="32666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14400" y="3157982"/>
            <a:ext cx="4718050" cy="626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注意：这里的 D 是度矩阵，不是 Module 09 的跨簇延迟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2095" y="1368298"/>
            <a:ext cx="20701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55995" y="1923542"/>
            <a:ext cx="20701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0120" y="1368298"/>
            <a:ext cx="21336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52820" y="2634742"/>
            <a:ext cx="21336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24495" y="1368298"/>
            <a:ext cx="20701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55995" y="3345942"/>
            <a:ext cx="20701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29345" y="1368298"/>
            <a:ext cx="21971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49645" y="4057142"/>
            <a:ext cx="21971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50070" y="1368298"/>
            <a:ext cx="20066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59170" y="4768342"/>
            <a:ext cx="20066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50000" y="1651000"/>
            <a:ext cx="673100" cy="673100"/>
          </a:xfrm>
          <a:prstGeom prst="roundRect">
            <a:avLst>
              <a:gd name="adj" fmla="val 7547"/>
            </a:avLst>
          </a:prstGeom>
          <a:solidFill>
            <a:srgbClr val="0D272D"/>
          </a:solidFill>
          <a:ln w="12700">
            <a:solidFill>
              <a:srgbClr val="244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558280" y="1871726"/>
            <a:ext cx="25654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D8BB78"/>
                </a:solidFill>
                <a:latin typeface="Noto Sans SC"/>
                <a:ea typeface="Noto Sans SC"/>
              </a:rPr>
              <a:t>6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061200" y="1651000"/>
            <a:ext cx="673100" cy="673100"/>
          </a:xfrm>
          <a:prstGeom prst="roundRect">
            <a:avLst>
              <a:gd name="adj" fmla="val 7547"/>
            </a:avLst>
          </a:prstGeom>
          <a:solidFill>
            <a:srgbClr val="0D272D"/>
          </a:solidFill>
          <a:ln w="12700">
            <a:solidFill>
              <a:srgbClr val="244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212330" y="1871726"/>
            <a:ext cx="37084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−5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0" y="1651000"/>
            <a:ext cx="673100" cy="673100"/>
          </a:xfrm>
          <a:prstGeom prst="roundRect">
            <a:avLst>
              <a:gd name="adj" fmla="val 7547"/>
            </a:avLst>
          </a:prstGeom>
          <a:solidFill>
            <a:srgbClr val="0D272D"/>
          </a:solidFill>
          <a:ln w="12700">
            <a:solidFill>
              <a:srgbClr val="244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923530" y="1871726"/>
            <a:ext cx="37084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−1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483600" y="1651000"/>
            <a:ext cx="673100" cy="673100"/>
          </a:xfrm>
          <a:prstGeom prst="roundRect">
            <a:avLst>
              <a:gd name="adj" fmla="val 7547"/>
            </a:avLst>
          </a:prstGeom>
          <a:solidFill>
            <a:srgbClr val="0D272D"/>
          </a:solidFill>
          <a:ln w="12700">
            <a:solidFill>
              <a:srgbClr val="244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8695055" y="1871726"/>
            <a:ext cx="25019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6F8F8F"/>
                </a:solidFill>
                <a:latin typeface="Noto Sans SC"/>
                <a:ea typeface="Noto Sans SC"/>
              </a:rPr>
              <a:t>0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94800" y="1651000"/>
            <a:ext cx="673100" cy="673100"/>
          </a:xfrm>
          <a:prstGeom prst="roundRect">
            <a:avLst>
              <a:gd name="adj" fmla="val 7547"/>
            </a:avLst>
          </a:prstGeom>
          <a:solidFill>
            <a:srgbClr val="0D272D"/>
          </a:solidFill>
          <a:ln w="12700">
            <a:solidFill>
              <a:srgbClr val="244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9406255" y="1871726"/>
            <a:ext cx="25019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6F8F8F"/>
                </a:solidFill>
                <a:latin typeface="Noto Sans SC"/>
                <a:ea typeface="Noto Sans SC"/>
              </a:rPr>
              <a:t>0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50000" y="2362200"/>
            <a:ext cx="673100" cy="673100"/>
          </a:xfrm>
          <a:prstGeom prst="roundRect">
            <a:avLst>
              <a:gd name="adj" fmla="val 7547"/>
            </a:avLst>
          </a:prstGeom>
          <a:solidFill>
            <a:srgbClr val="0D272D"/>
          </a:solidFill>
          <a:ln w="12700">
            <a:solidFill>
              <a:srgbClr val="244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6501130" y="2582926"/>
            <a:ext cx="37084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−5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061200" y="2362200"/>
            <a:ext cx="673100" cy="673100"/>
          </a:xfrm>
          <a:prstGeom prst="roundRect">
            <a:avLst>
              <a:gd name="adj" fmla="val 7547"/>
            </a:avLst>
          </a:prstGeom>
          <a:solidFill>
            <a:srgbClr val="0D272D"/>
          </a:solidFill>
          <a:ln w="12700">
            <a:solidFill>
              <a:srgbClr val="244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7269480" y="2582926"/>
            <a:ext cx="25654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D8BB78"/>
                </a:solidFill>
                <a:latin typeface="Noto Sans SC"/>
                <a:ea typeface="Noto Sans SC"/>
              </a:rPr>
              <a:t>9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772400" y="2362200"/>
            <a:ext cx="673100" cy="673100"/>
          </a:xfrm>
          <a:prstGeom prst="roundRect">
            <a:avLst>
              <a:gd name="adj" fmla="val 7547"/>
            </a:avLst>
          </a:prstGeom>
          <a:solidFill>
            <a:srgbClr val="0D272D"/>
          </a:solidFill>
          <a:ln w="12700">
            <a:solidFill>
              <a:srgbClr val="244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7923530" y="2582926"/>
            <a:ext cx="37084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−4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483600" y="2362200"/>
            <a:ext cx="673100" cy="673100"/>
          </a:xfrm>
          <a:prstGeom prst="roundRect">
            <a:avLst>
              <a:gd name="adj" fmla="val 7547"/>
            </a:avLst>
          </a:prstGeom>
          <a:solidFill>
            <a:srgbClr val="0D272D"/>
          </a:solidFill>
          <a:ln w="12700">
            <a:solidFill>
              <a:srgbClr val="244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8695055" y="2582926"/>
            <a:ext cx="25019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6F8F8F"/>
                </a:solidFill>
                <a:latin typeface="Noto Sans SC"/>
                <a:ea typeface="Noto Sans SC"/>
              </a:rPr>
              <a:t>0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194800" y="2362200"/>
            <a:ext cx="673100" cy="673100"/>
          </a:xfrm>
          <a:prstGeom prst="roundRect">
            <a:avLst>
              <a:gd name="adj" fmla="val 7547"/>
            </a:avLst>
          </a:prstGeom>
          <a:solidFill>
            <a:srgbClr val="0D272D"/>
          </a:solidFill>
          <a:ln w="12700">
            <a:solidFill>
              <a:srgbClr val="244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9406255" y="2582926"/>
            <a:ext cx="25019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6F8F8F"/>
                </a:solidFill>
                <a:latin typeface="Noto Sans SC"/>
                <a:ea typeface="Noto Sans SC"/>
              </a:rPr>
              <a:t>0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350000" y="3073400"/>
            <a:ext cx="673100" cy="673100"/>
          </a:xfrm>
          <a:prstGeom prst="roundRect">
            <a:avLst>
              <a:gd name="adj" fmla="val 7547"/>
            </a:avLst>
          </a:prstGeom>
          <a:solidFill>
            <a:srgbClr val="0D272D"/>
          </a:solidFill>
          <a:ln w="12700">
            <a:solidFill>
              <a:srgbClr val="244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6501130" y="3294126"/>
            <a:ext cx="37084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−1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061200" y="3073400"/>
            <a:ext cx="673100" cy="673100"/>
          </a:xfrm>
          <a:prstGeom prst="roundRect">
            <a:avLst>
              <a:gd name="adj" fmla="val 7547"/>
            </a:avLst>
          </a:prstGeom>
          <a:solidFill>
            <a:srgbClr val="0D272D"/>
          </a:solidFill>
          <a:ln w="12700">
            <a:solidFill>
              <a:srgbClr val="244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7212330" y="3294126"/>
            <a:ext cx="37084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−4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772400" y="3073400"/>
            <a:ext cx="673100" cy="673100"/>
          </a:xfrm>
          <a:prstGeom prst="roundRect">
            <a:avLst>
              <a:gd name="adj" fmla="val 7547"/>
            </a:avLst>
          </a:prstGeom>
          <a:solidFill>
            <a:srgbClr val="0D272D"/>
          </a:solidFill>
          <a:ln w="12700">
            <a:solidFill>
              <a:srgbClr val="244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7980680" y="3294126"/>
            <a:ext cx="25654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D8BB78"/>
                </a:solidFill>
                <a:latin typeface="Noto Sans SC"/>
                <a:ea typeface="Noto Sans SC"/>
              </a:rPr>
              <a:t>8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483600" y="3073400"/>
            <a:ext cx="673100" cy="673100"/>
          </a:xfrm>
          <a:prstGeom prst="roundRect">
            <a:avLst>
              <a:gd name="adj" fmla="val 7547"/>
            </a:avLst>
          </a:prstGeom>
          <a:solidFill>
            <a:srgbClr val="0D272D"/>
          </a:solidFill>
          <a:ln w="12700">
            <a:solidFill>
              <a:srgbClr val="244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8634730" y="3294126"/>
            <a:ext cx="37084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−2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194800" y="3073400"/>
            <a:ext cx="673100" cy="673100"/>
          </a:xfrm>
          <a:prstGeom prst="roundRect">
            <a:avLst>
              <a:gd name="adj" fmla="val 7547"/>
            </a:avLst>
          </a:prstGeom>
          <a:solidFill>
            <a:srgbClr val="0D272D"/>
          </a:solidFill>
          <a:ln w="12700">
            <a:solidFill>
              <a:srgbClr val="244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9345930" y="3294126"/>
            <a:ext cx="37084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−1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350000" y="3784600"/>
            <a:ext cx="673100" cy="673100"/>
          </a:xfrm>
          <a:prstGeom prst="roundRect">
            <a:avLst>
              <a:gd name="adj" fmla="val 7547"/>
            </a:avLst>
          </a:prstGeom>
          <a:solidFill>
            <a:srgbClr val="0D272D"/>
          </a:solidFill>
          <a:ln w="12700">
            <a:solidFill>
              <a:srgbClr val="244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6561455" y="4005326"/>
            <a:ext cx="25019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6F8F8F"/>
                </a:solidFill>
                <a:latin typeface="Noto Sans SC"/>
                <a:ea typeface="Noto Sans SC"/>
              </a:rPr>
              <a:t>0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061200" y="3784600"/>
            <a:ext cx="673100" cy="673100"/>
          </a:xfrm>
          <a:prstGeom prst="roundRect">
            <a:avLst>
              <a:gd name="adj" fmla="val 7547"/>
            </a:avLst>
          </a:prstGeom>
          <a:solidFill>
            <a:srgbClr val="0D272D"/>
          </a:solidFill>
          <a:ln w="12700">
            <a:solidFill>
              <a:srgbClr val="244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7272655" y="4005326"/>
            <a:ext cx="25019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6F8F8F"/>
                </a:solidFill>
                <a:latin typeface="Noto Sans SC"/>
                <a:ea typeface="Noto Sans SC"/>
              </a:rPr>
              <a:t>0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772400" y="3784600"/>
            <a:ext cx="673100" cy="673100"/>
          </a:xfrm>
          <a:prstGeom prst="roundRect">
            <a:avLst>
              <a:gd name="adj" fmla="val 7547"/>
            </a:avLst>
          </a:prstGeom>
          <a:solidFill>
            <a:srgbClr val="0D272D"/>
          </a:solidFill>
          <a:ln w="12700">
            <a:solidFill>
              <a:srgbClr val="244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7923530" y="4005326"/>
            <a:ext cx="37084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−2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483600" y="3784600"/>
            <a:ext cx="673100" cy="673100"/>
          </a:xfrm>
          <a:prstGeom prst="roundRect">
            <a:avLst>
              <a:gd name="adj" fmla="val 7547"/>
            </a:avLst>
          </a:prstGeom>
          <a:solidFill>
            <a:srgbClr val="0D272D"/>
          </a:solidFill>
          <a:ln w="12700">
            <a:solidFill>
              <a:srgbClr val="244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8691880" y="4005326"/>
            <a:ext cx="25654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D8BB78"/>
                </a:solidFill>
                <a:latin typeface="Noto Sans SC"/>
                <a:ea typeface="Noto Sans SC"/>
              </a:rPr>
              <a:t>7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194800" y="3784600"/>
            <a:ext cx="673100" cy="673100"/>
          </a:xfrm>
          <a:prstGeom prst="roundRect">
            <a:avLst>
              <a:gd name="adj" fmla="val 7547"/>
            </a:avLst>
          </a:prstGeom>
          <a:solidFill>
            <a:srgbClr val="0D272D"/>
          </a:solidFill>
          <a:ln w="12700">
            <a:solidFill>
              <a:srgbClr val="244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9345930" y="4005326"/>
            <a:ext cx="37084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−5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350000" y="4495800"/>
            <a:ext cx="673100" cy="673100"/>
          </a:xfrm>
          <a:prstGeom prst="roundRect">
            <a:avLst>
              <a:gd name="adj" fmla="val 7547"/>
            </a:avLst>
          </a:prstGeom>
          <a:solidFill>
            <a:srgbClr val="0D272D"/>
          </a:solidFill>
          <a:ln w="12700">
            <a:solidFill>
              <a:srgbClr val="244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6561455" y="4716526"/>
            <a:ext cx="25019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6F8F8F"/>
                </a:solidFill>
                <a:latin typeface="Noto Sans SC"/>
                <a:ea typeface="Noto Sans SC"/>
              </a:rPr>
              <a:t>0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061200" y="4495800"/>
            <a:ext cx="673100" cy="673100"/>
          </a:xfrm>
          <a:prstGeom prst="roundRect">
            <a:avLst>
              <a:gd name="adj" fmla="val 7547"/>
            </a:avLst>
          </a:prstGeom>
          <a:solidFill>
            <a:srgbClr val="0D272D"/>
          </a:solidFill>
          <a:ln w="12700">
            <a:solidFill>
              <a:srgbClr val="244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TextBox 71"/>
          <p:cNvSpPr txBox="1"/>
          <p:nvPr/>
        </p:nvSpPr>
        <p:spPr>
          <a:xfrm>
            <a:off x="7272655" y="4716526"/>
            <a:ext cx="25019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6F8F8F"/>
                </a:solidFill>
                <a:latin typeface="Noto Sans SC"/>
                <a:ea typeface="Noto Sans SC"/>
              </a:rPr>
              <a:t>0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7772400" y="4495800"/>
            <a:ext cx="673100" cy="673100"/>
          </a:xfrm>
          <a:prstGeom prst="roundRect">
            <a:avLst>
              <a:gd name="adj" fmla="val 7547"/>
            </a:avLst>
          </a:prstGeom>
          <a:solidFill>
            <a:srgbClr val="0D272D"/>
          </a:solidFill>
          <a:ln w="12700">
            <a:solidFill>
              <a:srgbClr val="244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7923530" y="4716526"/>
            <a:ext cx="37084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−1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8483600" y="4495800"/>
            <a:ext cx="673100" cy="673100"/>
          </a:xfrm>
          <a:prstGeom prst="roundRect">
            <a:avLst>
              <a:gd name="adj" fmla="val 7547"/>
            </a:avLst>
          </a:prstGeom>
          <a:solidFill>
            <a:srgbClr val="0D272D"/>
          </a:solidFill>
          <a:ln w="12700">
            <a:solidFill>
              <a:srgbClr val="244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TextBox 75"/>
          <p:cNvSpPr txBox="1"/>
          <p:nvPr/>
        </p:nvSpPr>
        <p:spPr>
          <a:xfrm>
            <a:off x="8634730" y="4716526"/>
            <a:ext cx="37084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−5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9194800" y="4495800"/>
            <a:ext cx="673100" cy="673100"/>
          </a:xfrm>
          <a:prstGeom prst="roundRect">
            <a:avLst>
              <a:gd name="adj" fmla="val 7547"/>
            </a:avLst>
          </a:prstGeom>
          <a:solidFill>
            <a:srgbClr val="0D272D"/>
          </a:solidFill>
          <a:ln w="12700">
            <a:solidFill>
              <a:srgbClr val="244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9403080" y="4716526"/>
            <a:ext cx="25654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D8BB78"/>
                </a:solidFill>
                <a:latin typeface="Noto Sans SC"/>
                <a:ea typeface="Noto Sans SC"/>
              </a:rPr>
              <a:t>6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024745" y="1927098"/>
            <a:ext cx="56261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1">
                <a:solidFill>
                  <a:srgbClr val="77CDBB"/>
                </a:solidFill>
                <a:latin typeface="Noto Sans SC"/>
                <a:ea typeface="Noto Sans SC"/>
              </a:rPr>
              <a:t>行和 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024745" y="2638298"/>
            <a:ext cx="56261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1">
                <a:solidFill>
                  <a:srgbClr val="77CDBB"/>
                </a:solidFill>
                <a:latin typeface="Noto Sans SC"/>
                <a:ea typeface="Noto Sans SC"/>
              </a:rPr>
              <a:t>行和 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024745" y="3349498"/>
            <a:ext cx="56261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1">
                <a:solidFill>
                  <a:srgbClr val="77CDBB"/>
                </a:solidFill>
                <a:latin typeface="Noto Sans SC"/>
                <a:ea typeface="Noto Sans SC"/>
              </a:rPr>
              <a:t>行和 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024745" y="4060698"/>
            <a:ext cx="56261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1">
                <a:solidFill>
                  <a:srgbClr val="77CDBB"/>
                </a:solidFill>
                <a:latin typeface="Noto Sans SC"/>
                <a:ea typeface="Noto Sans SC"/>
              </a:rPr>
              <a:t>行和 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024745" y="4771898"/>
            <a:ext cx="56261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1">
                <a:solidFill>
                  <a:srgbClr val="77CDBB"/>
                </a:solidFill>
                <a:latin typeface="Noto Sans SC"/>
                <a:ea typeface="Noto Sans SC"/>
              </a:rPr>
              <a:t>行和 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77CDBB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53720" y="450088"/>
            <a:ext cx="5902960" cy="4800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0">
                <a:solidFill>
                  <a:srgbClr val="F2F3E9"/>
                </a:solidFill>
                <a:latin typeface="Noto Sans SC"/>
                <a:ea typeface="Noto Sans SC"/>
              </a:rPr>
              <a:t>二次型：为什么连得紧的点数值接近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965200"/>
            <a:ext cx="571500" cy="254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571500" y="6426200"/>
            <a:ext cx="11049000" cy="0"/>
          </a:xfrm>
          <a:prstGeom prst="line">
            <a:avLst/>
          </a:prstGeom>
          <a:ln w="12700">
            <a:solidFill>
              <a:srgbClr val="1D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3880" y="6512052"/>
            <a:ext cx="149479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Module 06 · 谱二分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13770" y="6499098"/>
            <a:ext cx="55626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p4/11</a:t>
            </a:r>
          </a:p>
        </p:txBody>
      </p:sp>
      <p:sp>
        <p:nvSpPr>
          <p:cNvPr id="9" name="Oval 8"/>
          <p:cNvSpPr/>
          <p:nvPr/>
        </p:nvSpPr>
        <p:spPr>
          <a:xfrm>
            <a:off x="711200" y="15394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14400" y="14307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x</a:t>
            </a:r>
            <a:r>
              <a:rPr sz="1700" b="0" baseline="30000">
                <a:solidFill>
                  <a:srgbClr val="F2F3E9"/>
                </a:solidFill>
                <a:latin typeface="Noto Sans SC"/>
                <a:ea typeface="Noto Sans SC"/>
              </a:rPr>
              <a:t>T</a:t>
            </a: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Lx = Σ w(u,v)·(x_u − x_v)</a:t>
            </a:r>
            <a:r>
              <a:rPr sz="1700" b="0" baseline="30000">
                <a:solidFill>
                  <a:srgbClr val="F2F3E9"/>
                </a:solidFill>
                <a:latin typeface="Noto Sans SC"/>
                <a:ea typeface="Noto Sans SC"/>
              </a:rPr>
              <a:t>2</a:t>
            </a:r>
          </a:p>
        </p:txBody>
      </p:sp>
      <p:sp>
        <p:nvSpPr>
          <p:cNvPr id="11" name="Oval 10"/>
          <p:cNvSpPr/>
          <p:nvPr/>
        </p:nvSpPr>
        <p:spPr>
          <a:xfrm>
            <a:off x="711200" y="19712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14400" y="18625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x 取 ±1：被切的边贡献 4w → x</a:t>
            </a:r>
            <a:r>
              <a:rPr sz="1700" b="0" baseline="30000">
                <a:solidFill>
                  <a:srgbClr val="F2F3E9"/>
                </a:solidFill>
                <a:latin typeface="Noto Sans SC"/>
                <a:ea typeface="Noto Sans SC"/>
              </a:rPr>
              <a:t>T</a:t>
            </a: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Lx = 4 × cut</a:t>
            </a:r>
          </a:p>
        </p:txBody>
      </p:sp>
      <p:sp>
        <p:nvSpPr>
          <p:cNvPr id="13" name="Oval 12"/>
          <p:cNvSpPr/>
          <p:nvPr/>
        </p:nvSpPr>
        <p:spPr>
          <a:xfrm>
            <a:off x="711200" y="24030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4400" y="22943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放松：x 取任意实数、与全 1 正交</a:t>
            </a:r>
          </a:p>
        </p:txBody>
      </p:sp>
      <p:sp>
        <p:nvSpPr>
          <p:cNvPr id="15" name="Oval 14"/>
          <p:cNvSpPr/>
          <p:nvPr/>
        </p:nvSpPr>
        <p:spPr>
          <a:xfrm>
            <a:off x="711200" y="28348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14400" y="27261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放松后的最优解：第二小特征值的特征向量</a:t>
            </a:r>
          </a:p>
        </p:txBody>
      </p:sp>
      <p:sp>
        <p:nvSpPr>
          <p:cNvPr id="17" name="Oval 16"/>
          <p:cNvSpPr/>
          <p:nvPr/>
        </p:nvSpPr>
        <p:spPr>
          <a:xfrm>
            <a:off x="711200" y="32666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14400" y="31579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BCD2D0"/>
                </a:solidFill>
                <a:latin typeface="Noto Sans SC"/>
                <a:ea typeface="Noto Sans SC"/>
              </a:rPr>
              <a:t>弹簧只是类比，本页没有物理模拟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6962640" y="1651000"/>
            <a:ext cx="1967606" cy="134154"/>
          </a:xfrm>
          <a:prstGeom prst="line">
            <a:avLst/>
          </a:prstGeom>
          <a:ln w="2540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7789772" y="1350638"/>
            <a:ext cx="292608" cy="292608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814791" y="1358766"/>
            <a:ext cx="24257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D9E4E1"/>
                </a:solidFill>
                <a:latin typeface="Noto Sans SC"/>
                <a:ea typeface="Noto Sans SC"/>
              </a:rPr>
              <a:t>5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962640" y="1785154"/>
            <a:ext cx="1207395" cy="1520423"/>
          </a:xfrm>
          <a:prstGeom prst="line">
            <a:avLst/>
          </a:prstGeom>
          <a:ln w="2540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7539380" y="2235199"/>
            <a:ext cx="292608" cy="292608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564399" y="2243327"/>
            <a:ext cx="24257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D9E4E1"/>
                </a:solidFill>
                <a:latin typeface="Noto Sans SC"/>
                <a:ea typeface="Noto Sans SC"/>
              </a:rPr>
              <a:t>1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8170035" y="1651000"/>
            <a:ext cx="760211" cy="1654577"/>
          </a:xfrm>
          <a:prstGeom prst="line">
            <a:avLst/>
          </a:prstGeom>
          <a:ln w="2540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8542319" y="2326523"/>
            <a:ext cx="292608" cy="292608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567338" y="2334651"/>
            <a:ext cx="24257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D9E4E1"/>
                </a:solidFill>
                <a:latin typeface="Noto Sans SC"/>
                <a:ea typeface="Noto Sans SC"/>
              </a:rPr>
              <a:t>4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170035" y="3305577"/>
            <a:ext cx="2012324" cy="939084"/>
          </a:xfrm>
          <a:prstGeom prst="line">
            <a:avLst/>
          </a:prstGeom>
          <a:ln w="25400">
            <a:solidFill>
              <a:srgbClr val="DB7B7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9094340" y="3421625"/>
            <a:ext cx="292608" cy="292608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9119359" y="3429753"/>
            <a:ext cx="24257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D9E4E1"/>
                </a:solidFill>
                <a:latin typeface="Noto Sans SC"/>
                <a:ea typeface="Noto Sans SC"/>
              </a:rPr>
              <a:t>2</a:t>
            </a:r>
          </a:p>
        </p:txBody>
      </p:sp>
      <p:cxnSp>
        <p:nvCxnSpPr>
          <p:cNvPr id="31" name="Connector 30"/>
          <p:cNvCxnSpPr/>
          <p:nvPr/>
        </p:nvCxnSpPr>
        <p:spPr>
          <a:xfrm flipH="1">
            <a:off x="7946443" y="3305577"/>
            <a:ext cx="223592" cy="1520423"/>
          </a:xfrm>
          <a:prstGeom prst="line">
            <a:avLst/>
          </a:prstGeom>
          <a:ln w="25400">
            <a:solidFill>
              <a:srgbClr val="DB7B7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8062713" y="3872570"/>
            <a:ext cx="292608" cy="292608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087732" y="3880698"/>
            <a:ext cx="24257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D9E4E1"/>
                </a:solidFill>
                <a:latin typeface="Noto Sans SC"/>
                <a:ea typeface="Noto Sans SC"/>
              </a:rPr>
              <a:t>1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7946443" y="4244661"/>
            <a:ext cx="2235916" cy="581339"/>
          </a:xfrm>
          <a:prstGeom prst="line">
            <a:avLst/>
          </a:prstGeom>
          <a:ln w="2540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8956446" y="4467435"/>
            <a:ext cx="292608" cy="292608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8981465" y="4475563"/>
            <a:ext cx="24257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D9E4E1"/>
                </a:solidFill>
                <a:latin typeface="Noto Sans SC"/>
                <a:ea typeface="Noto Sans SC"/>
              </a:rPr>
              <a:t>5</a:t>
            </a:r>
          </a:p>
        </p:txBody>
      </p:sp>
      <p:sp>
        <p:nvSpPr>
          <p:cNvPr id="37" name="Oval 36"/>
          <p:cNvSpPr/>
          <p:nvPr/>
        </p:nvSpPr>
        <p:spPr>
          <a:xfrm>
            <a:off x="6708640" y="1531154"/>
            <a:ext cx="508000" cy="508000"/>
          </a:xfrm>
          <a:prstGeom prst="ellipse">
            <a:avLst/>
          </a:prstGeom>
          <a:solidFill>
            <a:srgbClr val="77CDBB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828020" y="1642660"/>
            <a:ext cx="26924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0B1B1F"/>
                </a:solidFill>
                <a:latin typeface="Noto Sans SC"/>
                <a:ea typeface="Noto Sans SC"/>
              </a:rPr>
              <a:t>A</a:t>
            </a:r>
          </a:p>
        </p:txBody>
      </p:sp>
      <p:sp>
        <p:nvSpPr>
          <p:cNvPr id="39" name="Oval 38"/>
          <p:cNvSpPr/>
          <p:nvPr/>
        </p:nvSpPr>
        <p:spPr>
          <a:xfrm>
            <a:off x="8676246" y="1397000"/>
            <a:ext cx="508000" cy="508000"/>
          </a:xfrm>
          <a:prstGeom prst="ellipse">
            <a:avLst/>
          </a:prstGeom>
          <a:solidFill>
            <a:srgbClr val="77CDBB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8792451" y="1508506"/>
            <a:ext cx="27559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0B1B1F"/>
                </a:solidFill>
                <a:latin typeface="Noto Sans SC"/>
                <a:ea typeface="Noto Sans SC"/>
              </a:rPr>
              <a:t>B</a:t>
            </a:r>
          </a:p>
        </p:txBody>
      </p:sp>
      <p:sp>
        <p:nvSpPr>
          <p:cNvPr id="41" name="Oval 40"/>
          <p:cNvSpPr/>
          <p:nvPr/>
        </p:nvSpPr>
        <p:spPr>
          <a:xfrm>
            <a:off x="7916035" y="3051577"/>
            <a:ext cx="508000" cy="508000"/>
          </a:xfrm>
          <a:prstGeom prst="ellipse">
            <a:avLst/>
          </a:prstGeom>
          <a:solidFill>
            <a:srgbClr val="77CDBB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8035415" y="3163083"/>
            <a:ext cx="26924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0B1B1F"/>
                </a:solidFill>
                <a:latin typeface="Noto Sans SC"/>
                <a:ea typeface="Noto Sans SC"/>
              </a:rPr>
              <a:t>C</a:t>
            </a:r>
          </a:p>
        </p:txBody>
      </p:sp>
      <p:sp>
        <p:nvSpPr>
          <p:cNvPr id="43" name="Oval 42"/>
          <p:cNvSpPr/>
          <p:nvPr/>
        </p:nvSpPr>
        <p:spPr>
          <a:xfrm>
            <a:off x="9928359" y="3990661"/>
            <a:ext cx="508000" cy="508000"/>
          </a:xfrm>
          <a:prstGeom prst="ellipse">
            <a:avLst/>
          </a:prstGeom>
          <a:solidFill>
            <a:srgbClr val="8FB1E6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10041389" y="4102167"/>
            <a:ext cx="281939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0B1B1F"/>
                </a:solidFill>
                <a:latin typeface="Noto Sans SC"/>
                <a:ea typeface="Noto Sans SC"/>
              </a:rPr>
              <a:t>D</a:t>
            </a:r>
          </a:p>
        </p:txBody>
      </p:sp>
      <p:sp>
        <p:nvSpPr>
          <p:cNvPr id="45" name="Oval 44"/>
          <p:cNvSpPr/>
          <p:nvPr/>
        </p:nvSpPr>
        <p:spPr>
          <a:xfrm>
            <a:off x="7692443" y="4572000"/>
            <a:ext cx="508000" cy="508000"/>
          </a:xfrm>
          <a:prstGeom prst="ellipse">
            <a:avLst/>
          </a:prstGeom>
          <a:solidFill>
            <a:srgbClr val="8FB1E6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7814998" y="4683506"/>
            <a:ext cx="26289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0B1B1F"/>
                </a:solidFill>
                <a:latin typeface="Noto Sans SC"/>
                <a:ea typeface="Noto Sans SC"/>
              </a:rPr>
              <a:t>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14845" y="5229098"/>
            <a:ext cx="311531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BCD2D0"/>
                </a:solidFill>
                <a:latin typeface="Noto Sans SC"/>
                <a:ea typeface="Noto Sans SC"/>
              </a:rPr>
              <a:t>青 = +1（A、B、C）  ·  蓝 = −1（D、E）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734300" y="5689600"/>
            <a:ext cx="1676400" cy="292100"/>
          </a:xfrm>
          <a:prstGeom prst="roundRect">
            <a:avLst>
              <a:gd name="adj" fmla="val 50000"/>
            </a:avLst>
          </a:prstGeom>
          <a:solidFill>
            <a:srgbClr val="0A2126"/>
          </a:solidFill>
          <a:ln w="12700">
            <a:solidFill>
              <a:srgbClr val="D8BB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7780020" y="5749798"/>
            <a:ext cx="158496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D8BB78"/>
                </a:solidFill>
                <a:latin typeface="Noto Sans SC"/>
                <a:ea typeface="Noto Sans SC"/>
              </a:rPr>
              <a:t>x</a:t>
            </a:r>
            <a:r>
              <a:rPr sz="1300" b="1" baseline="30000">
                <a:solidFill>
                  <a:srgbClr val="D8BB78"/>
                </a:solidFill>
                <a:latin typeface="Noto Sans SC"/>
                <a:ea typeface="Noto Sans SC"/>
              </a:rPr>
              <a:t>T</a:t>
            </a:r>
            <a:r>
              <a:rPr sz="1300" b="1">
                <a:solidFill>
                  <a:srgbClr val="D8BB78"/>
                </a:solidFill>
                <a:latin typeface="Noto Sans SC"/>
                <a:ea typeface="Noto Sans SC"/>
              </a:rPr>
              <a:t>Lx = 4 × cut =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77CDBB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53720" y="450088"/>
            <a:ext cx="3934460" cy="4800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0">
                <a:solidFill>
                  <a:srgbClr val="F2F3E9"/>
                </a:solidFill>
                <a:latin typeface="Noto Sans SC"/>
                <a:ea typeface="Noto Sans SC"/>
              </a:rPr>
              <a:t>Fiedler 向量与它的条件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965200"/>
            <a:ext cx="571500" cy="254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571500" y="6426200"/>
            <a:ext cx="11049000" cy="0"/>
          </a:xfrm>
          <a:prstGeom prst="line">
            <a:avLst/>
          </a:prstGeom>
          <a:ln w="12700">
            <a:solidFill>
              <a:srgbClr val="1D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3880" y="6512052"/>
            <a:ext cx="149479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Module 06 · 谱二分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13770" y="6499098"/>
            <a:ext cx="55626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p5/11</a:t>
            </a:r>
          </a:p>
        </p:txBody>
      </p:sp>
      <p:sp>
        <p:nvSpPr>
          <p:cNvPr id="9" name="Oval 8"/>
          <p:cNvSpPr/>
          <p:nvPr/>
        </p:nvSpPr>
        <p:spPr>
          <a:xfrm>
            <a:off x="711200" y="15394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14400" y="14307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λ1 = 0（全 1 向量）；λ2 ≈ 1.7733</a:t>
            </a:r>
          </a:p>
        </p:txBody>
      </p:sp>
      <p:sp>
        <p:nvSpPr>
          <p:cNvPr id="11" name="Oval 10"/>
          <p:cNvSpPr/>
          <p:nvPr/>
        </p:nvSpPr>
        <p:spPr>
          <a:xfrm>
            <a:off x="711200" y="19712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14400" y="1862582"/>
            <a:ext cx="4718050" cy="626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Fiedler 向量：A 0.519，B 0.418，C 0.106，D −0.489，E −0.553</a:t>
            </a:r>
          </a:p>
        </p:txBody>
      </p:sp>
      <p:sp>
        <p:nvSpPr>
          <p:cNvPr id="13" name="Oval 12"/>
          <p:cNvSpPr/>
          <p:nvPr/>
        </p:nvSpPr>
        <p:spPr>
          <a:xfrm>
            <a:off x="711200" y="2716149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4400" y="2607437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条件：图连通；λ2 不简并</a:t>
            </a:r>
          </a:p>
        </p:txBody>
      </p:sp>
      <p:sp>
        <p:nvSpPr>
          <p:cNvPr id="15" name="Oval 14"/>
          <p:cNvSpPr/>
          <p:nvPr/>
        </p:nvSpPr>
        <p:spPr>
          <a:xfrm>
            <a:off x="711200" y="3147948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14400" y="3039236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翻号等价：−x 也是特征向量，只交换左右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32500" y="2667000"/>
            <a:ext cx="5334000" cy="0"/>
          </a:xfrm>
          <a:prstGeom prst="line">
            <a:avLst/>
          </a:prstGeom>
          <a:ln w="1905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6007100" y="2451100"/>
            <a:ext cx="431800" cy="431800"/>
          </a:xfrm>
          <a:prstGeom prst="ellipse">
            <a:avLst/>
          </a:prstGeom>
          <a:solidFill>
            <a:srgbClr val="A9BD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115685" y="2549652"/>
            <a:ext cx="214629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B1B1F"/>
                </a:solidFill>
                <a:latin typeface="Noto Sans SC"/>
                <a:ea typeface="Noto Sans SC"/>
              </a:rPr>
              <a:t>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64555" y="2905252"/>
            <a:ext cx="51689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BCD2D0"/>
                </a:solidFill>
                <a:latin typeface="Noto Sans SC"/>
                <a:ea typeface="Noto Sans SC"/>
              </a:rPr>
              <a:t>-0.553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520658" y="2364740"/>
            <a:ext cx="0" cy="302260"/>
          </a:xfrm>
          <a:prstGeom prst="line">
            <a:avLst/>
          </a:prstGeom>
          <a:ln w="1270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6488908" y="2635250"/>
            <a:ext cx="63500" cy="63500"/>
          </a:xfrm>
          <a:prstGeom prst="ellipse">
            <a:avLst/>
          </a:prstGeom>
          <a:solidFill>
            <a:srgbClr val="5D7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6304758" y="1932939"/>
            <a:ext cx="431800" cy="431800"/>
          </a:xfrm>
          <a:prstGeom prst="ellipse">
            <a:avLst/>
          </a:prstGeom>
          <a:solidFill>
            <a:srgbClr val="A9BD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03818" y="2031491"/>
            <a:ext cx="233679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B1B1F"/>
                </a:solidFill>
                <a:latin typeface="Noto Sans SC"/>
                <a:ea typeface="Noto Sans SC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2213" y="3083052"/>
            <a:ext cx="51689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BCD2D0"/>
                </a:solidFill>
                <a:latin typeface="Noto Sans SC"/>
                <a:ea typeface="Noto Sans SC"/>
              </a:rPr>
              <a:t>-0.489</a:t>
            </a:r>
          </a:p>
        </p:txBody>
      </p:sp>
      <p:sp>
        <p:nvSpPr>
          <p:cNvPr id="26" name="Oval 25"/>
          <p:cNvSpPr/>
          <p:nvPr/>
        </p:nvSpPr>
        <p:spPr>
          <a:xfrm>
            <a:off x="9051161" y="2451100"/>
            <a:ext cx="431800" cy="431800"/>
          </a:xfrm>
          <a:prstGeom prst="ellipse">
            <a:avLst/>
          </a:prstGeom>
          <a:solidFill>
            <a:srgbClr val="A9BD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156571" y="2549652"/>
            <a:ext cx="220979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B1B1F"/>
                </a:solidFill>
                <a:latin typeface="Noto Sans SC"/>
                <a:ea typeface="Noto Sans SC"/>
              </a:rPr>
              <a:t>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92741" y="2905252"/>
            <a:ext cx="54864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BCD2D0"/>
                </a:solidFill>
                <a:latin typeface="Noto Sans SC"/>
                <a:ea typeface="Noto Sans SC"/>
              </a:rPr>
              <a:t>+0.106</a:t>
            </a:r>
          </a:p>
        </p:txBody>
      </p:sp>
      <p:sp>
        <p:nvSpPr>
          <p:cNvPr id="29" name="Oval 28"/>
          <p:cNvSpPr/>
          <p:nvPr/>
        </p:nvSpPr>
        <p:spPr>
          <a:xfrm>
            <a:off x="10491713" y="2451100"/>
            <a:ext cx="431800" cy="431800"/>
          </a:xfrm>
          <a:prstGeom prst="ellipse">
            <a:avLst/>
          </a:prstGeom>
          <a:solidFill>
            <a:srgbClr val="A9BD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0593948" y="2549652"/>
            <a:ext cx="227329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B1B1F"/>
                </a:solidFill>
                <a:latin typeface="Noto Sans SC"/>
                <a:ea typeface="Noto Sans SC"/>
              </a:rPr>
              <a:t>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33293" y="3083052"/>
            <a:ext cx="54864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BCD2D0"/>
                </a:solidFill>
                <a:latin typeface="Noto Sans SC"/>
                <a:ea typeface="Noto Sans SC"/>
              </a:rPr>
              <a:t>+0.418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1176000" y="2364740"/>
            <a:ext cx="0" cy="302260"/>
          </a:xfrm>
          <a:prstGeom prst="line">
            <a:avLst/>
          </a:prstGeom>
          <a:ln w="1270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11144250" y="2635250"/>
            <a:ext cx="63500" cy="63500"/>
          </a:xfrm>
          <a:prstGeom prst="ellipse">
            <a:avLst/>
          </a:prstGeom>
          <a:solidFill>
            <a:srgbClr val="5D7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Oval 33"/>
          <p:cNvSpPr/>
          <p:nvPr/>
        </p:nvSpPr>
        <p:spPr>
          <a:xfrm>
            <a:off x="10960100" y="1932939"/>
            <a:ext cx="431800" cy="431800"/>
          </a:xfrm>
          <a:prstGeom prst="ellipse">
            <a:avLst/>
          </a:prstGeom>
          <a:solidFill>
            <a:srgbClr val="A9BD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11065510" y="2031491"/>
            <a:ext cx="220979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B1B1F"/>
                </a:solidFill>
                <a:latin typeface="Noto Sans SC"/>
                <a:ea typeface="Noto Sans SC"/>
              </a:rPr>
              <a:t>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01680" y="2905252"/>
            <a:ext cx="54864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BCD2D0"/>
                </a:solidFill>
                <a:latin typeface="Noto Sans SC"/>
                <a:ea typeface="Noto Sans SC"/>
              </a:rPr>
              <a:t>+0.519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4110" y="3882644"/>
            <a:ext cx="3630929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2F3E9"/>
                </a:solidFill>
                <a:latin typeface="Noto Sans SC"/>
                <a:ea typeface="Noto Sans SC"/>
              </a:rPr>
              <a:t>λ = 0，1.7733，8.4551，11.6053，14.1663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3475" y="4250690"/>
            <a:ext cx="2762250" cy="2571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>
                <a:solidFill>
                  <a:srgbClr val="D8BB78"/>
                </a:solidFill>
                <a:latin typeface="Noto Sans SC"/>
                <a:ea typeface="Noto Sans SC"/>
              </a:rPr>
              <a:t>Fiedler 排序：E，D，C，B，A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77CDBB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53720" y="450088"/>
            <a:ext cx="1635760" cy="4800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0">
                <a:solidFill>
                  <a:srgbClr val="F2F3E9"/>
                </a:solidFill>
                <a:latin typeface="Noto Sans SC"/>
                <a:ea typeface="Noto Sans SC"/>
              </a:rPr>
              <a:t>排序扫描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965200"/>
            <a:ext cx="571500" cy="254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571500" y="6426200"/>
            <a:ext cx="11049000" cy="0"/>
          </a:xfrm>
          <a:prstGeom prst="line">
            <a:avLst/>
          </a:prstGeom>
          <a:ln w="12700">
            <a:solidFill>
              <a:srgbClr val="1D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3880" y="6512052"/>
            <a:ext cx="149479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Module 06 · 谱二分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13770" y="6499098"/>
            <a:ext cx="55626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p6/11</a:t>
            </a:r>
          </a:p>
        </p:txBody>
      </p:sp>
      <p:sp>
        <p:nvSpPr>
          <p:cNvPr id="9" name="Oval 8"/>
          <p:cNvSpPr/>
          <p:nvPr/>
        </p:nvSpPr>
        <p:spPr>
          <a:xfrm>
            <a:off x="711200" y="15394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14400" y="14307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排序：E, D, C, B, A</a:t>
            </a:r>
          </a:p>
        </p:txBody>
      </p:sp>
      <p:sp>
        <p:nvSpPr>
          <p:cNvPr id="11" name="Oval 10"/>
          <p:cNvSpPr/>
          <p:nvPr/>
        </p:nvSpPr>
        <p:spPr>
          <a:xfrm>
            <a:off x="711200" y="19712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14400" y="18625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k = 1…4 的 cut：6, 3, 5, 6</a:t>
            </a:r>
          </a:p>
        </p:txBody>
      </p:sp>
      <p:sp>
        <p:nvSpPr>
          <p:cNvPr id="13" name="Oval 12"/>
          <p:cNvSpPr/>
          <p:nvPr/>
        </p:nvSpPr>
        <p:spPr>
          <a:xfrm>
            <a:off x="711200" y="24030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4400" y="22943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40/60 窗口只允许 k = 2、3</a:t>
            </a:r>
          </a:p>
        </p:txBody>
      </p:sp>
      <p:sp>
        <p:nvSpPr>
          <p:cNvPr id="15" name="Oval 14"/>
          <p:cNvSpPr/>
          <p:nvPr/>
        </p:nvSpPr>
        <p:spPr>
          <a:xfrm>
            <a:off x="711200" y="28348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14400" y="27261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77CDBB"/>
                </a:solidFill>
                <a:latin typeface="Noto Sans SC"/>
                <a:ea typeface="Noto Sans SC"/>
              </a:rPr>
              <a:t>选 k = 2：DE | ABC，cut 3</a:t>
            </a:r>
          </a:p>
        </p:txBody>
      </p:sp>
      <p:sp>
        <p:nvSpPr>
          <p:cNvPr id="17" name="Oval 16"/>
          <p:cNvSpPr/>
          <p:nvPr/>
        </p:nvSpPr>
        <p:spPr>
          <a:xfrm>
            <a:off x="711200" y="32666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14400" y="31579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“切在正中间”k = 3 反而是 5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32500" y="2095500"/>
            <a:ext cx="5334000" cy="0"/>
          </a:xfrm>
          <a:prstGeom prst="line">
            <a:avLst/>
          </a:prstGeom>
          <a:ln w="1905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6007100" y="1879600"/>
            <a:ext cx="431800" cy="431800"/>
          </a:xfrm>
          <a:prstGeom prst="ellipse">
            <a:avLst/>
          </a:prstGeom>
          <a:solidFill>
            <a:srgbClr val="77CDBB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115685" y="1978152"/>
            <a:ext cx="214629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B1B1F"/>
                </a:solidFill>
                <a:latin typeface="Noto Sans SC"/>
                <a:ea typeface="Noto Sans SC"/>
              </a:rPr>
              <a:t>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64555" y="2333752"/>
            <a:ext cx="51689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BCD2D0"/>
                </a:solidFill>
                <a:latin typeface="Noto Sans SC"/>
                <a:ea typeface="Noto Sans SC"/>
              </a:rPr>
              <a:t>-0.553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520658" y="1793239"/>
            <a:ext cx="0" cy="302261"/>
          </a:xfrm>
          <a:prstGeom prst="line">
            <a:avLst/>
          </a:prstGeom>
          <a:ln w="1270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6488908" y="2063750"/>
            <a:ext cx="63500" cy="63500"/>
          </a:xfrm>
          <a:prstGeom prst="ellipse">
            <a:avLst/>
          </a:prstGeom>
          <a:solidFill>
            <a:srgbClr val="5D7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6304758" y="1361440"/>
            <a:ext cx="431800" cy="431800"/>
          </a:xfrm>
          <a:prstGeom prst="ellipse">
            <a:avLst/>
          </a:prstGeom>
          <a:solidFill>
            <a:srgbClr val="77CDBB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403818" y="1459992"/>
            <a:ext cx="233679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B1B1F"/>
                </a:solidFill>
                <a:latin typeface="Noto Sans SC"/>
                <a:ea typeface="Noto Sans SC"/>
              </a:rPr>
              <a:t>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2213" y="2511552"/>
            <a:ext cx="51689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BCD2D0"/>
                </a:solidFill>
                <a:latin typeface="Noto Sans SC"/>
                <a:ea typeface="Noto Sans SC"/>
              </a:rPr>
              <a:t>-0.489</a:t>
            </a:r>
          </a:p>
        </p:txBody>
      </p:sp>
      <p:sp>
        <p:nvSpPr>
          <p:cNvPr id="28" name="Oval 27"/>
          <p:cNvSpPr/>
          <p:nvPr/>
        </p:nvSpPr>
        <p:spPr>
          <a:xfrm>
            <a:off x="9051161" y="1879600"/>
            <a:ext cx="431800" cy="431800"/>
          </a:xfrm>
          <a:prstGeom prst="ellipse">
            <a:avLst/>
          </a:prstGeom>
          <a:solidFill>
            <a:srgbClr val="8FB1E6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9156571" y="1978152"/>
            <a:ext cx="220979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B1B1F"/>
                </a:solidFill>
                <a:latin typeface="Noto Sans SC"/>
                <a:ea typeface="Noto Sans SC"/>
              </a:rPr>
              <a:t>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92741" y="2333752"/>
            <a:ext cx="54864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BCD2D0"/>
                </a:solidFill>
                <a:latin typeface="Noto Sans SC"/>
                <a:ea typeface="Noto Sans SC"/>
              </a:rPr>
              <a:t>+0.106</a:t>
            </a:r>
          </a:p>
        </p:txBody>
      </p:sp>
      <p:sp>
        <p:nvSpPr>
          <p:cNvPr id="31" name="Oval 30"/>
          <p:cNvSpPr/>
          <p:nvPr/>
        </p:nvSpPr>
        <p:spPr>
          <a:xfrm>
            <a:off x="10491713" y="1879600"/>
            <a:ext cx="431800" cy="431800"/>
          </a:xfrm>
          <a:prstGeom prst="ellipse">
            <a:avLst/>
          </a:prstGeom>
          <a:solidFill>
            <a:srgbClr val="8FB1E6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10593948" y="1978152"/>
            <a:ext cx="227329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B1B1F"/>
                </a:solidFill>
                <a:latin typeface="Noto Sans SC"/>
                <a:ea typeface="Noto Sans SC"/>
              </a:rPr>
              <a:t>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33293" y="2511552"/>
            <a:ext cx="54864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BCD2D0"/>
                </a:solidFill>
                <a:latin typeface="Noto Sans SC"/>
                <a:ea typeface="Noto Sans SC"/>
              </a:rPr>
              <a:t>+0.418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1176000" y="1793239"/>
            <a:ext cx="0" cy="302261"/>
          </a:xfrm>
          <a:prstGeom prst="line">
            <a:avLst/>
          </a:prstGeom>
          <a:ln w="1270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11144250" y="2063750"/>
            <a:ext cx="63500" cy="63500"/>
          </a:xfrm>
          <a:prstGeom prst="ellipse">
            <a:avLst/>
          </a:prstGeom>
          <a:solidFill>
            <a:srgbClr val="5D7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Oval 35"/>
          <p:cNvSpPr/>
          <p:nvPr/>
        </p:nvSpPr>
        <p:spPr>
          <a:xfrm>
            <a:off x="10960100" y="1361440"/>
            <a:ext cx="431800" cy="431800"/>
          </a:xfrm>
          <a:prstGeom prst="ellipse">
            <a:avLst/>
          </a:prstGeom>
          <a:solidFill>
            <a:srgbClr val="8FB1E6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11065510" y="1459992"/>
            <a:ext cx="220979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B1B1F"/>
                </a:solidFill>
                <a:latin typeface="Noto Sans SC"/>
                <a:ea typeface="Noto Sans SC"/>
              </a:rPr>
              <a:t>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01680" y="2333752"/>
            <a:ext cx="54864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BCD2D0"/>
                </a:solidFill>
                <a:latin typeface="Noto Sans SC"/>
                <a:ea typeface="Noto Sans SC"/>
              </a:rPr>
              <a:t>+0.519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893860" y="1447800"/>
            <a:ext cx="0" cy="965200"/>
          </a:xfrm>
          <a:prstGeom prst="line">
            <a:avLst/>
          </a:prstGeom>
          <a:ln w="25400">
            <a:solidFill>
              <a:srgbClr val="D8BB7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341110" y="3374644"/>
            <a:ext cx="214629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BCD2D0"/>
                </a:solidFill>
                <a:latin typeface="Noto Sans SC"/>
                <a:ea typeface="Noto Sans SC"/>
              </a:rPr>
              <a:t>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12609" y="3374644"/>
            <a:ext cx="462280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BCD2D0"/>
                </a:solidFill>
                <a:latin typeface="Noto Sans SC"/>
                <a:ea typeface="Noto Sans SC"/>
              </a:rPr>
              <a:t>左组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73109" y="3374644"/>
            <a:ext cx="392430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BCD2D0"/>
                </a:solidFill>
                <a:latin typeface="Noto Sans SC"/>
                <a:ea typeface="Noto Sans SC"/>
              </a:rPr>
              <a:t>cut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35110" y="3374644"/>
            <a:ext cx="1002030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BCD2D0"/>
                </a:solidFill>
                <a:latin typeface="Noto Sans SC"/>
                <a:ea typeface="Noto Sans SC"/>
              </a:rPr>
              <a:t>40/60 窗口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6311900" y="3657600"/>
            <a:ext cx="4229100" cy="0"/>
          </a:xfrm>
          <a:prstGeom prst="line">
            <a:avLst/>
          </a:prstGeom>
          <a:ln w="12700">
            <a:solidFill>
              <a:srgbClr val="2D4A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6339840" y="3767836"/>
            <a:ext cx="2362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11340" y="3767836"/>
            <a:ext cx="24257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71840" y="3767836"/>
            <a:ext cx="2362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33840" y="3767836"/>
            <a:ext cx="30607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—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61100" y="4140200"/>
            <a:ext cx="4368800" cy="393700"/>
          </a:xfrm>
          <a:prstGeom prst="roundRect">
            <a:avLst>
              <a:gd name="adj" fmla="val 12903"/>
            </a:avLst>
          </a:prstGeom>
          <a:solidFill>
            <a:srgbClr val="D8BB78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6339840" y="4186936"/>
            <a:ext cx="2362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11340" y="4186936"/>
            <a:ext cx="38227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ED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71840" y="4186936"/>
            <a:ext cx="2362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33840" y="4186936"/>
            <a:ext cx="5283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合法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39840" y="4606036"/>
            <a:ext cx="2362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911340" y="4606036"/>
            <a:ext cx="50927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EDC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71840" y="4606036"/>
            <a:ext cx="2362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33840" y="4606036"/>
            <a:ext cx="5283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合法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39840" y="5025136"/>
            <a:ext cx="2362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911340" y="5025136"/>
            <a:ext cx="6426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EDCB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71840" y="5025136"/>
            <a:ext cx="2362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33840" y="5025136"/>
            <a:ext cx="30607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77CDBB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53720" y="450088"/>
            <a:ext cx="2702560" cy="4800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0">
                <a:solidFill>
                  <a:srgbClr val="F2F3E9"/>
                </a:solidFill>
                <a:latin typeface="Noto Sans SC"/>
                <a:ea typeface="Noto Sans SC"/>
              </a:rPr>
              <a:t>两个误解的更正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965200"/>
            <a:ext cx="571500" cy="254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571500" y="6426200"/>
            <a:ext cx="11049000" cy="0"/>
          </a:xfrm>
          <a:prstGeom prst="line">
            <a:avLst/>
          </a:prstGeom>
          <a:ln w="12700">
            <a:solidFill>
              <a:srgbClr val="1D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3880" y="6512052"/>
            <a:ext cx="149479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Module 06 · 谱二分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13770" y="6499098"/>
            <a:ext cx="55626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p7/11</a:t>
            </a:r>
          </a:p>
        </p:txBody>
      </p:sp>
      <p:sp>
        <p:nvSpPr>
          <p:cNvPr id="9" name="Oval 8"/>
          <p:cNvSpPr/>
          <p:nvPr/>
        </p:nvSpPr>
        <p:spPr>
          <a:xfrm>
            <a:off x="711200" y="15394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14400" y="1430782"/>
            <a:ext cx="4718050" cy="626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“无约束最优总是孤立一个点”——错：单点最小 6，ABC | DE 只有 3</a:t>
            </a:r>
          </a:p>
        </p:txBody>
      </p:sp>
      <p:sp>
        <p:nvSpPr>
          <p:cNvPr id="11" name="Oval 10"/>
          <p:cNvSpPr/>
          <p:nvPr/>
        </p:nvSpPr>
        <p:spPr>
          <a:xfrm>
            <a:off x="711200" y="2284349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14400" y="2175637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应说：无约束时可能出现过小的分组</a:t>
            </a:r>
          </a:p>
        </p:txBody>
      </p:sp>
      <p:sp>
        <p:nvSpPr>
          <p:cNvPr id="13" name="Oval 12"/>
          <p:cNvSpPr/>
          <p:nvPr/>
        </p:nvSpPr>
        <p:spPr>
          <a:xfrm>
            <a:off x="711200" y="2716149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4400" y="2607437"/>
            <a:ext cx="4718050" cy="626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“存储的向量就是求解器”——错：三位小数残差 0.0044 是舍入</a:t>
            </a:r>
          </a:p>
        </p:txBody>
      </p:sp>
      <p:sp>
        <p:nvSpPr>
          <p:cNvPr id="15" name="Oval 14"/>
          <p:cNvSpPr/>
          <p:nvPr/>
        </p:nvSpPr>
        <p:spPr>
          <a:xfrm>
            <a:off x="711200" y="346100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14400" y="3352292"/>
            <a:ext cx="4718050" cy="626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存储值不会随改图重算；本页实时求解，残差约 10</a:t>
            </a:r>
            <a:r>
              <a:rPr sz="1700" b="0" baseline="30000">
                <a:solidFill>
                  <a:srgbClr val="F2F3E9"/>
                </a:solidFill>
                <a:latin typeface="Noto Sans SC"/>
                <a:ea typeface="Noto Sans SC"/>
              </a:rPr>
              <a:t>−15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1110" y="1596644"/>
            <a:ext cx="462280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BCD2D0"/>
                </a:solidFill>
                <a:latin typeface="Noto Sans SC"/>
                <a:ea typeface="Noto Sans SC"/>
              </a:rPr>
              <a:t>孤立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84109" y="1596644"/>
            <a:ext cx="932180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BCD2D0"/>
                </a:solidFill>
                <a:latin typeface="Noto Sans SC"/>
                <a:ea typeface="Noto Sans SC"/>
              </a:rPr>
              <a:t>cut = 度数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311900" y="1879600"/>
            <a:ext cx="2832100" cy="0"/>
          </a:xfrm>
          <a:prstGeom prst="line">
            <a:avLst/>
          </a:prstGeom>
          <a:ln w="12700">
            <a:solidFill>
              <a:srgbClr val="2D4A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339840" y="1977136"/>
            <a:ext cx="24257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82840" y="1977136"/>
            <a:ext cx="2362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39840" y="2383536"/>
            <a:ext cx="25527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82840" y="2383536"/>
            <a:ext cx="2362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39840" y="2789936"/>
            <a:ext cx="2489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82840" y="2789936"/>
            <a:ext cx="2362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39840" y="3196336"/>
            <a:ext cx="2616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82840" y="3196336"/>
            <a:ext cx="2362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9840" y="3602736"/>
            <a:ext cx="24257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82840" y="3602736"/>
            <a:ext cx="2362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41745" y="4657598"/>
            <a:ext cx="75946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向量来源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0745" y="4657598"/>
            <a:ext cx="429259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残差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311900" y="4927600"/>
            <a:ext cx="3594100" cy="0"/>
          </a:xfrm>
          <a:prstGeom prst="line">
            <a:avLst/>
          </a:prstGeom>
          <a:ln w="12700">
            <a:solidFill>
              <a:srgbClr val="2D4A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340475" y="5012690"/>
            <a:ext cx="876300" cy="2571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0">
                <a:solidFill>
                  <a:srgbClr val="F2F3E9"/>
                </a:solidFill>
                <a:latin typeface="Noto Sans SC"/>
                <a:ea typeface="Noto Sans SC"/>
              </a:rPr>
              <a:t>实时求解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99475" y="5012690"/>
            <a:ext cx="768350" cy="2571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0">
                <a:solidFill>
                  <a:srgbClr val="F2F3E9"/>
                </a:solidFill>
                <a:latin typeface="Noto Sans SC"/>
                <a:ea typeface="Noto Sans SC"/>
              </a:rPr>
              <a:t>3.8e-15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40475" y="5393690"/>
            <a:ext cx="1257300" cy="2571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0">
                <a:solidFill>
                  <a:srgbClr val="F2F3E9"/>
                </a:solidFill>
                <a:latin typeface="Noto Sans SC"/>
                <a:ea typeface="Noto Sans SC"/>
              </a:rPr>
              <a:t>原作三位小数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99475" y="5393690"/>
            <a:ext cx="704850" cy="2571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0">
                <a:solidFill>
                  <a:srgbClr val="F2F3E9"/>
                </a:solidFill>
                <a:latin typeface="Noto Sans SC"/>
                <a:ea typeface="Noto Sans SC"/>
              </a:rPr>
              <a:t>0.0044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77CDBB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53720" y="450088"/>
            <a:ext cx="1635760" cy="4800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0">
                <a:solidFill>
                  <a:srgbClr val="F2F3E9"/>
                </a:solidFill>
                <a:latin typeface="Noto Sans SC"/>
                <a:ea typeface="Noto Sans SC"/>
              </a:rPr>
              <a:t>断开的图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965200"/>
            <a:ext cx="571500" cy="254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571500" y="6426200"/>
            <a:ext cx="11049000" cy="0"/>
          </a:xfrm>
          <a:prstGeom prst="line">
            <a:avLst/>
          </a:prstGeom>
          <a:ln w="12700">
            <a:solidFill>
              <a:srgbClr val="1D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3880" y="6512052"/>
            <a:ext cx="149479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Module 06 · 谱二分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13770" y="6499098"/>
            <a:ext cx="55626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p8/11</a:t>
            </a:r>
          </a:p>
        </p:txBody>
      </p:sp>
      <p:sp>
        <p:nvSpPr>
          <p:cNvPr id="9" name="Oval 8"/>
          <p:cNvSpPr/>
          <p:nvPr/>
        </p:nvSpPr>
        <p:spPr>
          <a:xfrm>
            <a:off x="711200" y="15394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14400" y="14307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两个分量 → λ1 = λ2 = 0</a:t>
            </a:r>
          </a:p>
        </p:txBody>
      </p:sp>
      <p:sp>
        <p:nvSpPr>
          <p:cNvPr id="11" name="Oval 10"/>
          <p:cNvSpPr/>
          <p:nvPr/>
        </p:nvSpPr>
        <p:spPr>
          <a:xfrm>
            <a:off x="711200" y="19712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14400" y="18625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Fiedler 向量只反映“谁在同一个分量”</a:t>
            </a:r>
          </a:p>
        </p:txBody>
      </p:sp>
      <p:sp>
        <p:nvSpPr>
          <p:cNvPr id="13" name="Oval 12"/>
          <p:cNvSpPr/>
          <p:nvPr/>
        </p:nvSpPr>
        <p:spPr>
          <a:xfrm>
            <a:off x="711200" y="24030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4400" y="22943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使用前先检查连通性与简并</a:t>
            </a:r>
          </a:p>
        </p:txBody>
      </p:sp>
      <p:sp>
        <p:nvSpPr>
          <p:cNvPr id="15" name="Oval 14"/>
          <p:cNvSpPr/>
          <p:nvPr/>
        </p:nvSpPr>
        <p:spPr>
          <a:xfrm>
            <a:off x="711200" y="28348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14400" y="27261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本页实验的诊断区会给出警告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6350000" y="2147336"/>
            <a:ext cx="1378857" cy="492449"/>
          </a:xfrm>
          <a:prstGeom prst="line">
            <a:avLst/>
          </a:prstGeom>
          <a:ln w="2540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6841866" y="2034647"/>
            <a:ext cx="292608" cy="292608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866885" y="2042775"/>
            <a:ext cx="24257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D9E4E1"/>
                </a:solidFill>
                <a:latin typeface="Noto Sans SC"/>
                <a:ea typeface="Noto Sans SC"/>
              </a:rPr>
              <a:t>3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7433387" y="2147336"/>
            <a:ext cx="295470" cy="1674327"/>
          </a:xfrm>
          <a:prstGeom prst="line">
            <a:avLst/>
          </a:prstGeom>
          <a:ln w="2540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584899" y="2795592"/>
            <a:ext cx="292608" cy="292608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609918" y="2803720"/>
            <a:ext cx="24257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D9E4E1"/>
                </a:solidFill>
                <a:latin typeface="Noto Sans SC"/>
                <a:ea typeface="Noto Sans SC"/>
              </a:rPr>
              <a:t>2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350000" y="2639785"/>
            <a:ext cx="1083387" cy="1181878"/>
          </a:xfrm>
          <a:prstGeom prst="line">
            <a:avLst/>
          </a:prstGeom>
          <a:ln w="2540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6857732" y="2912352"/>
            <a:ext cx="292608" cy="292608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882751" y="2920480"/>
            <a:ext cx="24257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D9E4E1"/>
                </a:solidFill>
                <a:latin typeface="Noto Sans SC"/>
                <a:ea typeface="Noto Sans SC"/>
              </a:rPr>
              <a:t>1</a:t>
            </a:r>
          </a:p>
        </p:txBody>
      </p:sp>
      <p:cxnSp>
        <p:nvCxnSpPr>
          <p:cNvPr id="26" name="Connector 25"/>
          <p:cNvCxnSpPr/>
          <p:nvPr/>
        </p:nvCxnSpPr>
        <p:spPr>
          <a:xfrm flipV="1">
            <a:off x="9797142" y="2147336"/>
            <a:ext cx="1378858" cy="492449"/>
          </a:xfrm>
          <a:prstGeom prst="line">
            <a:avLst/>
          </a:prstGeom>
          <a:ln w="2540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10289009" y="2034647"/>
            <a:ext cx="292608" cy="292608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0314028" y="2042775"/>
            <a:ext cx="24257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D9E4E1"/>
                </a:solidFill>
                <a:latin typeface="Noto Sans SC"/>
                <a:ea typeface="Noto Sans SC"/>
              </a:rPr>
              <a:t>3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10880530" y="2147336"/>
            <a:ext cx="295470" cy="1674327"/>
          </a:xfrm>
          <a:prstGeom prst="line">
            <a:avLst/>
          </a:prstGeom>
          <a:ln w="2540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11032042" y="2795592"/>
            <a:ext cx="292608" cy="292608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11057061" y="2803720"/>
            <a:ext cx="24257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D9E4E1"/>
                </a:solidFill>
                <a:latin typeface="Noto Sans SC"/>
                <a:ea typeface="Noto Sans SC"/>
              </a:rPr>
              <a:t>2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797142" y="2639785"/>
            <a:ext cx="1083388" cy="1181878"/>
          </a:xfrm>
          <a:prstGeom prst="line">
            <a:avLst/>
          </a:prstGeom>
          <a:ln w="2540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10304875" y="2912352"/>
            <a:ext cx="292608" cy="292608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10329894" y="2920480"/>
            <a:ext cx="24257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D9E4E1"/>
                </a:solidFill>
                <a:latin typeface="Noto Sans SC"/>
                <a:ea typeface="Noto Sans SC"/>
              </a:rPr>
              <a:t>1</a:t>
            </a:r>
          </a:p>
        </p:txBody>
      </p:sp>
      <p:sp>
        <p:nvSpPr>
          <p:cNvPr id="35" name="Oval 34"/>
          <p:cNvSpPr/>
          <p:nvPr/>
        </p:nvSpPr>
        <p:spPr>
          <a:xfrm>
            <a:off x="6108700" y="2398485"/>
            <a:ext cx="482600" cy="482600"/>
          </a:xfrm>
          <a:prstGeom prst="ellipse">
            <a:avLst/>
          </a:prstGeom>
          <a:solidFill>
            <a:srgbClr val="77CDBB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215380" y="2497291"/>
            <a:ext cx="26924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0B1B1F"/>
                </a:solidFill>
                <a:latin typeface="Noto Sans SC"/>
                <a:ea typeface="Noto Sans SC"/>
              </a:rPr>
              <a:t>A</a:t>
            </a:r>
          </a:p>
        </p:txBody>
      </p:sp>
      <p:sp>
        <p:nvSpPr>
          <p:cNvPr id="37" name="Oval 36"/>
          <p:cNvSpPr/>
          <p:nvPr/>
        </p:nvSpPr>
        <p:spPr>
          <a:xfrm>
            <a:off x="7487557" y="1906036"/>
            <a:ext cx="482600" cy="482600"/>
          </a:xfrm>
          <a:prstGeom prst="ellipse">
            <a:avLst/>
          </a:prstGeom>
          <a:solidFill>
            <a:srgbClr val="77CDBB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7591062" y="2004842"/>
            <a:ext cx="27559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0B1B1F"/>
                </a:solidFill>
                <a:latin typeface="Noto Sans SC"/>
                <a:ea typeface="Noto Sans SC"/>
              </a:rPr>
              <a:t>B</a:t>
            </a:r>
          </a:p>
        </p:txBody>
      </p:sp>
      <p:sp>
        <p:nvSpPr>
          <p:cNvPr id="39" name="Oval 38"/>
          <p:cNvSpPr/>
          <p:nvPr/>
        </p:nvSpPr>
        <p:spPr>
          <a:xfrm>
            <a:off x="7192087" y="3580363"/>
            <a:ext cx="482600" cy="482600"/>
          </a:xfrm>
          <a:prstGeom prst="ellipse">
            <a:avLst/>
          </a:prstGeom>
          <a:solidFill>
            <a:srgbClr val="77CDBB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298767" y="3679169"/>
            <a:ext cx="26924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0B1B1F"/>
                </a:solidFill>
                <a:latin typeface="Noto Sans SC"/>
                <a:ea typeface="Noto Sans SC"/>
              </a:rPr>
              <a:t>C</a:t>
            </a:r>
          </a:p>
        </p:txBody>
      </p:sp>
      <p:sp>
        <p:nvSpPr>
          <p:cNvPr id="41" name="Oval 40"/>
          <p:cNvSpPr/>
          <p:nvPr/>
        </p:nvSpPr>
        <p:spPr>
          <a:xfrm>
            <a:off x="9555842" y="2398485"/>
            <a:ext cx="482600" cy="482600"/>
          </a:xfrm>
          <a:prstGeom prst="ellipse">
            <a:avLst/>
          </a:prstGeom>
          <a:solidFill>
            <a:srgbClr val="8FB1E6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9656172" y="2497291"/>
            <a:ext cx="281939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0B1B1F"/>
                </a:solidFill>
                <a:latin typeface="Noto Sans SC"/>
                <a:ea typeface="Noto Sans SC"/>
              </a:rPr>
              <a:t>D</a:t>
            </a:r>
          </a:p>
        </p:txBody>
      </p:sp>
      <p:sp>
        <p:nvSpPr>
          <p:cNvPr id="43" name="Oval 42"/>
          <p:cNvSpPr/>
          <p:nvPr/>
        </p:nvSpPr>
        <p:spPr>
          <a:xfrm>
            <a:off x="10934700" y="1906036"/>
            <a:ext cx="482600" cy="482600"/>
          </a:xfrm>
          <a:prstGeom prst="ellipse">
            <a:avLst/>
          </a:prstGeom>
          <a:solidFill>
            <a:srgbClr val="8FB1E6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11044555" y="2004842"/>
            <a:ext cx="26289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0B1B1F"/>
                </a:solidFill>
                <a:latin typeface="Noto Sans SC"/>
                <a:ea typeface="Noto Sans SC"/>
              </a:rPr>
              <a:t>E</a:t>
            </a:r>
          </a:p>
        </p:txBody>
      </p:sp>
      <p:sp>
        <p:nvSpPr>
          <p:cNvPr id="45" name="Oval 44"/>
          <p:cNvSpPr/>
          <p:nvPr/>
        </p:nvSpPr>
        <p:spPr>
          <a:xfrm>
            <a:off x="10639230" y="3580363"/>
            <a:ext cx="482600" cy="482600"/>
          </a:xfrm>
          <a:prstGeom prst="ellipse">
            <a:avLst/>
          </a:prstGeom>
          <a:solidFill>
            <a:srgbClr val="8FB1E6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10752260" y="3679169"/>
            <a:ext cx="25654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0B1B1F"/>
                </a:solidFill>
                <a:latin typeface="Noto Sans SC"/>
                <a:ea typeface="Noto Sans SC"/>
              </a:rPr>
              <a:t>F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426325" y="4991100"/>
            <a:ext cx="2673350" cy="292100"/>
          </a:xfrm>
          <a:prstGeom prst="roundRect">
            <a:avLst>
              <a:gd name="adj" fmla="val 50000"/>
            </a:avLst>
          </a:prstGeom>
          <a:solidFill>
            <a:srgbClr val="0A2126"/>
          </a:solidFill>
          <a:ln w="12700">
            <a:solidFill>
              <a:srgbClr val="DB7B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7472045" y="5051298"/>
            <a:ext cx="258191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DB7B72"/>
                </a:solidFill>
                <a:latin typeface="Noto Sans SC"/>
                <a:ea typeface="Noto Sans SC"/>
              </a:rPr>
              <a:t>λ1 = λ2 = 0：排序只反映连通分量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77CDBB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53720" y="450088"/>
            <a:ext cx="3058160" cy="4800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0">
                <a:solidFill>
                  <a:srgbClr val="F2F3E9"/>
                </a:solidFill>
                <a:latin typeface="Noto Sans SC"/>
                <a:ea typeface="Noto Sans SC"/>
              </a:rPr>
              <a:t>伪代码与数值自检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965200"/>
            <a:ext cx="571500" cy="254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571500" y="6426200"/>
            <a:ext cx="11049000" cy="0"/>
          </a:xfrm>
          <a:prstGeom prst="line">
            <a:avLst/>
          </a:prstGeom>
          <a:ln w="12700">
            <a:solidFill>
              <a:srgbClr val="1D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3880" y="6512052"/>
            <a:ext cx="149479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Module 06 · 谱二分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13770" y="6499098"/>
            <a:ext cx="55626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p9/11</a:t>
            </a:r>
          </a:p>
        </p:txBody>
      </p:sp>
      <p:sp>
        <p:nvSpPr>
          <p:cNvPr id="9" name="Oval 8"/>
          <p:cNvSpPr/>
          <p:nvPr/>
        </p:nvSpPr>
        <p:spPr>
          <a:xfrm>
            <a:off x="711200" y="15394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14400" y="14307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第 1 行：构造 L，检查对称与行和</a:t>
            </a:r>
          </a:p>
        </p:txBody>
      </p:sp>
      <p:sp>
        <p:nvSpPr>
          <p:cNvPr id="11" name="Oval 10"/>
          <p:cNvSpPr/>
          <p:nvPr/>
        </p:nvSpPr>
        <p:spPr>
          <a:xfrm>
            <a:off x="711200" y="19712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14400" y="18625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第 2–3 行：特征分解；检查连通、简并、残差</a:t>
            </a:r>
          </a:p>
        </p:txBody>
      </p:sp>
      <p:sp>
        <p:nvSpPr>
          <p:cNvPr id="13" name="Oval 12"/>
          <p:cNvSpPr/>
          <p:nvPr/>
        </p:nvSpPr>
        <p:spPr>
          <a:xfrm>
            <a:off x="711200" y="24030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4400" y="22943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第 4–5 行：统一符号后排序</a:t>
            </a:r>
          </a:p>
        </p:txBody>
      </p:sp>
      <p:sp>
        <p:nvSpPr>
          <p:cNvPr id="15" name="Oval 14"/>
          <p:cNvSpPr/>
          <p:nvPr/>
        </p:nvSpPr>
        <p:spPr>
          <a:xfrm>
            <a:off x="711200" y="28348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14400" y="2726182"/>
            <a:ext cx="4718050" cy="626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第 6–7 行：扫描 n − 1 个位置，只在窗口内选最小 cut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53100" y="1574800"/>
            <a:ext cx="5715000" cy="3213100"/>
          </a:xfrm>
          <a:prstGeom prst="roundRect">
            <a:avLst>
              <a:gd name="adj" fmla="val 2371"/>
            </a:avLst>
          </a:prstGeom>
          <a:solidFill>
            <a:srgbClr val="0A1C1F"/>
          </a:solidFill>
          <a:ln w="12700">
            <a:solidFill>
              <a:srgbClr val="244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898832" y="1768983"/>
            <a:ext cx="156210" cy="1800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6F8F8F"/>
                </a:solidFill>
                <a:latin typeface="Noto Sans SC"/>
                <a:ea typeface="Noto Sans SC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89027" y="1730120"/>
            <a:ext cx="236220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FEADF"/>
                </a:solidFill>
                <a:latin typeface="Noto Sans SC"/>
                <a:ea typeface="Noto Sans SC"/>
              </a:rPr>
              <a:t>L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2377" y="1730120"/>
            <a:ext cx="274320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FEADF"/>
                </a:solidFill>
                <a:latin typeface="Noto Sans SC"/>
                <a:ea typeface="Noto Sans SC"/>
              </a:rPr>
              <a:t>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3827" y="1730120"/>
            <a:ext cx="299720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FEADF"/>
                </a:solidFill>
                <a:latin typeface="Noto Sans SC"/>
                <a:ea typeface="Noto Sans SC"/>
              </a:rPr>
              <a:t> D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90677" y="1730120"/>
            <a:ext cx="198120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FEADF"/>
                </a:solidFill>
                <a:latin typeface="Noto Sans SC"/>
                <a:ea typeface="Noto Sans SC"/>
              </a:rPr>
              <a:t>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85927" y="1730120"/>
            <a:ext cx="242570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FEADF"/>
                </a:solidFill>
                <a:latin typeface="Noto Sans SC"/>
                <a:ea typeface="Noto Sans SC"/>
              </a:rPr>
              <a:t> 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25627" y="1730120"/>
            <a:ext cx="1474470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FEADF"/>
                </a:solidFill>
                <a:latin typeface="Noto Sans SC"/>
                <a:ea typeface="Noto Sans SC"/>
              </a:rPr>
              <a:t>（检查对称、行和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97227" y="1730120"/>
            <a:ext cx="236220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FEADF"/>
                </a:solidFill>
                <a:latin typeface="Noto Sans SC"/>
                <a:ea typeface="Noto Sans SC"/>
              </a:rPr>
              <a:t> 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30577" y="1730120"/>
            <a:ext cx="274320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FEADF"/>
                </a:solidFill>
                <a:latin typeface="Noto Sans SC"/>
                <a:ea typeface="Noto Sans SC"/>
              </a:rPr>
              <a:t>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98832" y="2188083"/>
            <a:ext cx="156210" cy="1800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6F8F8F"/>
                </a:solidFill>
                <a:latin typeface="Noto Sans SC"/>
                <a:ea typeface="Noto Sans SC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89027" y="2149221"/>
            <a:ext cx="160020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FEADF"/>
                </a:solidFill>
                <a:latin typeface="Noto Sans SC"/>
                <a:ea typeface="Noto Sans SC"/>
              </a:rPr>
              <a:t>(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46177" y="2149221"/>
            <a:ext cx="198120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FEADF"/>
                </a:solidFill>
                <a:latin typeface="Noto Sans SC"/>
                <a:ea typeface="Noto Sans SC"/>
              </a:rPr>
              <a:t>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41427" y="2149221"/>
            <a:ext cx="369570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FEADF"/>
                </a:solidFill>
                <a:latin typeface="Noto Sans SC"/>
                <a:ea typeface="Noto Sans SC"/>
              </a:rPr>
              <a:t>, x)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08127" y="2149221"/>
            <a:ext cx="274320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FEADF"/>
                </a:solidFill>
                <a:latin typeface="Noto Sans SC"/>
                <a:ea typeface="Noto Sans SC"/>
              </a:rPr>
              <a:t>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79577" y="2149221"/>
            <a:ext cx="140970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FEADF"/>
                </a:solidFill>
                <a:latin typeface="Noto Sans SC"/>
                <a:ea typeface="Noto Sans SC"/>
              </a:rPr>
              <a:t>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7677" y="2149221"/>
            <a:ext cx="1303020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FEADF"/>
                </a:solidFill>
                <a:latin typeface="Noto Sans SC"/>
                <a:ea typeface="Noto Sans SC"/>
              </a:rPr>
              <a:t>特征分解，升序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98832" y="2607183"/>
            <a:ext cx="156210" cy="1800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6F8F8F"/>
                </a:solidFill>
                <a:latin typeface="Noto Sans SC"/>
                <a:ea typeface="Noto Sans SC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89027" y="2568321"/>
            <a:ext cx="445770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FEADF"/>
                </a:solidFill>
                <a:latin typeface="Noto Sans SC"/>
                <a:ea typeface="Noto Sans SC"/>
              </a:rPr>
              <a:t>检查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1927" y="2568321"/>
            <a:ext cx="140970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FEADF"/>
                </a:solidFill>
                <a:latin typeface="Noto Sans SC"/>
                <a:ea typeface="Noto Sans SC"/>
              </a:rPr>
              <a:t>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70027" y="2568321"/>
            <a:ext cx="1474470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FEADF"/>
                </a:solidFill>
                <a:latin typeface="Noto Sans SC"/>
                <a:ea typeface="Noto Sans SC"/>
              </a:rPr>
              <a:t>连通、简并、残差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98832" y="3026283"/>
            <a:ext cx="156210" cy="1800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6F8F8F"/>
                </a:solidFill>
                <a:latin typeface="Noto Sans SC"/>
                <a:ea typeface="Noto Sans SC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89027" y="2987421"/>
            <a:ext cx="198120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FEADF"/>
                </a:solidFill>
                <a:latin typeface="Noto Sans SC"/>
                <a:ea typeface="Noto Sans SC"/>
              </a:rPr>
              <a:t>f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84277" y="2987421"/>
            <a:ext cx="274320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FEADF"/>
                </a:solidFill>
                <a:latin typeface="Noto Sans SC"/>
                <a:ea typeface="Noto Sans SC"/>
              </a:rPr>
              <a:t>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55727" y="2987421"/>
            <a:ext cx="140970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FEADF"/>
                </a:solidFill>
                <a:latin typeface="Noto Sans SC"/>
                <a:ea typeface="Noto Sans SC"/>
              </a:rPr>
              <a:t>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3827" y="2987421"/>
            <a:ext cx="198120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FEADF"/>
                </a:solidFill>
                <a:latin typeface="Noto Sans SC"/>
                <a:ea typeface="Noto Sans SC"/>
              </a:rPr>
              <a:t>λ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9077" y="2987421"/>
            <a:ext cx="236220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FEADF"/>
                </a:solidFill>
                <a:latin typeface="Noto Sans SC"/>
                <a:ea typeface="Noto Sans SC"/>
              </a:rPr>
              <a:t>2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2427" y="2987421"/>
            <a:ext cx="1988820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FEADF"/>
                </a:solidFill>
                <a:latin typeface="Noto Sans SC"/>
                <a:ea typeface="Noto Sans SC"/>
              </a:rPr>
              <a:t>的特征向量（统一符号）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753100" y="3371850"/>
            <a:ext cx="5715000" cy="406400"/>
          </a:xfrm>
          <a:prstGeom prst="rect">
            <a:avLst/>
          </a:prstGeom>
          <a:solidFill>
            <a:srgbClr val="2A3D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ectangle 45"/>
          <p:cNvSpPr/>
          <p:nvPr/>
        </p:nvSpPr>
        <p:spPr>
          <a:xfrm>
            <a:off x="5753100" y="3371850"/>
            <a:ext cx="38100" cy="4064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5898832" y="3445383"/>
            <a:ext cx="156210" cy="1800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6F8F8F"/>
                </a:solidFill>
                <a:latin typeface="Noto Sans SC"/>
                <a:ea typeface="Noto Sans SC"/>
              </a:rPr>
              <a:t>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89027" y="3406521"/>
            <a:ext cx="572770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8BB78"/>
                </a:solidFill>
                <a:latin typeface="Noto Sans SC"/>
                <a:ea typeface="Noto Sans SC"/>
              </a:rPr>
              <a:t>order 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58927" y="3406521"/>
            <a:ext cx="274320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8BB78"/>
                </a:solidFill>
                <a:latin typeface="Noto Sans SC"/>
                <a:ea typeface="Noto Sans SC"/>
              </a:rPr>
              <a:t>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30377" y="3406521"/>
            <a:ext cx="140970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8BB78"/>
                </a:solidFill>
                <a:latin typeface="Noto Sans SC"/>
                <a:ea typeface="Noto Sans SC"/>
              </a:rPr>
              <a:t> 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68477" y="3406521"/>
            <a:ext cx="274320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8BB78"/>
                </a:solidFill>
                <a:latin typeface="Noto Sans SC"/>
                <a:ea typeface="Noto Sans SC"/>
              </a:rPr>
              <a:t>按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039927" y="3406521"/>
            <a:ext cx="236220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8BB78"/>
                </a:solidFill>
                <a:latin typeface="Noto Sans SC"/>
                <a:ea typeface="Noto Sans SC"/>
              </a:rPr>
              <a:t> f 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73277" y="3406521"/>
            <a:ext cx="445770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8BB78"/>
                </a:solidFill>
                <a:latin typeface="Noto Sans SC"/>
                <a:ea typeface="Noto Sans SC"/>
              </a:rPr>
              <a:t>升序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753100" y="3790950"/>
            <a:ext cx="5715000" cy="406400"/>
          </a:xfrm>
          <a:prstGeom prst="rect">
            <a:avLst/>
          </a:prstGeom>
          <a:solidFill>
            <a:srgbClr val="2A3D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Rectangle 54"/>
          <p:cNvSpPr/>
          <p:nvPr/>
        </p:nvSpPr>
        <p:spPr>
          <a:xfrm>
            <a:off x="5753100" y="3790950"/>
            <a:ext cx="38100" cy="4064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5898832" y="3864483"/>
            <a:ext cx="156210" cy="1800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6F8F8F"/>
                </a:solidFill>
                <a:latin typeface="Noto Sans SC"/>
                <a:ea typeface="Noto Sans SC"/>
              </a:rPr>
              <a:t>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189027" y="3825621"/>
            <a:ext cx="763270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8BB78"/>
                </a:solidFill>
                <a:latin typeface="Noto Sans SC"/>
                <a:ea typeface="Noto Sans SC"/>
              </a:rPr>
              <a:t>for k = 1 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49427" y="3825621"/>
            <a:ext cx="274320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8BB78"/>
                </a:solidFill>
                <a:latin typeface="Noto Sans SC"/>
                <a:ea typeface="Noto Sans SC"/>
              </a:rPr>
              <a:t>…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020877" y="3825621"/>
            <a:ext cx="242570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8BB78"/>
                </a:solidFill>
                <a:latin typeface="Noto Sans SC"/>
                <a:ea typeface="Noto Sans SC"/>
              </a:rPr>
              <a:t> 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160577" y="3825621"/>
            <a:ext cx="198120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8BB78"/>
                </a:solidFill>
                <a:latin typeface="Noto Sans SC"/>
                <a:ea typeface="Noto Sans SC"/>
              </a:rPr>
              <a:t>−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255827" y="3825621"/>
            <a:ext cx="198120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8BB78"/>
                </a:solidFill>
                <a:latin typeface="Noto Sans SC"/>
                <a:ea typeface="Noto Sans SC"/>
              </a:rPr>
              <a:t>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351077" y="3825621"/>
            <a:ext cx="617220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8BB78"/>
                </a:solidFill>
                <a:latin typeface="Noto Sans SC"/>
                <a:ea typeface="Noto Sans SC"/>
              </a:rPr>
              <a:t>：计算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865427" y="3825621"/>
            <a:ext cx="394970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8BB78"/>
                </a:solidFill>
                <a:latin typeface="Noto Sans SC"/>
                <a:ea typeface="Noto Sans SC"/>
              </a:rPr>
              <a:t> cut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753100" y="4210050"/>
            <a:ext cx="5715000" cy="406400"/>
          </a:xfrm>
          <a:prstGeom prst="rect">
            <a:avLst/>
          </a:prstGeom>
          <a:solidFill>
            <a:srgbClr val="2A3D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Rectangle 64"/>
          <p:cNvSpPr/>
          <p:nvPr/>
        </p:nvSpPr>
        <p:spPr>
          <a:xfrm>
            <a:off x="5753100" y="4210050"/>
            <a:ext cx="38100" cy="4064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5898832" y="4283583"/>
            <a:ext cx="156210" cy="1800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6F8F8F"/>
                </a:solidFill>
                <a:latin typeface="Noto Sans SC"/>
                <a:ea typeface="Noto Sans SC"/>
              </a:rPr>
              <a:t>7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189027" y="4244721"/>
            <a:ext cx="960119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8BB78"/>
                </a:solidFill>
                <a:latin typeface="Noto Sans SC"/>
                <a:ea typeface="Noto Sans SC"/>
              </a:rPr>
              <a:t>返回窗口内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046277" y="4244721"/>
            <a:ext cx="433070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8BB78"/>
                </a:solidFill>
                <a:latin typeface="Noto Sans SC"/>
                <a:ea typeface="Noto Sans SC"/>
              </a:rPr>
              <a:t> cut 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76477" y="4244721"/>
            <a:ext cx="617220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8BB78"/>
                </a:solidFill>
                <a:latin typeface="Noto Sans SC"/>
                <a:ea typeface="Noto Sans SC"/>
              </a:rPr>
              <a:t>最小的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890827" y="4244721"/>
            <a:ext cx="236220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8BB78"/>
                </a:solidFill>
                <a:latin typeface="Noto Sans SC"/>
                <a:ea typeface="Noto Sans SC"/>
              </a:rPr>
              <a:t> 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77CDBB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53720" y="450088"/>
            <a:ext cx="1991360" cy="4800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0">
                <a:solidFill>
                  <a:srgbClr val="F2F3E9"/>
                </a:solidFill>
                <a:latin typeface="Noto Sans SC"/>
                <a:ea typeface="Noto Sans SC"/>
              </a:rPr>
              <a:t>局限与应用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965200"/>
            <a:ext cx="571500" cy="254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571500" y="6426200"/>
            <a:ext cx="11049000" cy="0"/>
          </a:xfrm>
          <a:prstGeom prst="line">
            <a:avLst/>
          </a:prstGeom>
          <a:ln w="12700">
            <a:solidFill>
              <a:srgbClr val="1D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3880" y="6512052"/>
            <a:ext cx="149479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Module 06 · 谱二分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99098"/>
            <a:ext cx="65151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p10/11</a:t>
            </a:r>
          </a:p>
        </p:txBody>
      </p:sp>
      <p:sp>
        <p:nvSpPr>
          <p:cNvPr id="9" name="Oval 8"/>
          <p:cNvSpPr/>
          <p:nvPr/>
        </p:nvSpPr>
        <p:spPr>
          <a:xfrm>
            <a:off x="711200" y="15394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14400" y="1430782"/>
            <a:ext cx="10433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给出好的初始二分，常交给 KL/FM 改进</a:t>
            </a:r>
          </a:p>
        </p:txBody>
      </p:sp>
      <p:sp>
        <p:nvSpPr>
          <p:cNvPr id="11" name="Oval 10"/>
          <p:cNvSpPr/>
          <p:nvPr/>
        </p:nvSpPr>
        <p:spPr>
          <a:xfrm>
            <a:off x="711200" y="19712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14400" y="1862582"/>
            <a:ext cx="10433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未归一化 L；归一化变体会给出不同排序</a:t>
            </a:r>
          </a:p>
        </p:txBody>
      </p:sp>
      <p:sp>
        <p:nvSpPr>
          <p:cNvPr id="13" name="Oval 12"/>
          <p:cNvSpPr/>
          <p:nvPr/>
        </p:nvSpPr>
        <p:spPr>
          <a:xfrm>
            <a:off x="711200" y="24030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4400" y="2294382"/>
            <a:ext cx="10433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大规模用稀疏迭代求解（如 Lanczos）</a:t>
            </a:r>
          </a:p>
        </p:txBody>
      </p:sp>
      <p:sp>
        <p:nvSpPr>
          <p:cNvPr id="15" name="Oval 14"/>
          <p:cNvSpPr/>
          <p:nvPr/>
        </p:nvSpPr>
        <p:spPr>
          <a:xfrm>
            <a:off x="711200" y="28348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14400" y="2726182"/>
            <a:ext cx="10433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弹簧只是类比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77CDBB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53720" y="450088"/>
            <a:ext cx="924560" cy="4800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0">
                <a:solidFill>
                  <a:srgbClr val="F2F3E9"/>
                </a:solidFill>
                <a:latin typeface="Noto Sans SC"/>
                <a:ea typeface="Noto Sans SC"/>
              </a:rPr>
              <a:t>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965200"/>
            <a:ext cx="571500" cy="254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571500" y="6426200"/>
            <a:ext cx="11049000" cy="0"/>
          </a:xfrm>
          <a:prstGeom prst="line">
            <a:avLst/>
          </a:prstGeom>
          <a:ln w="12700">
            <a:solidFill>
              <a:srgbClr val="1D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3880" y="6512052"/>
            <a:ext cx="149479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Module 06 · 谱二分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99098"/>
            <a:ext cx="65151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p11/11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1897380"/>
            <a:ext cx="10350500" cy="552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3000" b="0">
                <a:solidFill>
                  <a:srgbClr val="D8BB78"/>
                </a:solidFill>
                <a:latin typeface="Noto Sans SC"/>
                <a:ea typeface="Noto Sans SC"/>
              </a:rPr>
              <a:t>L = D − A；Fiedler 向量给每个点一个数。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000" y="2782824"/>
            <a:ext cx="10280650" cy="3498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900" b="0">
                <a:solidFill>
                  <a:srgbClr val="F2F3E9"/>
                </a:solidFill>
                <a:latin typeface="Noto Sans SC"/>
                <a:ea typeface="Noto Sans SC"/>
              </a:rPr>
              <a:t>排序后扫描 n − 1 个切点，只在平衡窗口内选；翻号只交换左右。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3323209"/>
            <a:ext cx="10280650" cy="3498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900" b="0">
                <a:solidFill>
                  <a:srgbClr val="F2F3E9"/>
                </a:solidFill>
                <a:latin typeface="Noto Sans SC"/>
                <a:ea typeface="Noto Sans SC"/>
              </a:rPr>
              <a:t>下一模块：从这个二分出发，用成对交换继续改进。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06 谱二分</dc:title>
  <dc:subject/>
  <dc:creator>Learning Clustering（统一课程）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