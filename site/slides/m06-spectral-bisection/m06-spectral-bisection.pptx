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这一模块用整张图的信息做二分：构造拉普拉斯矩阵，取第二特征向量给每个节点一个数，排序后在平衡窗口里逐个位置试切。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二分必须先写清约定：两组都非空，不区分左右，再给一个平衡窗口。5 个节点一共有 15 种非空无标签的分法，原题库写的 16 多算了空组那一种。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拉普拉斯矩阵的对角线是每个节点的度数，非对角是负的边权。每条边对四个位置做贡献。两个自检：矩阵对称，每行和为 0。这里的 D 是度矩阵，和 Module 09 里的跨簇延迟 D 不是一回事。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 有一个关键性质：x 转置 L x 等于每条边的权重乘上两端数值差的平方。如果 x 只取正负 1，被切的边各贡献 4w，所以它等于 4 倍的 cut。把 x 放松为任意实数，最优解就是第二小特征值的特征向量。可以把边想成弹簧，但这只是类比。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G01 的最小特征值是 0，第二小是约 1.7733。它的特征向量叫 Fiedler 向量。使用时要注意：图要连通，λ2 不能简并；向量整体翻号只会交换左右。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按 Fiedler 值排序是 E、D、C、B、A。沿着数轴在四个位置试切，cut 依次是 6、3、5、6。窗口只允许 k 等于 2 和 3，选 cut 更小的 k 等于 2，得到 DE 对 ABC。切在正中间反而更差。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更正两个误解。第一，没有平衡约束时，最优并不总是孤立一个点：这张图上孤立一个点最少切 6，而 ABC 对 DE 只切 3。第二，原页面存储的是三位小数的特征向量，残差 0.0044 是舍入造成的，但改了图它不会重算。本课程在浏览器里实时求解。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图不连通时，每个分量各贡献一个零特征值，λ2 也是 0。这时 Fiedler 向量只告诉你谁在同一个分量。使用前要先检查连通性。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伪代码先构造 L 并自检，然后做特征分解并检查连通性、简并和残差，统一符号后排序，最后扫描所有位置，在窗口内选 cut 最小的那一刀。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谱二分常用来给出一个好的初始二分，再交给 KL 或 FM 改进。本章使用未归一化的 L。大规模问题需要稀疏迭代求解。弹簧只是帮助理解的类比。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小结：构造拉普拉斯矩阵，用 Fiedler 向量给每个点一个数；排序后扫描所有切点，只在平衡窗口内选最小 cut。翻号只交换左右。下一模块从这个二分出发，用成对交换继续改进。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" name="Connector 3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3880" y="6512052"/>
            <a:ext cx="1503426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06 · 谱二分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p1/11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55147" y="377952"/>
            <a:ext cx="811072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00:00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86479" y="2310892"/>
            <a:ext cx="5019040" cy="891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5200" b="0">
                <a:solidFill>
                  <a:srgbClr val="D8BB78"/>
                </a:solidFill>
                <a:latin typeface="Noto Sans SC"/>
                <a:ea typeface="Noto Sans SC"/>
              </a:rPr>
              <a:t>给每个点一个数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9231" y="3335782"/>
            <a:ext cx="5593537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BCD2D0"/>
                </a:solidFill>
                <a:latin typeface="Noto Sans SC"/>
                <a:ea typeface="Noto Sans SC"/>
              </a:rPr>
              <a:t>Spectral bisection · 拉普拉斯矩阵、Fiedler 向量与扫描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27691" y="4136644"/>
            <a:ext cx="4936616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6F8F8F"/>
                </a:solidFill>
                <a:latin typeface="Noto Sans SC"/>
                <a:ea typeface="Noto Sans SC"/>
              </a:rPr>
              <a:t>Learning Clustering · 原作者 xingguangyaoyu（Issue #5）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16357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问题定义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503426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06 · 谱二分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p2/11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5147" y="377952"/>
            <a:ext cx="811072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00:15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两组都非空，不区分左右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5 个节点：(2</a:t>
            </a:r>
            <a:r>
              <a:rPr sz="1700" b="0" baseline="30000">
                <a:solidFill>
                  <a:srgbClr val="F2F3E9"/>
                </a:solidFill>
                <a:latin typeface="Noto Sans SC"/>
                <a:ea typeface="Noto Sans SC"/>
              </a:rPr>
              <a:t>5</a:t>
            </a: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 − 2) ÷ 2 = 15 种（不是 16）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平衡窗口：每组 40%–60%（这里每组 2–3 个）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2726182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输出：二分、cut、Fiedler 排序、扫描表、数值诊断</a:t>
            </a:r>
          </a:p>
        </p:txBody>
      </p:sp>
      <p:sp>
        <p:nvSpPr>
          <p:cNvPr id="18" name="Oval 17"/>
          <p:cNvSpPr/>
          <p:nvPr/>
        </p:nvSpPr>
        <p:spPr>
          <a:xfrm>
            <a:off x="711200" y="35797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34710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D8BB78"/>
                </a:solidFill>
                <a:latin typeface="Noto Sans SC"/>
                <a:ea typeface="Noto Sans SC"/>
              </a:rPr>
              <a:t>谱方法给出好的候选，不保证全局最优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6674654" y="1714500"/>
            <a:ext cx="2164367" cy="147570"/>
          </a:xfrm>
          <a:prstGeom prst="line">
            <a:avLst/>
          </a:prstGeom>
          <a:ln w="2540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600167" y="1420846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25567" y="1428974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674654" y="1862070"/>
            <a:ext cx="1328134" cy="1672465"/>
          </a:xfrm>
          <a:prstGeom prst="line">
            <a:avLst/>
          </a:prstGeom>
          <a:ln w="2540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311763" y="2388135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337163" y="2396263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8002788" y="1714500"/>
            <a:ext cx="836233" cy="1820035"/>
          </a:xfrm>
          <a:prstGeom prst="line">
            <a:avLst/>
          </a:prstGeom>
          <a:ln w="2540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3083" y="2472752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438483" y="2480880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4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002788" y="3534535"/>
            <a:ext cx="2213557" cy="1032993"/>
          </a:xfrm>
          <a:prstGeom prst="line">
            <a:avLst/>
          </a:prstGeom>
          <a:ln w="2540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9027710" y="3697537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053110" y="3705665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2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7756838" y="3534535"/>
            <a:ext cx="245950" cy="1672465"/>
          </a:xfrm>
          <a:prstGeom prst="line">
            <a:avLst/>
          </a:prstGeom>
          <a:ln w="2540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7884287" y="4177548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909687" y="4185676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7756838" y="4567528"/>
            <a:ext cx="2459507" cy="639472"/>
          </a:xfrm>
          <a:prstGeom prst="line">
            <a:avLst/>
          </a:prstGeom>
          <a:ln w="2540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8878636" y="4819368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904036" y="4827496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38" name="Oval 37"/>
          <p:cNvSpPr/>
          <p:nvPr/>
        </p:nvSpPr>
        <p:spPr>
          <a:xfrm>
            <a:off x="6420654" y="1608070"/>
            <a:ext cx="508000" cy="5080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539825" y="1719576"/>
            <a:ext cx="26965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40" name="Oval 39"/>
          <p:cNvSpPr/>
          <p:nvPr/>
        </p:nvSpPr>
        <p:spPr>
          <a:xfrm>
            <a:off x="8585021" y="1460500"/>
            <a:ext cx="508000" cy="5080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700737" y="1572006"/>
            <a:ext cx="276567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42" name="Oval 41"/>
          <p:cNvSpPr/>
          <p:nvPr/>
        </p:nvSpPr>
        <p:spPr>
          <a:xfrm>
            <a:off x="7748788" y="3280535"/>
            <a:ext cx="508000" cy="5080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867203" y="3392041"/>
            <a:ext cx="27117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44" name="Oval 43"/>
          <p:cNvSpPr/>
          <p:nvPr/>
        </p:nvSpPr>
        <p:spPr>
          <a:xfrm>
            <a:off x="9962345" y="4313528"/>
            <a:ext cx="508000" cy="5080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0074498" y="4425034"/>
            <a:ext cx="283692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46" name="Oval 45"/>
          <p:cNvSpPr/>
          <p:nvPr/>
        </p:nvSpPr>
        <p:spPr>
          <a:xfrm>
            <a:off x="7502838" y="4953000"/>
            <a:ext cx="508000" cy="5080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625678" y="5064506"/>
            <a:ext cx="262318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3793896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拉普拉斯矩阵 L = D − A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503426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06 · 谱二分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p3/11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5147" y="377952"/>
            <a:ext cx="811072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00:38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对角：度数（相连边权之和）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非对角：负的边权；没有边为 0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每条边贡献四处：±w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自检：L 对称、每行和为 0</a:t>
            </a:r>
          </a:p>
        </p:txBody>
      </p:sp>
      <p:sp>
        <p:nvSpPr>
          <p:cNvPr id="18" name="Oval 17"/>
          <p:cNvSpPr/>
          <p:nvPr/>
        </p:nvSpPr>
        <p:spPr>
          <a:xfrm>
            <a:off x="711200" y="32666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3157982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注意：这里的 D 是度矩阵，不是 Module 09 的跨簇延迟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2495" y="1368298"/>
            <a:ext cx="206209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56395" y="1923542"/>
            <a:ext cx="206209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1053" y="1368298"/>
            <a:ext cx="211493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53753" y="2634742"/>
            <a:ext cx="211493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4317" y="1368298"/>
            <a:ext cx="20736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55817" y="3345942"/>
            <a:ext cx="20736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0729" y="1368298"/>
            <a:ext cx="216941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51029" y="4057142"/>
            <a:ext cx="216941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50101" y="1368298"/>
            <a:ext cx="200596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59201" y="4768342"/>
            <a:ext cx="200596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0000" y="1651000"/>
            <a:ext cx="673100" cy="673100"/>
          </a:xfrm>
          <a:prstGeom prst="roundRect">
            <a:avLst>
              <a:gd name="adj" fmla="val 7547"/>
            </a:avLst>
          </a:prstGeom>
          <a:solidFill>
            <a:srgbClr val="0D272D"/>
          </a:solidFill>
          <a:ln w="12700">
            <a:solidFill>
              <a:srgbClr val="244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58089" y="1871726"/>
            <a:ext cx="25692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D8BB78"/>
                </a:solidFill>
                <a:latin typeface="Noto Sans SC"/>
                <a:ea typeface="Noto Sans SC"/>
              </a:rPr>
              <a:t>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061200" y="1651000"/>
            <a:ext cx="673100" cy="673100"/>
          </a:xfrm>
          <a:prstGeom prst="roundRect">
            <a:avLst>
              <a:gd name="adj" fmla="val 7547"/>
            </a:avLst>
          </a:prstGeom>
          <a:solidFill>
            <a:srgbClr val="0D272D"/>
          </a:solidFill>
          <a:ln w="12700">
            <a:solidFill>
              <a:srgbClr val="244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213155" y="1871726"/>
            <a:ext cx="36918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−5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0" y="1651000"/>
            <a:ext cx="673100" cy="673100"/>
          </a:xfrm>
          <a:prstGeom prst="roundRect">
            <a:avLst>
              <a:gd name="adj" fmla="val 7547"/>
            </a:avLst>
          </a:prstGeom>
          <a:solidFill>
            <a:srgbClr val="0D272D"/>
          </a:solidFill>
          <a:ln w="12700">
            <a:solidFill>
              <a:srgbClr val="244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924355" y="1871726"/>
            <a:ext cx="36918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−1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83600" y="1651000"/>
            <a:ext cx="673100" cy="673100"/>
          </a:xfrm>
          <a:prstGeom prst="roundRect">
            <a:avLst>
              <a:gd name="adj" fmla="val 7547"/>
            </a:avLst>
          </a:prstGeom>
          <a:solidFill>
            <a:srgbClr val="0D272D"/>
          </a:solidFill>
          <a:ln w="12700">
            <a:solidFill>
              <a:srgbClr val="244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695467" y="1871726"/>
            <a:ext cx="249364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6F8F8F"/>
                </a:solidFill>
                <a:latin typeface="Noto Sans SC"/>
                <a:ea typeface="Noto Sans SC"/>
              </a:rPr>
              <a:t>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94800" y="1651000"/>
            <a:ext cx="673100" cy="673100"/>
          </a:xfrm>
          <a:prstGeom prst="roundRect">
            <a:avLst>
              <a:gd name="adj" fmla="val 7547"/>
            </a:avLst>
          </a:prstGeom>
          <a:solidFill>
            <a:srgbClr val="0D272D"/>
          </a:solidFill>
          <a:ln w="12700">
            <a:solidFill>
              <a:srgbClr val="244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9406667" y="1871726"/>
            <a:ext cx="249364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6F8F8F"/>
                </a:solidFill>
                <a:latin typeface="Noto Sans SC"/>
                <a:ea typeface="Noto Sans SC"/>
              </a:rPr>
              <a:t>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50000" y="2362200"/>
            <a:ext cx="673100" cy="673100"/>
          </a:xfrm>
          <a:prstGeom prst="roundRect">
            <a:avLst>
              <a:gd name="adj" fmla="val 7547"/>
            </a:avLst>
          </a:prstGeom>
          <a:solidFill>
            <a:srgbClr val="0D272D"/>
          </a:solidFill>
          <a:ln w="12700">
            <a:solidFill>
              <a:srgbClr val="244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501955" y="2582926"/>
            <a:ext cx="36918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−5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061200" y="2362200"/>
            <a:ext cx="673100" cy="673100"/>
          </a:xfrm>
          <a:prstGeom prst="roundRect">
            <a:avLst>
              <a:gd name="adj" fmla="val 7547"/>
            </a:avLst>
          </a:prstGeom>
          <a:solidFill>
            <a:srgbClr val="0D272D"/>
          </a:solidFill>
          <a:ln w="12700">
            <a:solidFill>
              <a:srgbClr val="244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269289" y="2582926"/>
            <a:ext cx="25692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D8BB78"/>
                </a:solidFill>
                <a:latin typeface="Noto Sans SC"/>
                <a:ea typeface="Noto Sans SC"/>
              </a:rPr>
              <a:t>9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72400" y="2362200"/>
            <a:ext cx="673100" cy="673100"/>
          </a:xfrm>
          <a:prstGeom prst="roundRect">
            <a:avLst>
              <a:gd name="adj" fmla="val 7547"/>
            </a:avLst>
          </a:prstGeom>
          <a:solidFill>
            <a:srgbClr val="0D272D"/>
          </a:solidFill>
          <a:ln w="12700">
            <a:solidFill>
              <a:srgbClr val="244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924355" y="2582926"/>
            <a:ext cx="36918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−4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483600" y="2362200"/>
            <a:ext cx="673100" cy="673100"/>
          </a:xfrm>
          <a:prstGeom prst="roundRect">
            <a:avLst>
              <a:gd name="adj" fmla="val 7547"/>
            </a:avLst>
          </a:prstGeom>
          <a:solidFill>
            <a:srgbClr val="0D272D"/>
          </a:solidFill>
          <a:ln w="12700">
            <a:solidFill>
              <a:srgbClr val="244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695467" y="2582926"/>
            <a:ext cx="249364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6F8F8F"/>
                </a:solidFill>
                <a:latin typeface="Noto Sans SC"/>
                <a:ea typeface="Noto Sans SC"/>
              </a:rPr>
              <a:t>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94800" y="2362200"/>
            <a:ext cx="673100" cy="673100"/>
          </a:xfrm>
          <a:prstGeom prst="roundRect">
            <a:avLst>
              <a:gd name="adj" fmla="val 7547"/>
            </a:avLst>
          </a:prstGeom>
          <a:solidFill>
            <a:srgbClr val="0D272D"/>
          </a:solidFill>
          <a:ln w="12700">
            <a:solidFill>
              <a:srgbClr val="244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9406667" y="2582926"/>
            <a:ext cx="249364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6F8F8F"/>
                </a:solidFill>
                <a:latin typeface="Noto Sans SC"/>
                <a:ea typeface="Noto Sans SC"/>
              </a:rPr>
              <a:t>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50000" y="3073400"/>
            <a:ext cx="673100" cy="673100"/>
          </a:xfrm>
          <a:prstGeom prst="roundRect">
            <a:avLst>
              <a:gd name="adj" fmla="val 7547"/>
            </a:avLst>
          </a:prstGeom>
          <a:solidFill>
            <a:srgbClr val="0D272D"/>
          </a:solidFill>
          <a:ln w="12700">
            <a:solidFill>
              <a:srgbClr val="244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501955" y="3294126"/>
            <a:ext cx="36918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−1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61200" y="3073400"/>
            <a:ext cx="673100" cy="673100"/>
          </a:xfrm>
          <a:prstGeom prst="roundRect">
            <a:avLst>
              <a:gd name="adj" fmla="val 7547"/>
            </a:avLst>
          </a:prstGeom>
          <a:solidFill>
            <a:srgbClr val="0D272D"/>
          </a:solidFill>
          <a:ln w="12700">
            <a:solidFill>
              <a:srgbClr val="244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7213155" y="3294126"/>
            <a:ext cx="36918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−4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72400" y="3073400"/>
            <a:ext cx="673100" cy="673100"/>
          </a:xfrm>
          <a:prstGeom prst="roundRect">
            <a:avLst>
              <a:gd name="adj" fmla="val 7547"/>
            </a:avLst>
          </a:prstGeom>
          <a:solidFill>
            <a:srgbClr val="0D272D"/>
          </a:solidFill>
          <a:ln w="12700">
            <a:solidFill>
              <a:srgbClr val="244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980489" y="3294126"/>
            <a:ext cx="25692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D8BB78"/>
                </a:solidFill>
                <a:latin typeface="Noto Sans SC"/>
                <a:ea typeface="Noto Sans SC"/>
              </a:rPr>
              <a:t>8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83600" y="3073400"/>
            <a:ext cx="673100" cy="673100"/>
          </a:xfrm>
          <a:prstGeom prst="roundRect">
            <a:avLst>
              <a:gd name="adj" fmla="val 7547"/>
            </a:avLst>
          </a:prstGeom>
          <a:solidFill>
            <a:srgbClr val="0D272D"/>
          </a:solidFill>
          <a:ln w="12700">
            <a:solidFill>
              <a:srgbClr val="244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8635555" y="3294126"/>
            <a:ext cx="36918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−2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94800" y="3073400"/>
            <a:ext cx="673100" cy="673100"/>
          </a:xfrm>
          <a:prstGeom prst="roundRect">
            <a:avLst>
              <a:gd name="adj" fmla="val 7547"/>
            </a:avLst>
          </a:prstGeom>
          <a:solidFill>
            <a:srgbClr val="0D272D"/>
          </a:solidFill>
          <a:ln w="12700">
            <a:solidFill>
              <a:srgbClr val="244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9346755" y="3294126"/>
            <a:ext cx="36918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−1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350000" y="3784600"/>
            <a:ext cx="673100" cy="673100"/>
          </a:xfrm>
          <a:prstGeom prst="roundRect">
            <a:avLst>
              <a:gd name="adj" fmla="val 7547"/>
            </a:avLst>
          </a:prstGeom>
          <a:solidFill>
            <a:srgbClr val="0D272D"/>
          </a:solidFill>
          <a:ln w="12700">
            <a:solidFill>
              <a:srgbClr val="244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561867" y="4005326"/>
            <a:ext cx="249364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6F8F8F"/>
                </a:solidFill>
                <a:latin typeface="Noto Sans SC"/>
                <a:ea typeface="Noto Sans SC"/>
              </a:rPr>
              <a:t>0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061200" y="3784600"/>
            <a:ext cx="673100" cy="673100"/>
          </a:xfrm>
          <a:prstGeom prst="roundRect">
            <a:avLst>
              <a:gd name="adj" fmla="val 7547"/>
            </a:avLst>
          </a:prstGeom>
          <a:solidFill>
            <a:srgbClr val="0D272D"/>
          </a:solidFill>
          <a:ln w="12700">
            <a:solidFill>
              <a:srgbClr val="244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7273067" y="4005326"/>
            <a:ext cx="249364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6F8F8F"/>
                </a:solidFill>
                <a:latin typeface="Noto Sans SC"/>
                <a:ea typeface="Noto Sans SC"/>
              </a:rPr>
              <a:t>0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772400" y="3784600"/>
            <a:ext cx="673100" cy="673100"/>
          </a:xfrm>
          <a:prstGeom prst="roundRect">
            <a:avLst>
              <a:gd name="adj" fmla="val 7547"/>
            </a:avLst>
          </a:prstGeom>
          <a:solidFill>
            <a:srgbClr val="0D272D"/>
          </a:solidFill>
          <a:ln w="12700">
            <a:solidFill>
              <a:srgbClr val="244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7924355" y="4005326"/>
            <a:ext cx="36918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−2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483600" y="3784600"/>
            <a:ext cx="673100" cy="673100"/>
          </a:xfrm>
          <a:prstGeom prst="roundRect">
            <a:avLst>
              <a:gd name="adj" fmla="val 7547"/>
            </a:avLst>
          </a:prstGeom>
          <a:solidFill>
            <a:srgbClr val="0D272D"/>
          </a:solidFill>
          <a:ln w="12700">
            <a:solidFill>
              <a:srgbClr val="244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8691689" y="4005326"/>
            <a:ext cx="25692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D8BB78"/>
                </a:solidFill>
                <a:latin typeface="Noto Sans SC"/>
                <a:ea typeface="Noto Sans SC"/>
              </a:rPr>
              <a:t>7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194800" y="3784600"/>
            <a:ext cx="673100" cy="673100"/>
          </a:xfrm>
          <a:prstGeom prst="roundRect">
            <a:avLst>
              <a:gd name="adj" fmla="val 7547"/>
            </a:avLst>
          </a:prstGeom>
          <a:solidFill>
            <a:srgbClr val="0D272D"/>
          </a:solidFill>
          <a:ln w="12700">
            <a:solidFill>
              <a:srgbClr val="244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9346755" y="4005326"/>
            <a:ext cx="36918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−5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350000" y="4495800"/>
            <a:ext cx="673100" cy="673100"/>
          </a:xfrm>
          <a:prstGeom prst="roundRect">
            <a:avLst>
              <a:gd name="adj" fmla="val 7547"/>
            </a:avLst>
          </a:prstGeom>
          <a:solidFill>
            <a:srgbClr val="0D272D"/>
          </a:solidFill>
          <a:ln w="12700">
            <a:solidFill>
              <a:srgbClr val="244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6561867" y="4716526"/>
            <a:ext cx="249364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6F8F8F"/>
                </a:solidFill>
                <a:latin typeface="Noto Sans SC"/>
                <a:ea typeface="Noto Sans SC"/>
              </a:rPr>
              <a:t>0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061200" y="4495800"/>
            <a:ext cx="673100" cy="673100"/>
          </a:xfrm>
          <a:prstGeom prst="roundRect">
            <a:avLst>
              <a:gd name="adj" fmla="val 7547"/>
            </a:avLst>
          </a:prstGeom>
          <a:solidFill>
            <a:srgbClr val="0D272D"/>
          </a:solidFill>
          <a:ln w="12700">
            <a:solidFill>
              <a:srgbClr val="244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7273067" y="4716526"/>
            <a:ext cx="249364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6F8F8F"/>
                </a:solidFill>
                <a:latin typeface="Noto Sans SC"/>
                <a:ea typeface="Noto Sans SC"/>
              </a:rPr>
              <a:t>0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772400" y="4495800"/>
            <a:ext cx="673100" cy="673100"/>
          </a:xfrm>
          <a:prstGeom prst="roundRect">
            <a:avLst>
              <a:gd name="adj" fmla="val 7547"/>
            </a:avLst>
          </a:prstGeom>
          <a:solidFill>
            <a:srgbClr val="0D272D"/>
          </a:solidFill>
          <a:ln w="12700">
            <a:solidFill>
              <a:srgbClr val="244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7924355" y="4716526"/>
            <a:ext cx="36918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−1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483600" y="4495800"/>
            <a:ext cx="673100" cy="673100"/>
          </a:xfrm>
          <a:prstGeom prst="roundRect">
            <a:avLst>
              <a:gd name="adj" fmla="val 7547"/>
            </a:avLst>
          </a:prstGeom>
          <a:solidFill>
            <a:srgbClr val="0D272D"/>
          </a:solidFill>
          <a:ln w="12700">
            <a:solidFill>
              <a:srgbClr val="244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8635555" y="4716526"/>
            <a:ext cx="36918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−5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194800" y="4495800"/>
            <a:ext cx="673100" cy="673100"/>
          </a:xfrm>
          <a:prstGeom prst="roundRect">
            <a:avLst>
              <a:gd name="adj" fmla="val 7547"/>
            </a:avLst>
          </a:prstGeom>
          <a:solidFill>
            <a:srgbClr val="0D272D"/>
          </a:solidFill>
          <a:ln w="12700">
            <a:solidFill>
              <a:srgbClr val="244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9402889" y="4716526"/>
            <a:ext cx="25692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D8BB78"/>
                </a:solidFill>
                <a:latin typeface="Noto Sans SC"/>
                <a:ea typeface="Noto Sans SC"/>
              </a:rP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024745" y="1927098"/>
            <a:ext cx="564146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>
                <a:solidFill>
                  <a:srgbClr val="77CDBB"/>
                </a:solidFill>
                <a:latin typeface="Noto Sans SC"/>
                <a:ea typeface="Noto Sans SC"/>
              </a:rPr>
              <a:t>行和 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24745" y="2638298"/>
            <a:ext cx="564146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>
                <a:solidFill>
                  <a:srgbClr val="77CDBB"/>
                </a:solidFill>
                <a:latin typeface="Noto Sans SC"/>
                <a:ea typeface="Noto Sans SC"/>
              </a:rPr>
              <a:t>行和 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024745" y="3349498"/>
            <a:ext cx="564146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>
                <a:solidFill>
                  <a:srgbClr val="77CDBB"/>
                </a:solidFill>
                <a:latin typeface="Noto Sans SC"/>
                <a:ea typeface="Noto Sans SC"/>
              </a:rPr>
              <a:t>行和 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24745" y="4060698"/>
            <a:ext cx="564146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>
                <a:solidFill>
                  <a:srgbClr val="77CDBB"/>
                </a:solidFill>
                <a:latin typeface="Noto Sans SC"/>
                <a:ea typeface="Noto Sans SC"/>
              </a:rPr>
              <a:t>行和 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024745" y="4771898"/>
            <a:ext cx="564146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>
                <a:solidFill>
                  <a:srgbClr val="77CDBB"/>
                </a:solidFill>
                <a:latin typeface="Noto Sans SC"/>
                <a:ea typeface="Noto Sans SC"/>
              </a:rPr>
              <a:t>行和 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59029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二次型：为什么连得紧的点数值接近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503426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06 · 谱二分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p4/11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5147" y="377952"/>
            <a:ext cx="811072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00:59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x</a:t>
            </a:r>
            <a:r>
              <a:rPr sz="1700" b="0" baseline="30000">
                <a:solidFill>
                  <a:srgbClr val="F2F3E9"/>
                </a:solidFill>
                <a:latin typeface="Noto Sans SC"/>
                <a:ea typeface="Noto Sans SC"/>
              </a:rPr>
              <a:t>T</a:t>
            </a: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Lx = Σ w(u,v)·(x_u − x_v)</a:t>
            </a:r>
            <a:r>
              <a:rPr sz="1700" b="0" baseline="30000">
                <a:solidFill>
                  <a:srgbClr val="F2F3E9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x 取 ±1：被切的边贡献 4w → x</a:t>
            </a:r>
            <a:r>
              <a:rPr sz="1700" b="0" baseline="30000">
                <a:solidFill>
                  <a:srgbClr val="F2F3E9"/>
                </a:solidFill>
                <a:latin typeface="Noto Sans SC"/>
                <a:ea typeface="Noto Sans SC"/>
              </a:rPr>
              <a:t>T</a:t>
            </a: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Lx = 4 × cut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放松：x 取任意实数、与全 1 正交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放松后的最优解：第二小特征值的特征向量</a:t>
            </a:r>
          </a:p>
        </p:txBody>
      </p:sp>
      <p:sp>
        <p:nvSpPr>
          <p:cNvPr id="18" name="Oval 17"/>
          <p:cNvSpPr/>
          <p:nvPr/>
        </p:nvSpPr>
        <p:spPr>
          <a:xfrm>
            <a:off x="711200" y="32666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31579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BCD2D0"/>
                </a:solidFill>
                <a:latin typeface="Noto Sans SC"/>
                <a:ea typeface="Noto Sans SC"/>
              </a:rPr>
              <a:t>弹簧只是类比，本页没有物理模拟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6962640" y="1651000"/>
            <a:ext cx="1967606" cy="134154"/>
          </a:xfrm>
          <a:prstGeom prst="line">
            <a:avLst/>
          </a:prstGeom>
          <a:ln w="2540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789772" y="1350638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815172" y="1358766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62640" y="1785154"/>
            <a:ext cx="1207395" cy="1520423"/>
          </a:xfrm>
          <a:prstGeom prst="line">
            <a:avLst/>
          </a:prstGeom>
          <a:ln w="2540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539380" y="2235199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564780" y="2243327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8170035" y="1651000"/>
            <a:ext cx="760211" cy="1654577"/>
          </a:xfrm>
          <a:prstGeom prst="line">
            <a:avLst/>
          </a:prstGeom>
          <a:ln w="2540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542319" y="2326523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567719" y="2334651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4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170035" y="3305577"/>
            <a:ext cx="2012324" cy="939084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9094340" y="3421625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19740" y="3429753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2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7946443" y="3305577"/>
            <a:ext cx="223592" cy="1520423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062713" y="3872570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088113" y="3880698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7946443" y="4244661"/>
            <a:ext cx="2235916" cy="581339"/>
          </a:xfrm>
          <a:prstGeom prst="line">
            <a:avLst/>
          </a:prstGeom>
          <a:ln w="2540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8956446" y="4467435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981846" y="4475563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38" name="Oval 37"/>
          <p:cNvSpPr/>
          <p:nvPr/>
        </p:nvSpPr>
        <p:spPr>
          <a:xfrm>
            <a:off x="6708640" y="1531154"/>
            <a:ext cx="508000" cy="508000"/>
          </a:xfrm>
          <a:prstGeom prst="ellipse">
            <a:avLst/>
          </a:prstGeom>
          <a:solidFill>
            <a:srgbClr val="77CDBB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827811" y="1642660"/>
            <a:ext cx="26965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5701" y="2112052"/>
            <a:ext cx="293878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8BB78"/>
                </a:solidFill>
                <a:latin typeface="Noto Sans SC"/>
                <a:ea typeface="Noto Sans SC"/>
              </a:rPr>
              <a:t>+1</a:t>
            </a:r>
          </a:p>
        </p:txBody>
      </p:sp>
      <p:sp>
        <p:nvSpPr>
          <p:cNvPr id="41" name="Oval 40"/>
          <p:cNvSpPr/>
          <p:nvPr/>
        </p:nvSpPr>
        <p:spPr>
          <a:xfrm>
            <a:off x="8676246" y="1397000"/>
            <a:ext cx="508000" cy="508000"/>
          </a:xfrm>
          <a:prstGeom prst="ellipse">
            <a:avLst/>
          </a:prstGeom>
          <a:solidFill>
            <a:srgbClr val="77CDBB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791962" y="1508506"/>
            <a:ext cx="276567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83307" y="1977898"/>
            <a:ext cx="293878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8BB78"/>
                </a:solidFill>
                <a:latin typeface="Noto Sans SC"/>
                <a:ea typeface="Noto Sans SC"/>
              </a:rPr>
              <a:t>+1</a:t>
            </a:r>
          </a:p>
        </p:txBody>
      </p:sp>
      <p:sp>
        <p:nvSpPr>
          <p:cNvPr id="44" name="Oval 43"/>
          <p:cNvSpPr/>
          <p:nvPr/>
        </p:nvSpPr>
        <p:spPr>
          <a:xfrm>
            <a:off x="7916035" y="3051577"/>
            <a:ext cx="508000" cy="508000"/>
          </a:xfrm>
          <a:prstGeom prst="ellipse">
            <a:avLst/>
          </a:prstGeom>
          <a:solidFill>
            <a:srgbClr val="77CDBB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034450" y="3163083"/>
            <a:ext cx="27117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23096" y="3632475"/>
            <a:ext cx="293878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8BB78"/>
                </a:solidFill>
                <a:latin typeface="Noto Sans SC"/>
                <a:ea typeface="Noto Sans SC"/>
              </a:rPr>
              <a:t>+1</a:t>
            </a:r>
          </a:p>
        </p:txBody>
      </p:sp>
      <p:sp>
        <p:nvSpPr>
          <p:cNvPr id="47" name="Oval 46"/>
          <p:cNvSpPr/>
          <p:nvPr/>
        </p:nvSpPr>
        <p:spPr>
          <a:xfrm>
            <a:off x="9928359" y="3990661"/>
            <a:ext cx="508000" cy="5080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10040512" y="4102167"/>
            <a:ext cx="283692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3581" y="4571559"/>
            <a:ext cx="257556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8BB78"/>
                </a:solidFill>
                <a:latin typeface="Noto Sans SC"/>
                <a:ea typeface="Noto Sans SC"/>
              </a:rPr>
              <a:t>-1</a:t>
            </a:r>
          </a:p>
        </p:txBody>
      </p:sp>
      <p:sp>
        <p:nvSpPr>
          <p:cNvPr id="50" name="Oval 49"/>
          <p:cNvSpPr/>
          <p:nvPr/>
        </p:nvSpPr>
        <p:spPr>
          <a:xfrm>
            <a:off x="7692443" y="4572000"/>
            <a:ext cx="508000" cy="5080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815284" y="4683506"/>
            <a:ext cx="262318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17665" y="5152898"/>
            <a:ext cx="257556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8BB78"/>
                </a:solidFill>
                <a:latin typeface="Noto Sans SC"/>
                <a:ea typeface="Noto Sans SC"/>
              </a:rPr>
              <a:t>-1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735414" y="5689600"/>
            <a:ext cx="1674171" cy="2921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7781134" y="5749798"/>
            <a:ext cx="1582731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8BB78"/>
                </a:solidFill>
                <a:latin typeface="Noto Sans SC"/>
                <a:ea typeface="Noto Sans SC"/>
              </a:rPr>
              <a:t>x</a:t>
            </a:r>
            <a:r>
              <a:rPr sz="1300" b="1" baseline="30000">
                <a:solidFill>
                  <a:srgbClr val="D8BB78"/>
                </a:solidFill>
                <a:latin typeface="Noto Sans SC"/>
                <a:ea typeface="Noto Sans SC"/>
              </a:rPr>
              <a:t>T</a:t>
            </a:r>
            <a:r>
              <a:rPr sz="1300" b="1">
                <a:solidFill>
                  <a:srgbClr val="D8BB78"/>
                </a:solidFill>
                <a:latin typeface="Noto Sans SC"/>
                <a:ea typeface="Noto Sans SC"/>
              </a:rPr>
              <a:t>Lx = 4 × cut =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3929735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Fiedler 向量与它的条件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503426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06 · 谱二分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p5/11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5147" y="377952"/>
            <a:ext cx="811072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01:25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λ1 = 0（全 1 向量）；λ2 ≈ 1.7733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Fiedler 向量：A 0.519，B 0.418，C 0.106，D −0.489，E −0.553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7161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6074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条件：图连通；λ2 不简并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3147948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3039236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翻号等价：−x 也是特征向量，只交换左右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32500" y="2667000"/>
            <a:ext cx="5334000" cy="0"/>
          </a:xfrm>
          <a:prstGeom prst="line">
            <a:avLst/>
          </a:prstGeom>
          <a:ln w="1905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6007100" y="2451100"/>
            <a:ext cx="431800" cy="4318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114986" y="2549652"/>
            <a:ext cx="216026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0491" y="2905252"/>
            <a:ext cx="525018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BCD2D0"/>
                </a:solidFill>
                <a:latin typeface="Noto Sans SC"/>
                <a:ea typeface="Noto Sans SC"/>
              </a:rPr>
              <a:t>-0.553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20658" y="2364740"/>
            <a:ext cx="0" cy="302260"/>
          </a:xfrm>
          <a:prstGeom prst="line">
            <a:avLst/>
          </a:prstGeom>
          <a:ln w="1270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6488908" y="2635250"/>
            <a:ext cx="63500" cy="63500"/>
          </a:xfrm>
          <a:prstGeom prst="ellipse">
            <a:avLst/>
          </a:prstGeom>
          <a:solidFill>
            <a:srgbClr val="5D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304758" y="1932939"/>
            <a:ext cx="431800" cy="4318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03844" y="2031491"/>
            <a:ext cx="23362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8149" y="3083052"/>
            <a:ext cx="525018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BCD2D0"/>
                </a:solidFill>
                <a:latin typeface="Noto Sans SC"/>
                <a:ea typeface="Noto Sans SC"/>
              </a:rPr>
              <a:t>-0.489</a:t>
            </a:r>
          </a:p>
        </p:txBody>
      </p:sp>
      <p:sp>
        <p:nvSpPr>
          <p:cNvPr id="27" name="Oval 26"/>
          <p:cNvSpPr/>
          <p:nvPr/>
        </p:nvSpPr>
        <p:spPr>
          <a:xfrm>
            <a:off x="9051161" y="2451100"/>
            <a:ext cx="431800" cy="4318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155403" y="2549652"/>
            <a:ext cx="223316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88703" y="2905252"/>
            <a:ext cx="556717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BCD2D0"/>
                </a:solidFill>
                <a:latin typeface="Noto Sans SC"/>
                <a:ea typeface="Noto Sans SC"/>
              </a:rPr>
              <a:t>+0.106</a:t>
            </a:r>
          </a:p>
        </p:txBody>
      </p:sp>
      <p:sp>
        <p:nvSpPr>
          <p:cNvPr id="30" name="Oval 29"/>
          <p:cNvSpPr/>
          <p:nvPr/>
        </p:nvSpPr>
        <p:spPr>
          <a:xfrm>
            <a:off x="10491713" y="2451100"/>
            <a:ext cx="431800" cy="4318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593732" y="2549652"/>
            <a:ext cx="227761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9254" y="3083052"/>
            <a:ext cx="556717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BCD2D0"/>
                </a:solidFill>
                <a:latin typeface="Noto Sans SC"/>
                <a:ea typeface="Noto Sans SC"/>
              </a:rPr>
              <a:t>+0.418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1176000" y="2364740"/>
            <a:ext cx="0" cy="302260"/>
          </a:xfrm>
          <a:prstGeom prst="line">
            <a:avLst/>
          </a:prstGeom>
          <a:ln w="1270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1144250" y="2635250"/>
            <a:ext cx="63500" cy="63500"/>
          </a:xfrm>
          <a:prstGeom prst="ellipse">
            <a:avLst/>
          </a:prstGeom>
          <a:solidFill>
            <a:srgbClr val="5D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10960100" y="1932939"/>
            <a:ext cx="431800" cy="4318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11064963" y="2031491"/>
            <a:ext cx="222072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97641" y="2905252"/>
            <a:ext cx="556717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BCD2D0"/>
                </a:solidFill>
                <a:latin typeface="Noto Sans SC"/>
                <a:ea typeface="Noto Sans SC"/>
              </a:rPr>
              <a:t>+0.519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4110" y="3882644"/>
            <a:ext cx="356168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λ = 0，1.7733，8.4551，11.6053，14.1663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3475" y="4250690"/>
            <a:ext cx="2779014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" b="1">
                <a:solidFill>
                  <a:srgbClr val="D8BB78"/>
                </a:solidFill>
                <a:latin typeface="Noto Sans SC"/>
                <a:ea typeface="Noto Sans SC"/>
              </a:rPr>
              <a:t>Fiedler 排序：E，D，C，B，A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16357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排序扫描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503426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06 · 谱二分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p6/11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5147" y="377952"/>
            <a:ext cx="811072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01:47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排序：E, D, C, B, A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k = 1…4 的 cut：6, 3, 5, 6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40/60 窗口只允许 k = 2、3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77CDBB"/>
                </a:solidFill>
                <a:latin typeface="Noto Sans SC"/>
                <a:ea typeface="Noto Sans SC"/>
              </a:rPr>
              <a:t>选 k = 2：DE | ABC，cut 3</a:t>
            </a:r>
          </a:p>
        </p:txBody>
      </p:sp>
      <p:sp>
        <p:nvSpPr>
          <p:cNvPr id="18" name="Oval 17"/>
          <p:cNvSpPr/>
          <p:nvPr/>
        </p:nvSpPr>
        <p:spPr>
          <a:xfrm>
            <a:off x="711200" y="32666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31579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“切在正中间”k = 3 反而是 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32500" y="2095500"/>
            <a:ext cx="5334000" cy="0"/>
          </a:xfrm>
          <a:prstGeom prst="line">
            <a:avLst/>
          </a:prstGeom>
          <a:ln w="1905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007100" y="1879600"/>
            <a:ext cx="431800" cy="431800"/>
          </a:xfrm>
          <a:prstGeom prst="ellipse">
            <a:avLst/>
          </a:prstGeom>
          <a:solidFill>
            <a:srgbClr val="77CDBB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114986" y="1978152"/>
            <a:ext cx="216026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0491" y="2333752"/>
            <a:ext cx="525018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BCD2D0"/>
                </a:solidFill>
                <a:latin typeface="Noto Sans SC"/>
                <a:ea typeface="Noto Sans SC"/>
              </a:rPr>
              <a:t>-0.553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520658" y="1793239"/>
            <a:ext cx="0" cy="302261"/>
          </a:xfrm>
          <a:prstGeom prst="line">
            <a:avLst/>
          </a:prstGeom>
          <a:ln w="1270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6488908" y="2063750"/>
            <a:ext cx="63500" cy="63500"/>
          </a:xfrm>
          <a:prstGeom prst="ellipse">
            <a:avLst/>
          </a:prstGeom>
          <a:solidFill>
            <a:srgbClr val="5D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6304758" y="1361440"/>
            <a:ext cx="431800" cy="431800"/>
          </a:xfrm>
          <a:prstGeom prst="ellipse">
            <a:avLst/>
          </a:prstGeom>
          <a:solidFill>
            <a:srgbClr val="77CDBB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03844" y="1459992"/>
            <a:ext cx="23362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8149" y="2511552"/>
            <a:ext cx="525018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BCD2D0"/>
                </a:solidFill>
                <a:latin typeface="Noto Sans SC"/>
                <a:ea typeface="Noto Sans SC"/>
              </a:rPr>
              <a:t>-0.489</a:t>
            </a:r>
          </a:p>
        </p:txBody>
      </p:sp>
      <p:sp>
        <p:nvSpPr>
          <p:cNvPr id="29" name="Oval 28"/>
          <p:cNvSpPr/>
          <p:nvPr/>
        </p:nvSpPr>
        <p:spPr>
          <a:xfrm>
            <a:off x="9051161" y="1879600"/>
            <a:ext cx="431800" cy="4318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155403" y="1978152"/>
            <a:ext cx="223316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88703" y="2333752"/>
            <a:ext cx="556717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BCD2D0"/>
                </a:solidFill>
                <a:latin typeface="Noto Sans SC"/>
                <a:ea typeface="Noto Sans SC"/>
              </a:rPr>
              <a:t>+0.106</a:t>
            </a:r>
          </a:p>
        </p:txBody>
      </p:sp>
      <p:sp>
        <p:nvSpPr>
          <p:cNvPr id="32" name="Oval 31"/>
          <p:cNvSpPr/>
          <p:nvPr/>
        </p:nvSpPr>
        <p:spPr>
          <a:xfrm>
            <a:off x="10491713" y="1879600"/>
            <a:ext cx="431800" cy="4318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593732" y="1978152"/>
            <a:ext cx="227761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9254" y="2511552"/>
            <a:ext cx="556717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BCD2D0"/>
                </a:solidFill>
                <a:latin typeface="Noto Sans SC"/>
                <a:ea typeface="Noto Sans SC"/>
              </a:rPr>
              <a:t>+0.418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176000" y="1793239"/>
            <a:ext cx="0" cy="302261"/>
          </a:xfrm>
          <a:prstGeom prst="line">
            <a:avLst/>
          </a:prstGeom>
          <a:ln w="1270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11144250" y="2063750"/>
            <a:ext cx="63500" cy="63500"/>
          </a:xfrm>
          <a:prstGeom prst="ellipse">
            <a:avLst/>
          </a:prstGeom>
          <a:solidFill>
            <a:srgbClr val="5D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10960100" y="1361440"/>
            <a:ext cx="431800" cy="4318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1064963" y="1459992"/>
            <a:ext cx="222072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97641" y="2333752"/>
            <a:ext cx="556717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BCD2D0"/>
                </a:solidFill>
                <a:latin typeface="Noto Sans SC"/>
                <a:ea typeface="Noto Sans SC"/>
              </a:rPr>
              <a:t>+0.519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893860" y="1447800"/>
            <a:ext cx="0" cy="965200"/>
          </a:xfrm>
          <a:prstGeom prst="line">
            <a:avLst/>
          </a:prstGeom>
          <a:ln w="25400">
            <a:solidFill>
              <a:srgbClr val="D8BB7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341110" y="3374644"/>
            <a:ext cx="214071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BCD2D0"/>
                </a:solidFill>
                <a:latin typeface="Noto Sans SC"/>
                <a:ea typeface="Noto Sans SC"/>
              </a:rPr>
              <a:t>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12609" y="3374644"/>
            <a:ext cx="4622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BCD2D0"/>
                </a:solidFill>
                <a:latin typeface="Noto Sans SC"/>
                <a:ea typeface="Noto Sans SC"/>
              </a:rPr>
              <a:t>左组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73109" y="3374644"/>
            <a:ext cx="388492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BCD2D0"/>
                </a:solidFill>
                <a:latin typeface="Noto Sans SC"/>
                <a:ea typeface="Noto Sans SC"/>
              </a:rPr>
              <a:t>cut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35110" y="3374644"/>
            <a:ext cx="991057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BCD2D0"/>
                </a:solidFill>
                <a:latin typeface="Noto Sans SC"/>
                <a:ea typeface="Noto Sans SC"/>
              </a:rPr>
              <a:t>40/60 窗口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311900" y="3657600"/>
            <a:ext cx="4102100" cy="0"/>
          </a:xfrm>
          <a:prstGeom prst="line">
            <a:avLst/>
          </a:prstGeom>
          <a:ln w="12700">
            <a:solidFill>
              <a:srgbClr val="2D4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339840" y="37678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11340" y="3767836"/>
            <a:ext cx="241604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71840" y="37678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33840" y="3767836"/>
            <a:ext cx="3035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—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61100" y="4140200"/>
            <a:ext cx="4241800" cy="393700"/>
          </a:xfrm>
          <a:prstGeom prst="roundRect">
            <a:avLst>
              <a:gd name="adj" fmla="val 12903"/>
            </a:avLst>
          </a:prstGeom>
          <a:solidFill>
            <a:srgbClr val="D8BB7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339840" y="41869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11340" y="4186936"/>
            <a:ext cx="38140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71840" y="41869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33840" y="4186936"/>
            <a:ext cx="5283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合法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39840" y="46060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11340" y="4606036"/>
            <a:ext cx="51104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EDC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71840" y="46060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33840" y="4606036"/>
            <a:ext cx="5283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合法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39840" y="50251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11340" y="5025136"/>
            <a:ext cx="64455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EDCB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71840" y="50251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33840" y="5025136"/>
            <a:ext cx="3035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27025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两个误解的更正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503426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06 · 谱二分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p7/11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5147" y="377952"/>
            <a:ext cx="811072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02:31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“无约束最优总是孤立一个点”——错：单点最小 6，ABC | DE 只有 3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22843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1756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应说：无约束时可能出现过小的分组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7161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607437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“存储的向量就是求解器”——错：三位小数残差 0.0044 是舍入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346100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3352292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存储值不会随改图重算；本页实时求解，残差约 10</a:t>
            </a:r>
            <a:r>
              <a:rPr sz="1700" b="0" baseline="30000">
                <a:solidFill>
                  <a:srgbClr val="F2F3E9"/>
                </a:solidFill>
                <a:latin typeface="Noto Sans SC"/>
                <a:ea typeface="Noto Sans SC"/>
              </a:rPr>
              <a:t>−15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1110" y="1596644"/>
            <a:ext cx="4622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BCD2D0"/>
                </a:solidFill>
                <a:latin typeface="Noto Sans SC"/>
                <a:ea typeface="Noto Sans SC"/>
              </a:rPr>
              <a:t>孤立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84109" y="1596644"/>
            <a:ext cx="929716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BCD2D0"/>
                </a:solidFill>
                <a:latin typeface="Noto Sans SC"/>
                <a:ea typeface="Noto Sans SC"/>
              </a:rPr>
              <a:t>cut = 度数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311900" y="1879600"/>
            <a:ext cx="2832100" cy="0"/>
          </a:xfrm>
          <a:prstGeom prst="line">
            <a:avLst/>
          </a:prstGeom>
          <a:ln w="12700">
            <a:solidFill>
              <a:srgbClr val="2D4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39840" y="1977136"/>
            <a:ext cx="24546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2840" y="19771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9840" y="2383536"/>
            <a:ext cx="25542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2840" y="23835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9840" y="2789936"/>
            <a:ext cx="251561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82840" y="27899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9840" y="3196336"/>
            <a:ext cx="261721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82840" y="31963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9840" y="3602736"/>
            <a:ext cx="241604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82840" y="36027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41745" y="4657598"/>
            <a:ext cx="7594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向量来源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6745" y="4657598"/>
            <a:ext cx="429259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残差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311900" y="4927600"/>
            <a:ext cx="3340100" cy="0"/>
          </a:xfrm>
          <a:prstGeom prst="line">
            <a:avLst/>
          </a:prstGeom>
          <a:ln w="12700">
            <a:solidFill>
              <a:srgbClr val="2D4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340475" y="5012690"/>
            <a:ext cx="876300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" b="0">
                <a:solidFill>
                  <a:srgbClr val="F2F3E9"/>
                </a:solidFill>
                <a:latin typeface="Noto Sans SC"/>
                <a:ea typeface="Noto Sans SC"/>
              </a:rPr>
              <a:t>实时求解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5475" y="5012690"/>
            <a:ext cx="761809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" b="0">
                <a:solidFill>
                  <a:srgbClr val="F2F3E9"/>
                </a:solidFill>
                <a:latin typeface="Noto Sans SC"/>
                <a:ea typeface="Noto Sans SC"/>
              </a:rPr>
              <a:t>3.8e-15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0475" y="5393690"/>
            <a:ext cx="1257300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" b="0">
                <a:solidFill>
                  <a:srgbClr val="F2F3E9"/>
                </a:solidFill>
                <a:latin typeface="Noto Sans SC"/>
                <a:ea typeface="Noto Sans SC"/>
              </a:rPr>
              <a:t>原作三位小数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5475" y="5393690"/>
            <a:ext cx="695896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" b="0">
                <a:solidFill>
                  <a:srgbClr val="F2F3E9"/>
                </a:solidFill>
                <a:latin typeface="Noto Sans SC"/>
                <a:ea typeface="Noto Sans SC"/>
              </a:rPr>
              <a:t>0.0044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16357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断开的图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503426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06 · 谱二分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p8/11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5147" y="377952"/>
            <a:ext cx="811072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02:57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两个分量 → λ1 = λ2 = 0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Fiedler 向量只反映“谁在同一个分量”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使用前先检查连通性与简并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本页实验的诊断区会给出警告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6350000" y="2147336"/>
            <a:ext cx="1378857" cy="492449"/>
          </a:xfrm>
          <a:prstGeom prst="line">
            <a:avLst/>
          </a:prstGeom>
          <a:ln w="2540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6841866" y="2034647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867266" y="2042775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3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7433387" y="2147336"/>
            <a:ext cx="295470" cy="1674327"/>
          </a:xfrm>
          <a:prstGeom prst="line">
            <a:avLst/>
          </a:prstGeom>
          <a:ln w="2540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584899" y="2795592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610299" y="2803720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2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350000" y="2639785"/>
            <a:ext cx="1083387" cy="1181878"/>
          </a:xfrm>
          <a:prstGeom prst="line">
            <a:avLst/>
          </a:prstGeom>
          <a:ln w="2540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6857732" y="2912352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883132" y="2920480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9797142" y="2147336"/>
            <a:ext cx="1378858" cy="492449"/>
          </a:xfrm>
          <a:prstGeom prst="line">
            <a:avLst/>
          </a:prstGeom>
          <a:ln w="2540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10289009" y="2034647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314409" y="2042775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3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10880530" y="2147336"/>
            <a:ext cx="295470" cy="1674327"/>
          </a:xfrm>
          <a:prstGeom prst="line">
            <a:avLst/>
          </a:prstGeom>
          <a:ln w="2540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11032042" y="2795592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1057442" y="2803720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2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797142" y="2639785"/>
            <a:ext cx="1083388" cy="1181878"/>
          </a:xfrm>
          <a:prstGeom prst="line">
            <a:avLst/>
          </a:prstGeom>
          <a:ln w="2540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0304875" y="2912352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0330275" y="2920480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36" name="Oval 35"/>
          <p:cNvSpPr/>
          <p:nvPr/>
        </p:nvSpPr>
        <p:spPr>
          <a:xfrm>
            <a:off x="6108700" y="2398485"/>
            <a:ext cx="482600" cy="482600"/>
          </a:xfrm>
          <a:prstGeom prst="ellipse">
            <a:avLst/>
          </a:prstGeom>
          <a:solidFill>
            <a:srgbClr val="77CDBB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15170" y="2497291"/>
            <a:ext cx="26965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38" name="Oval 37"/>
          <p:cNvSpPr/>
          <p:nvPr/>
        </p:nvSpPr>
        <p:spPr>
          <a:xfrm>
            <a:off x="7487557" y="1906036"/>
            <a:ext cx="482600" cy="482600"/>
          </a:xfrm>
          <a:prstGeom prst="ellipse">
            <a:avLst/>
          </a:prstGeom>
          <a:solidFill>
            <a:srgbClr val="77CDBB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7590573" y="2004842"/>
            <a:ext cx="276567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40" name="Oval 39"/>
          <p:cNvSpPr/>
          <p:nvPr/>
        </p:nvSpPr>
        <p:spPr>
          <a:xfrm>
            <a:off x="7192087" y="3580363"/>
            <a:ext cx="482600" cy="482600"/>
          </a:xfrm>
          <a:prstGeom prst="ellipse">
            <a:avLst/>
          </a:prstGeom>
          <a:solidFill>
            <a:srgbClr val="77CDBB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297802" y="3679169"/>
            <a:ext cx="27117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42" name="Oval 41"/>
          <p:cNvSpPr/>
          <p:nvPr/>
        </p:nvSpPr>
        <p:spPr>
          <a:xfrm>
            <a:off x="9555842" y="2398485"/>
            <a:ext cx="482600" cy="4826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655296" y="2497291"/>
            <a:ext cx="283692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44" name="Oval 43"/>
          <p:cNvSpPr/>
          <p:nvPr/>
        </p:nvSpPr>
        <p:spPr>
          <a:xfrm>
            <a:off x="10934700" y="1906036"/>
            <a:ext cx="482600" cy="4826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1044840" y="2004842"/>
            <a:ext cx="262318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46" name="Oval 45"/>
          <p:cNvSpPr/>
          <p:nvPr/>
        </p:nvSpPr>
        <p:spPr>
          <a:xfrm>
            <a:off x="10639230" y="3580363"/>
            <a:ext cx="482600" cy="4826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10752609" y="3679169"/>
            <a:ext cx="255841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F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423391" y="4991100"/>
            <a:ext cx="2679217" cy="2921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DB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469111" y="5051298"/>
            <a:ext cx="2587777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B7B72"/>
                </a:solidFill>
                <a:latin typeface="Noto Sans SC"/>
                <a:ea typeface="Noto Sans SC"/>
              </a:rPr>
              <a:t>λ1 = λ2 = 0：排序只反映连通分量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30581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伪代码与数值自检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503426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06 · 谱二分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p9/11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5147" y="377952"/>
            <a:ext cx="811072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03:08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 1 行：构造 L，检查对称与行和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 2–3 行：特征分解；检查连通、简并、残差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 4–5 行：统一符号后排序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2726182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 6–7 行：扫描 n − 1 个位置，只在窗口内选最小 cut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53100" y="1574800"/>
            <a:ext cx="5715000" cy="3213100"/>
          </a:xfrm>
          <a:prstGeom prst="roundRect">
            <a:avLst>
              <a:gd name="adj" fmla="val 2371"/>
            </a:avLst>
          </a:prstGeom>
          <a:solidFill>
            <a:srgbClr val="0A1C1F"/>
          </a:solidFill>
          <a:ln w="12700">
            <a:solidFill>
              <a:srgbClr val="244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898832" y="1768983"/>
            <a:ext cx="154019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9027" y="1730120"/>
            <a:ext cx="234372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L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0529" y="1730120"/>
            <a:ext cx="2743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1979" y="1730120"/>
            <a:ext cx="297637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D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86746" y="1730120"/>
            <a:ext cx="198024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81901" y="1730120"/>
            <a:ext cx="245516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24548" y="1730120"/>
            <a:ext cx="14744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（检查对称、行和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6148" y="1730120"/>
            <a:ext cx="236429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29707" y="1730120"/>
            <a:ext cx="2743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98832" y="2188083"/>
            <a:ext cx="154019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89027" y="2149221"/>
            <a:ext cx="1608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(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46977" y="2149221"/>
            <a:ext cx="19751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41618" y="2149221"/>
            <a:ext cx="370674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, x)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9422" y="2149221"/>
            <a:ext cx="2743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80872" y="2149221"/>
            <a:ext cx="141274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9277" y="2149221"/>
            <a:ext cx="13030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特征分解，升序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98832" y="2607183"/>
            <a:ext cx="154019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89027" y="2568321"/>
            <a:ext cx="4457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检查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1927" y="2568321"/>
            <a:ext cx="141274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70332" y="2568321"/>
            <a:ext cx="14744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连通、简并、残差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98832" y="3026283"/>
            <a:ext cx="154019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89027" y="2987421"/>
            <a:ext cx="196996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f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83153" y="2987421"/>
            <a:ext cx="2743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54603" y="2987421"/>
            <a:ext cx="141274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3008" y="2987421"/>
            <a:ext cx="19751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λ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7648" y="2987421"/>
            <a:ext cx="236429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2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21208" y="2987421"/>
            <a:ext cx="19888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的特征向量（统一符号）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753100" y="3371850"/>
            <a:ext cx="5715000" cy="406400"/>
          </a:xfrm>
          <a:prstGeom prst="rect">
            <a:avLst/>
          </a:prstGeom>
          <a:solidFill>
            <a:srgbClr val="2A3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5753100" y="3371850"/>
            <a:ext cx="38100" cy="406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898832" y="3445383"/>
            <a:ext cx="154019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89027" y="3406521"/>
            <a:ext cx="579501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order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65658" y="3406521"/>
            <a:ext cx="2743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37108" y="3406521"/>
            <a:ext cx="141274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75513" y="3406521"/>
            <a:ext cx="2743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46963" y="3406521"/>
            <a:ext cx="23540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 f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79494" y="3406521"/>
            <a:ext cx="4457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升序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753100" y="3790950"/>
            <a:ext cx="5715000" cy="406400"/>
          </a:xfrm>
          <a:prstGeom prst="rect">
            <a:avLst/>
          </a:prstGeom>
          <a:solidFill>
            <a:srgbClr val="2A3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5753100" y="3790950"/>
            <a:ext cx="38100" cy="406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5898832" y="3864483"/>
            <a:ext cx="154019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89027" y="3825621"/>
            <a:ext cx="767581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for k = 1 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3739" y="3825621"/>
            <a:ext cx="2743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…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25189" y="3825621"/>
            <a:ext cx="245859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 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168178" y="3825621"/>
            <a:ext cx="198024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−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3333" y="3825621"/>
            <a:ext cx="198024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58487" y="3825621"/>
            <a:ext cx="6172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：计算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72837" y="3825621"/>
            <a:ext cx="397421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 cut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753100" y="4210050"/>
            <a:ext cx="5715000" cy="406400"/>
          </a:xfrm>
          <a:prstGeom prst="rect">
            <a:avLst/>
          </a:prstGeom>
          <a:solidFill>
            <a:srgbClr val="2A3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ectangle 65"/>
          <p:cNvSpPr/>
          <p:nvPr/>
        </p:nvSpPr>
        <p:spPr>
          <a:xfrm>
            <a:off x="5753100" y="4210050"/>
            <a:ext cx="38100" cy="406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5898832" y="4283583"/>
            <a:ext cx="154019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89027" y="4244721"/>
            <a:ext cx="960119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返回窗口内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046277" y="4244721"/>
            <a:ext cx="435825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 cut 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79233" y="4244721"/>
            <a:ext cx="6172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最小的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93583" y="4244721"/>
            <a:ext cx="235915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 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19913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局限与应用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503426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06 · 谱二分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1115" y="6499098"/>
            <a:ext cx="658914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p10/11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5147" y="377952"/>
            <a:ext cx="811072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03:26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给出好的初始二分，常交给 KL/FM 改进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未归一化 L；归一化变体会给出不同排序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2943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大规模用稀疏迭代求解（如 Lanczos）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27261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弹簧只是类比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9245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503426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06 · 谱二分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1115" y="6499098"/>
            <a:ext cx="658914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p11/11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1897380"/>
            <a:ext cx="10350500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3000" b="0">
                <a:solidFill>
                  <a:srgbClr val="D8BB78"/>
                </a:solidFill>
                <a:latin typeface="Noto Sans SC"/>
                <a:ea typeface="Noto Sans SC"/>
              </a:rPr>
              <a:t>L = D − A；Fiedler 向量给每个点一个数。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2782824"/>
            <a:ext cx="10280650" cy="3498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排序后扫描 n − 1 个切点，只在平衡窗口内选；翻号只交换左右。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3323209"/>
            <a:ext cx="10280650" cy="3498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下一模块：从这个二分出发，用成对交换继续改进。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06 谱二分</dc:title>
  <dc:subject/>
  <dc:creator>Learning Clustering（统一课程）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