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bisects a graph using information from the whole graph: build the Laplacian, take the second eigenvector to give each node a number, sort, and try every cut position inside a balance window.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bisection must state its conventions first: both groups non-empty, left and right not distinguished, plus a balance window. Five nodes have 15 non-empty, unlabelled splits; the original quiz’s 16 also counts the empty-group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Laplacian has each node’s degree on the diagonal and negative edge weights off it. Every edge contributes to four entries. Two self-checks: the matrix is symmetric, and every row sums to zero. This D is the degree matrix, not the inter-cluster delay D of Module 09.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 has one key property: x transpose L x equals the sum, over the edges, of the weight times the squared difference of the two ends. If x is only plus or minus one, each cut edge contributes 4w, so it equals four times the cut. Relax x to any real vector, and the optimum is the eigenvector of the second-smallest eigenvalue. You can picture the edges as springs, but that is only an analogy.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G01’s smallest eigenvalue is zero, and the second smallest is about 1.7733. Its eigenvector is the Fiedler vector. Two conditions: the graph must be connected, and λ2 must not be degenerate. Flipping the whole vector only swaps left and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Sorted by Fiedler value the order is E, D, C, B, A. Trying the four positions along the line gives cuts 6, 3, 5 and 6. The window allows only k equal to 2 and 3; take k equal to 2, with the smaller cut, giving DE versus ABC. Cutting right in the middle is worse.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corrections. First, with no balance constraint the optimum does not always isolate one node: here isolating a node cuts at least 6, while ABC versus DE cuts only 3. Second, the original page stores a three-decimal eigenvector; its residual of 0.0044 is rounding, but it is not recomputed when the graph changes. This course solves it live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graph is disconnected, each component contributes its own zero eigenvalue, so λ2 is zero too. Then the Fiedler vector only tells you who is in the same component. Check connectivity before using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pseudocode builds L and checks it, then does the eigendecomposition and checks connectivity, degeneracy and the residual, fixes the sign and sorts, and finally sweeps every position and takes the least cut inside the window.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Spectral bisection is often used to give a good initial bisection, which KL or FM then improves. This chapter uses the unnormalised L. Large problems need sparse iterative solvers. Springs are only an analogy to aid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build the Laplacian, and let the Fiedler vector give every point a number; sort, sweep every cut point, and take the least cut inside the balance window. A sign flip only swaps sides. The next module starts from this bisection and improves it with pairwise swaps.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 name="Connector 3"/>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6" name="TextBox 5"/>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p1/11</a:t>
            </a:r>
          </a:p>
        </p:txBody>
      </p:sp>
      <p:sp>
        <p:nvSpPr>
          <p:cNvPr id="7" name="TextBox 6"/>
          <p:cNvSpPr txBox="1"/>
          <p:nvPr/>
        </p:nvSpPr>
        <p:spPr>
          <a:xfrm>
            <a:off x="2094229" y="2310892"/>
            <a:ext cx="8003540" cy="891540"/>
          </a:xfrm>
          <a:prstGeom prst="rect">
            <a:avLst/>
          </a:prstGeom>
          <a:noFill/>
        </p:spPr>
        <p:txBody>
          <a:bodyPr wrap="none" lIns="0" rIns="0" tIns="0" bIns="0">
            <a:spAutoFit/>
          </a:bodyPr>
          <a:lstStyle/>
          <a:p>
            <a:pPr algn="ctr"/>
            <a:r>
              <a:rPr sz="5200" b="0">
                <a:solidFill>
                  <a:srgbClr val="D8BB78"/>
                </a:solidFill>
                <a:latin typeface="Noto Sans SC"/>
                <a:ea typeface="Noto Sans SC"/>
              </a:rPr>
              <a:t>A number for every point</a:t>
            </a:r>
          </a:p>
        </p:txBody>
      </p:sp>
      <p:sp>
        <p:nvSpPr>
          <p:cNvPr id="8" name="TextBox 7"/>
          <p:cNvSpPr txBox="1"/>
          <p:nvPr/>
        </p:nvSpPr>
        <p:spPr>
          <a:xfrm>
            <a:off x="2580004" y="3335782"/>
            <a:ext cx="7031990" cy="291465"/>
          </a:xfrm>
          <a:prstGeom prst="rect">
            <a:avLst/>
          </a:prstGeom>
          <a:noFill/>
        </p:spPr>
        <p:txBody>
          <a:bodyPr wrap="none" lIns="0" rIns="0" tIns="0" bIns="0">
            <a:spAutoFit/>
          </a:bodyPr>
          <a:lstStyle/>
          <a:p>
            <a:pPr algn="ctr"/>
            <a:r>
              <a:rPr sz="1700" b="0">
                <a:solidFill>
                  <a:srgbClr val="BCD2D0"/>
                </a:solidFill>
                <a:latin typeface="Noto Sans SC"/>
                <a:ea typeface="Noto Sans SC"/>
              </a:rPr>
              <a:t>Spectral bisection · the Laplacian, the Fiedler vector and the sweep</a:t>
            </a:r>
          </a:p>
        </p:txBody>
      </p:sp>
      <p:sp>
        <p:nvSpPr>
          <p:cNvPr id="9" name="TextBox 8"/>
          <p:cNvSpPr txBox="1"/>
          <p:nvPr/>
        </p:nvSpPr>
        <p:spPr>
          <a:xfrm>
            <a:off x="3359785" y="4136644"/>
            <a:ext cx="5472430" cy="240030"/>
          </a:xfrm>
          <a:prstGeom prst="rect">
            <a:avLst/>
          </a:prstGeom>
          <a:noFill/>
        </p:spPr>
        <p:txBody>
          <a:bodyPr wrap="none" lIns="0" rIns="0" tIns="0" bIns="0">
            <a:spAutoFit/>
          </a:bodyPr>
          <a:lstStyle/>
          <a:p>
            <a:pPr algn="ctr"/>
            <a:r>
              <a:rPr sz="1400" b="0">
                <a:solidFill>
                  <a:srgbClr val="6F8F8F"/>
                </a:solidFill>
                <a:latin typeface="Noto Sans SC"/>
                <a:ea typeface="Noto Sans SC"/>
              </a:rPr>
              <a:t>Learning Clustering · original author xingguangyaoyu (Issue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3533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problem</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p2/11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Both groups non-empty; left and right not distinguished</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5 nodes: (2</a:t>
            </a:r>
            <a:r>
              <a:rPr sz="1700" b="0" baseline="30000">
                <a:solidFill>
                  <a:srgbClr val="F2F3E9"/>
                </a:solidFill>
                <a:latin typeface="Noto Sans SC"/>
                <a:ea typeface="Noto Sans SC"/>
              </a:rPr>
              <a:t>5</a:t>
            </a:r>
            <a:r>
              <a:rPr sz="1700" b="0">
                <a:solidFill>
                  <a:srgbClr val="F2F3E9"/>
                </a:solidFill>
                <a:latin typeface="Noto Sans SC"/>
                <a:ea typeface="Noto Sans SC"/>
              </a:rPr>
              <a:t> − 2) ÷ 2 = 15 splits (not 16)</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Balance window: 40%–60% per group (here 2–3 a side)</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Output: the split, cut, Fiedler order, sweep table, numerical diagnostics</a:t>
            </a:r>
          </a:p>
        </p:txBody>
      </p:sp>
      <p:sp>
        <p:nvSpPr>
          <p:cNvPr id="17" name="Oval 16"/>
          <p:cNvSpPr/>
          <p:nvPr/>
        </p:nvSpPr>
        <p:spPr>
          <a:xfrm>
            <a:off x="711200" y="42058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4097147"/>
            <a:ext cx="4718050" cy="626110"/>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The spectral method gives a good candidate, not a guaranteed optimum</a:t>
            </a:r>
          </a:p>
        </p:txBody>
      </p:sp>
      <p:cxnSp>
        <p:nvCxnSpPr>
          <p:cNvPr id="19" name="Connector 18"/>
          <p:cNvCxnSpPr/>
          <p:nvPr/>
        </p:nvCxnSpPr>
        <p:spPr>
          <a:xfrm flipV="1">
            <a:off x="6833852" y="1651000"/>
            <a:ext cx="2125014" cy="144887"/>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739688" y="135600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64707" y="1364132"/>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2" name="Connector 21"/>
          <p:cNvCxnSpPr/>
          <p:nvPr/>
        </p:nvCxnSpPr>
        <p:spPr>
          <a:xfrm>
            <a:off x="6833852" y="1795887"/>
            <a:ext cx="1303986" cy="1642056"/>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458887" y="230674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83906" y="231487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5" name="Connector 24"/>
          <p:cNvCxnSpPr/>
          <p:nvPr/>
        </p:nvCxnSpPr>
        <p:spPr>
          <a:xfrm flipH="1">
            <a:off x="8137838" y="1651000"/>
            <a:ext cx="821028" cy="1786943"/>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540530" y="239270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65549" y="2400834"/>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28" name="Connector 27"/>
          <p:cNvCxnSpPr/>
          <p:nvPr/>
        </p:nvCxnSpPr>
        <p:spPr>
          <a:xfrm>
            <a:off x="8137838" y="3437943"/>
            <a:ext cx="2173309" cy="1014211"/>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142636" y="359155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67655" y="3599682"/>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1" name="Connector 30"/>
          <p:cNvCxnSpPr/>
          <p:nvPr/>
        </p:nvCxnSpPr>
        <p:spPr>
          <a:xfrm flipH="1">
            <a:off x="7896359" y="3437943"/>
            <a:ext cx="241479" cy="1642057"/>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021572" y="4065753"/>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046591" y="4073881"/>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4" name="Connector 33"/>
          <p:cNvCxnSpPr/>
          <p:nvPr/>
        </p:nvCxnSpPr>
        <p:spPr>
          <a:xfrm flipH="1">
            <a:off x="7896359" y="4452154"/>
            <a:ext cx="2414788" cy="627846"/>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995798" y="4698181"/>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20817" y="4706309"/>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37" name="Oval 36"/>
          <p:cNvSpPr/>
          <p:nvPr/>
        </p:nvSpPr>
        <p:spPr>
          <a:xfrm>
            <a:off x="6579852" y="1541887"/>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699232" y="1653393"/>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9" name="Oval 38"/>
          <p:cNvSpPr/>
          <p:nvPr/>
        </p:nvSpPr>
        <p:spPr>
          <a:xfrm>
            <a:off x="8704866" y="139700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821071" y="15085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1" name="Oval 40"/>
          <p:cNvSpPr/>
          <p:nvPr/>
        </p:nvSpPr>
        <p:spPr>
          <a:xfrm>
            <a:off x="7883838" y="3183943"/>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003218" y="3295449"/>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3" name="Oval 42"/>
          <p:cNvSpPr/>
          <p:nvPr/>
        </p:nvSpPr>
        <p:spPr>
          <a:xfrm>
            <a:off x="10057147" y="4198154"/>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70177" y="4309660"/>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5" name="Oval 44"/>
          <p:cNvSpPr/>
          <p:nvPr/>
        </p:nvSpPr>
        <p:spPr>
          <a:xfrm>
            <a:off x="7642359" y="482600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764914" y="49375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0043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Laplacian L = D − A</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p3/11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Diagonal: the degree (sum of incident edge weights)</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Off the diagonal: minus the edge weight; 0 where there is no edge</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Each edge contributes to four entries: ±w</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Self-check: L symmetric, every row sums to 0</a:t>
            </a:r>
          </a:p>
        </p:txBody>
      </p:sp>
      <p:sp>
        <p:nvSpPr>
          <p:cNvPr id="17" name="Oval 16"/>
          <p:cNvSpPr/>
          <p:nvPr/>
        </p:nvSpPr>
        <p:spPr>
          <a:xfrm>
            <a:off x="711200" y="38928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7840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Note: this D is the degree matrix, not the inter-cluster delay of Module 09</a:t>
            </a:r>
          </a:p>
        </p:txBody>
      </p:sp>
      <p:sp>
        <p:nvSpPr>
          <p:cNvPr id="19" name="TextBox 18"/>
          <p:cNvSpPr txBox="1"/>
          <p:nvPr/>
        </p:nvSpPr>
        <p:spPr>
          <a:xfrm>
            <a:off x="6602095" y="1368298"/>
            <a:ext cx="20701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A</a:t>
            </a:r>
          </a:p>
        </p:txBody>
      </p:sp>
      <p:sp>
        <p:nvSpPr>
          <p:cNvPr id="20" name="TextBox 19"/>
          <p:cNvSpPr txBox="1"/>
          <p:nvPr/>
        </p:nvSpPr>
        <p:spPr>
          <a:xfrm>
            <a:off x="6055995" y="1923542"/>
            <a:ext cx="20701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A</a:t>
            </a:r>
          </a:p>
        </p:txBody>
      </p:sp>
      <p:sp>
        <p:nvSpPr>
          <p:cNvPr id="21" name="TextBox 20"/>
          <p:cNvSpPr txBox="1"/>
          <p:nvPr/>
        </p:nvSpPr>
        <p:spPr>
          <a:xfrm>
            <a:off x="7310120" y="1368298"/>
            <a:ext cx="21336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B</a:t>
            </a:r>
          </a:p>
        </p:txBody>
      </p:sp>
      <p:sp>
        <p:nvSpPr>
          <p:cNvPr id="22" name="TextBox 21"/>
          <p:cNvSpPr txBox="1"/>
          <p:nvPr/>
        </p:nvSpPr>
        <p:spPr>
          <a:xfrm>
            <a:off x="6052820" y="2634742"/>
            <a:ext cx="21336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B</a:t>
            </a:r>
          </a:p>
        </p:txBody>
      </p:sp>
      <p:sp>
        <p:nvSpPr>
          <p:cNvPr id="23" name="TextBox 22"/>
          <p:cNvSpPr txBox="1"/>
          <p:nvPr/>
        </p:nvSpPr>
        <p:spPr>
          <a:xfrm>
            <a:off x="8024495" y="1368298"/>
            <a:ext cx="20701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C</a:t>
            </a:r>
          </a:p>
        </p:txBody>
      </p:sp>
      <p:sp>
        <p:nvSpPr>
          <p:cNvPr id="24" name="TextBox 23"/>
          <p:cNvSpPr txBox="1"/>
          <p:nvPr/>
        </p:nvSpPr>
        <p:spPr>
          <a:xfrm>
            <a:off x="6055995" y="3345942"/>
            <a:ext cx="20701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C</a:t>
            </a:r>
          </a:p>
        </p:txBody>
      </p:sp>
      <p:sp>
        <p:nvSpPr>
          <p:cNvPr id="25" name="TextBox 24"/>
          <p:cNvSpPr txBox="1"/>
          <p:nvPr/>
        </p:nvSpPr>
        <p:spPr>
          <a:xfrm>
            <a:off x="8729345" y="1368298"/>
            <a:ext cx="21971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D</a:t>
            </a:r>
          </a:p>
        </p:txBody>
      </p:sp>
      <p:sp>
        <p:nvSpPr>
          <p:cNvPr id="26" name="TextBox 25"/>
          <p:cNvSpPr txBox="1"/>
          <p:nvPr/>
        </p:nvSpPr>
        <p:spPr>
          <a:xfrm>
            <a:off x="6049645" y="4057142"/>
            <a:ext cx="21971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D</a:t>
            </a:r>
          </a:p>
        </p:txBody>
      </p:sp>
      <p:sp>
        <p:nvSpPr>
          <p:cNvPr id="27" name="TextBox 26"/>
          <p:cNvSpPr txBox="1"/>
          <p:nvPr/>
        </p:nvSpPr>
        <p:spPr>
          <a:xfrm>
            <a:off x="9450070" y="1368298"/>
            <a:ext cx="20066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E</a:t>
            </a:r>
          </a:p>
        </p:txBody>
      </p:sp>
      <p:sp>
        <p:nvSpPr>
          <p:cNvPr id="28" name="TextBox 27"/>
          <p:cNvSpPr txBox="1"/>
          <p:nvPr/>
        </p:nvSpPr>
        <p:spPr>
          <a:xfrm>
            <a:off x="6059170" y="4768342"/>
            <a:ext cx="200660" cy="222885"/>
          </a:xfrm>
          <a:prstGeom prst="rect">
            <a:avLst/>
          </a:prstGeom>
          <a:noFill/>
        </p:spPr>
        <p:txBody>
          <a:bodyPr wrap="none" lIns="0" rIns="0" tIns="0" bIns="0">
            <a:spAutoFit/>
          </a:bodyPr>
          <a:lstStyle/>
          <a:p>
            <a:pPr algn="ctr"/>
            <a:r>
              <a:rPr sz="1300" b="1">
                <a:solidFill>
                  <a:srgbClr val="BCD2D0"/>
                </a:solidFill>
                <a:latin typeface="Noto Sans SC"/>
                <a:ea typeface="Noto Sans SC"/>
              </a:rPr>
              <a:t>E</a:t>
            </a:r>
          </a:p>
        </p:txBody>
      </p:sp>
      <p:sp>
        <p:nvSpPr>
          <p:cNvPr id="29" name="Rounded Rectangle 28"/>
          <p:cNvSpPr/>
          <p:nvPr/>
        </p:nvSpPr>
        <p:spPr>
          <a:xfrm>
            <a:off x="6350000" y="16510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58280" y="1871726"/>
            <a:ext cx="256540" cy="291465"/>
          </a:xfrm>
          <a:prstGeom prst="rect">
            <a:avLst/>
          </a:prstGeom>
          <a:noFill/>
        </p:spPr>
        <p:txBody>
          <a:bodyPr wrap="none" lIns="0" rIns="0" tIns="0" bIns="0">
            <a:spAutoFit/>
          </a:bodyPr>
          <a:lstStyle/>
          <a:p>
            <a:pPr algn="ctr"/>
            <a:r>
              <a:rPr sz="1700" b="1">
                <a:solidFill>
                  <a:srgbClr val="D8BB78"/>
                </a:solidFill>
                <a:latin typeface="Noto Sans SC"/>
                <a:ea typeface="Noto Sans SC"/>
              </a:rPr>
              <a:t>6</a:t>
            </a:r>
          </a:p>
        </p:txBody>
      </p:sp>
      <p:sp>
        <p:nvSpPr>
          <p:cNvPr id="31" name="Rounded Rectangle 30"/>
          <p:cNvSpPr/>
          <p:nvPr/>
        </p:nvSpPr>
        <p:spPr>
          <a:xfrm>
            <a:off x="7061200" y="16510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212330" y="18717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−5</a:t>
            </a:r>
          </a:p>
        </p:txBody>
      </p:sp>
      <p:sp>
        <p:nvSpPr>
          <p:cNvPr id="33" name="Rounded Rectangle 32"/>
          <p:cNvSpPr/>
          <p:nvPr/>
        </p:nvSpPr>
        <p:spPr>
          <a:xfrm>
            <a:off x="7772400" y="16510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923530" y="18717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−1</a:t>
            </a:r>
          </a:p>
        </p:txBody>
      </p:sp>
      <p:sp>
        <p:nvSpPr>
          <p:cNvPr id="35" name="Rounded Rectangle 34"/>
          <p:cNvSpPr/>
          <p:nvPr/>
        </p:nvSpPr>
        <p:spPr>
          <a:xfrm>
            <a:off x="8483600" y="16510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695055" y="18717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37" name="Rounded Rectangle 36"/>
          <p:cNvSpPr/>
          <p:nvPr/>
        </p:nvSpPr>
        <p:spPr>
          <a:xfrm>
            <a:off x="9194800" y="16510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406255" y="18717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39" name="Rounded Rectangle 38"/>
          <p:cNvSpPr/>
          <p:nvPr/>
        </p:nvSpPr>
        <p:spPr>
          <a:xfrm>
            <a:off x="6350000" y="23622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501130" y="25829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−5</a:t>
            </a:r>
          </a:p>
        </p:txBody>
      </p:sp>
      <p:sp>
        <p:nvSpPr>
          <p:cNvPr id="41" name="Rounded Rectangle 40"/>
          <p:cNvSpPr/>
          <p:nvPr/>
        </p:nvSpPr>
        <p:spPr>
          <a:xfrm>
            <a:off x="7061200" y="23622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269480" y="2582926"/>
            <a:ext cx="256540" cy="291465"/>
          </a:xfrm>
          <a:prstGeom prst="rect">
            <a:avLst/>
          </a:prstGeom>
          <a:noFill/>
        </p:spPr>
        <p:txBody>
          <a:bodyPr wrap="none" lIns="0" rIns="0" tIns="0" bIns="0">
            <a:spAutoFit/>
          </a:bodyPr>
          <a:lstStyle/>
          <a:p>
            <a:pPr algn="ctr"/>
            <a:r>
              <a:rPr sz="1700" b="1">
                <a:solidFill>
                  <a:srgbClr val="D8BB78"/>
                </a:solidFill>
                <a:latin typeface="Noto Sans SC"/>
                <a:ea typeface="Noto Sans SC"/>
              </a:rPr>
              <a:t>9</a:t>
            </a:r>
          </a:p>
        </p:txBody>
      </p:sp>
      <p:sp>
        <p:nvSpPr>
          <p:cNvPr id="43" name="Rounded Rectangle 42"/>
          <p:cNvSpPr/>
          <p:nvPr/>
        </p:nvSpPr>
        <p:spPr>
          <a:xfrm>
            <a:off x="7772400" y="23622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923530" y="25829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−4</a:t>
            </a:r>
          </a:p>
        </p:txBody>
      </p:sp>
      <p:sp>
        <p:nvSpPr>
          <p:cNvPr id="45" name="Rounded Rectangle 44"/>
          <p:cNvSpPr/>
          <p:nvPr/>
        </p:nvSpPr>
        <p:spPr>
          <a:xfrm>
            <a:off x="8483600" y="23622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695055" y="25829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47" name="Rounded Rectangle 46"/>
          <p:cNvSpPr/>
          <p:nvPr/>
        </p:nvSpPr>
        <p:spPr>
          <a:xfrm>
            <a:off x="9194800" y="23622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406255" y="25829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49" name="Rounded Rectangle 48"/>
          <p:cNvSpPr/>
          <p:nvPr/>
        </p:nvSpPr>
        <p:spPr>
          <a:xfrm>
            <a:off x="6350000" y="30734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501130" y="32941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−1</a:t>
            </a:r>
          </a:p>
        </p:txBody>
      </p:sp>
      <p:sp>
        <p:nvSpPr>
          <p:cNvPr id="51" name="Rounded Rectangle 50"/>
          <p:cNvSpPr/>
          <p:nvPr/>
        </p:nvSpPr>
        <p:spPr>
          <a:xfrm>
            <a:off x="7061200" y="30734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212330" y="32941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−4</a:t>
            </a:r>
          </a:p>
        </p:txBody>
      </p:sp>
      <p:sp>
        <p:nvSpPr>
          <p:cNvPr id="53" name="Rounded Rectangle 52"/>
          <p:cNvSpPr/>
          <p:nvPr/>
        </p:nvSpPr>
        <p:spPr>
          <a:xfrm>
            <a:off x="7772400" y="30734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980680" y="3294126"/>
            <a:ext cx="256540" cy="291465"/>
          </a:xfrm>
          <a:prstGeom prst="rect">
            <a:avLst/>
          </a:prstGeom>
          <a:noFill/>
        </p:spPr>
        <p:txBody>
          <a:bodyPr wrap="none" lIns="0" rIns="0" tIns="0" bIns="0">
            <a:spAutoFit/>
          </a:bodyPr>
          <a:lstStyle/>
          <a:p>
            <a:pPr algn="ctr"/>
            <a:r>
              <a:rPr sz="1700" b="1">
                <a:solidFill>
                  <a:srgbClr val="D8BB78"/>
                </a:solidFill>
                <a:latin typeface="Noto Sans SC"/>
                <a:ea typeface="Noto Sans SC"/>
              </a:rPr>
              <a:t>8</a:t>
            </a:r>
          </a:p>
        </p:txBody>
      </p:sp>
      <p:sp>
        <p:nvSpPr>
          <p:cNvPr id="55" name="Rounded Rectangle 54"/>
          <p:cNvSpPr/>
          <p:nvPr/>
        </p:nvSpPr>
        <p:spPr>
          <a:xfrm>
            <a:off x="8483600" y="30734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8634730" y="32941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−2</a:t>
            </a:r>
          </a:p>
        </p:txBody>
      </p:sp>
      <p:sp>
        <p:nvSpPr>
          <p:cNvPr id="57" name="Rounded Rectangle 56"/>
          <p:cNvSpPr/>
          <p:nvPr/>
        </p:nvSpPr>
        <p:spPr>
          <a:xfrm>
            <a:off x="9194800" y="30734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9345930" y="32941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−1</a:t>
            </a:r>
          </a:p>
        </p:txBody>
      </p:sp>
      <p:sp>
        <p:nvSpPr>
          <p:cNvPr id="59" name="Rounded Rectangle 58"/>
          <p:cNvSpPr/>
          <p:nvPr/>
        </p:nvSpPr>
        <p:spPr>
          <a:xfrm>
            <a:off x="6350000" y="37846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561455" y="40053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61" name="Rounded Rectangle 60"/>
          <p:cNvSpPr/>
          <p:nvPr/>
        </p:nvSpPr>
        <p:spPr>
          <a:xfrm>
            <a:off x="7061200" y="37846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272655" y="40053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63" name="Rounded Rectangle 62"/>
          <p:cNvSpPr/>
          <p:nvPr/>
        </p:nvSpPr>
        <p:spPr>
          <a:xfrm>
            <a:off x="7772400" y="37846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923530" y="40053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−2</a:t>
            </a:r>
          </a:p>
        </p:txBody>
      </p:sp>
      <p:sp>
        <p:nvSpPr>
          <p:cNvPr id="65" name="Rounded Rectangle 64"/>
          <p:cNvSpPr/>
          <p:nvPr/>
        </p:nvSpPr>
        <p:spPr>
          <a:xfrm>
            <a:off x="8483600" y="37846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691880" y="4005326"/>
            <a:ext cx="256540" cy="291465"/>
          </a:xfrm>
          <a:prstGeom prst="rect">
            <a:avLst/>
          </a:prstGeom>
          <a:noFill/>
        </p:spPr>
        <p:txBody>
          <a:bodyPr wrap="none" lIns="0" rIns="0" tIns="0" bIns="0">
            <a:spAutoFit/>
          </a:bodyPr>
          <a:lstStyle/>
          <a:p>
            <a:pPr algn="ctr"/>
            <a:r>
              <a:rPr sz="1700" b="1">
                <a:solidFill>
                  <a:srgbClr val="D8BB78"/>
                </a:solidFill>
                <a:latin typeface="Noto Sans SC"/>
                <a:ea typeface="Noto Sans SC"/>
              </a:rPr>
              <a:t>7</a:t>
            </a:r>
          </a:p>
        </p:txBody>
      </p:sp>
      <p:sp>
        <p:nvSpPr>
          <p:cNvPr id="67" name="Rounded Rectangle 66"/>
          <p:cNvSpPr/>
          <p:nvPr/>
        </p:nvSpPr>
        <p:spPr>
          <a:xfrm>
            <a:off x="9194800" y="37846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345930" y="40053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−5</a:t>
            </a:r>
          </a:p>
        </p:txBody>
      </p:sp>
      <p:sp>
        <p:nvSpPr>
          <p:cNvPr id="69" name="Rounded Rectangle 68"/>
          <p:cNvSpPr/>
          <p:nvPr/>
        </p:nvSpPr>
        <p:spPr>
          <a:xfrm>
            <a:off x="6350000" y="44958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6561455" y="47165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71" name="Rounded Rectangle 70"/>
          <p:cNvSpPr/>
          <p:nvPr/>
        </p:nvSpPr>
        <p:spPr>
          <a:xfrm>
            <a:off x="7061200" y="44958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7272655" y="4716526"/>
            <a:ext cx="250190" cy="291465"/>
          </a:xfrm>
          <a:prstGeom prst="rect">
            <a:avLst/>
          </a:prstGeom>
          <a:noFill/>
        </p:spPr>
        <p:txBody>
          <a:bodyPr wrap="none" lIns="0" rIns="0" tIns="0" bIns="0">
            <a:spAutoFit/>
          </a:bodyPr>
          <a:lstStyle/>
          <a:p>
            <a:pPr algn="ctr"/>
            <a:r>
              <a:rPr sz="1700" b="0">
                <a:solidFill>
                  <a:srgbClr val="6F8F8F"/>
                </a:solidFill>
                <a:latin typeface="Noto Sans SC"/>
                <a:ea typeface="Noto Sans SC"/>
              </a:rPr>
              <a:t>0</a:t>
            </a:r>
          </a:p>
        </p:txBody>
      </p:sp>
      <p:sp>
        <p:nvSpPr>
          <p:cNvPr id="73" name="Rounded Rectangle 72"/>
          <p:cNvSpPr/>
          <p:nvPr/>
        </p:nvSpPr>
        <p:spPr>
          <a:xfrm>
            <a:off x="7772400" y="44958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7923530" y="47165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−1</a:t>
            </a:r>
          </a:p>
        </p:txBody>
      </p:sp>
      <p:sp>
        <p:nvSpPr>
          <p:cNvPr id="75" name="Rounded Rectangle 74"/>
          <p:cNvSpPr/>
          <p:nvPr/>
        </p:nvSpPr>
        <p:spPr>
          <a:xfrm>
            <a:off x="8483600" y="44958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8634730" y="4716526"/>
            <a:ext cx="370840" cy="291465"/>
          </a:xfrm>
          <a:prstGeom prst="rect">
            <a:avLst/>
          </a:prstGeom>
          <a:noFill/>
        </p:spPr>
        <p:txBody>
          <a:bodyPr wrap="none" lIns="0" rIns="0" tIns="0" bIns="0">
            <a:spAutoFit/>
          </a:bodyPr>
          <a:lstStyle/>
          <a:p>
            <a:pPr algn="ctr"/>
            <a:r>
              <a:rPr sz="1700" b="0">
                <a:solidFill>
                  <a:srgbClr val="F2F3E9"/>
                </a:solidFill>
                <a:latin typeface="Noto Sans SC"/>
                <a:ea typeface="Noto Sans SC"/>
              </a:rPr>
              <a:t>−5</a:t>
            </a:r>
          </a:p>
        </p:txBody>
      </p:sp>
      <p:sp>
        <p:nvSpPr>
          <p:cNvPr id="77" name="Rounded Rectangle 76"/>
          <p:cNvSpPr/>
          <p:nvPr/>
        </p:nvSpPr>
        <p:spPr>
          <a:xfrm>
            <a:off x="9194800" y="4495800"/>
            <a:ext cx="673100" cy="673100"/>
          </a:xfrm>
          <a:prstGeom prst="roundRect">
            <a:avLst>
              <a:gd name="adj" fmla="val 7547"/>
            </a:avLst>
          </a:prstGeom>
          <a:solidFill>
            <a:srgbClr val="0D272D"/>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9403080" y="4716526"/>
            <a:ext cx="256540" cy="291465"/>
          </a:xfrm>
          <a:prstGeom prst="rect">
            <a:avLst/>
          </a:prstGeom>
          <a:noFill/>
        </p:spPr>
        <p:txBody>
          <a:bodyPr wrap="none" lIns="0" rIns="0" tIns="0" bIns="0">
            <a:spAutoFit/>
          </a:bodyPr>
          <a:lstStyle/>
          <a:p>
            <a:pPr algn="ctr"/>
            <a:r>
              <a:rPr sz="1700" b="1">
                <a:solidFill>
                  <a:srgbClr val="D8BB78"/>
                </a:solidFill>
                <a:latin typeface="Noto Sans SC"/>
                <a:ea typeface="Noto Sans SC"/>
              </a:rPr>
              <a:t>6</a:t>
            </a:r>
          </a:p>
        </p:txBody>
      </p:sp>
      <p:sp>
        <p:nvSpPr>
          <p:cNvPr id="79" name="TextBox 78"/>
          <p:cNvSpPr txBox="1"/>
          <p:nvPr/>
        </p:nvSpPr>
        <p:spPr>
          <a:xfrm>
            <a:off x="10024745" y="1927098"/>
            <a:ext cx="930910" cy="222885"/>
          </a:xfrm>
          <a:prstGeom prst="rect">
            <a:avLst/>
          </a:prstGeom>
          <a:noFill/>
        </p:spPr>
        <p:txBody>
          <a:bodyPr wrap="none" lIns="0" rIns="0" tIns="0" bIns="0">
            <a:spAutoFit/>
          </a:bodyPr>
          <a:lstStyle/>
          <a:p>
            <a:pPr algn="l"/>
            <a:r>
              <a:rPr sz="1300" b="1">
                <a:solidFill>
                  <a:srgbClr val="77CDBB"/>
                </a:solidFill>
                <a:latin typeface="Noto Sans SC"/>
                <a:ea typeface="Noto Sans SC"/>
              </a:rPr>
              <a:t>row sum 0</a:t>
            </a:r>
          </a:p>
        </p:txBody>
      </p:sp>
      <p:sp>
        <p:nvSpPr>
          <p:cNvPr id="80" name="TextBox 79"/>
          <p:cNvSpPr txBox="1"/>
          <p:nvPr/>
        </p:nvSpPr>
        <p:spPr>
          <a:xfrm>
            <a:off x="10024745" y="2638298"/>
            <a:ext cx="930910" cy="222885"/>
          </a:xfrm>
          <a:prstGeom prst="rect">
            <a:avLst/>
          </a:prstGeom>
          <a:noFill/>
        </p:spPr>
        <p:txBody>
          <a:bodyPr wrap="none" lIns="0" rIns="0" tIns="0" bIns="0">
            <a:spAutoFit/>
          </a:bodyPr>
          <a:lstStyle/>
          <a:p>
            <a:pPr algn="l"/>
            <a:r>
              <a:rPr sz="1300" b="1">
                <a:solidFill>
                  <a:srgbClr val="77CDBB"/>
                </a:solidFill>
                <a:latin typeface="Noto Sans SC"/>
                <a:ea typeface="Noto Sans SC"/>
              </a:rPr>
              <a:t>row sum 0</a:t>
            </a:r>
          </a:p>
        </p:txBody>
      </p:sp>
      <p:sp>
        <p:nvSpPr>
          <p:cNvPr id="81" name="TextBox 80"/>
          <p:cNvSpPr txBox="1"/>
          <p:nvPr/>
        </p:nvSpPr>
        <p:spPr>
          <a:xfrm>
            <a:off x="10024745" y="3349498"/>
            <a:ext cx="930910" cy="222885"/>
          </a:xfrm>
          <a:prstGeom prst="rect">
            <a:avLst/>
          </a:prstGeom>
          <a:noFill/>
        </p:spPr>
        <p:txBody>
          <a:bodyPr wrap="none" lIns="0" rIns="0" tIns="0" bIns="0">
            <a:spAutoFit/>
          </a:bodyPr>
          <a:lstStyle/>
          <a:p>
            <a:pPr algn="l"/>
            <a:r>
              <a:rPr sz="1300" b="1">
                <a:solidFill>
                  <a:srgbClr val="77CDBB"/>
                </a:solidFill>
                <a:latin typeface="Noto Sans SC"/>
                <a:ea typeface="Noto Sans SC"/>
              </a:rPr>
              <a:t>row sum 0</a:t>
            </a:r>
          </a:p>
        </p:txBody>
      </p:sp>
      <p:sp>
        <p:nvSpPr>
          <p:cNvPr id="82" name="TextBox 81"/>
          <p:cNvSpPr txBox="1"/>
          <p:nvPr/>
        </p:nvSpPr>
        <p:spPr>
          <a:xfrm>
            <a:off x="10024745" y="4060698"/>
            <a:ext cx="930910" cy="222885"/>
          </a:xfrm>
          <a:prstGeom prst="rect">
            <a:avLst/>
          </a:prstGeom>
          <a:noFill/>
        </p:spPr>
        <p:txBody>
          <a:bodyPr wrap="none" lIns="0" rIns="0" tIns="0" bIns="0">
            <a:spAutoFit/>
          </a:bodyPr>
          <a:lstStyle/>
          <a:p>
            <a:pPr algn="l"/>
            <a:r>
              <a:rPr sz="1300" b="1">
                <a:solidFill>
                  <a:srgbClr val="77CDBB"/>
                </a:solidFill>
                <a:latin typeface="Noto Sans SC"/>
                <a:ea typeface="Noto Sans SC"/>
              </a:rPr>
              <a:t>row sum 0</a:t>
            </a:r>
          </a:p>
        </p:txBody>
      </p:sp>
      <p:sp>
        <p:nvSpPr>
          <p:cNvPr id="83" name="TextBox 82"/>
          <p:cNvSpPr txBox="1"/>
          <p:nvPr/>
        </p:nvSpPr>
        <p:spPr>
          <a:xfrm>
            <a:off x="10024745" y="4771898"/>
            <a:ext cx="930910" cy="222885"/>
          </a:xfrm>
          <a:prstGeom prst="rect">
            <a:avLst/>
          </a:prstGeom>
          <a:noFill/>
        </p:spPr>
        <p:txBody>
          <a:bodyPr wrap="none" lIns="0" rIns="0" tIns="0" bIns="0">
            <a:spAutoFit/>
          </a:bodyPr>
          <a:lstStyle/>
          <a:p>
            <a:pPr algn="l"/>
            <a:r>
              <a:rPr sz="1300" b="1">
                <a:solidFill>
                  <a:srgbClr val="77CDBB"/>
                </a:solidFill>
                <a:latin typeface="Noto Sans SC"/>
                <a:ea typeface="Noto Sans SC"/>
              </a:rPr>
              <a:t>row sum 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1081786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quadratic form: why tightly linked points get close numbers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p4/11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x</a:t>
            </a:r>
            <a:r>
              <a:rPr sz="1700" b="0" baseline="30000">
                <a:solidFill>
                  <a:srgbClr val="F2F3E9"/>
                </a:solidFill>
                <a:latin typeface="Noto Sans SC"/>
                <a:ea typeface="Noto Sans SC"/>
              </a:rPr>
              <a:t>T</a:t>
            </a:r>
            <a:r>
              <a:rPr sz="1700" b="0">
                <a:solidFill>
                  <a:srgbClr val="F2F3E9"/>
                </a:solidFill>
                <a:latin typeface="Noto Sans SC"/>
                <a:ea typeface="Noto Sans SC"/>
              </a:rPr>
              <a:t>Lx = Σ w(u,v)·(x_u − x_v)</a:t>
            </a:r>
            <a:r>
              <a:rPr sz="1700" b="0" baseline="30000">
                <a:solidFill>
                  <a:srgbClr val="F2F3E9"/>
                </a:solidFill>
                <a:latin typeface="Noto Sans SC"/>
                <a:ea typeface="Noto Sans SC"/>
              </a:rPr>
              <a:t>2</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With x = ±1: a cut edge contributes 4w → x</a:t>
            </a:r>
            <a:r>
              <a:rPr sz="1700" b="0" baseline="30000">
                <a:solidFill>
                  <a:srgbClr val="F2F3E9"/>
                </a:solidFill>
                <a:latin typeface="Noto Sans SC"/>
                <a:ea typeface="Noto Sans SC"/>
              </a:rPr>
              <a:t>T</a:t>
            </a:r>
            <a:r>
              <a:rPr sz="1700" b="0">
                <a:solidFill>
                  <a:srgbClr val="F2F3E9"/>
                </a:solidFill>
                <a:latin typeface="Noto Sans SC"/>
                <a:ea typeface="Noto Sans SC"/>
              </a:rPr>
              <a:t>Lx = 4 × cut</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Relax: x any real vector, orthogonal to all-ones</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relaxed optimum: the eigenvector of the second-smallest eigenvalue</a:t>
            </a:r>
          </a:p>
        </p:txBody>
      </p:sp>
      <p:sp>
        <p:nvSpPr>
          <p:cNvPr id="17" name="Oval 16"/>
          <p:cNvSpPr/>
          <p:nvPr/>
        </p:nvSpPr>
        <p:spPr>
          <a:xfrm>
            <a:off x="711200" y="42058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4097147"/>
            <a:ext cx="4718050" cy="626110"/>
          </a:xfrm>
          <a:prstGeom prst="rect">
            <a:avLst/>
          </a:prstGeom>
          <a:noFill/>
        </p:spPr>
        <p:txBody>
          <a:bodyPr wrap="square" lIns="0" rIns="0" tIns="0" bIns="0">
            <a:spAutoFit/>
          </a:bodyPr>
          <a:lstStyle/>
          <a:p>
            <a:pPr algn="l">
              <a:lnSpc>
                <a:spcPct val="121800"/>
              </a:lnSpc>
            </a:pPr>
            <a:r>
              <a:rPr sz="1700" b="0">
                <a:solidFill>
                  <a:srgbClr val="BCD2D0"/>
                </a:solidFill>
                <a:latin typeface="Noto Sans SC"/>
                <a:ea typeface="Noto Sans SC"/>
              </a:rPr>
              <a:t>Springs are only an analogy; this page runs no physical simulation</a:t>
            </a:r>
          </a:p>
        </p:txBody>
      </p:sp>
      <p:cxnSp>
        <p:nvCxnSpPr>
          <p:cNvPr id="19" name="Connector 18"/>
          <p:cNvCxnSpPr/>
          <p:nvPr/>
        </p:nvCxnSpPr>
        <p:spPr>
          <a:xfrm flipV="1">
            <a:off x="6962640" y="1651000"/>
            <a:ext cx="1967606" cy="134154"/>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789772" y="135063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14791" y="135876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2" name="Connector 21"/>
          <p:cNvCxnSpPr/>
          <p:nvPr/>
        </p:nvCxnSpPr>
        <p:spPr>
          <a:xfrm>
            <a:off x="6962640" y="1785154"/>
            <a:ext cx="1207395" cy="1520423"/>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539380" y="2235199"/>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564399" y="2243327"/>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5" name="Connector 24"/>
          <p:cNvCxnSpPr/>
          <p:nvPr/>
        </p:nvCxnSpPr>
        <p:spPr>
          <a:xfrm flipH="1">
            <a:off x="8170035" y="1651000"/>
            <a:ext cx="760211" cy="1654577"/>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542319" y="2326523"/>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67338" y="2334651"/>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28" name="Connector 27"/>
          <p:cNvCxnSpPr/>
          <p:nvPr/>
        </p:nvCxnSpPr>
        <p:spPr>
          <a:xfrm>
            <a:off x="8170035" y="3305577"/>
            <a:ext cx="2012324" cy="939084"/>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094340" y="342162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19359" y="342975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1" name="Connector 30"/>
          <p:cNvCxnSpPr/>
          <p:nvPr/>
        </p:nvCxnSpPr>
        <p:spPr>
          <a:xfrm flipH="1">
            <a:off x="7946443" y="3305577"/>
            <a:ext cx="223592" cy="152042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062713" y="3872570"/>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087732" y="3880698"/>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4" name="Connector 33"/>
          <p:cNvCxnSpPr/>
          <p:nvPr/>
        </p:nvCxnSpPr>
        <p:spPr>
          <a:xfrm flipH="1">
            <a:off x="7946443" y="4244661"/>
            <a:ext cx="2235916" cy="581339"/>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956446" y="446743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81465" y="447556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37" name="Oval 36"/>
          <p:cNvSpPr/>
          <p:nvPr/>
        </p:nvSpPr>
        <p:spPr>
          <a:xfrm>
            <a:off x="6708640" y="1531154"/>
            <a:ext cx="508000" cy="5080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828020" y="1642660"/>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9" name="Oval 38"/>
          <p:cNvSpPr/>
          <p:nvPr/>
        </p:nvSpPr>
        <p:spPr>
          <a:xfrm>
            <a:off x="8676246" y="1397000"/>
            <a:ext cx="508000" cy="5080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792451" y="15085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1" name="Oval 40"/>
          <p:cNvSpPr/>
          <p:nvPr/>
        </p:nvSpPr>
        <p:spPr>
          <a:xfrm>
            <a:off x="7916035" y="3051577"/>
            <a:ext cx="508000" cy="5080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035415" y="3163083"/>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3" name="Oval 42"/>
          <p:cNvSpPr/>
          <p:nvPr/>
        </p:nvSpPr>
        <p:spPr>
          <a:xfrm>
            <a:off x="9928359" y="3990661"/>
            <a:ext cx="508000" cy="5080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41389" y="4102167"/>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5" name="Oval 44"/>
          <p:cNvSpPr/>
          <p:nvPr/>
        </p:nvSpPr>
        <p:spPr>
          <a:xfrm>
            <a:off x="7692443" y="4572000"/>
            <a:ext cx="508000" cy="5080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814998" y="46835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47" name="TextBox 46"/>
          <p:cNvSpPr txBox="1"/>
          <p:nvPr/>
        </p:nvSpPr>
        <p:spPr>
          <a:xfrm>
            <a:off x="7167245" y="5229098"/>
            <a:ext cx="2810510" cy="222885"/>
          </a:xfrm>
          <a:prstGeom prst="rect">
            <a:avLst/>
          </a:prstGeom>
          <a:noFill/>
        </p:spPr>
        <p:txBody>
          <a:bodyPr wrap="none" lIns="0" rIns="0" tIns="0" bIns="0">
            <a:spAutoFit/>
          </a:bodyPr>
          <a:lstStyle/>
          <a:p>
            <a:pPr algn="ctr"/>
            <a:r>
              <a:rPr sz="1300" b="0">
                <a:solidFill>
                  <a:srgbClr val="BCD2D0"/>
                </a:solidFill>
                <a:latin typeface="Noto Sans SC"/>
                <a:ea typeface="Noto Sans SC"/>
              </a:rPr>
              <a:t>teal = +1 (A, B, C)  ·  blue = −1 (D, E)</a:t>
            </a:r>
          </a:p>
        </p:txBody>
      </p:sp>
      <p:sp>
        <p:nvSpPr>
          <p:cNvPr id="48" name="Rounded Rectangle 47"/>
          <p:cNvSpPr/>
          <p:nvPr/>
        </p:nvSpPr>
        <p:spPr>
          <a:xfrm>
            <a:off x="7734300" y="5689600"/>
            <a:ext cx="1676400" cy="2921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780020" y="5749798"/>
            <a:ext cx="158496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x</a:t>
            </a:r>
            <a:r>
              <a:rPr sz="1300" b="1" baseline="30000">
                <a:solidFill>
                  <a:srgbClr val="D8BB78"/>
                </a:solidFill>
                <a:latin typeface="Noto Sans SC"/>
                <a:ea typeface="Noto Sans SC"/>
              </a:rPr>
              <a:t>T</a:t>
            </a:r>
            <a:r>
              <a:rPr sz="1300" b="1">
                <a:solidFill>
                  <a:srgbClr val="D8BB78"/>
                </a:solidFill>
                <a:latin typeface="Noto Sans SC"/>
                <a:ea typeface="Noto Sans SC"/>
              </a:rPr>
              <a:t>Lx = 4 × cut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62522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Fiedler vector and its conditions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p5/11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λ1 = 0 (the all-ones vector); λ2 ≈ 1.7733</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Fiedler vector: A 0.519, B 0.418, C 0.106, D −0.489, E −0.553</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Conditions: the graph is connected; λ2 is not degenerate</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Sign flip: −x is an eigenvector too, and only swaps sides</a:t>
            </a:r>
          </a:p>
        </p:txBody>
      </p:sp>
      <p:cxnSp>
        <p:nvCxnSpPr>
          <p:cNvPr id="17" name="Connector 16"/>
          <p:cNvCxnSpPr/>
          <p:nvPr/>
        </p:nvCxnSpPr>
        <p:spPr>
          <a:xfrm>
            <a:off x="6032500" y="2667000"/>
            <a:ext cx="5334000" cy="0"/>
          </a:xfrm>
          <a:prstGeom prst="line">
            <a:avLst/>
          </a:prstGeom>
          <a:ln w="19050">
            <a:solidFill>
              <a:srgbClr val="5D7C8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007100" y="2451100"/>
            <a:ext cx="431800" cy="4318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15685" y="2549652"/>
            <a:ext cx="21462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E</a:t>
            </a:r>
          </a:p>
        </p:txBody>
      </p:sp>
      <p:sp>
        <p:nvSpPr>
          <p:cNvPr id="20" name="TextBox 19"/>
          <p:cNvSpPr txBox="1"/>
          <p:nvPr/>
        </p:nvSpPr>
        <p:spPr>
          <a:xfrm>
            <a:off x="5964555" y="2905252"/>
            <a:ext cx="51689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-0.553</a:t>
            </a:r>
          </a:p>
        </p:txBody>
      </p:sp>
      <p:cxnSp>
        <p:nvCxnSpPr>
          <p:cNvPr id="21" name="Connector 20"/>
          <p:cNvCxnSpPr/>
          <p:nvPr/>
        </p:nvCxnSpPr>
        <p:spPr>
          <a:xfrm>
            <a:off x="6520658" y="2364740"/>
            <a:ext cx="0" cy="302260"/>
          </a:xfrm>
          <a:prstGeom prst="line">
            <a:avLst/>
          </a:prstGeom>
          <a:ln w="12700">
            <a:solidFill>
              <a:srgbClr val="5D7C8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488908" y="2635250"/>
            <a:ext cx="63500" cy="63500"/>
          </a:xfrm>
          <a:prstGeom prst="ellipse">
            <a:avLst/>
          </a:prstGeom>
          <a:solidFill>
            <a:srgbClr val="5D7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04758" y="1932939"/>
            <a:ext cx="431800" cy="4318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3818" y="2031491"/>
            <a:ext cx="23367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D</a:t>
            </a:r>
          </a:p>
        </p:txBody>
      </p:sp>
      <p:sp>
        <p:nvSpPr>
          <p:cNvPr id="25" name="TextBox 24"/>
          <p:cNvSpPr txBox="1"/>
          <p:nvPr/>
        </p:nvSpPr>
        <p:spPr>
          <a:xfrm>
            <a:off x="6262213" y="3083052"/>
            <a:ext cx="51689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-0.489</a:t>
            </a:r>
          </a:p>
        </p:txBody>
      </p:sp>
      <p:sp>
        <p:nvSpPr>
          <p:cNvPr id="26" name="Oval 25"/>
          <p:cNvSpPr/>
          <p:nvPr/>
        </p:nvSpPr>
        <p:spPr>
          <a:xfrm>
            <a:off x="9051161" y="2451100"/>
            <a:ext cx="431800" cy="4318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56571" y="2549652"/>
            <a:ext cx="22097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C</a:t>
            </a:r>
          </a:p>
        </p:txBody>
      </p:sp>
      <p:sp>
        <p:nvSpPr>
          <p:cNvPr id="28" name="TextBox 27"/>
          <p:cNvSpPr txBox="1"/>
          <p:nvPr/>
        </p:nvSpPr>
        <p:spPr>
          <a:xfrm>
            <a:off x="8992741" y="2905252"/>
            <a:ext cx="54864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+0.106</a:t>
            </a:r>
          </a:p>
        </p:txBody>
      </p:sp>
      <p:sp>
        <p:nvSpPr>
          <p:cNvPr id="29" name="Oval 28"/>
          <p:cNvSpPr/>
          <p:nvPr/>
        </p:nvSpPr>
        <p:spPr>
          <a:xfrm>
            <a:off x="10491713" y="2451100"/>
            <a:ext cx="431800" cy="4318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593948" y="2549652"/>
            <a:ext cx="22732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B</a:t>
            </a:r>
          </a:p>
        </p:txBody>
      </p:sp>
      <p:sp>
        <p:nvSpPr>
          <p:cNvPr id="31" name="TextBox 30"/>
          <p:cNvSpPr txBox="1"/>
          <p:nvPr/>
        </p:nvSpPr>
        <p:spPr>
          <a:xfrm>
            <a:off x="10433293" y="3083052"/>
            <a:ext cx="54864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+0.418</a:t>
            </a:r>
          </a:p>
        </p:txBody>
      </p:sp>
      <p:cxnSp>
        <p:nvCxnSpPr>
          <p:cNvPr id="32" name="Connector 31"/>
          <p:cNvCxnSpPr/>
          <p:nvPr/>
        </p:nvCxnSpPr>
        <p:spPr>
          <a:xfrm>
            <a:off x="11176000" y="2364740"/>
            <a:ext cx="0" cy="302260"/>
          </a:xfrm>
          <a:prstGeom prst="line">
            <a:avLst/>
          </a:prstGeom>
          <a:ln w="12700">
            <a:solidFill>
              <a:srgbClr val="5D7C80"/>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1144250" y="2635250"/>
            <a:ext cx="63500" cy="63500"/>
          </a:xfrm>
          <a:prstGeom prst="ellipse">
            <a:avLst/>
          </a:prstGeom>
          <a:solidFill>
            <a:srgbClr val="5D7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960100" y="1932939"/>
            <a:ext cx="431800" cy="4318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065510" y="2031491"/>
            <a:ext cx="22097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A</a:t>
            </a:r>
          </a:p>
        </p:txBody>
      </p:sp>
      <p:sp>
        <p:nvSpPr>
          <p:cNvPr id="36" name="TextBox 35"/>
          <p:cNvSpPr txBox="1"/>
          <p:nvPr/>
        </p:nvSpPr>
        <p:spPr>
          <a:xfrm>
            <a:off x="10901680" y="2905252"/>
            <a:ext cx="54864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+0.519</a:t>
            </a:r>
          </a:p>
        </p:txBody>
      </p:sp>
      <p:sp>
        <p:nvSpPr>
          <p:cNvPr id="37" name="TextBox 36"/>
          <p:cNvSpPr txBox="1"/>
          <p:nvPr/>
        </p:nvSpPr>
        <p:spPr>
          <a:xfrm>
            <a:off x="6214110" y="3882644"/>
            <a:ext cx="3275329" cy="240030"/>
          </a:xfrm>
          <a:prstGeom prst="rect">
            <a:avLst/>
          </a:prstGeom>
          <a:noFill/>
        </p:spPr>
        <p:txBody>
          <a:bodyPr wrap="none" lIns="0" rIns="0" tIns="0" bIns="0">
            <a:spAutoFit/>
          </a:bodyPr>
          <a:lstStyle/>
          <a:p>
            <a:pPr algn="l"/>
            <a:r>
              <a:rPr sz="1400" b="0">
                <a:solidFill>
                  <a:srgbClr val="F2F3E9"/>
                </a:solidFill>
                <a:latin typeface="Noto Sans SC"/>
                <a:ea typeface="Noto Sans SC"/>
              </a:rPr>
              <a:t>λ = 0, 1.7733, 8.4551, 11.6053, 14.1663</a:t>
            </a:r>
          </a:p>
        </p:txBody>
      </p:sp>
      <p:sp>
        <p:nvSpPr>
          <p:cNvPr id="38" name="TextBox 37"/>
          <p:cNvSpPr txBox="1"/>
          <p:nvPr/>
        </p:nvSpPr>
        <p:spPr>
          <a:xfrm>
            <a:off x="6213475" y="4250690"/>
            <a:ext cx="2482850" cy="257175"/>
          </a:xfrm>
          <a:prstGeom prst="rect">
            <a:avLst/>
          </a:prstGeom>
          <a:noFill/>
        </p:spPr>
        <p:txBody>
          <a:bodyPr wrap="none" lIns="0" rIns="0" tIns="0" bIns="0">
            <a:spAutoFit/>
          </a:bodyPr>
          <a:lstStyle/>
          <a:p>
            <a:pPr algn="l"/>
            <a:r>
              <a:rPr sz="1500" b="1">
                <a:solidFill>
                  <a:srgbClr val="D8BB78"/>
                </a:solidFill>
                <a:latin typeface="Noto Sans SC"/>
                <a:ea typeface="Noto Sans SC"/>
              </a:rPr>
              <a:t>Fiedler order: E, D, C, B,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199136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sweep</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p6/11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Order: E, D, C, B, A</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Cuts for k = 1…4: 6, 3, 5, 6</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40/60 window allows only k = 2, 3</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4718050" cy="313055"/>
          </a:xfrm>
          <a:prstGeom prst="rect">
            <a:avLst/>
          </a:prstGeom>
          <a:noFill/>
        </p:spPr>
        <p:txBody>
          <a:bodyPr wrap="square" lIns="0" rIns="0" tIns="0" bIns="0">
            <a:spAutoFit/>
          </a:bodyPr>
          <a:lstStyle/>
          <a:p>
            <a:pPr algn="l">
              <a:lnSpc>
                <a:spcPct val="121800"/>
              </a:lnSpc>
            </a:pPr>
            <a:r>
              <a:rPr sz="1700" b="0">
                <a:solidFill>
                  <a:srgbClr val="77CDBB"/>
                </a:solidFill>
                <a:latin typeface="Noto Sans SC"/>
                <a:ea typeface="Noto Sans SC"/>
              </a:rPr>
              <a:t>Take k = 2: DE | ABC, cut 3</a:t>
            </a:r>
          </a:p>
        </p:txBody>
      </p:sp>
      <p:sp>
        <p:nvSpPr>
          <p:cNvPr id="17" name="Oval 16"/>
          <p:cNvSpPr/>
          <p:nvPr/>
        </p:nvSpPr>
        <p:spPr>
          <a:xfrm>
            <a:off x="711200" y="32666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1579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Cutting "right in the middle", k = 3, gives 5</a:t>
            </a:r>
          </a:p>
        </p:txBody>
      </p:sp>
      <p:cxnSp>
        <p:nvCxnSpPr>
          <p:cNvPr id="19" name="Connector 18"/>
          <p:cNvCxnSpPr/>
          <p:nvPr/>
        </p:nvCxnSpPr>
        <p:spPr>
          <a:xfrm>
            <a:off x="6032500" y="2095500"/>
            <a:ext cx="5334000" cy="0"/>
          </a:xfrm>
          <a:prstGeom prst="line">
            <a:avLst/>
          </a:prstGeom>
          <a:ln w="19050">
            <a:solidFill>
              <a:srgbClr val="5D7C8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007100" y="1879600"/>
            <a:ext cx="431800" cy="4318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15685" y="1978152"/>
            <a:ext cx="21462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E</a:t>
            </a:r>
          </a:p>
        </p:txBody>
      </p:sp>
      <p:sp>
        <p:nvSpPr>
          <p:cNvPr id="22" name="TextBox 21"/>
          <p:cNvSpPr txBox="1"/>
          <p:nvPr/>
        </p:nvSpPr>
        <p:spPr>
          <a:xfrm>
            <a:off x="5964555" y="2333752"/>
            <a:ext cx="51689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-0.553</a:t>
            </a:r>
          </a:p>
        </p:txBody>
      </p:sp>
      <p:cxnSp>
        <p:nvCxnSpPr>
          <p:cNvPr id="23" name="Connector 22"/>
          <p:cNvCxnSpPr/>
          <p:nvPr/>
        </p:nvCxnSpPr>
        <p:spPr>
          <a:xfrm>
            <a:off x="6520658" y="1793239"/>
            <a:ext cx="0" cy="302261"/>
          </a:xfrm>
          <a:prstGeom prst="line">
            <a:avLst/>
          </a:prstGeom>
          <a:ln w="12700">
            <a:solidFill>
              <a:srgbClr val="5D7C8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488908" y="2063750"/>
            <a:ext cx="63500" cy="63500"/>
          </a:xfrm>
          <a:prstGeom prst="ellipse">
            <a:avLst/>
          </a:prstGeom>
          <a:solidFill>
            <a:srgbClr val="5D7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04758" y="1361440"/>
            <a:ext cx="431800" cy="4318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03818" y="1459992"/>
            <a:ext cx="23367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D</a:t>
            </a:r>
          </a:p>
        </p:txBody>
      </p:sp>
      <p:sp>
        <p:nvSpPr>
          <p:cNvPr id="27" name="TextBox 26"/>
          <p:cNvSpPr txBox="1"/>
          <p:nvPr/>
        </p:nvSpPr>
        <p:spPr>
          <a:xfrm>
            <a:off x="6262213" y="2511552"/>
            <a:ext cx="51689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-0.489</a:t>
            </a:r>
          </a:p>
        </p:txBody>
      </p:sp>
      <p:sp>
        <p:nvSpPr>
          <p:cNvPr id="28" name="Oval 27"/>
          <p:cNvSpPr/>
          <p:nvPr/>
        </p:nvSpPr>
        <p:spPr>
          <a:xfrm>
            <a:off x="9051161" y="1879600"/>
            <a:ext cx="431800" cy="4318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56571" y="1978152"/>
            <a:ext cx="22097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C</a:t>
            </a:r>
          </a:p>
        </p:txBody>
      </p:sp>
      <p:sp>
        <p:nvSpPr>
          <p:cNvPr id="30" name="TextBox 29"/>
          <p:cNvSpPr txBox="1"/>
          <p:nvPr/>
        </p:nvSpPr>
        <p:spPr>
          <a:xfrm>
            <a:off x="8992741" y="2333752"/>
            <a:ext cx="54864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+0.106</a:t>
            </a:r>
          </a:p>
        </p:txBody>
      </p:sp>
      <p:sp>
        <p:nvSpPr>
          <p:cNvPr id="31" name="Oval 30"/>
          <p:cNvSpPr/>
          <p:nvPr/>
        </p:nvSpPr>
        <p:spPr>
          <a:xfrm>
            <a:off x="10491713" y="1879600"/>
            <a:ext cx="431800" cy="4318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593948" y="1978152"/>
            <a:ext cx="22732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B</a:t>
            </a:r>
          </a:p>
        </p:txBody>
      </p:sp>
      <p:sp>
        <p:nvSpPr>
          <p:cNvPr id="33" name="TextBox 32"/>
          <p:cNvSpPr txBox="1"/>
          <p:nvPr/>
        </p:nvSpPr>
        <p:spPr>
          <a:xfrm>
            <a:off x="10433293" y="2511552"/>
            <a:ext cx="54864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+0.418</a:t>
            </a:r>
          </a:p>
        </p:txBody>
      </p:sp>
      <p:cxnSp>
        <p:nvCxnSpPr>
          <p:cNvPr id="34" name="Connector 33"/>
          <p:cNvCxnSpPr/>
          <p:nvPr/>
        </p:nvCxnSpPr>
        <p:spPr>
          <a:xfrm>
            <a:off x="11176000" y="1793239"/>
            <a:ext cx="0" cy="302261"/>
          </a:xfrm>
          <a:prstGeom prst="line">
            <a:avLst/>
          </a:prstGeom>
          <a:ln w="12700">
            <a:solidFill>
              <a:srgbClr val="5D7C8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1144250" y="2063750"/>
            <a:ext cx="63500" cy="63500"/>
          </a:xfrm>
          <a:prstGeom prst="ellipse">
            <a:avLst/>
          </a:prstGeom>
          <a:solidFill>
            <a:srgbClr val="5D7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0960100" y="1361440"/>
            <a:ext cx="431800" cy="4318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065510" y="1459992"/>
            <a:ext cx="220979" cy="240030"/>
          </a:xfrm>
          <a:prstGeom prst="rect">
            <a:avLst/>
          </a:prstGeom>
          <a:noFill/>
        </p:spPr>
        <p:txBody>
          <a:bodyPr wrap="none" lIns="0" rIns="0" tIns="0" bIns="0">
            <a:spAutoFit/>
          </a:bodyPr>
          <a:lstStyle/>
          <a:p>
            <a:pPr algn="ctr"/>
            <a:r>
              <a:rPr sz="1400" b="1">
                <a:solidFill>
                  <a:srgbClr val="0B1B1F"/>
                </a:solidFill>
                <a:latin typeface="Noto Sans SC"/>
                <a:ea typeface="Noto Sans SC"/>
              </a:rPr>
              <a:t>A</a:t>
            </a:r>
          </a:p>
        </p:txBody>
      </p:sp>
      <p:sp>
        <p:nvSpPr>
          <p:cNvPr id="38" name="TextBox 37"/>
          <p:cNvSpPr txBox="1"/>
          <p:nvPr/>
        </p:nvSpPr>
        <p:spPr>
          <a:xfrm>
            <a:off x="10901680" y="2333752"/>
            <a:ext cx="548640" cy="205740"/>
          </a:xfrm>
          <a:prstGeom prst="rect">
            <a:avLst/>
          </a:prstGeom>
          <a:noFill/>
        </p:spPr>
        <p:txBody>
          <a:bodyPr wrap="none" lIns="0" rIns="0" tIns="0" bIns="0">
            <a:spAutoFit/>
          </a:bodyPr>
          <a:lstStyle/>
          <a:p>
            <a:pPr algn="ctr"/>
            <a:r>
              <a:rPr sz="1200" b="0">
                <a:solidFill>
                  <a:srgbClr val="BCD2D0"/>
                </a:solidFill>
                <a:latin typeface="Noto Sans SC"/>
                <a:ea typeface="Noto Sans SC"/>
              </a:rPr>
              <a:t>+0.519</a:t>
            </a:r>
          </a:p>
        </p:txBody>
      </p:sp>
      <p:cxnSp>
        <p:nvCxnSpPr>
          <p:cNvPr id="39" name="Connector 38"/>
          <p:cNvCxnSpPr/>
          <p:nvPr/>
        </p:nvCxnSpPr>
        <p:spPr>
          <a:xfrm>
            <a:off x="7893860" y="1447800"/>
            <a:ext cx="0" cy="965200"/>
          </a:xfrm>
          <a:prstGeom prst="line">
            <a:avLst/>
          </a:prstGeom>
          <a:ln w="25400">
            <a:solidFill>
              <a:srgbClr val="D8BB78"/>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41110" y="3374644"/>
            <a:ext cx="214629" cy="240030"/>
          </a:xfrm>
          <a:prstGeom prst="rect">
            <a:avLst/>
          </a:prstGeom>
          <a:noFill/>
        </p:spPr>
        <p:txBody>
          <a:bodyPr wrap="none" lIns="0" rIns="0" tIns="0" bIns="0">
            <a:spAutoFit/>
          </a:bodyPr>
          <a:lstStyle/>
          <a:p>
            <a:pPr algn="l"/>
            <a:r>
              <a:rPr sz="1400" b="1">
                <a:solidFill>
                  <a:srgbClr val="BCD2D0"/>
                </a:solidFill>
                <a:latin typeface="Noto Sans SC"/>
                <a:ea typeface="Noto Sans SC"/>
              </a:rPr>
              <a:t>k</a:t>
            </a:r>
          </a:p>
        </p:txBody>
      </p:sp>
      <p:sp>
        <p:nvSpPr>
          <p:cNvPr id="41" name="TextBox 40"/>
          <p:cNvSpPr txBox="1"/>
          <p:nvPr/>
        </p:nvSpPr>
        <p:spPr>
          <a:xfrm>
            <a:off x="6912609" y="3374644"/>
            <a:ext cx="449580" cy="240030"/>
          </a:xfrm>
          <a:prstGeom prst="rect">
            <a:avLst/>
          </a:prstGeom>
          <a:noFill/>
        </p:spPr>
        <p:txBody>
          <a:bodyPr wrap="none" lIns="0" rIns="0" tIns="0" bIns="0">
            <a:spAutoFit/>
          </a:bodyPr>
          <a:lstStyle/>
          <a:p>
            <a:pPr algn="l"/>
            <a:r>
              <a:rPr sz="1400" b="1">
                <a:solidFill>
                  <a:srgbClr val="BCD2D0"/>
                </a:solidFill>
                <a:latin typeface="Noto Sans SC"/>
                <a:ea typeface="Noto Sans SC"/>
              </a:rPr>
              <a:t>Left</a:t>
            </a:r>
          </a:p>
        </p:txBody>
      </p:sp>
      <p:sp>
        <p:nvSpPr>
          <p:cNvPr id="42" name="TextBox 41"/>
          <p:cNvSpPr txBox="1"/>
          <p:nvPr/>
        </p:nvSpPr>
        <p:spPr>
          <a:xfrm>
            <a:off x="8373109" y="3374644"/>
            <a:ext cx="392430" cy="240030"/>
          </a:xfrm>
          <a:prstGeom prst="rect">
            <a:avLst/>
          </a:prstGeom>
          <a:noFill/>
        </p:spPr>
        <p:txBody>
          <a:bodyPr wrap="none" lIns="0" rIns="0" tIns="0" bIns="0">
            <a:spAutoFit/>
          </a:bodyPr>
          <a:lstStyle/>
          <a:p>
            <a:pPr algn="l"/>
            <a:r>
              <a:rPr sz="1400" b="1">
                <a:solidFill>
                  <a:srgbClr val="BCD2D0"/>
                </a:solidFill>
                <a:latin typeface="Noto Sans SC"/>
                <a:ea typeface="Noto Sans SC"/>
              </a:rPr>
              <a:t>cut</a:t>
            </a:r>
          </a:p>
        </p:txBody>
      </p:sp>
      <p:sp>
        <p:nvSpPr>
          <p:cNvPr id="43" name="TextBox 42"/>
          <p:cNvSpPr txBox="1"/>
          <p:nvPr/>
        </p:nvSpPr>
        <p:spPr>
          <a:xfrm>
            <a:off x="9135110" y="3374644"/>
            <a:ext cx="1351280" cy="240030"/>
          </a:xfrm>
          <a:prstGeom prst="rect">
            <a:avLst/>
          </a:prstGeom>
          <a:noFill/>
        </p:spPr>
        <p:txBody>
          <a:bodyPr wrap="none" lIns="0" rIns="0" tIns="0" bIns="0">
            <a:spAutoFit/>
          </a:bodyPr>
          <a:lstStyle/>
          <a:p>
            <a:pPr algn="l"/>
            <a:r>
              <a:rPr sz="1400" b="1">
                <a:solidFill>
                  <a:srgbClr val="BCD2D0"/>
                </a:solidFill>
                <a:latin typeface="Noto Sans SC"/>
                <a:ea typeface="Noto Sans SC"/>
              </a:rPr>
              <a:t>40/60 window</a:t>
            </a:r>
          </a:p>
        </p:txBody>
      </p:sp>
      <p:cxnSp>
        <p:nvCxnSpPr>
          <p:cNvPr id="44" name="Connector 43"/>
          <p:cNvCxnSpPr/>
          <p:nvPr/>
        </p:nvCxnSpPr>
        <p:spPr>
          <a:xfrm>
            <a:off x="6311900" y="3657600"/>
            <a:ext cx="4229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39840" y="37678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1</a:t>
            </a:r>
          </a:p>
        </p:txBody>
      </p:sp>
      <p:sp>
        <p:nvSpPr>
          <p:cNvPr id="46" name="TextBox 45"/>
          <p:cNvSpPr txBox="1"/>
          <p:nvPr/>
        </p:nvSpPr>
        <p:spPr>
          <a:xfrm>
            <a:off x="6911340" y="3767836"/>
            <a:ext cx="242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E</a:t>
            </a:r>
          </a:p>
        </p:txBody>
      </p:sp>
      <p:sp>
        <p:nvSpPr>
          <p:cNvPr id="47" name="TextBox 46"/>
          <p:cNvSpPr txBox="1"/>
          <p:nvPr/>
        </p:nvSpPr>
        <p:spPr>
          <a:xfrm>
            <a:off x="8371840" y="37678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6</a:t>
            </a:r>
          </a:p>
        </p:txBody>
      </p:sp>
      <p:sp>
        <p:nvSpPr>
          <p:cNvPr id="48" name="TextBox 47"/>
          <p:cNvSpPr txBox="1"/>
          <p:nvPr/>
        </p:nvSpPr>
        <p:spPr>
          <a:xfrm>
            <a:off x="9133840" y="3767836"/>
            <a:ext cx="306070" cy="274320"/>
          </a:xfrm>
          <a:prstGeom prst="rect">
            <a:avLst/>
          </a:prstGeom>
          <a:noFill/>
        </p:spPr>
        <p:txBody>
          <a:bodyPr wrap="none" lIns="0" rIns="0" tIns="0" bIns="0">
            <a:spAutoFit/>
          </a:bodyPr>
          <a:lstStyle/>
          <a:p>
            <a:pPr algn="l"/>
            <a:r>
              <a:rPr sz="1600" b="0">
                <a:solidFill>
                  <a:srgbClr val="F2F3E9"/>
                </a:solidFill>
                <a:latin typeface="Noto Sans SC"/>
                <a:ea typeface="Noto Sans SC"/>
              </a:rPr>
              <a:t>—</a:t>
            </a:r>
          </a:p>
        </p:txBody>
      </p:sp>
      <p:sp>
        <p:nvSpPr>
          <p:cNvPr id="49" name="Rounded Rectangle 48"/>
          <p:cNvSpPr/>
          <p:nvPr/>
        </p:nvSpPr>
        <p:spPr>
          <a:xfrm>
            <a:off x="6261100" y="4140200"/>
            <a:ext cx="4368800" cy="393700"/>
          </a:xfrm>
          <a:prstGeom prst="roundRect">
            <a:avLst>
              <a:gd name="adj" fmla="val 12903"/>
            </a:avLst>
          </a:prstGeom>
          <a:solidFill>
            <a:srgbClr val="D8BB7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339840" y="41869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2</a:t>
            </a:r>
          </a:p>
        </p:txBody>
      </p:sp>
      <p:sp>
        <p:nvSpPr>
          <p:cNvPr id="51" name="TextBox 50"/>
          <p:cNvSpPr txBox="1"/>
          <p:nvPr/>
        </p:nvSpPr>
        <p:spPr>
          <a:xfrm>
            <a:off x="6911340" y="4186936"/>
            <a:ext cx="382270" cy="274320"/>
          </a:xfrm>
          <a:prstGeom prst="rect">
            <a:avLst/>
          </a:prstGeom>
          <a:noFill/>
        </p:spPr>
        <p:txBody>
          <a:bodyPr wrap="none" lIns="0" rIns="0" tIns="0" bIns="0">
            <a:spAutoFit/>
          </a:bodyPr>
          <a:lstStyle/>
          <a:p>
            <a:pPr algn="l"/>
            <a:r>
              <a:rPr sz="1600" b="0">
                <a:solidFill>
                  <a:srgbClr val="F2F3E9"/>
                </a:solidFill>
                <a:latin typeface="Noto Sans SC"/>
                <a:ea typeface="Noto Sans SC"/>
              </a:rPr>
              <a:t>ED</a:t>
            </a:r>
          </a:p>
        </p:txBody>
      </p:sp>
      <p:sp>
        <p:nvSpPr>
          <p:cNvPr id="52" name="TextBox 51"/>
          <p:cNvSpPr txBox="1"/>
          <p:nvPr/>
        </p:nvSpPr>
        <p:spPr>
          <a:xfrm>
            <a:off x="8371840" y="41869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3</a:t>
            </a:r>
          </a:p>
        </p:txBody>
      </p:sp>
      <p:sp>
        <p:nvSpPr>
          <p:cNvPr id="53" name="TextBox 52"/>
          <p:cNvSpPr txBox="1"/>
          <p:nvPr/>
        </p:nvSpPr>
        <p:spPr>
          <a:xfrm>
            <a:off x="9133840" y="4186936"/>
            <a:ext cx="579120" cy="274320"/>
          </a:xfrm>
          <a:prstGeom prst="rect">
            <a:avLst/>
          </a:prstGeom>
          <a:noFill/>
        </p:spPr>
        <p:txBody>
          <a:bodyPr wrap="none" lIns="0" rIns="0" tIns="0" bIns="0">
            <a:spAutoFit/>
          </a:bodyPr>
          <a:lstStyle/>
          <a:p>
            <a:pPr algn="l"/>
            <a:r>
              <a:rPr sz="1600" b="0">
                <a:solidFill>
                  <a:srgbClr val="F2F3E9"/>
                </a:solidFill>
                <a:latin typeface="Noto Sans SC"/>
                <a:ea typeface="Noto Sans SC"/>
              </a:rPr>
              <a:t>legal</a:t>
            </a:r>
          </a:p>
        </p:txBody>
      </p:sp>
      <p:sp>
        <p:nvSpPr>
          <p:cNvPr id="54" name="TextBox 53"/>
          <p:cNvSpPr txBox="1"/>
          <p:nvPr/>
        </p:nvSpPr>
        <p:spPr>
          <a:xfrm>
            <a:off x="6339840" y="46060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3</a:t>
            </a:r>
          </a:p>
        </p:txBody>
      </p:sp>
      <p:sp>
        <p:nvSpPr>
          <p:cNvPr id="55" name="TextBox 54"/>
          <p:cNvSpPr txBox="1"/>
          <p:nvPr/>
        </p:nvSpPr>
        <p:spPr>
          <a:xfrm>
            <a:off x="6911340" y="4606036"/>
            <a:ext cx="509270" cy="274320"/>
          </a:xfrm>
          <a:prstGeom prst="rect">
            <a:avLst/>
          </a:prstGeom>
          <a:noFill/>
        </p:spPr>
        <p:txBody>
          <a:bodyPr wrap="none" lIns="0" rIns="0" tIns="0" bIns="0">
            <a:spAutoFit/>
          </a:bodyPr>
          <a:lstStyle/>
          <a:p>
            <a:pPr algn="l"/>
            <a:r>
              <a:rPr sz="1600" b="0">
                <a:solidFill>
                  <a:srgbClr val="F2F3E9"/>
                </a:solidFill>
                <a:latin typeface="Noto Sans SC"/>
                <a:ea typeface="Noto Sans SC"/>
              </a:rPr>
              <a:t>EDC</a:t>
            </a:r>
          </a:p>
        </p:txBody>
      </p:sp>
      <p:sp>
        <p:nvSpPr>
          <p:cNvPr id="56" name="TextBox 55"/>
          <p:cNvSpPr txBox="1"/>
          <p:nvPr/>
        </p:nvSpPr>
        <p:spPr>
          <a:xfrm>
            <a:off x="8371840" y="46060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5</a:t>
            </a:r>
          </a:p>
        </p:txBody>
      </p:sp>
      <p:sp>
        <p:nvSpPr>
          <p:cNvPr id="57" name="TextBox 56"/>
          <p:cNvSpPr txBox="1"/>
          <p:nvPr/>
        </p:nvSpPr>
        <p:spPr>
          <a:xfrm>
            <a:off x="9133840" y="4606036"/>
            <a:ext cx="579120" cy="274320"/>
          </a:xfrm>
          <a:prstGeom prst="rect">
            <a:avLst/>
          </a:prstGeom>
          <a:noFill/>
        </p:spPr>
        <p:txBody>
          <a:bodyPr wrap="none" lIns="0" rIns="0" tIns="0" bIns="0">
            <a:spAutoFit/>
          </a:bodyPr>
          <a:lstStyle/>
          <a:p>
            <a:pPr algn="l"/>
            <a:r>
              <a:rPr sz="1600" b="0">
                <a:solidFill>
                  <a:srgbClr val="F2F3E9"/>
                </a:solidFill>
                <a:latin typeface="Noto Sans SC"/>
                <a:ea typeface="Noto Sans SC"/>
              </a:rPr>
              <a:t>legal</a:t>
            </a:r>
          </a:p>
        </p:txBody>
      </p:sp>
      <p:sp>
        <p:nvSpPr>
          <p:cNvPr id="58" name="TextBox 57"/>
          <p:cNvSpPr txBox="1"/>
          <p:nvPr/>
        </p:nvSpPr>
        <p:spPr>
          <a:xfrm>
            <a:off x="6339840" y="50251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4</a:t>
            </a:r>
          </a:p>
        </p:txBody>
      </p:sp>
      <p:sp>
        <p:nvSpPr>
          <p:cNvPr id="59" name="TextBox 58"/>
          <p:cNvSpPr txBox="1"/>
          <p:nvPr/>
        </p:nvSpPr>
        <p:spPr>
          <a:xfrm>
            <a:off x="6911340" y="5025136"/>
            <a:ext cx="642620" cy="274320"/>
          </a:xfrm>
          <a:prstGeom prst="rect">
            <a:avLst/>
          </a:prstGeom>
          <a:noFill/>
        </p:spPr>
        <p:txBody>
          <a:bodyPr wrap="none" lIns="0" rIns="0" tIns="0" bIns="0">
            <a:spAutoFit/>
          </a:bodyPr>
          <a:lstStyle/>
          <a:p>
            <a:pPr algn="l"/>
            <a:r>
              <a:rPr sz="1600" b="0">
                <a:solidFill>
                  <a:srgbClr val="F2F3E9"/>
                </a:solidFill>
                <a:latin typeface="Noto Sans SC"/>
                <a:ea typeface="Noto Sans SC"/>
              </a:rPr>
              <a:t>EDCB</a:t>
            </a:r>
          </a:p>
        </p:txBody>
      </p:sp>
      <p:sp>
        <p:nvSpPr>
          <p:cNvPr id="60" name="TextBox 59"/>
          <p:cNvSpPr txBox="1"/>
          <p:nvPr/>
        </p:nvSpPr>
        <p:spPr>
          <a:xfrm>
            <a:off x="8371840" y="50251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6</a:t>
            </a:r>
          </a:p>
        </p:txBody>
      </p:sp>
      <p:sp>
        <p:nvSpPr>
          <p:cNvPr id="61" name="TextBox 60"/>
          <p:cNvSpPr txBox="1"/>
          <p:nvPr/>
        </p:nvSpPr>
        <p:spPr>
          <a:xfrm>
            <a:off x="9133840" y="5025136"/>
            <a:ext cx="306070" cy="274320"/>
          </a:xfrm>
          <a:prstGeom prst="rect">
            <a:avLst/>
          </a:prstGeom>
          <a:noFill/>
        </p:spPr>
        <p:txBody>
          <a:bodyPr wrap="none" lIns="0" rIns="0" tIns="0" bIns="0">
            <a:spAutoFit/>
          </a:bodyPr>
          <a:lstStyle/>
          <a:p>
            <a:pPr algn="l"/>
            <a:r>
              <a:rPr sz="1600" b="0">
                <a:solidFill>
                  <a:srgbClr val="F2F3E9"/>
                </a:solidFill>
                <a:latin typeface="Noto Sans SC"/>
                <a:ea typeface="Noto Sans SC"/>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60109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Two misunderstandings, corrected</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p7/11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93916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"With no constraint the optimum isolates one node": wrong; the least single-node cut is 6, ABC | DE is only 3</a:t>
            </a:r>
          </a:p>
        </p:txBody>
      </p:sp>
      <p:sp>
        <p:nvSpPr>
          <p:cNvPr id="11" name="Oval 10"/>
          <p:cNvSpPr/>
          <p:nvPr/>
        </p:nvSpPr>
        <p:spPr>
          <a:xfrm>
            <a:off x="711200" y="25974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4886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Say instead: with no constraint a group can come out too small</a:t>
            </a:r>
          </a:p>
        </p:txBody>
      </p:sp>
      <p:sp>
        <p:nvSpPr>
          <p:cNvPr id="13" name="Oval 12"/>
          <p:cNvSpPr/>
          <p:nvPr/>
        </p:nvSpPr>
        <p:spPr>
          <a:xfrm>
            <a:off x="711200" y="33422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323354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stored vector is a solver": wrong; its residual 0.0044 is rounding</a:t>
            </a:r>
          </a:p>
        </p:txBody>
      </p:sp>
      <p:sp>
        <p:nvSpPr>
          <p:cNvPr id="15" name="Oval 14"/>
          <p:cNvSpPr/>
          <p:nvPr/>
        </p:nvSpPr>
        <p:spPr>
          <a:xfrm>
            <a:off x="711200" y="408711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978402"/>
            <a:ext cx="4718050" cy="93916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stored values are not recomputed when the graph changes; this page solves live, residual about 10</a:t>
            </a:r>
            <a:r>
              <a:rPr sz="1700" b="0" baseline="30000">
                <a:solidFill>
                  <a:srgbClr val="F2F3E9"/>
                </a:solidFill>
                <a:latin typeface="Noto Sans SC"/>
                <a:ea typeface="Noto Sans SC"/>
              </a:rPr>
              <a:t>−15</a:t>
            </a:r>
          </a:p>
        </p:txBody>
      </p:sp>
      <p:sp>
        <p:nvSpPr>
          <p:cNvPr id="17" name="TextBox 16"/>
          <p:cNvSpPr txBox="1"/>
          <p:nvPr/>
        </p:nvSpPr>
        <p:spPr>
          <a:xfrm>
            <a:off x="6341110" y="1596644"/>
            <a:ext cx="709930" cy="240030"/>
          </a:xfrm>
          <a:prstGeom prst="rect">
            <a:avLst/>
          </a:prstGeom>
          <a:noFill/>
        </p:spPr>
        <p:txBody>
          <a:bodyPr wrap="none" lIns="0" rIns="0" tIns="0" bIns="0">
            <a:spAutoFit/>
          </a:bodyPr>
          <a:lstStyle/>
          <a:p>
            <a:pPr algn="l"/>
            <a:r>
              <a:rPr sz="1400" b="1">
                <a:solidFill>
                  <a:srgbClr val="BCD2D0"/>
                </a:solidFill>
                <a:latin typeface="Noto Sans SC"/>
                <a:ea typeface="Noto Sans SC"/>
              </a:rPr>
              <a:t>Isolate</a:t>
            </a:r>
          </a:p>
        </p:txBody>
      </p:sp>
      <p:sp>
        <p:nvSpPr>
          <p:cNvPr id="18" name="TextBox 17"/>
          <p:cNvSpPr txBox="1"/>
          <p:nvPr/>
        </p:nvSpPr>
        <p:spPr>
          <a:xfrm>
            <a:off x="7484109" y="1596644"/>
            <a:ext cx="1179830" cy="240030"/>
          </a:xfrm>
          <a:prstGeom prst="rect">
            <a:avLst/>
          </a:prstGeom>
          <a:noFill/>
        </p:spPr>
        <p:txBody>
          <a:bodyPr wrap="none" lIns="0" rIns="0" tIns="0" bIns="0">
            <a:spAutoFit/>
          </a:bodyPr>
          <a:lstStyle/>
          <a:p>
            <a:pPr algn="l"/>
            <a:r>
              <a:rPr sz="1400" b="1">
                <a:solidFill>
                  <a:srgbClr val="BCD2D0"/>
                </a:solidFill>
                <a:latin typeface="Noto Sans SC"/>
                <a:ea typeface="Noto Sans SC"/>
              </a:rPr>
              <a:t>cut = degree</a:t>
            </a:r>
          </a:p>
        </p:txBody>
      </p:sp>
      <p:cxnSp>
        <p:nvCxnSpPr>
          <p:cNvPr id="19" name="Connector 18"/>
          <p:cNvCxnSpPr/>
          <p:nvPr/>
        </p:nvCxnSpPr>
        <p:spPr>
          <a:xfrm>
            <a:off x="6311900" y="1879600"/>
            <a:ext cx="2832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39840" y="1977136"/>
            <a:ext cx="242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A</a:t>
            </a:r>
          </a:p>
        </p:txBody>
      </p:sp>
      <p:sp>
        <p:nvSpPr>
          <p:cNvPr id="21" name="TextBox 20"/>
          <p:cNvSpPr txBox="1"/>
          <p:nvPr/>
        </p:nvSpPr>
        <p:spPr>
          <a:xfrm>
            <a:off x="7482840" y="19771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6</a:t>
            </a:r>
          </a:p>
        </p:txBody>
      </p:sp>
      <p:sp>
        <p:nvSpPr>
          <p:cNvPr id="22" name="TextBox 21"/>
          <p:cNvSpPr txBox="1"/>
          <p:nvPr/>
        </p:nvSpPr>
        <p:spPr>
          <a:xfrm>
            <a:off x="6339840" y="2383536"/>
            <a:ext cx="255270" cy="274320"/>
          </a:xfrm>
          <a:prstGeom prst="rect">
            <a:avLst/>
          </a:prstGeom>
          <a:noFill/>
        </p:spPr>
        <p:txBody>
          <a:bodyPr wrap="none" lIns="0" rIns="0" tIns="0" bIns="0">
            <a:spAutoFit/>
          </a:bodyPr>
          <a:lstStyle/>
          <a:p>
            <a:pPr algn="l"/>
            <a:r>
              <a:rPr sz="1600" b="0">
                <a:solidFill>
                  <a:srgbClr val="F2F3E9"/>
                </a:solidFill>
                <a:latin typeface="Noto Sans SC"/>
                <a:ea typeface="Noto Sans SC"/>
              </a:rPr>
              <a:t>B</a:t>
            </a:r>
          </a:p>
        </p:txBody>
      </p:sp>
      <p:sp>
        <p:nvSpPr>
          <p:cNvPr id="23" name="TextBox 22"/>
          <p:cNvSpPr txBox="1"/>
          <p:nvPr/>
        </p:nvSpPr>
        <p:spPr>
          <a:xfrm>
            <a:off x="7482840" y="23835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9</a:t>
            </a:r>
          </a:p>
        </p:txBody>
      </p:sp>
      <p:sp>
        <p:nvSpPr>
          <p:cNvPr id="24" name="TextBox 23"/>
          <p:cNvSpPr txBox="1"/>
          <p:nvPr/>
        </p:nvSpPr>
        <p:spPr>
          <a:xfrm>
            <a:off x="6339840" y="2789936"/>
            <a:ext cx="248920" cy="274320"/>
          </a:xfrm>
          <a:prstGeom prst="rect">
            <a:avLst/>
          </a:prstGeom>
          <a:noFill/>
        </p:spPr>
        <p:txBody>
          <a:bodyPr wrap="none" lIns="0" rIns="0" tIns="0" bIns="0">
            <a:spAutoFit/>
          </a:bodyPr>
          <a:lstStyle/>
          <a:p>
            <a:pPr algn="l"/>
            <a:r>
              <a:rPr sz="1600" b="0">
                <a:solidFill>
                  <a:srgbClr val="F2F3E9"/>
                </a:solidFill>
                <a:latin typeface="Noto Sans SC"/>
                <a:ea typeface="Noto Sans SC"/>
              </a:rPr>
              <a:t>C</a:t>
            </a:r>
          </a:p>
        </p:txBody>
      </p:sp>
      <p:sp>
        <p:nvSpPr>
          <p:cNvPr id="25" name="TextBox 24"/>
          <p:cNvSpPr txBox="1"/>
          <p:nvPr/>
        </p:nvSpPr>
        <p:spPr>
          <a:xfrm>
            <a:off x="7482840" y="27899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8</a:t>
            </a:r>
          </a:p>
        </p:txBody>
      </p:sp>
      <p:sp>
        <p:nvSpPr>
          <p:cNvPr id="26" name="TextBox 25"/>
          <p:cNvSpPr txBox="1"/>
          <p:nvPr/>
        </p:nvSpPr>
        <p:spPr>
          <a:xfrm>
            <a:off x="6339840" y="3196336"/>
            <a:ext cx="261620" cy="274320"/>
          </a:xfrm>
          <a:prstGeom prst="rect">
            <a:avLst/>
          </a:prstGeom>
          <a:noFill/>
        </p:spPr>
        <p:txBody>
          <a:bodyPr wrap="none" lIns="0" rIns="0" tIns="0" bIns="0">
            <a:spAutoFit/>
          </a:bodyPr>
          <a:lstStyle/>
          <a:p>
            <a:pPr algn="l"/>
            <a:r>
              <a:rPr sz="1600" b="0">
                <a:solidFill>
                  <a:srgbClr val="F2F3E9"/>
                </a:solidFill>
                <a:latin typeface="Noto Sans SC"/>
                <a:ea typeface="Noto Sans SC"/>
              </a:rPr>
              <a:t>D</a:t>
            </a:r>
          </a:p>
        </p:txBody>
      </p:sp>
      <p:sp>
        <p:nvSpPr>
          <p:cNvPr id="27" name="TextBox 26"/>
          <p:cNvSpPr txBox="1"/>
          <p:nvPr/>
        </p:nvSpPr>
        <p:spPr>
          <a:xfrm>
            <a:off x="7482840" y="31963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7</a:t>
            </a:r>
          </a:p>
        </p:txBody>
      </p:sp>
      <p:sp>
        <p:nvSpPr>
          <p:cNvPr id="28" name="TextBox 27"/>
          <p:cNvSpPr txBox="1"/>
          <p:nvPr/>
        </p:nvSpPr>
        <p:spPr>
          <a:xfrm>
            <a:off x="6339840" y="3602736"/>
            <a:ext cx="242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E</a:t>
            </a:r>
          </a:p>
        </p:txBody>
      </p:sp>
      <p:sp>
        <p:nvSpPr>
          <p:cNvPr id="29" name="TextBox 28"/>
          <p:cNvSpPr txBox="1"/>
          <p:nvPr/>
        </p:nvSpPr>
        <p:spPr>
          <a:xfrm>
            <a:off x="7482840" y="36027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6</a:t>
            </a:r>
          </a:p>
        </p:txBody>
      </p:sp>
      <p:sp>
        <p:nvSpPr>
          <p:cNvPr id="30" name="TextBox 29"/>
          <p:cNvSpPr txBox="1"/>
          <p:nvPr/>
        </p:nvSpPr>
        <p:spPr>
          <a:xfrm>
            <a:off x="6341745" y="4657598"/>
            <a:ext cx="1210310" cy="222885"/>
          </a:xfrm>
          <a:prstGeom prst="rect">
            <a:avLst/>
          </a:prstGeom>
          <a:noFill/>
        </p:spPr>
        <p:txBody>
          <a:bodyPr wrap="none" lIns="0" rIns="0" tIns="0" bIns="0">
            <a:spAutoFit/>
          </a:bodyPr>
          <a:lstStyle/>
          <a:p>
            <a:pPr algn="l"/>
            <a:r>
              <a:rPr sz="1300" b="1">
                <a:solidFill>
                  <a:srgbClr val="BCD2D0"/>
                </a:solidFill>
                <a:latin typeface="Noto Sans SC"/>
                <a:ea typeface="Noto Sans SC"/>
              </a:rPr>
              <a:t>Vector source</a:t>
            </a:r>
          </a:p>
        </p:txBody>
      </p:sp>
      <p:sp>
        <p:nvSpPr>
          <p:cNvPr id="31" name="TextBox 30"/>
          <p:cNvSpPr txBox="1"/>
          <p:nvPr/>
        </p:nvSpPr>
        <p:spPr>
          <a:xfrm>
            <a:off x="8500745" y="4657598"/>
            <a:ext cx="803910" cy="222885"/>
          </a:xfrm>
          <a:prstGeom prst="rect">
            <a:avLst/>
          </a:prstGeom>
          <a:noFill/>
        </p:spPr>
        <p:txBody>
          <a:bodyPr wrap="none" lIns="0" rIns="0" tIns="0" bIns="0">
            <a:spAutoFit/>
          </a:bodyPr>
          <a:lstStyle/>
          <a:p>
            <a:pPr algn="l"/>
            <a:r>
              <a:rPr sz="1300" b="1">
                <a:solidFill>
                  <a:srgbClr val="BCD2D0"/>
                </a:solidFill>
                <a:latin typeface="Noto Sans SC"/>
                <a:ea typeface="Noto Sans SC"/>
              </a:rPr>
              <a:t>Residual</a:t>
            </a:r>
          </a:p>
        </p:txBody>
      </p:sp>
      <p:cxnSp>
        <p:nvCxnSpPr>
          <p:cNvPr id="32" name="Connector 31"/>
          <p:cNvCxnSpPr/>
          <p:nvPr/>
        </p:nvCxnSpPr>
        <p:spPr>
          <a:xfrm>
            <a:off x="6311900" y="4927600"/>
            <a:ext cx="3594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340475" y="5012690"/>
            <a:ext cx="1066800" cy="257175"/>
          </a:xfrm>
          <a:prstGeom prst="rect">
            <a:avLst/>
          </a:prstGeom>
          <a:noFill/>
        </p:spPr>
        <p:txBody>
          <a:bodyPr wrap="none" lIns="0" rIns="0" tIns="0" bIns="0">
            <a:spAutoFit/>
          </a:bodyPr>
          <a:lstStyle/>
          <a:p>
            <a:pPr algn="l"/>
            <a:r>
              <a:rPr sz="1500" b="0">
                <a:solidFill>
                  <a:srgbClr val="F2F3E9"/>
                </a:solidFill>
                <a:latin typeface="Noto Sans SC"/>
                <a:ea typeface="Noto Sans SC"/>
              </a:rPr>
              <a:t>solved live</a:t>
            </a:r>
          </a:p>
        </p:txBody>
      </p:sp>
      <p:sp>
        <p:nvSpPr>
          <p:cNvPr id="34" name="TextBox 33"/>
          <p:cNvSpPr txBox="1"/>
          <p:nvPr/>
        </p:nvSpPr>
        <p:spPr>
          <a:xfrm>
            <a:off x="8499475" y="5012690"/>
            <a:ext cx="768350" cy="257175"/>
          </a:xfrm>
          <a:prstGeom prst="rect">
            <a:avLst/>
          </a:prstGeom>
          <a:noFill/>
        </p:spPr>
        <p:txBody>
          <a:bodyPr wrap="none" lIns="0" rIns="0" tIns="0" bIns="0">
            <a:spAutoFit/>
          </a:bodyPr>
          <a:lstStyle/>
          <a:p>
            <a:pPr algn="l"/>
            <a:r>
              <a:rPr sz="1500" b="0">
                <a:solidFill>
                  <a:srgbClr val="F2F3E9"/>
                </a:solidFill>
                <a:latin typeface="Noto Sans SC"/>
                <a:ea typeface="Noto Sans SC"/>
              </a:rPr>
              <a:t>3.8e-15</a:t>
            </a:r>
          </a:p>
        </p:txBody>
      </p:sp>
      <p:sp>
        <p:nvSpPr>
          <p:cNvPr id="35" name="TextBox 34"/>
          <p:cNvSpPr txBox="1"/>
          <p:nvPr/>
        </p:nvSpPr>
        <p:spPr>
          <a:xfrm>
            <a:off x="6340475" y="5393690"/>
            <a:ext cx="1847850" cy="257175"/>
          </a:xfrm>
          <a:prstGeom prst="rect">
            <a:avLst/>
          </a:prstGeom>
          <a:noFill/>
        </p:spPr>
        <p:txBody>
          <a:bodyPr wrap="none" lIns="0" rIns="0" tIns="0" bIns="0">
            <a:spAutoFit/>
          </a:bodyPr>
          <a:lstStyle/>
          <a:p>
            <a:pPr algn="l"/>
            <a:r>
              <a:rPr sz="1500" b="0">
                <a:solidFill>
                  <a:srgbClr val="F2F3E9"/>
                </a:solidFill>
                <a:latin typeface="Noto Sans SC"/>
                <a:ea typeface="Noto Sans SC"/>
              </a:rPr>
              <a:t>original, 3 decimals</a:t>
            </a:r>
          </a:p>
        </p:txBody>
      </p:sp>
      <p:sp>
        <p:nvSpPr>
          <p:cNvPr id="36" name="TextBox 35"/>
          <p:cNvSpPr txBox="1"/>
          <p:nvPr/>
        </p:nvSpPr>
        <p:spPr>
          <a:xfrm>
            <a:off x="8499475" y="5393690"/>
            <a:ext cx="704850" cy="257175"/>
          </a:xfrm>
          <a:prstGeom prst="rect">
            <a:avLst/>
          </a:prstGeom>
          <a:noFill/>
        </p:spPr>
        <p:txBody>
          <a:bodyPr wrap="none" lIns="0" rIns="0" tIns="0" bIns="0">
            <a:spAutoFit/>
          </a:bodyPr>
          <a:lstStyle/>
          <a:p>
            <a:pPr algn="l"/>
            <a:r>
              <a:rPr sz="1500" b="0">
                <a:solidFill>
                  <a:srgbClr val="F2F3E9"/>
                </a:solidFill>
                <a:latin typeface="Noto Sans SC"/>
                <a:ea typeface="Noto Sans SC"/>
              </a:rPr>
              <a:t>0.0044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826510" cy="480060"/>
          </a:xfrm>
          <a:prstGeom prst="rect">
            <a:avLst/>
          </a:prstGeom>
          <a:noFill/>
        </p:spPr>
        <p:txBody>
          <a:bodyPr wrap="none" lIns="0" rIns="0" tIns="0" bIns="0">
            <a:spAutoFit/>
          </a:bodyPr>
          <a:lstStyle/>
          <a:p>
            <a:pPr algn="l"/>
            <a:r>
              <a:rPr sz="2800" b="0">
                <a:solidFill>
                  <a:srgbClr val="F2F3E9"/>
                </a:solidFill>
                <a:latin typeface="Noto Sans SC"/>
                <a:ea typeface="Noto Sans SC"/>
              </a:rPr>
              <a:t>A disconnected graph</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p8/11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Two components → λ1 = λ2 = 0</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Fiedler vector only shows who shares a component</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Check connectivity and degeneracy before using it</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lab's diagnostics panel gives a warning</a:t>
            </a:r>
          </a:p>
        </p:txBody>
      </p:sp>
      <p:cxnSp>
        <p:nvCxnSpPr>
          <p:cNvPr id="17" name="Connector 16"/>
          <p:cNvCxnSpPr/>
          <p:nvPr/>
        </p:nvCxnSpPr>
        <p:spPr>
          <a:xfrm flipV="1">
            <a:off x="6350000" y="2147336"/>
            <a:ext cx="1378857" cy="492449"/>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841866" y="203464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66885" y="204277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3</a:t>
            </a:r>
          </a:p>
        </p:txBody>
      </p:sp>
      <p:cxnSp>
        <p:nvCxnSpPr>
          <p:cNvPr id="20" name="Connector 19"/>
          <p:cNvCxnSpPr/>
          <p:nvPr/>
        </p:nvCxnSpPr>
        <p:spPr>
          <a:xfrm flipH="1">
            <a:off x="7433387" y="2147336"/>
            <a:ext cx="295470" cy="1674327"/>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584899" y="279559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09918" y="280372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23" name="Connector 22"/>
          <p:cNvCxnSpPr/>
          <p:nvPr/>
        </p:nvCxnSpPr>
        <p:spPr>
          <a:xfrm>
            <a:off x="6350000" y="2639785"/>
            <a:ext cx="1083387" cy="1181878"/>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857732" y="291235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82751" y="292048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6" name="Connector 25"/>
          <p:cNvCxnSpPr/>
          <p:nvPr/>
        </p:nvCxnSpPr>
        <p:spPr>
          <a:xfrm flipV="1">
            <a:off x="9797142" y="2147336"/>
            <a:ext cx="1378858" cy="492449"/>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0289009" y="203464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314028" y="204277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3</a:t>
            </a:r>
          </a:p>
        </p:txBody>
      </p:sp>
      <p:cxnSp>
        <p:nvCxnSpPr>
          <p:cNvPr id="29" name="Connector 28"/>
          <p:cNvCxnSpPr/>
          <p:nvPr/>
        </p:nvCxnSpPr>
        <p:spPr>
          <a:xfrm flipH="1">
            <a:off x="10880530" y="2147336"/>
            <a:ext cx="295470" cy="1674327"/>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032042" y="279559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057061" y="280372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2" name="Connector 31"/>
          <p:cNvCxnSpPr/>
          <p:nvPr/>
        </p:nvCxnSpPr>
        <p:spPr>
          <a:xfrm>
            <a:off x="9797142" y="2639785"/>
            <a:ext cx="1083388" cy="1181878"/>
          </a:xfrm>
          <a:prstGeom prst="line">
            <a:avLst/>
          </a:prstGeom>
          <a:ln w="25400">
            <a:solidFill>
              <a:srgbClr val="5D7C80"/>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304875" y="291235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29894" y="292048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sp>
        <p:nvSpPr>
          <p:cNvPr id="35" name="Oval 34"/>
          <p:cNvSpPr/>
          <p:nvPr/>
        </p:nvSpPr>
        <p:spPr>
          <a:xfrm>
            <a:off x="6108700" y="2398485"/>
            <a:ext cx="482600" cy="4826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15380" y="2497291"/>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7" name="Oval 36"/>
          <p:cNvSpPr/>
          <p:nvPr/>
        </p:nvSpPr>
        <p:spPr>
          <a:xfrm>
            <a:off x="7487557" y="1906036"/>
            <a:ext cx="482600" cy="4826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591062" y="2004842"/>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39" name="Oval 38"/>
          <p:cNvSpPr/>
          <p:nvPr/>
        </p:nvSpPr>
        <p:spPr>
          <a:xfrm>
            <a:off x="7192087" y="3580363"/>
            <a:ext cx="482600" cy="4826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298767" y="3679169"/>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1" name="Oval 40"/>
          <p:cNvSpPr/>
          <p:nvPr/>
        </p:nvSpPr>
        <p:spPr>
          <a:xfrm>
            <a:off x="9555842" y="2398485"/>
            <a:ext cx="482600" cy="4826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656172" y="2497291"/>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3" name="Oval 42"/>
          <p:cNvSpPr/>
          <p:nvPr/>
        </p:nvSpPr>
        <p:spPr>
          <a:xfrm>
            <a:off x="10934700" y="1906036"/>
            <a:ext cx="482600" cy="4826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1044555" y="2004842"/>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45" name="Oval 44"/>
          <p:cNvSpPr/>
          <p:nvPr/>
        </p:nvSpPr>
        <p:spPr>
          <a:xfrm>
            <a:off x="10639230" y="3580363"/>
            <a:ext cx="482600" cy="4826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752260" y="3679169"/>
            <a:ext cx="2565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F</a:t>
            </a:r>
          </a:p>
        </p:txBody>
      </p:sp>
      <p:sp>
        <p:nvSpPr>
          <p:cNvPr id="47" name="Rounded Rectangle 46"/>
          <p:cNvSpPr/>
          <p:nvPr/>
        </p:nvSpPr>
        <p:spPr>
          <a:xfrm>
            <a:off x="6775450" y="4991100"/>
            <a:ext cx="3975100" cy="292100"/>
          </a:xfrm>
          <a:prstGeom prst="roundRect">
            <a:avLst>
              <a:gd name="adj" fmla="val 50000"/>
            </a:avLst>
          </a:prstGeom>
          <a:solidFill>
            <a:srgbClr val="0A2126"/>
          </a:solidFill>
          <a:ln w="1270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821170" y="5051298"/>
            <a:ext cx="3883660" cy="222885"/>
          </a:xfrm>
          <a:prstGeom prst="rect">
            <a:avLst/>
          </a:prstGeom>
          <a:noFill/>
        </p:spPr>
        <p:txBody>
          <a:bodyPr wrap="none" lIns="0" rIns="0" tIns="0" bIns="0">
            <a:spAutoFit/>
          </a:bodyPr>
          <a:lstStyle/>
          <a:p>
            <a:pPr algn="ctr"/>
            <a:r>
              <a:rPr sz="1300" b="1">
                <a:solidFill>
                  <a:srgbClr val="DB7B72"/>
                </a:solidFill>
                <a:latin typeface="Noto Sans SC"/>
                <a:ea typeface="Noto Sans SC"/>
              </a:rPr>
              <a:t>λ1 = λ2 = 0: the order only reflects components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6684009" cy="480060"/>
          </a:xfrm>
          <a:prstGeom prst="rect">
            <a:avLst/>
          </a:prstGeom>
          <a:noFill/>
        </p:spPr>
        <p:txBody>
          <a:bodyPr wrap="none" lIns="0" rIns="0" tIns="0" bIns="0">
            <a:spAutoFit/>
          </a:bodyPr>
          <a:lstStyle/>
          <a:p>
            <a:pPr algn="l"/>
            <a:r>
              <a:rPr sz="2800" b="0">
                <a:solidFill>
                  <a:srgbClr val="F2F3E9"/>
                </a:solidFill>
                <a:latin typeface="Noto Sans SC"/>
                <a:ea typeface="Noto Sans SC"/>
              </a:rPr>
              <a:t>Pseudocode and numerical self-checks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p9/11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1: build L, check symmetry and row sums</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2–3: eigendecomposition; check connectivity, degeneracy, residual</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4–5: fix the sign, then sort</a:t>
            </a:r>
          </a:p>
        </p:txBody>
      </p:sp>
      <p:sp>
        <p:nvSpPr>
          <p:cNvPr id="15" name="Oval 14"/>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039236"/>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6–7: sweep n − 1 positions, take the least cut inside the window</a:t>
            </a:r>
          </a:p>
        </p:txBody>
      </p:sp>
      <p:sp>
        <p:nvSpPr>
          <p:cNvPr id="17" name="Rounded Rectangle 16"/>
          <p:cNvSpPr/>
          <p:nvPr/>
        </p:nvSpPr>
        <p:spPr>
          <a:xfrm>
            <a:off x="5753100" y="1574800"/>
            <a:ext cx="5715000" cy="3213100"/>
          </a:xfrm>
          <a:prstGeom prst="roundRect">
            <a:avLst>
              <a:gd name="adj" fmla="val 2371"/>
            </a:avLst>
          </a:prstGeom>
          <a:solidFill>
            <a:srgbClr val="0A1C1F"/>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898832" y="17689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1</a:t>
            </a:r>
          </a:p>
        </p:txBody>
      </p:sp>
      <p:sp>
        <p:nvSpPr>
          <p:cNvPr id="19" name="TextBox 18"/>
          <p:cNvSpPr txBox="1"/>
          <p:nvPr/>
        </p:nvSpPr>
        <p:spPr>
          <a:xfrm>
            <a:off x="6189027" y="1730120"/>
            <a:ext cx="236220" cy="231457"/>
          </a:xfrm>
          <a:prstGeom prst="rect">
            <a:avLst/>
          </a:prstGeom>
          <a:noFill/>
        </p:spPr>
        <p:txBody>
          <a:bodyPr wrap="none" lIns="0" rIns="0" tIns="0" bIns="0">
            <a:spAutoFit/>
          </a:bodyPr>
          <a:lstStyle/>
          <a:p>
            <a:pPr algn="l"/>
            <a:r>
              <a:rPr sz="1350" b="0">
                <a:solidFill>
                  <a:srgbClr val="DFEADF"/>
                </a:solidFill>
                <a:latin typeface="Noto Sans SC"/>
                <a:ea typeface="Noto Sans SC"/>
              </a:rPr>
              <a:t>L </a:t>
            </a:r>
          </a:p>
        </p:txBody>
      </p:sp>
      <p:sp>
        <p:nvSpPr>
          <p:cNvPr id="20" name="TextBox 19"/>
          <p:cNvSpPr txBox="1"/>
          <p:nvPr/>
        </p:nvSpPr>
        <p:spPr>
          <a:xfrm>
            <a:off x="6322377" y="1730120"/>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1" name="TextBox 20"/>
          <p:cNvSpPr txBox="1"/>
          <p:nvPr/>
        </p:nvSpPr>
        <p:spPr>
          <a:xfrm>
            <a:off x="6493827" y="1730120"/>
            <a:ext cx="2997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D </a:t>
            </a:r>
          </a:p>
        </p:txBody>
      </p:sp>
      <p:sp>
        <p:nvSpPr>
          <p:cNvPr id="22" name="TextBox 21"/>
          <p:cNvSpPr txBox="1"/>
          <p:nvPr/>
        </p:nvSpPr>
        <p:spPr>
          <a:xfrm>
            <a:off x="6690677" y="1730120"/>
            <a:ext cx="1981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3" name="TextBox 22"/>
          <p:cNvSpPr txBox="1"/>
          <p:nvPr/>
        </p:nvSpPr>
        <p:spPr>
          <a:xfrm>
            <a:off x="6785927" y="1730120"/>
            <a:ext cx="26936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A (check symmetry, row sums 0)</a:t>
            </a:r>
          </a:p>
        </p:txBody>
      </p:sp>
      <p:sp>
        <p:nvSpPr>
          <p:cNvPr id="24" name="TextBox 23"/>
          <p:cNvSpPr txBox="1"/>
          <p:nvPr/>
        </p:nvSpPr>
        <p:spPr>
          <a:xfrm>
            <a:off x="5898832" y="21880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2</a:t>
            </a:r>
          </a:p>
        </p:txBody>
      </p:sp>
      <p:sp>
        <p:nvSpPr>
          <p:cNvPr id="25" name="TextBox 24"/>
          <p:cNvSpPr txBox="1"/>
          <p:nvPr/>
        </p:nvSpPr>
        <p:spPr>
          <a:xfrm>
            <a:off x="6189027" y="2149221"/>
            <a:ext cx="1600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6" name="TextBox 25"/>
          <p:cNvSpPr txBox="1"/>
          <p:nvPr/>
        </p:nvSpPr>
        <p:spPr>
          <a:xfrm>
            <a:off x="6246177" y="2149221"/>
            <a:ext cx="198120" cy="231457"/>
          </a:xfrm>
          <a:prstGeom prst="rect">
            <a:avLst/>
          </a:prstGeom>
          <a:noFill/>
        </p:spPr>
        <p:txBody>
          <a:bodyPr wrap="none" lIns="0" rIns="0" tIns="0" bIns="0">
            <a:spAutoFit/>
          </a:bodyPr>
          <a:lstStyle/>
          <a:p>
            <a:pPr algn="l"/>
            <a:r>
              <a:rPr sz="1350" b="0">
                <a:solidFill>
                  <a:srgbClr val="DFEADF"/>
                </a:solidFill>
                <a:latin typeface="Noto Sans SC"/>
                <a:ea typeface="Noto Sans SC"/>
              </a:rPr>
              <a:t>λ</a:t>
            </a:r>
          </a:p>
        </p:txBody>
      </p:sp>
      <p:sp>
        <p:nvSpPr>
          <p:cNvPr id="27" name="TextBox 26"/>
          <p:cNvSpPr txBox="1"/>
          <p:nvPr/>
        </p:nvSpPr>
        <p:spPr>
          <a:xfrm>
            <a:off x="6341427" y="2149221"/>
            <a:ext cx="3695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x) </a:t>
            </a:r>
          </a:p>
        </p:txBody>
      </p:sp>
      <p:sp>
        <p:nvSpPr>
          <p:cNvPr id="28" name="TextBox 27"/>
          <p:cNvSpPr txBox="1"/>
          <p:nvPr/>
        </p:nvSpPr>
        <p:spPr>
          <a:xfrm>
            <a:off x="6608127" y="2149221"/>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9" name="TextBox 28"/>
          <p:cNvSpPr txBox="1"/>
          <p:nvPr/>
        </p:nvSpPr>
        <p:spPr>
          <a:xfrm>
            <a:off x="6779577" y="2149221"/>
            <a:ext cx="26746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eigendecomposition, ascending</a:t>
            </a:r>
          </a:p>
        </p:txBody>
      </p:sp>
      <p:sp>
        <p:nvSpPr>
          <p:cNvPr id="30" name="TextBox 29"/>
          <p:cNvSpPr txBox="1"/>
          <p:nvPr/>
        </p:nvSpPr>
        <p:spPr>
          <a:xfrm>
            <a:off x="5898832" y="26071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3</a:t>
            </a:r>
          </a:p>
        </p:txBody>
      </p:sp>
      <p:sp>
        <p:nvSpPr>
          <p:cNvPr id="31" name="TextBox 30"/>
          <p:cNvSpPr txBox="1"/>
          <p:nvPr/>
        </p:nvSpPr>
        <p:spPr>
          <a:xfrm>
            <a:off x="6189027" y="2568321"/>
            <a:ext cx="3328670" cy="231457"/>
          </a:xfrm>
          <a:prstGeom prst="rect">
            <a:avLst/>
          </a:prstGeom>
          <a:noFill/>
        </p:spPr>
        <p:txBody>
          <a:bodyPr wrap="none" lIns="0" rIns="0" tIns="0" bIns="0">
            <a:spAutoFit/>
          </a:bodyPr>
          <a:lstStyle/>
          <a:p>
            <a:pPr algn="l"/>
            <a:r>
              <a:rPr sz="1350" b="0">
                <a:solidFill>
                  <a:srgbClr val="DFEADF"/>
                </a:solidFill>
                <a:latin typeface="Noto Sans SC"/>
                <a:ea typeface="Noto Sans SC"/>
              </a:rPr>
              <a:t>check connectivity, degeneracy, residual</a:t>
            </a:r>
          </a:p>
        </p:txBody>
      </p:sp>
      <p:sp>
        <p:nvSpPr>
          <p:cNvPr id="32" name="TextBox 31"/>
          <p:cNvSpPr txBox="1"/>
          <p:nvPr/>
        </p:nvSpPr>
        <p:spPr>
          <a:xfrm>
            <a:off x="5898832" y="30262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4</a:t>
            </a:r>
          </a:p>
        </p:txBody>
      </p:sp>
      <p:sp>
        <p:nvSpPr>
          <p:cNvPr id="33" name="TextBox 32"/>
          <p:cNvSpPr txBox="1"/>
          <p:nvPr/>
        </p:nvSpPr>
        <p:spPr>
          <a:xfrm>
            <a:off x="6189027" y="2987421"/>
            <a:ext cx="198120" cy="231457"/>
          </a:xfrm>
          <a:prstGeom prst="rect">
            <a:avLst/>
          </a:prstGeom>
          <a:noFill/>
        </p:spPr>
        <p:txBody>
          <a:bodyPr wrap="none" lIns="0" rIns="0" tIns="0" bIns="0">
            <a:spAutoFit/>
          </a:bodyPr>
          <a:lstStyle/>
          <a:p>
            <a:pPr algn="l"/>
            <a:r>
              <a:rPr sz="1350" b="0">
                <a:solidFill>
                  <a:srgbClr val="DFEADF"/>
                </a:solidFill>
                <a:latin typeface="Noto Sans SC"/>
                <a:ea typeface="Noto Sans SC"/>
              </a:rPr>
              <a:t>f </a:t>
            </a:r>
          </a:p>
        </p:txBody>
      </p:sp>
      <p:sp>
        <p:nvSpPr>
          <p:cNvPr id="34" name="TextBox 33"/>
          <p:cNvSpPr txBox="1"/>
          <p:nvPr/>
        </p:nvSpPr>
        <p:spPr>
          <a:xfrm>
            <a:off x="6284277" y="2987421"/>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35" name="TextBox 34"/>
          <p:cNvSpPr txBox="1"/>
          <p:nvPr/>
        </p:nvSpPr>
        <p:spPr>
          <a:xfrm>
            <a:off x="6455727" y="2987421"/>
            <a:ext cx="13093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eigenvector of </a:t>
            </a:r>
          </a:p>
        </p:txBody>
      </p:sp>
      <p:sp>
        <p:nvSpPr>
          <p:cNvPr id="36" name="TextBox 35"/>
          <p:cNvSpPr txBox="1"/>
          <p:nvPr/>
        </p:nvSpPr>
        <p:spPr>
          <a:xfrm>
            <a:off x="7662227" y="2987421"/>
            <a:ext cx="198120" cy="231457"/>
          </a:xfrm>
          <a:prstGeom prst="rect">
            <a:avLst/>
          </a:prstGeom>
          <a:noFill/>
        </p:spPr>
        <p:txBody>
          <a:bodyPr wrap="none" lIns="0" rIns="0" tIns="0" bIns="0">
            <a:spAutoFit/>
          </a:bodyPr>
          <a:lstStyle/>
          <a:p>
            <a:pPr algn="l"/>
            <a:r>
              <a:rPr sz="1350" b="0">
                <a:solidFill>
                  <a:srgbClr val="DFEADF"/>
                </a:solidFill>
                <a:latin typeface="Noto Sans SC"/>
                <a:ea typeface="Noto Sans SC"/>
              </a:rPr>
              <a:t>λ</a:t>
            </a:r>
          </a:p>
        </p:txBody>
      </p:sp>
      <p:sp>
        <p:nvSpPr>
          <p:cNvPr id="37" name="TextBox 36"/>
          <p:cNvSpPr txBox="1"/>
          <p:nvPr/>
        </p:nvSpPr>
        <p:spPr>
          <a:xfrm>
            <a:off x="7757477" y="2987421"/>
            <a:ext cx="1195070" cy="231457"/>
          </a:xfrm>
          <a:prstGeom prst="rect">
            <a:avLst/>
          </a:prstGeom>
          <a:noFill/>
        </p:spPr>
        <p:txBody>
          <a:bodyPr wrap="none" lIns="0" rIns="0" tIns="0" bIns="0">
            <a:spAutoFit/>
          </a:bodyPr>
          <a:lstStyle/>
          <a:p>
            <a:pPr algn="l"/>
            <a:r>
              <a:rPr sz="1350" b="0">
                <a:solidFill>
                  <a:srgbClr val="DFEADF"/>
                </a:solidFill>
                <a:latin typeface="Noto Sans SC"/>
                <a:ea typeface="Noto Sans SC"/>
              </a:rPr>
              <a:t>2 (fix the sign)</a:t>
            </a:r>
          </a:p>
        </p:txBody>
      </p:sp>
      <p:sp>
        <p:nvSpPr>
          <p:cNvPr id="38" name="Rectangle 37"/>
          <p:cNvSpPr/>
          <p:nvPr/>
        </p:nvSpPr>
        <p:spPr>
          <a:xfrm>
            <a:off x="5753100" y="3371850"/>
            <a:ext cx="5715000" cy="4064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753100" y="3371850"/>
            <a:ext cx="38100" cy="406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98832" y="34453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5</a:t>
            </a:r>
          </a:p>
        </p:txBody>
      </p:sp>
      <p:sp>
        <p:nvSpPr>
          <p:cNvPr id="41" name="TextBox 40"/>
          <p:cNvSpPr txBox="1"/>
          <p:nvPr/>
        </p:nvSpPr>
        <p:spPr>
          <a:xfrm>
            <a:off x="6189027" y="3406521"/>
            <a:ext cx="572770" cy="231457"/>
          </a:xfrm>
          <a:prstGeom prst="rect">
            <a:avLst/>
          </a:prstGeom>
          <a:noFill/>
        </p:spPr>
        <p:txBody>
          <a:bodyPr wrap="none" lIns="0" rIns="0" tIns="0" bIns="0">
            <a:spAutoFit/>
          </a:bodyPr>
          <a:lstStyle/>
          <a:p>
            <a:pPr algn="l"/>
            <a:r>
              <a:rPr sz="1350" b="0">
                <a:solidFill>
                  <a:srgbClr val="D8BB78"/>
                </a:solidFill>
                <a:latin typeface="Noto Sans SC"/>
                <a:ea typeface="Noto Sans SC"/>
              </a:rPr>
              <a:t>order </a:t>
            </a:r>
          </a:p>
        </p:txBody>
      </p:sp>
      <p:sp>
        <p:nvSpPr>
          <p:cNvPr id="42" name="TextBox 41"/>
          <p:cNvSpPr txBox="1"/>
          <p:nvPr/>
        </p:nvSpPr>
        <p:spPr>
          <a:xfrm>
            <a:off x="6658927" y="34065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43" name="TextBox 42"/>
          <p:cNvSpPr txBox="1"/>
          <p:nvPr/>
        </p:nvSpPr>
        <p:spPr>
          <a:xfrm>
            <a:off x="6830377" y="3406521"/>
            <a:ext cx="16840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sort by f, ascending</a:t>
            </a:r>
          </a:p>
        </p:txBody>
      </p:sp>
      <p:sp>
        <p:nvSpPr>
          <p:cNvPr id="44" name="Rectangle 43"/>
          <p:cNvSpPr/>
          <p:nvPr/>
        </p:nvSpPr>
        <p:spPr>
          <a:xfrm>
            <a:off x="5753100" y="3790950"/>
            <a:ext cx="5715000" cy="4064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5753100" y="3790950"/>
            <a:ext cx="38100" cy="406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898832" y="38644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6</a:t>
            </a:r>
          </a:p>
        </p:txBody>
      </p:sp>
      <p:sp>
        <p:nvSpPr>
          <p:cNvPr id="47" name="TextBox 46"/>
          <p:cNvSpPr txBox="1"/>
          <p:nvPr/>
        </p:nvSpPr>
        <p:spPr>
          <a:xfrm>
            <a:off x="6189027" y="3825621"/>
            <a:ext cx="763270" cy="231457"/>
          </a:xfrm>
          <a:prstGeom prst="rect">
            <a:avLst/>
          </a:prstGeom>
          <a:noFill/>
        </p:spPr>
        <p:txBody>
          <a:bodyPr wrap="none" lIns="0" rIns="0" tIns="0" bIns="0">
            <a:spAutoFit/>
          </a:bodyPr>
          <a:lstStyle/>
          <a:p>
            <a:pPr algn="l"/>
            <a:r>
              <a:rPr sz="1350" b="0">
                <a:solidFill>
                  <a:srgbClr val="D8BB78"/>
                </a:solidFill>
                <a:latin typeface="Noto Sans SC"/>
                <a:ea typeface="Noto Sans SC"/>
              </a:rPr>
              <a:t>for k = 1 </a:t>
            </a:r>
          </a:p>
        </p:txBody>
      </p:sp>
      <p:sp>
        <p:nvSpPr>
          <p:cNvPr id="48" name="TextBox 47"/>
          <p:cNvSpPr txBox="1"/>
          <p:nvPr/>
        </p:nvSpPr>
        <p:spPr>
          <a:xfrm>
            <a:off x="6849427" y="38256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49" name="TextBox 48"/>
          <p:cNvSpPr txBox="1"/>
          <p:nvPr/>
        </p:nvSpPr>
        <p:spPr>
          <a:xfrm>
            <a:off x="7020877" y="3825621"/>
            <a:ext cx="242570" cy="231457"/>
          </a:xfrm>
          <a:prstGeom prst="rect">
            <a:avLst/>
          </a:prstGeom>
          <a:noFill/>
        </p:spPr>
        <p:txBody>
          <a:bodyPr wrap="none" lIns="0" rIns="0" tIns="0" bIns="0">
            <a:spAutoFit/>
          </a:bodyPr>
          <a:lstStyle/>
          <a:p>
            <a:pPr algn="l"/>
            <a:r>
              <a:rPr sz="1350" b="0">
                <a:solidFill>
                  <a:srgbClr val="D8BB78"/>
                </a:solidFill>
                <a:latin typeface="Noto Sans SC"/>
                <a:ea typeface="Noto Sans SC"/>
              </a:rPr>
              <a:t> n</a:t>
            </a:r>
          </a:p>
        </p:txBody>
      </p:sp>
      <p:sp>
        <p:nvSpPr>
          <p:cNvPr id="50" name="TextBox 49"/>
          <p:cNvSpPr txBox="1"/>
          <p:nvPr/>
        </p:nvSpPr>
        <p:spPr>
          <a:xfrm>
            <a:off x="7160577" y="3825621"/>
            <a:ext cx="1981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51" name="TextBox 50"/>
          <p:cNvSpPr txBox="1"/>
          <p:nvPr/>
        </p:nvSpPr>
        <p:spPr>
          <a:xfrm>
            <a:off x="7255827" y="3825621"/>
            <a:ext cx="1296670" cy="231457"/>
          </a:xfrm>
          <a:prstGeom prst="rect">
            <a:avLst/>
          </a:prstGeom>
          <a:noFill/>
        </p:spPr>
        <p:txBody>
          <a:bodyPr wrap="none" lIns="0" rIns="0" tIns="0" bIns="0">
            <a:spAutoFit/>
          </a:bodyPr>
          <a:lstStyle/>
          <a:p>
            <a:pPr algn="l"/>
            <a:r>
              <a:rPr sz="1350" b="0">
                <a:solidFill>
                  <a:srgbClr val="D8BB78"/>
                </a:solidFill>
                <a:latin typeface="Noto Sans SC"/>
                <a:ea typeface="Noto Sans SC"/>
              </a:rPr>
              <a:t>1: compute cut</a:t>
            </a:r>
          </a:p>
        </p:txBody>
      </p:sp>
      <p:sp>
        <p:nvSpPr>
          <p:cNvPr id="52" name="Rectangle 51"/>
          <p:cNvSpPr/>
          <p:nvPr/>
        </p:nvSpPr>
        <p:spPr>
          <a:xfrm>
            <a:off x="5753100" y="4210050"/>
            <a:ext cx="5715000" cy="4064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5753100" y="4210050"/>
            <a:ext cx="38100" cy="406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898832" y="42835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7</a:t>
            </a:r>
          </a:p>
        </p:txBody>
      </p:sp>
      <p:sp>
        <p:nvSpPr>
          <p:cNvPr id="55" name="TextBox 54"/>
          <p:cNvSpPr txBox="1"/>
          <p:nvPr/>
        </p:nvSpPr>
        <p:spPr>
          <a:xfrm>
            <a:off x="6189027" y="4244721"/>
            <a:ext cx="3284220" cy="231457"/>
          </a:xfrm>
          <a:prstGeom prst="rect">
            <a:avLst/>
          </a:prstGeom>
          <a:noFill/>
        </p:spPr>
        <p:txBody>
          <a:bodyPr wrap="none" lIns="0" rIns="0" tIns="0" bIns="0">
            <a:spAutoFit/>
          </a:bodyPr>
          <a:lstStyle/>
          <a:p>
            <a:pPr algn="l"/>
            <a:r>
              <a:rPr sz="1350" b="0">
                <a:solidFill>
                  <a:srgbClr val="D8BB78"/>
                </a:solidFill>
                <a:latin typeface="Noto Sans SC"/>
                <a:ea typeface="Noto Sans SC"/>
              </a:rPr>
              <a:t>return the k with least cut in the window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772410" cy="480060"/>
          </a:xfrm>
          <a:prstGeom prst="rect">
            <a:avLst/>
          </a:prstGeom>
          <a:noFill/>
        </p:spPr>
        <p:txBody>
          <a:bodyPr wrap="none" lIns="0" rIns="0" tIns="0" bIns="0">
            <a:spAutoFit/>
          </a:bodyPr>
          <a:lstStyle/>
          <a:p>
            <a:pPr algn="l"/>
            <a:r>
              <a:rPr sz="2800" b="0">
                <a:solidFill>
                  <a:srgbClr val="F2F3E9"/>
                </a:solidFill>
                <a:latin typeface="Noto Sans SC"/>
                <a:ea typeface="Noto Sans SC"/>
              </a:rPr>
              <a:t>Limits and uses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p10/11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Gives a good initial bisection, often handed to KL/FM to improve</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Unnormalised L; normalised variants give different orders</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At scale, use sparse iterative solvers (such as Lanczos)</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Springs are only an analogy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1826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Summary</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06 · Spectral Bisection</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p11/11</a:t>
            </a:r>
          </a:p>
        </p:txBody>
      </p:sp>
      <p:sp>
        <p:nvSpPr>
          <p:cNvPr id="9" name="TextBox 8"/>
          <p:cNvSpPr txBox="1"/>
          <p:nvPr/>
        </p:nvSpPr>
        <p:spPr>
          <a:xfrm>
            <a:off x="1016000" y="1897380"/>
            <a:ext cx="10350500" cy="552450"/>
          </a:xfrm>
          <a:prstGeom prst="rect">
            <a:avLst/>
          </a:prstGeom>
          <a:noFill/>
        </p:spPr>
        <p:txBody>
          <a:bodyPr wrap="square" lIns="0" rIns="0" tIns="0" bIns="0">
            <a:spAutoFit/>
          </a:bodyPr>
          <a:lstStyle/>
          <a:p>
            <a:pPr algn="l">
              <a:lnSpc>
                <a:spcPct val="121800"/>
              </a:lnSpc>
            </a:pPr>
            <a:r>
              <a:rPr sz="3000" b="0">
                <a:solidFill>
                  <a:srgbClr val="D8BB78"/>
                </a:solidFill>
                <a:latin typeface="Noto Sans SC"/>
                <a:ea typeface="Noto Sans SC"/>
              </a:rPr>
              <a:t>L = D − A; the Fiedler vector gives every point a number.</a:t>
            </a:r>
          </a:p>
        </p:txBody>
      </p:sp>
      <p:sp>
        <p:nvSpPr>
          <p:cNvPr id="10" name="TextBox 9"/>
          <p:cNvSpPr txBox="1"/>
          <p:nvPr/>
        </p:nvSpPr>
        <p:spPr>
          <a:xfrm>
            <a:off x="1016000" y="2782824"/>
            <a:ext cx="10280650" cy="699770"/>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Sort, sweep the n − 1 cut points, choose only inside the balance window; a sign flip only swaps sides.</a:t>
            </a:r>
          </a:p>
        </p:txBody>
      </p:sp>
      <p:sp>
        <p:nvSpPr>
          <p:cNvPr id="11" name="TextBox 10"/>
          <p:cNvSpPr txBox="1"/>
          <p:nvPr/>
        </p:nvSpPr>
        <p:spPr>
          <a:xfrm>
            <a:off x="1016000" y="3673094"/>
            <a:ext cx="10280650" cy="349885"/>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Next module: start from this bisection and keep improving it with pairwise swaps.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06 Spectral Bisection</dc:title>
  <dc:subject/>
  <dc:creator>Learning Clustering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