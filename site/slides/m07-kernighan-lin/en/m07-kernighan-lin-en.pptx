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module covers Kernighan–Lin (KL) refinement: given an initial grouping with fixed side sizes, how to lower the wiring across it by swapping pairs. Three ideas are at its core: why a pair gain subtracts 2w, why negative gains are tried too, and why only the best prefix is kept in the end.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input is an undirected weighted graph and an initial bisection. Here the seed puts A and E on the left and B, C, D on the right; the edges across are AB, AC, CE and DE, so the cut is 12. KL only allows one-for-one swaps, so the node count on each side never changes. Note that this balances the count of nodes, not their area.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KL is a heuristic published by Kernighan and Lin in 1970 in the Bell System Technical Journal. Rather than grouping from scratch, it improves an existing bisection. In this course it follows spectral bisection: first an initial grouping, then local improvement. The next module, FM, moves one node at a time instead of one for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give every node a number, D. External weight is its edges to the other side; internal weight is its edges to its own side. Both of A’s edges go across, so D(A) is 6 minus 0, which is 6. C has only 2 external and 6 internal, so D(C) is minus 4: it would rather stay.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gain of swapping a pair a, b is D(a) plus D(b), minus 2w(a,b). Two nodes on the left and three on the right make six pairs. The largest in the table is A and D: 6 plus 3 minus 0, which is 9.</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subtract 2w? Look at E and D. D(E) plus D(D) is 9, but both D values count edge DE as external, once each. After the swap, E is on the right and D on the left: still on opposite sides, so DE is still cut. The edge’s contribution must come off twice, so g is 9 minus 10, which is minus 1.</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one picks A and D, the largest gain; after the swap the cut drops from 12 to 3. The two swapped nodes lock and don’t move again this pass. Note that this step is only a trial for now; it has not been accepted.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recomputing D, both remaining candidates have negative gains. KL does not stop here; it takes the largest anyway, E and C, gain minus 8, and the cut rises to 11 for now. With no unlocked node left on the left, the pass’s trials end.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the end of the pass, look back at the cumulative gains: doing nothing is 0, the first step is plus 9, both steps are plus 1. The largest is the first step alone, so from the pass start only the A–D swap is applied, and the accepted grouping is ABC versus DE, cut 3. Step two is undone: it was only there to see whether anything better came after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Pass two starts from ABC versus DE with every node unlocked again. The two trial steps gain minus 8 and plus 2, cumulative minus 8 and minus 6, and neither beats doing nothing. The empty prefix wins, the cut stays 3, and the algorithm stops.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outer loop of the pseudocode is one pass after another. Inside, while both sides have unlocked nodes, it picks the largest-gain pair, swaps, locks and updates D, taking negative gains too. At the end of the pass it takes the prefix with the largest cumulative gain and applies only those steps from the pass start. If the best prefix is empty, it stops.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five common mistakes. First, forgetting to subtract 2w, which makes the E–D swap look like plus 9. Second, stopping at a negative gain, which hides the full set of prefixes. Third, a prefix must be consecutive from the first step; you cannot pick out the positive steps. Fourth, don’t report the trial state as the result. Fifth, count balance is not area balance.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KL is a heuristic. Getting cut 3 on this small graph is a property of this graph, not a promise of the global optimum. It depends on the initial grouping, so different methods should be compared from the same seed. A naive implementation scans every cross pair at each step. It only balances the head count; different cell areas need separate handling.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summary: a trial may make things worse, but acceptance looks only at the best prefix. A pair gain subtracts 2w; each pass locks the swapped nodes and rolls back to the best prefix at the end; if that prefix is empty, stop. The next module’s FM moves one node at a time, with a balance window instead of one for one.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71C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2000" cy="38100"/>
          </a:xfrm>
          <a:prstGeom prst="rect">
            <a:avLst/>
          </a:prstGeom>
          <a:solidFill>
            <a:srgbClr val="77CDBB">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4" name="Connector 3"/>
          <p:cNvCxnSpPr/>
          <p:nvPr/>
        </p:nvCxnSpPr>
        <p:spPr>
          <a:xfrm>
            <a:off x="571500" y="6426200"/>
            <a:ext cx="11049000" cy="0"/>
          </a:xfrm>
          <a:prstGeom prst="line">
            <a:avLst/>
          </a:prstGeom>
          <a:ln w="12700">
            <a:solidFill>
              <a:srgbClr val="1D3D43"/>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3880" y="6512052"/>
            <a:ext cx="2948940" cy="205740"/>
          </a:xfrm>
          <a:prstGeom prst="rect">
            <a:avLst/>
          </a:prstGeom>
          <a:noFill/>
        </p:spPr>
        <p:txBody>
          <a:bodyPr wrap="none" lIns="0" rIns="0" tIns="0" bIns="0">
            <a:spAutoFit/>
          </a:bodyPr>
          <a:lstStyle/>
          <a:p>
            <a:pPr algn="l"/>
            <a:r>
              <a:rPr sz="1200" b="0">
                <a:solidFill>
                  <a:srgbClr val="6F8F8F"/>
                </a:solidFill>
                <a:latin typeface="Noto Sans SC"/>
                <a:ea typeface="Noto Sans SC"/>
              </a:rPr>
              <a:t>Module 07 · Kernighan–Lin Refinement</a:t>
            </a:r>
          </a:p>
        </p:txBody>
      </p:sp>
      <p:sp>
        <p:nvSpPr>
          <p:cNvPr id="6" name="TextBox 5"/>
          <p:cNvSpPr txBox="1"/>
          <p:nvPr/>
        </p:nvSpPr>
        <p:spPr>
          <a:xfrm>
            <a:off x="11113770" y="6499098"/>
            <a:ext cx="556260" cy="222885"/>
          </a:xfrm>
          <a:prstGeom prst="rect">
            <a:avLst/>
          </a:prstGeom>
          <a:noFill/>
        </p:spPr>
        <p:txBody>
          <a:bodyPr wrap="none" lIns="0" rIns="0" tIns="0" bIns="0">
            <a:spAutoFit/>
          </a:bodyPr>
          <a:lstStyle/>
          <a:p>
            <a:pPr algn="r"/>
            <a:r>
              <a:rPr sz="1300" b="1">
                <a:solidFill>
                  <a:srgbClr val="BCD2D0"/>
                </a:solidFill>
                <a:latin typeface="Noto Sans SC"/>
                <a:ea typeface="Noto Sans SC"/>
              </a:rPr>
              <a:t>p1/14</a:t>
            </a:r>
          </a:p>
        </p:txBody>
      </p:sp>
      <p:sp>
        <p:nvSpPr>
          <p:cNvPr id="7" name="TextBox 6"/>
          <p:cNvSpPr txBox="1"/>
          <p:nvPr/>
        </p:nvSpPr>
        <p:spPr>
          <a:xfrm>
            <a:off x="3126105" y="2310892"/>
            <a:ext cx="5939790" cy="891540"/>
          </a:xfrm>
          <a:prstGeom prst="rect">
            <a:avLst/>
          </a:prstGeom>
          <a:noFill/>
        </p:spPr>
        <p:txBody>
          <a:bodyPr wrap="none" lIns="0" rIns="0" tIns="0" bIns="0">
            <a:spAutoFit/>
          </a:bodyPr>
          <a:lstStyle/>
          <a:p>
            <a:pPr algn="ctr"/>
            <a:r>
              <a:rPr sz="5200" b="0">
                <a:solidFill>
                  <a:srgbClr val="D8BB78"/>
                </a:solidFill>
                <a:latin typeface="Noto Sans SC"/>
                <a:ea typeface="Noto Sans SC"/>
              </a:rPr>
              <a:t>Try, then roll back</a:t>
            </a:r>
          </a:p>
        </p:txBody>
      </p:sp>
      <p:sp>
        <p:nvSpPr>
          <p:cNvPr id="8" name="TextBox 7"/>
          <p:cNvSpPr txBox="1"/>
          <p:nvPr/>
        </p:nvSpPr>
        <p:spPr>
          <a:xfrm>
            <a:off x="3053080" y="3335782"/>
            <a:ext cx="6085840" cy="291465"/>
          </a:xfrm>
          <a:prstGeom prst="rect">
            <a:avLst/>
          </a:prstGeom>
          <a:noFill/>
        </p:spPr>
        <p:txBody>
          <a:bodyPr wrap="none" lIns="0" rIns="0" tIns="0" bIns="0">
            <a:spAutoFit/>
          </a:bodyPr>
          <a:lstStyle/>
          <a:p>
            <a:pPr algn="ctr"/>
            <a:r>
              <a:rPr sz="1700" b="0">
                <a:solidFill>
                  <a:srgbClr val="BCD2D0"/>
                </a:solidFill>
                <a:latin typeface="Noto Sans SC"/>
                <a:ea typeface="Noto Sans SC"/>
              </a:rPr>
              <a:t>Kernighan–Lin refinement · pair swaps and the best prefix</a:t>
            </a:r>
          </a:p>
        </p:txBody>
      </p:sp>
      <p:sp>
        <p:nvSpPr>
          <p:cNvPr id="9" name="TextBox 8"/>
          <p:cNvSpPr txBox="1"/>
          <p:nvPr/>
        </p:nvSpPr>
        <p:spPr>
          <a:xfrm>
            <a:off x="3553460" y="4136644"/>
            <a:ext cx="5085080" cy="240030"/>
          </a:xfrm>
          <a:prstGeom prst="rect">
            <a:avLst/>
          </a:prstGeom>
          <a:noFill/>
        </p:spPr>
        <p:txBody>
          <a:bodyPr wrap="none" lIns="0" rIns="0" tIns="0" bIns="0">
            <a:spAutoFit/>
          </a:bodyPr>
          <a:lstStyle/>
          <a:p>
            <a:pPr algn="ctr"/>
            <a:r>
              <a:rPr sz="1400" b="0">
                <a:solidFill>
                  <a:srgbClr val="6F8F8F"/>
                </a:solidFill>
                <a:latin typeface="Noto Sans SC"/>
                <a:ea typeface="Noto Sans SC"/>
              </a:rPr>
              <a:t>Learning Clustering · original author FanqinZeng (Issue #6)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71C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2000" cy="38100"/>
          </a:xfrm>
          <a:prstGeom prst="rect">
            <a:avLst/>
          </a:prstGeom>
          <a:solidFill>
            <a:srgbClr val="77CDBB">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53720" y="450088"/>
            <a:ext cx="2353310" cy="480060"/>
          </a:xfrm>
          <a:prstGeom prst="rect">
            <a:avLst/>
          </a:prstGeom>
          <a:noFill/>
        </p:spPr>
        <p:txBody>
          <a:bodyPr wrap="none" lIns="0" rIns="0" tIns="0" bIns="0">
            <a:spAutoFit/>
          </a:bodyPr>
          <a:lstStyle/>
          <a:p>
            <a:pPr algn="l"/>
            <a:r>
              <a:rPr sz="2800" b="0">
                <a:solidFill>
                  <a:srgbClr val="F2F3E9"/>
                </a:solidFill>
                <a:latin typeface="Noto Sans SC"/>
                <a:ea typeface="Noto Sans SC"/>
              </a:rPr>
              <a:t>The problem</a:t>
            </a:r>
          </a:p>
        </p:txBody>
      </p:sp>
      <p:sp>
        <p:nvSpPr>
          <p:cNvPr id="5" name="Rectangle 4"/>
          <p:cNvSpPr/>
          <p:nvPr/>
        </p:nvSpPr>
        <p:spPr>
          <a:xfrm>
            <a:off x="571500" y="965200"/>
            <a:ext cx="571500" cy="25400"/>
          </a:xfrm>
          <a:prstGeom prst="rect">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571500" y="6426200"/>
            <a:ext cx="11049000" cy="0"/>
          </a:xfrm>
          <a:prstGeom prst="line">
            <a:avLst/>
          </a:prstGeom>
          <a:ln w="12700">
            <a:solidFill>
              <a:srgbClr val="1D3D4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3880" y="6512052"/>
            <a:ext cx="2948940" cy="205740"/>
          </a:xfrm>
          <a:prstGeom prst="rect">
            <a:avLst/>
          </a:prstGeom>
          <a:noFill/>
        </p:spPr>
        <p:txBody>
          <a:bodyPr wrap="none" lIns="0" rIns="0" tIns="0" bIns="0">
            <a:spAutoFit/>
          </a:bodyPr>
          <a:lstStyle/>
          <a:p>
            <a:pPr algn="l"/>
            <a:r>
              <a:rPr sz="1200" b="0">
                <a:solidFill>
                  <a:srgbClr val="6F8F8F"/>
                </a:solidFill>
                <a:latin typeface="Noto Sans SC"/>
                <a:ea typeface="Noto Sans SC"/>
              </a:rPr>
              <a:t>Module 07 · Kernighan–Lin Refinement</a:t>
            </a:r>
          </a:p>
        </p:txBody>
      </p:sp>
      <p:sp>
        <p:nvSpPr>
          <p:cNvPr id="8" name="TextBox 7"/>
          <p:cNvSpPr txBox="1"/>
          <p:nvPr/>
        </p:nvSpPr>
        <p:spPr>
          <a:xfrm>
            <a:off x="11113770" y="6499098"/>
            <a:ext cx="556260" cy="222885"/>
          </a:xfrm>
          <a:prstGeom prst="rect">
            <a:avLst/>
          </a:prstGeom>
          <a:noFill/>
        </p:spPr>
        <p:txBody>
          <a:bodyPr wrap="none" lIns="0" rIns="0" tIns="0" bIns="0">
            <a:spAutoFit/>
          </a:bodyPr>
          <a:lstStyle/>
          <a:p>
            <a:pPr algn="r"/>
            <a:r>
              <a:rPr sz="1300" b="1">
                <a:solidFill>
                  <a:srgbClr val="BCD2D0"/>
                </a:solidFill>
                <a:latin typeface="Noto Sans SC"/>
                <a:ea typeface="Noto Sans SC"/>
              </a:rPr>
              <a:t>p2/14</a:t>
            </a:r>
          </a:p>
        </p:txBody>
      </p:sp>
      <p:sp>
        <p:nvSpPr>
          <p:cNvPr id="9" name="Oval 8"/>
          <p:cNvSpPr/>
          <p:nvPr/>
        </p:nvSpPr>
        <p:spPr>
          <a:xfrm>
            <a:off x="711200" y="15394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14400" y="1430782"/>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Input: an undirected weighted graph and an initial bisection with fixed side sizes</a:t>
            </a:r>
          </a:p>
        </p:txBody>
      </p:sp>
      <p:sp>
        <p:nvSpPr>
          <p:cNvPr id="11" name="Oval 10"/>
          <p:cNvSpPr/>
          <p:nvPr/>
        </p:nvSpPr>
        <p:spPr>
          <a:xfrm>
            <a:off x="711200" y="2284349"/>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14400" y="2175637"/>
            <a:ext cx="4718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Move: swap one pair, a (left) and b (right)</a:t>
            </a:r>
          </a:p>
        </p:txBody>
      </p:sp>
      <p:sp>
        <p:nvSpPr>
          <p:cNvPr id="13" name="Oval 12"/>
          <p:cNvSpPr/>
          <p:nvPr/>
        </p:nvSpPr>
        <p:spPr>
          <a:xfrm>
            <a:off x="711200" y="2716149"/>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14400" y="2607437"/>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Goal: make the cut (total weight across) smaller</a:t>
            </a:r>
          </a:p>
        </p:txBody>
      </p:sp>
      <p:sp>
        <p:nvSpPr>
          <p:cNvPr id="15" name="Oval 14"/>
          <p:cNvSpPr/>
          <p:nvPr/>
        </p:nvSpPr>
        <p:spPr>
          <a:xfrm>
            <a:off x="711200" y="346100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14400" y="3352292"/>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Constraint: the node count per side never changes</a:t>
            </a:r>
          </a:p>
        </p:txBody>
      </p:sp>
      <p:sp>
        <p:nvSpPr>
          <p:cNvPr id="17" name="Oval 16"/>
          <p:cNvSpPr/>
          <p:nvPr/>
        </p:nvSpPr>
        <p:spPr>
          <a:xfrm>
            <a:off x="711200" y="4205859"/>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14400" y="4097147"/>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Output: the trial sequence, the best prefix, the accepted grouping and the stop reason</a:t>
            </a:r>
          </a:p>
        </p:txBody>
      </p:sp>
      <p:sp>
        <p:nvSpPr>
          <p:cNvPr id="19" name="TextBox 18"/>
          <p:cNvSpPr txBox="1"/>
          <p:nvPr/>
        </p:nvSpPr>
        <p:spPr>
          <a:xfrm>
            <a:off x="698500" y="5546598"/>
            <a:ext cx="4908550" cy="478789"/>
          </a:xfrm>
          <a:prstGeom prst="rect">
            <a:avLst/>
          </a:prstGeom>
          <a:noFill/>
        </p:spPr>
        <p:txBody>
          <a:bodyPr wrap="square" lIns="0" rIns="0" tIns="0" bIns="0">
            <a:spAutoFit/>
          </a:bodyPr>
          <a:lstStyle/>
          <a:p>
            <a:pPr algn="l">
              <a:lnSpc>
                <a:spcPct val="121800"/>
              </a:lnSpc>
            </a:pPr>
            <a:r>
              <a:rPr sz="1300" b="0">
                <a:solidFill>
                  <a:srgbClr val="BCD2D0"/>
                </a:solidFill>
                <a:latin typeface="Noto Sans SC"/>
                <a:ea typeface="Noto Sans SC"/>
              </a:rPr>
              <a:t>A fixed head count ≠ area balance: with cells of different areas, swapping two nodes can unbalance the area.</a:t>
            </a:r>
          </a:p>
        </p:txBody>
      </p:sp>
      <p:sp>
        <p:nvSpPr>
          <p:cNvPr id="20" name="Rounded Rectangle 19"/>
          <p:cNvSpPr/>
          <p:nvPr/>
        </p:nvSpPr>
        <p:spPr>
          <a:xfrm>
            <a:off x="5591175" y="1393825"/>
            <a:ext cx="2774950" cy="3860800"/>
          </a:xfrm>
          <a:prstGeom prst="roundRect">
            <a:avLst>
              <a:gd name="adj" fmla="val 5217"/>
            </a:avLst>
          </a:prstGeom>
          <a:noFill/>
          <a:ln w="12065">
            <a:solidFill>
              <a:srgbClr val="2B515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73590" y="1511338"/>
            <a:ext cx="1210119" cy="211740"/>
          </a:xfrm>
          <a:prstGeom prst="rect">
            <a:avLst/>
          </a:prstGeom>
          <a:noFill/>
        </p:spPr>
        <p:txBody>
          <a:bodyPr wrap="none" lIns="0" rIns="0" tIns="0" bIns="0">
            <a:spAutoFit/>
          </a:bodyPr>
          <a:lstStyle/>
          <a:p>
            <a:pPr algn="ctr"/>
            <a:r>
              <a:rPr sz="1235" b="1">
                <a:solidFill>
                  <a:srgbClr val="BCD2D0"/>
                </a:solidFill>
                <a:latin typeface="Noto Sans SC"/>
                <a:ea typeface="Noto Sans SC"/>
              </a:rPr>
              <a:t>left · 2 places</a:t>
            </a:r>
          </a:p>
        </p:txBody>
      </p:sp>
      <p:sp>
        <p:nvSpPr>
          <p:cNvPr id="22" name="Rounded Rectangle 21"/>
          <p:cNvSpPr/>
          <p:nvPr/>
        </p:nvSpPr>
        <p:spPr>
          <a:xfrm>
            <a:off x="8728075" y="1393825"/>
            <a:ext cx="2774950" cy="3860800"/>
          </a:xfrm>
          <a:prstGeom prst="roundRect">
            <a:avLst>
              <a:gd name="adj" fmla="val 5217"/>
            </a:avLst>
          </a:prstGeom>
          <a:noFill/>
          <a:ln w="12065">
            <a:solidFill>
              <a:srgbClr val="2B515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453181" y="1511338"/>
            <a:ext cx="1324736" cy="211740"/>
          </a:xfrm>
          <a:prstGeom prst="rect">
            <a:avLst/>
          </a:prstGeom>
          <a:noFill/>
        </p:spPr>
        <p:txBody>
          <a:bodyPr wrap="none" lIns="0" rIns="0" tIns="0" bIns="0">
            <a:spAutoFit/>
          </a:bodyPr>
          <a:lstStyle/>
          <a:p>
            <a:pPr algn="ctr"/>
            <a:r>
              <a:rPr sz="1235" b="1">
                <a:solidFill>
                  <a:srgbClr val="BCD2D0"/>
                </a:solidFill>
                <a:latin typeface="Noto Sans SC"/>
                <a:ea typeface="Noto Sans SC"/>
              </a:rPr>
              <a:t>right · 3 places</a:t>
            </a:r>
          </a:p>
        </p:txBody>
      </p:sp>
      <p:cxnSp>
        <p:nvCxnSpPr>
          <p:cNvPr id="24" name="Connector 23"/>
          <p:cNvCxnSpPr/>
          <p:nvPr/>
        </p:nvCxnSpPr>
        <p:spPr>
          <a:xfrm flipV="1">
            <a:off x="6978650" y="1997075"/>
            <a:ext cx="3136900" cy="482600"/>
          </a:xfrm>
          <a:prstGeom prst="line">
            <a:avLst/>
          </a:prstGeom>
          <a:ln w="24130">
            <a:solidFill>
              <a:srgbClr val="DB7B72"/>
            </a:solidFill>
            <a:prstDash val="dash"/>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8384261" y="1878731"/>
            <a:ext cx="277977" cy="277977"/>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08029" y="1886453"/>
            <a:ext cx="230441" cy="260604"/>
          </a:xfrm>
          <a:prstGeom prst="rect">
            <a:avLst/>
          </a:prstGeom>
          <a:noFill/>
        </p:spPr>
        <p:txBody>
          <a:bodyPr wrap="none" lIns="0" rIns="0" tIns="0" bIns="0">
            <a:spAutoFit/>
          </a:bodyPr>
          <a:lstStyle/>
          <a:p>
            <a:pPr algn="ctr"/>
            <a:r>
              <a:rPr sz="1520" b="1">
                <a:solidFill>
                  <a:srgbClr val="D9E4E1"/>
                </a:solidFill>
                <a:latin typeface="Noto Sans SC"/>
                <a:ea typeface="Noto Sans SC"/>
              </a:rPr>
              <a:t>5</a:t>
            </a:r>
          </a:p>
        </p:txBody>
      </p:sp>
      <p:cxnSp>
        <p:nvCxnSpPr>
          <p:cNvPr id="27" name="Connector 26"/>
          <p:cNvCxnSpPr/>
          <p:nvPr/>
        </p:nvCxnSpPr>
        <p:spPr>
          <a:xfrm>
            <a:off x="6978650" y="2479675"/>
            <a:ext cx="3136900" cy="844550"/>
          </a:xfrm>
          <a:prstGeom prst="line">
            <a:avLst/>
          </a:prstGeom>
          <a:ln w="24130">
            <a:solidFill>
              <a:srgbClr val="DB7B72"/>
            </a:solidFill>
            <a:prstDash val="dash"/>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8448886" y="2545875"/>
            <a:ext cx="277977" cy="277977"/>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472654" y="2553597"/>
            <a:ext cx="230441" cy="260604"/>
          </a:xfrm>
          <a:prstGeom prst="rect">
            <a:avLst/>
          </a:prstGeom>
          <a:noFill/>
        </p:spPr>
        <p:txBody>
          <a:bodyPr wrap="none" lIns="0" rIns="0" tIns="0" bIns="0">
            <a:spAutoFit/>
          </a:bodyPr>
          <a:lstStyle/>
          <a:p>
            <a:pPr algn="ctr"/>
            <a:r>
              <a:rPr sz="1520" b="1">
                <a:solidFill>
                  <a:srgbClr val="D9E4E1"/>
                </a:solidFill>
                <a:latin typeface="Noto Sans SC"/>
                <a:ea typeface="Noto Sans SC"/>
              </a:rPr>
              <a:t>1</a:t>
            </a:r>
          </a:p>
        </p:txBody>
      </p:sp>
      <p:cxnSp>
        <p:nvCxnSpPr>
          <p:cNvPr id="30" name="Connector 29"/>
          <p:cNvCxnSpPr/>
          <p:nvPr/>
        </p:nvCxnSpPr>
        <p:spPr>
          <a:xfrm>
            <a:off x="10115550" y="1997075"/>
            <a:ext cx="0" cy="1327150"/>
          </a:xfrm>
          <a:prstGeom prst="line">
            <a:avLst/>
          </a:prstGeom>
          <a:ln w="30162">
            <a:solidFill>
              <a:srgbClr val="9FC9BF"/>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10133406" y="2456027"/>
            <a:ext cx="277977" cy="277977"/>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0157174" y="2463749"/>
            <a:ext cx="230441" cy="260604"/>
          </a:xfrm>
          <a:prstGeom prst="rect">
            <a:avLst/>
          </a:prstGeom>
          <a:noFill/>
        </p:spPr>
        <p:txBody>
          <a:bodyPr wrap="none" lIns="0" rIns="0" tIns="0" bIns="0">
            <a:spAutoFit/>
          </a:bodyPr>
          <a:lstStyle/>
          <a:p>
            <a:pPr algn="ctr"/>
            <a:r>
              <a:rPr sz="1520" b="1">
                <a:solidFill>
                  <a:srgbClr val="D9E4E1"/>
                </a:solidFill>
                <a:latin typeface="Noto Sans SC"/>
                <a:ea typeface="Noto Sans SC"/>
              </a:rPr>
              <a:t>4</a:t>
            </a:r>
          </a:p>
        </p:txBody>
      </p:sp>
      <p:cxnSp>
        <p:nvCxnSpPr>
          <p:cNvPr id="33" name="Connector 32"/>
          <p:cNvCxnSpPr/>
          <p:nvPr/>
        </p:nvCxnSpPr>
        <p:spPr>
          <a:xfrm>
            <a:off x="10115550" y="3324225"/>
            <a:ext cx="0" cy="1327150"/>
          </a:xfrm>
          <a:prstGeom prst="line">
            <a:avLst/>
          </a:prstGeom>
          <a:ln w="30162">
            <a:solidFill>
              <a:srgbClr val="9FC9BF"/>
            </a:solidFill>
          </a:ln>
        </p:spPr>
        <p:style>
          <a:lnRef idx="2">
            <a:schemeClr val="accent1"/>
          </a:lnRef>
          <a:fillRef idx="0">
            <a:schemeClr val="accent1"/>
          </a:fillRef>
          <a:effectRef idx="1">
            <a:schemeClr val="accent1"/>
          </a:effectRef>
          <a:fontRef idx="minor">
            <a:schemeClr val="tx1"/>
          </a:fontRef>
        </p:style>
      </p:cxnSp>
      <p:sp>
        <p:nvSpPr>
          <p:cNvPr id="34" name="Oval 33"/>
          <p:cNvSpPr/>
          <p:nvPr/>
        </p:nvSpPr>
        <p:spPr>
          <a:xfrm>
            <a:off x="10133406" y="3783177"/>
            <a:ext cx="277977" cy="277977"/>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0157174" y="3790899"/>
            <a:ext cx="230441" cy="260604"/>
          </a:xfrm>
          <a:prstGeom prst="rect">
            <a:avLst/>
          </a:prstGeom>
          <a:noFill/>
        </p:spPr>
        <p:txBody>
          <a:bodyPr wrap="none" lIns="0" rIns="0" tIns="0" bIns="0">
            <a:spAutoFit/>
          </a:bodyPr>
          <a:lstStyle/>
          <a:p>
            <a:pPr algn="ctr"/>
            <a:r>
              <a:rPr sz="1520" b="1">
                <a:solidFill>
                  <a:srgbClr val="D9E4E1"/>
                </a:solidFill>
                <a:latin typeface="Noto Sans SC"/>
                <a:ea typeface="Noto Sans SC"/>
              </a:rPr>
              <a:t>2</a:t>
            </a:r>
          </a:p>
        </p:txBody>
      </p:sp>
      <p:cxnSp>
        <p:nvCxnSpPr>
          <p:cNvPr id="36" name="Connector 35"/>
          <p:cNvCxnSpPr/>
          <p:nvPr/>
        </p:nvCxnSpPr>
        <p:spPr>
          <a:xfrm flipH="1">
            <a:off x="6978650" y="3324225"/>
            <a:ext cx="3136900" cy="904875"/>
          </a:xfrm>
          <a:prstGeom prst="line">
            <a:avLst/>
          </a:prstGeom>
          <a:ln w="24130">
            <a:solidFill>
              <a:srgbClr val="DB7B72"/>
            </a:solidFill>
            <a:prstDash val="dash"/>
          </a:ln>
        </p:spPr>
        <p:style>
          <a:lnRef idx="2">
            <a:schemeClr val="accent1"/>
          </a:lnRef>
          <a:fillRef idx="0">
            <a:schemeClr val="accent1"/>
          </a:fillRef>
          <a:effectRef idx="1">
            <a:schemeClr val="accent1"/>
          </a:effectRef>
          <a:fontRef idx="minor">
            <a:schemeClr val="tx1"/>
          </a:fontRef>
        </p:style>
      </p:cxnSp>
      <p:sp>
        <p:nvSpPr>
          <p:cNvPr id="37" name="Oval 36"/>
          <p:cNvSpPr/>
          <p:nvPr/>
        </p:nvSpPr>
        <p:spPr>
          <a:xfrm>
            <a:off x="8451582" y="3722740"/>
            <a:ext cx="277977" cy="277977"/>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8475350" y="3730462"/>
            <a:ext cx="230441" cy="260604"/>
          </a:xfrm>
          <a:prstGeom prst="rect">
            <a:avLst/>
          </a:prstGeom>
          <a:noFill/>
        </p:spPr>
        <p:txBody>
          <a:bodyPr wrap="none" lIns="0" rIns="0" tIns="0" bIns="0">
            <a:spAutoFit/>
          </a:bodyPr>
          <a:lstStyle/>
          <a:p>
            <a:pPr algn="ctr"/>
            <a:r>
              <a:rPr sz="1520" b="1">
                <a:solidFill>
                  <a:srgbClr val="D9E4E1"/>
                </a:solidFill>
                <a:latin typeface="Noto Sans SC"/>
                <a:ea typeface="Noto Sans SC"/>
              </a:rPr>
              <a:t>1</a:t>
            </a:r>
          </a:p>
        </p:txBody>
      </p:sp>
      <p:cxnSp>
        <p:nvCxnSpPr>
          <p:cNvPr id="39" name="Connector 38"/>
          <p:cNvCxnSpPr/>
          <p:nvPr/>
        </p:nvCxnSpPr>
        <p:spPr>
          <a:xfrm flipH="1" flipV="1">
            <a:off x="6978650" y="4229100"/>
            <a:ext cx="3136900" cy="422275"/>
          </a:xfrm>
          <a:prstGeom prst="line">
            <a:avLst/>
          </a:prstGeom>
          <a:ln w="24130">
            <a:solidFill>
              <a:srgbClr val="DB7B72"/>
            </a:solidFill>
            <a:prstDash val="dash"/>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8387186" y="4391058"/>
            <a:ext cx="277977" cy="277977"/>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8410954" y="4398779"/>
            <a:ext cx="230441" cy="260604"/>
          </a:xfrm>
          <a:prstGeom prst="rect">
            <a:avLst/>
          </a:prstGeom>
          <a:noFill/>
        </p:spPr>
        <p:txBody>
          <a:bodyPr wrap="none" lIns="0" rIns="0" tIns="0" bIns="0">
            <a:spAutoFit/>
          </a:bodyPr>
          <a:lstStyle/>
          <a:p>
            <a:pPr algn="ctr"/>
            <a:r>
              <a:rPr sz="1520" b="1">
                <a:solidFill>
                  <a:srgbClr val="D9E4E1"/>
                </a:solidFill>
                <a:latin typeface="Noto Sans SC"/>
                <a:ea typeface="Noto Sans SC"/>
              </a:rPr>
              <a:t>5</a:t>
            </a:r>
          </a:p>
        </p:txBody>
      </p:sp>
      <p:sp>
        <p:nvSpPr>
          <p:cNvPr id="42" name="Oval 41"/>
          <p:cNvSpPr/>
          <p:nvPr/>
        </p:nvSpPr>
        <p:spPr>
          <a:xfrm>
            <a:off x="6725284" y="2226310"/>
            <a:ext cx="506730" cy="506730"/>
          </a:xfrm>
          <a:prstGeom prst="ellipse">
            <a:avLst/>
          </a:prstGeom>
          <a:solidFill>
            <a:srgbClr val="77CDBB"/>
          </a:solidFill>
          <a:ln w="18097">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6850760" y="2344305"/>
            <a:ext cx="255778" cy="276891"/>
          </a:xfrm>
          <a:prstGeom prst="rect">
            <a:avLst/>
          </a:prstGeom>
          <a:noFill/>
        </p:spPr>
        <p:txBody>
          <a:bodyPr wrap="none" lIns="0" rIns="0" tIns="0" bIns="0">
            <a:spAutoFit/>
          </a:bodyPr>
          <a:lstStyle/>
          <a:p>
            <a:pPr algn="ctr"/>
            <a:r>
              <a:rPr sz="1614" b="1">
                <a:solidFill>
                  <a:srgbClr val="0B1B1F"/>
                </a:solidFill>
                <a:latin typeface="Noto Sans SC"/>
                <a:ea typeface="Noto Sans SC"/>
              </a:rPr>
              <a:t>A</a:t>
            </a:r>
          </a:p>
        </p:txBody>
      </p:sp>
      <p:sp>
        <p:nvSpPr>
          <p:cNvPr id="44" name="Oval 43"/>
          <p:cNvSpPr/>
          <p:nvPr/>
        </p:nvSpPr>
        <p:spPr>
          <a:xfrm>
            <a:off x="9862185" y="1743710"/>
            <a:ext cx="506730" cy="506730"/>
          </a:xfrm>
          <a:prstGeom prst="ellipse">
            <a:avLst/>
          </a:prstGeom>
          <a:solidFill>
            <a:srgbClr val="8FB1E6"/>
          </a:solidFill>
          <a:ln w="18097">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984644" y="1861705"/>
            <a:ext cx="261810" cy="276891"/>
          </a:xfrm>
          <a:prstGeom prst="rect">
            <a:avLst/>
          </a:prstGeom>
          <a:noFill/>
        </p:spPr>
        <p:txBody>
          <a:bodyPr wrap="none" lIns="0" rIns="0" tIns="0" bIns="0">
            <a:spAutoFit/>
          </a:bodyPr>
          <a:lstStyle/>
          <a:p>
            <a:pPr algn="ctr"/>
            <a:r>
              <a:rPr sz="1614" b="1">
                <a:solidFill>
                  <a:srgbClr val="0B1B1F"/>
                </a:solidFill>
                <a:latin typeface="Noto Sans SC"/>
                <a:ea typeface="Noto Sans SC"/>
              </a:rPr>
              <a:t>B</a:t>
            </a:r>
          </a:p>
        </p:txBody>
      </p:sp>
      <p:sp>
        <p:nvSpPr>
          <p:cNvPr id="46" name="Oval 45"/>
          <p:cNvSpPr/>
          <p:nvPr/>
        </p:nvSpPr>
        <p:spPr>
          <a:xfrm>
            <a:off x="9862185" y="3070860"/>
            <a:ext cx="506730" cy="506730"/>
          </a:xfrm>
          <a:prstGeom prst="ellipse">
            <a:avLst/>
          </a:prstGeom>
          <a:solidFill>
            <a:srgbClr val="8FB1E6"/>
          </a:solidFill>
          <a:ln w="18097">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9987661" y="3188855"/>
            <a:ext cx="255778" cy="276891"/>
          </a:xfrm>
          <a:prstGeom prst="rect">
            <a:avLst/>
          </a:prstGeom>
          <a:noFill/>
        </p:spPr>
        <p:txBody>
          <a:bodyPr wrap="none" lIns="0" rIns="0" tIns="0" bIns="0">
            <a:spAutoFit/>
          </a:bodyPr>
          <a:lstStyle/>
          <a:p>
            <a:pPr algn="ctr"/>
            <a:r>
              <a:rPr sz="1614" b="1">
                <a:solidFill>
                  <a:srgbClr val="0B1B1F"/>
                </a:solidFill>
                <a:latin typeface="Noto Sans SC"/>
                <a:ea typeface="Noto Sans SC"/>
              </a:rPr>
              <a:t>C</a:t>
            </a:r>
          </a:p>
        </p:txBody>
      </p:sp>
      <p:sp>
        <p:nvSpPr>
          <p:cNvPr id="48" name="Oval 47"/>
          <p:cNvSpPr/>
          <p:nvPr/>
        </p:nvSpPr>
        <p:spPr>
          <a:xfrm>
            <a:off x="9862185" y="4398010"/>
            <a:ext cx="506730" cy="506730"/>
          </a:xfrm>
          <a:prstGeom prst="ellipse">
            <a:avLst/>
          </a:prstGeom>
          <a:solidFill>
            <a:srgbClr val="8FB1E6"/>
          </a:solidFill>
          <a:ln w="18097">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9981628" y="4516005"/>
            <a:ext cx="267842" cy="276891"/>
          </a:xfrm>
          <a:prstGeom prst="rect">
            <a:avLst/>
          </a:prstGeom>
          <a:noFill/>
        </p:spPr>
        <p:txBody>
          <a:bodyPr wrap="none" lIns="0" rIns="0" tIns="0" bIns="0">
            <a:spAutoFit/>
          </a:bodyPr>
          <a:lstStyle/>
          <a:p>
            <a:pPr algn="ctr"/>
            <a:r>
              <a:rPr sz="1614" b="1">
                <a:solidFill>
                  <a:srgbClr val="0B1B1F"/>
                </a:solidFill>
                <a:latin typeface="Noto Sans SC"/>
                <a:ea typeface="Noto Sans SC"/>
              </a:rPr>
              <a:t>D</a:t>
            </a:r>
          </a:p>
        </p:txBody>
      </p:sp>
      <p:sp>
        <p:nvSpPr>
          <p:cNvPr id="50" name="Oval 49"/>
          <p:cNvSpPr/>
          <p:nvPr/>
        </p:nvSpPr>
        <p:spPr>
          <a:xfrm>
            <a:off x="6725284" y="3975735"/>
            <a:ext cx="506730" cy="506730"/>
          </a:xfrm>
          <a:prstGeom prst="ellipse">
            <a:avLst/>
          </a:prstGeom>
          <a:solidFill>
            <a:srgbClr val="77CDBB"/>
          </a:solidFill>
          <a:ln w="18097">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6853777" y="4093730"/>
            <a:ext cx="249745" cy="276891"/>
          </a:xfrm>
          <a:prstGeom prst="rect">
            <a:avLst/>
          </a:prstGeom>
          <a:noFill/>
        </p:spPr>
        <p:txBody>
          <a:bodyPr wrap="none" lIns="0" rIns="0" tIns="0" bIns="0">
            <a:spAutoFit/>
          </a:bodyPr>
          <a:lstStyle/>
          <a:p>
            <a:pPr algn="ctr"/>
            <a:r>
              <a:rPr sz="1614" b="1">
                <a:solidFill>
                  <a:srgbClr val="0B1B1F"/>
                </a:solidFill>
                <a:latin typeface="Noto Sans SC"/>
                <a:ea typeface="Noto Sans SC"/>
              </a:rPr>
              <a:t>E</a:t>
            </a:r>
          </a:p>
        </p:txBody>
      </p:sp>
      <p:sp>
        <p:nvSpPr>
          <p:cNvPr id="52" name="TextBox 51"/>
          <p:cNvSpPr txBox="1"/>
          <p:nvPr/>
        </p:nvSpPr>
        <p:spPr>
          <a:xfrm>
            <a:off x="7355840" y="5507736"/>
            <a:ext cx="2369820" cy="274320"/>
          </a:xfrm>
          <a:prstGeom prst="rect">
            <a:avLst/>
          </a:prstGeom>
          <a:noFill/>
        </p:spPr>
        <p:txBody>
          <a:bodyPr wrap="none" lIns="0" rIns="0" tIns="0" bIns="0">
            <a:spAutoFit/>
          </a:bodyPr>
          <a:lstStyle/>
          <a:p>
            <a:pPr algn="ctr"/>
            <a:r>
              <a:rPr sz="1600" b="1">
                <a:solidFill>
                  <a:srgbClr val="D8BB78"/>
                </a:solidFill>
                <a:latin typeface="Noto Sans SC"/>
                <a:ea typeface="Noto Sans SC"/>
              </a:rPr>
              <a:t>Seed AE | BCD: cut =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71C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2000" cy="38100"/>
          </a:xfrm>
          <a:prstGeom prst="rect">
            <a:avLst/>
          </a:prstGeom>
          <a:solidFill>
            <a:srgbClr val="77CDBB">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53720" y="450088"/>
            <a:ext cx="3959860" cy="480060"/>
          </a:xfrm>
          <a:prstGeom prst="rect">
            <a:avLst/>
          </a:prstGeom>
          <a:noFill/>
        </p:spPr>
        <p:txBody>
          <a:bodyPr wrap="none" lIns="0" rIns="0" tIns="0" bIns="0">
            <a:spAutoFit/>
          </a:bodyPr>
          <a:lstStyle/>
          <a:p>
            <a:pPr algn="l"/>
            <a:r>
              <a:rPr sz="2800" b="0">
                <a:solidFill>
                  <a:srgbClr val="F2F3E9"/>
                </a:solidFill>
                <a:latin typeface="Noto Sans SC"/>
                <a:ea typeface="Noto Sans SC"/>
              </a:rPr>
              <a:t>Background and place</a:t>
            </a:r>
          </a:p>
        </p:txBody>
      </p:sp>
      <p:sp>
        <p:nvSpPr>
          <p:cNvPr id="5" name="Rectangle 4"/>
          <p:cNvSpPr/>
          <p:nvPr/>
        </p:nvSpPr>
        <p:spPr>
          <a:xfrm>
            <a:off x="571500" y="965200"/>
            <a:ext cx="571500" cy="25400"/>
          </a:xfrm>
          <a:prstGeom prst="rect">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571500" y="6426200"/>
            <a:ext cx="11049000" cy="0"/>
          </a:xfrm>
          <a:prstGeom prst="line">
            <a:avLst/>
          </a:prstGeom>
          <a:ln w="12700">
            <a:solidFill>
              <a:srgbClr val="1D3D4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3880" y="6512052"/>
            <a:ext cx="2948940" cy="205740"/>
          </a:xfrm>
          <a:prstGeom prst="rect">
            <a:avLst/>
          </a:prstGeom>
          <a:noFill/>
        </p:spPr>
        <p:txBody>
          <a:bodyPr wrap="none" lIns="0" rIns="0" tIns="0" bIns="0">
            <a:spAutoFit/>
          </a:bodyPr>
          <a:lstStyle/>
          <a:p>
            <a:pPr algn="l"/>
            <a:r>
              <a:rPr sz="1200" b="0">
                <a:solidFill>
                  <a:srgbClr val="6F8F8F"/>
                </a:solidFill>
                <a:latin typeface="Noto Sans SC"/>
                <a:ea typeface="Noto Sans SC"/>
              </a:rPr>
              <a:t>Module 07 · Kernighan–Lin Refinement</a:t>
            </a:r>
          </a:p>
        </p:txBody>
      </p:sp>
      <p:sp>
        <p:nvSpPr>
          <p:cNvPr id="8" name="TextBox 7"/>
          <p:cNvSpPr txBox="1"/>
          <p:nvPr/>
        </p:nvSpPr>
        <p:spPr>
          <a:xfrm>
            <a:off x="11113770" y="6499098"/>
            <a:ext cx="556260" cy="222885"/>
          </a:xfrm>
          <a:prstGeom prst="rect">
            <a:avLst/>
          </a:prstGeom>
          <a:noFill/>
        </p:spPr>
        <p:txBody>
          <a:bodyPr wrap="none" lIns="0" rIns="0" tIns="0" bIns="0">
            <a:spAutoFit/>
          </a:bodyPr>
          <a:lstStyle/>
          <a:p>
            <a:pPr algn="r"/>
            <a:r>
              <a:rPr sz="1300" b="1">
                <a:solidFill>
                  <a:srgbClr val="BCD2D0"/>
                </a:solidFill>
                <a:latin typeface="Noto Sans SC"/>
                <a:ea typeface="Noto Sans SC"/>
              </a:rPr>
              <a:t>p3/14</a:t>
            </a:r>
          </a:p>
        </p:txBody>
      </p:sp>
      <p:sp>
        <p:nvSpPr>
          <p:cNvPr id="9" name="TextBox 8"/>
          <p:cNvSpPr txBox="1"/>
          <p:nvPr/>
        </p:nvSpPr>
        <p:spPr>
          <a:xfrm>
            <a:off x="1016000" y="1897380"/>
            <a:ext cx="10350500" cy="552450"/>
          </a:xfrm>
          <a:prstGeom prst="rect">
            <a:avLst/>
          </a:prstGeom>
          <a:noFill/>
        </p:spPr>
        <p:txBody>
          <a:bodyPr wrap="square" lIns="0" rIns="0" tIns="0" bIns="0">
            <a:spAutoFit/>
          </a:bodyPr>
          <a:lstStyle/>
          <a:p>
            <a:pPr algn="l">
              <a:lnSpc>
                <a:spcPct val="121800"/>
              </a:lnSpc>
            </a:pPr>
            <a:r>
              <a:rPr sz="3000" b="0">
                <a:solidFill>
                  <a:srgbClr val="D8BB78"/>
                </a:solidFill>
                <a:latin typeface="Noto Sans SC"/>
                <a:ea typeface="Noto Sans SC"/>
              </a:rPr>
              <a:t>Take a decent grouping, then improve it step by step.</a:t>
            </a:r>
          </a:p>
        </p:txBody>
      </p:sp>
      <p:sp>
        <p:nvSpPr>
          <p:cNvPr id="10" name="TextBox 9"/>
          <p:cNvSpPr txBox="1"/>
          <p:nvPr/>
        </p:nvSpPr>
        <p:spPr>
          <a:xfrm>
            <a:off x="1016000" y="2782824"/>
            <a:ext cx="10280650" cy="699770"/>
          </a:xfrm>
          <a:prstGeom prst="rect">
            <a:avLst/>
          </a:prstGeom>
          <a:noFill/>
        </p:spPr>
        <p:txBody>
          <a:bodyPr wrap="square" lIns="0" rIns="0" tIns="0" bIns="0">
            <a:spAutoFit/>
          </a:bodyPr>
          <a:lstStyle/>
          <a:p>
            <a:pPr algn="l">
              <a:lnSpc>
                <a:spcPct val="121800"/>
              </a:lnSpc>
            </a:pPr>
            <a:r>
              <a:rPr sz="1900" b="0">
                <a:solidFill>
                  <a:srgbClr val="F2F3E9"/>
                </a:solidFill>
                <a:latin typeface="Noto Sans SC"/>
                <a:ea typeface="Noto Sans SC"/>
              </a:rPr>
              <a:t>KL was proposed by Kernighan and Lin in 1970 (Bell System Technical Journal), a classic heuristic for improving a bisection.</a:t>
            </a:r>
          </a:p>
        </p:txBody>
      </p:sp>
      <p:sp>
        <p:nvSpPr>
          <p:cNvPr id="11" name="TextBox 10"/>
          <p:cNvSpPr txBox="1"/>
          <p:nvPr/>
        </p:nvSpPr>
        <p:spPr>
          <a:xfrm>
            <a:off x="1016000" y="3673094"/>
            <a:ext cx="10280650" cy="699770"/>
          </a:xfrm>
          <a:prstGeom prst="rect">
            <a:avLst/>
          </a:prstGeom>
          <a:noFill/>
        </p:spPr>
        <p:txBody>
          <a:bodyPr wrap="square" lIns="0" rIns="0" tIns="0" bIns="0">
            <a:spAutoFit/>
          </a:bodyPr>
          <a:lstStyle/>
          <a:p>
            <a:pPr algn="l">
              <a:lnSpc>
                <a:spcPct val="121800"/>
              </a:lnSpc>
            </a:pPr>
            <a:r>
              <a:rPr sz="1900" b="0">
                <a:solidFill>
                  <a:srgbClr val="F2F3E9"/>
                </a:solidFill>
                <a:latin typeface="Noto Sans SC"/>
                <a:ea typeface="Noto Sans SC"/>
              </a:rPr>
              <a:t>In this course it follows Module 06: spectral bisection gives the initial grouping and KL improves it locally; Module 08's FM then replaces the pair swap with single moves.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71C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2000" cy="38100"/>
          </a:xfrm>
          <a:prstGeom prst="rect">
            <a:avLst/>
          </a:prstGeom>
          <a:solidFill>
            <a:srgbClr val="77CDBB">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53720" y="450088"/>
            <a:ext cx="3661410" cy="480060"/>
          </a:xfrm>
          <a:prstGeom prst="rect">
            <a:avLst/>
          </a:prstGeom>
          <a:noFill/>
        </p:spPr>
        <p:txBody>
          <a:bodyPr wrap="none" lIns="0" rIns="0" tIns="0" bIns="0">
            <a:spAutoFit/>
          </a:bodyPr>
          <a:lstStyle/>
          <a:p>
            <a:pPr algn="l"/>
            <a:r>
              <a:rPr sz="2800" b="0">
                <a:solidFill>
                  <a:srgbClr val="F2F3E9"/>
                </a:solidFill>
                <a:latin typeface="Noto Sans SC"/>
                <a:ea typeface="Noto Sans SC"/>
              </a:rPr>
              <a:t>The cut and D values</a:t>
            </a:r>
          </a:p>
        </p:txBody>
      </p:sp>
      <p:sp>
        <p:nvSpPr>
          <p:cNvPr id="5" name="Rectangle 4"/>
          <p:cNvSpPr/>
          <p:nvPr/>
        </p:nvSpPr>
        <p:spPr>
          <a:xfrm>
            <a:off x="571500" y="965200"/>
            <a:ext cx="571500" cy="25400"/>
          </a:xfrm>
          <a:prstGeom prst="rect">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571500" y="6426200"/>
            <a:ext cx="11049000" cy="0"/>
          </a:xfrm>
          <a:prstGeom prst="line">
            <a:avLst/>
          </a:prstGeom>
          <a:ln w="12700">
            <a:solidFill>
              <a:srgbClr val="1D3D4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3880" y="6512052"/>
            <a:ext cx="2948940" cy="205740"/>
          </a:xfrm>
          <a:prstGeom prst="rect">
            <a:avLst/>
          </a:prstGeom>
          <a:noFill/>
        </p:spPr>
        <p:txBody>
          <a:bodyPr wrap="none" lIns="0" rIns="0" tIns="0" bIns="0">
            <a:spAutoFit/>
          </a:bodyPr>
          <a:lstStyle/>
          <a:p>
            <a:pPr algn="l"/>
            <a:r>
              <a:rPr sz="1200" b="0">
                <a:solidFill>
                  <a:srgbClr val="6F8F8F"/>
                </a:solidFill>
                <a:latin typeface="Noto Sans SC"/>
                <a:ea typeface="Noto Sans SC"/>
              </a:rPr>
              <a:t>Module 07 · Kernighan–Lin Refinement</a:t>
            </a:r>
          </a:p>
        </p:txBody>
      </p:sp>
      <p:sp>
        <p:nvSpPr>
          <p:cNvPr id="8" name="TextBox 7"/>
          <p:cNvSpPr txBox="1"/>
          <p:nvPr/>
        </p:nvSpPr>
        <p:spPr>
          <a:xfrm>
            <a:off x="11113770" y="6499098"/>
            <a:ext cx="556260" cy="222885"/>
          </a:xfrm>
          <a:prstGeom prst="rect">
            <a:avLst/>
          </a:prstGeom>
          <a:noFill/>
        </p:spPr>
        <p:txBody>
          <a:bodyPr wrap="none" lIns="0" rIns="0" tIns="0" bIns="0">
            <a:spAutoFit/>
          </a:bodyPr>
          <a:lstStyle/>
          <a:p>
            <a:pPr algn="r"/>
            <a:r>
              <a:rPr sz="1300" b="1">
                <a:solidFill>
                  <a:srgbClr val="BCD2D0"/>
                </a:solidFill>
                <a:latin typeface="Noto Sans SC"/>
                <a:ea typeface="Noto Sans SC"/>
              </a:rPr>
              <a:t>p4/14</a:t>
            </a:r>
          </a:p>
        </p:txBody>
      </p:sp>
      <p:sp>
        <p:nvSpPr>
          <p:cNvPr id="9" name="Oval 8"/>
          <p:cNvSpPr/>
          <p:nvPr/>
        </p:nvSpPr>
        <p:spPr>
          <a:xfrm>
            <a:off x="711200" y="15394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14400" y="1430782"/>
            <a:ext cx="4718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D(v) = external weight − internal weight</a:t>
            </a:r>
          </a:p>
        </p:txBody>
      </p:sp>
      <p:sp>
        <p:nvSpPr>
          <p:cNvPr id="11" name="Oval 10"/>
          <p:cNvSpPr/>
          <p:nvPr/>
        </p:nvSpPr>
        <p:spPr>
          <a:xfrm>
            <a:off x="711200" y="19712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14400" y="1862582"/>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External: v's edges to the other side; internal: v's edges to its own side</a:t>
            </a:r>
          </a:p>
        </p:txBody>
      </p:sp>
      <p:sp>
        <p:nvSpPr>
          <p:cNvPr id="13" name="Oval 12"/>
          <p:cNvSpPr/>
          <p:nvPr/>
        </p:nvSpPr>
        <p:spPr>
          <a:xfrm>
            <a:off x="711200" y="2716149"/>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14400" y="2607437"/>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D(v) is how much the cut drops if v alone moves across</a:t>
            </a:r>
          </a:p>
        </p:txBody>
      </p:sp>
      <p:sp>
        <p:nvSpPr>
          <p:cNvPr id="15" name="Oval 14"/>
          <p:cNvSpPr/>
          <p:nvPr/>
        </p:nvSpPr>
        <p:spPr>
          <a:xfrm>
            <a:off x="711200" y="346100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14400" y="3352292"/>
            <a:ext cx="4718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The larger D, the more v "wants" to cross</a:t>
            </a:r>
          </a:p>
        </p:txBody>
      </p:sp>
      <p:sp>
        <p:nvSpPr>
          <p:cNvPr id="17" name="TextBox 16"/>
          <p:cNvSpPr txBox="1"/>
          <p:nvPr/>
        </p:nvSpPr>
        <p:spPr>
          <a:xfrm>
            <a:off x="6085205" y="1684782"/>
            <a:ext cx="688340" cy="291465"/>
          </a:xfrm>
          <a:prstGeom prst="rect">
            <a:avLst/>
          </a:prstGeom>
          <a:noFill/>
        </p:spPr>
        <p:txBody>
          <a:bodyPr wrap="none" lIns="0" rIns="0" tIns="0" bIns="0">
            <a:spAutoFit/>
          </a:bodyPr>
          <a:lstStyle/>
          <a:p>
            <a:pPr algn="l"/>
            <a:r>
              <a:rPr sz="1700" b="1">
                <a:solidFill>
                  <a:srgbClr val="BCD2D0"/>
                </a:solidFill>
                <a:latin typeface="Noto Sans SC"/>
                <a:ea typeface="Noto Sans SC"/>
              </a:rPr>
              <a:t>Node</a:t>
            </a:r>
          </a:p>
        </p:txBody>
      </p:sp>
      <p:sp>
        <p:nvSpPr>
          <p:cNvPr id="18" name="TextBox 17"/>
          <p:cNvSpPr txBox="1"/>
          <p:nvPr/>
        </p:nvSpPr>
        <p:spPr>
          <a:xfrm>
            <a:off x="6910705" y="1684782"/>
            <a:ext cx="593090" cy="291465"/>
          </a:xfrm>
          <a:prstGeom prst="rect">
            <a:avLst/>
          </a:prstGeom>
          <a:noFill/>
        </p:spPr>
        <p:txBody>
          <a:bodyPr wrap="none" lIns="0" rIns="0" tIns="0" bIns="0">
            <a:spAutoFit/>
          </a:bodyPr>
          <a:lstStyle/>
          <a:p>
            <a:pPr algn="l"/>
            <a:r>
              <a:rPr sz="1700" b="1">
                <a:solidFill>
                  <a:srgbClr val="BCD2D0"/>
                </a:solidFill>
                <a:latin typeface="Noto Sans SC"/>
                <a:ea typeface="Noto Sans SC"/>
              </a:rPr>
              <a:t>Side</a:t>
            </a:r>
          </a:p>
        </p:txBody>
      </p:sp>
      <p:sp>
        <p:nvSpPr>
          <p:cNvPr id="19" name="TextBox 18"/>
          <p:cNvSpPr txBox="1"/>
          <p:nvPr/>
        </p:nvSpPr>
        <p:spPr>
          <a:xfrm>
            <a:off x="7609205" y="1684782"/>
            <a:ext cx="542290" cy="291465"/>
          </a:xfrm>
          <a:prstGeom prst="rect">
            <a:avLst/>
          </a:prstGeom>
          <a:noFill/>
        </p:spPr>
        <p:txBody>
          <a:bodyPr wrap="none" lIns="0" rIns="0" tIns="0" bIns="0">
            <a:spAutoFit/>
          </a:bodyPr>
          <a:lstStyle/>
          <a:p>
            <a:pPr algn="l"/>
            <a:r>
              <a:rPr sz="1700" b="1">
                <a:solidFill>
                  <a:srgbClr val="BCD2D0"/>
                </a:solidFill>
                <a:latin typeface="Noto Sans SC"/>
                <a:ea typeface="Noto Sans SC"/>
              </a:rPr>
              <a:t>Ext.</a:t>
            </a:r>
          </a:p>
        </p:txBody>
      </p:sp>
      <p:sp>
        <p:nvSpPr>
          <p:cNvPr id="20" name="TextBox 19"/>
          <p:cNvSpPr txBox="1"/>
          <p:nvPr/>
        </p:nvSpPr>
        <p:spPr>
          <a:xfrm>
            <a:off x="8561705" y="1684782"/>
            <a:ext cx="497840" cy="291465"/>
          </a:xfrm>
          <a:prstGeom prst="rect">
            <a:avLst/>
          </a:prstGeom>
          <a:noFill/>
        </p:spPr>
        <p:txBody>
          <a:bodyPr wrap="none" lIns="0" rIns="0" tIns="0" bIns="0">
            <a:spAutoFit/>
          </a:bodyPr>
          <a:lstStyle/>
          <a:p>
            <a:pPr algn="l"/>
            <a:r>
              <a:rPr sz="1700" b="1">
                <a:solidFill>
                  <a:srgbClr val="BCD2D0"/>
                </a:solidFill>
                <a:latin typeface="Noto Sans SC"/>
                <a:ea typeface="Noto Sans SC"/>
              </a:rPr>
              <a:t>Int.</a:t>
            </a:r>
          </a:p>
        </p:txBody>
      </p:sp>
      <p:sp>
        <p:nvSpPr>
          <p:cNvPr id="21" name="TextBox 20"/>
          <p:cNvSpPr txBox="1"/>
          <p:nvPr/>
        </p:nvSpPr>
        <p:spPr>
          <a:xfrm>
            <a:off x="9514205" y="1684782"/>
            <a:ext cx="1367790" cy="291465"/>
          </a:xfrm>
          <a:prstGeom prst="rect">
            <a:avLst/>
          </a:prstGeom>
          <a:noFill/>
        </p:spPr>
        <p:txBody>
          <a:bodyPr wrap="none" lIns="0" rIns="0" tIns="0" bIns="0">
            <a:spAutoFit/>
          </a:bodyPr>
          <a:lstStyle/>
          <a:p>
            <a:pPr algn="l"/>
            <a:r>
              <a:rPr sz="1700" b="1">
                <a:solidFill>
                  <a:srgbClr val="BCD2D0"/>
                </a:solidFill>
                <a:latin typeface="Noto Sans SC"/>
                <a:ea typeface="Noto Sans SC"/>
              </a:rPr>
              <a:t>D = ext − int</a:t>
            </a:r>
          </a:p>
        </p:txBody>
      </p:sp>
      <p:cxnSp>
        <p:nvCxnSpPr>
          <p:cNvPr id="22" name="Connector 21"/>
          <p:cNvCxnSpPr/>
          <p:nvPr/>
        </p:nvCxnSpPr>
        <p:spPr>
          <a:xfrm>
            <a:off x="6057900" y="2006600"/>
            <a:ext cx="4991100" cy="0"/>
          </a:xfrm>
          <a:prstGeom prst="line">
            <a:avLst/>
          </a:prstGeom>
          <a:ln w="12700">
            <a:solidFill>
              <a:srgbClr val="2D4A4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083935" y="2179574"/>
            <a:ext cx="290830" cy="325755"/>
          </a:xfrm>
          <a:prstGeom prst="rect">
            <a:avLst/>
          </a:prstGeom>
          <a:noFill/>
        </p:spPr>
        <p:txBody>
          <a:bodyPr wrap="none" lIns="0" rIns="0" tIns="0" bIns="0">
            <a:spAutoFit/>
          </a:bodyPr>
          <a:lstStyle/>
          <a:p>
            <a:pPr algn="l"/>
            <a:r>
              <a:rPr sz="1900" b="0">
                <a:solidFill>
                  <a:srgbClr val="F2F3E9"/>
                </a:solidFill>
                <a:latin typeface="Noto Sans SC"/>
                <a:ea typeface="Noto Sans SC"/>
              </a:rPr>
              <a:t>A</a:t>
            </a:r>
          </a:p>
        </p:txBody>
      </p:sp>
      <p:sp>
        <p:nvSpPr>
          <p:cNvPr id="24" name="TextBox 23"/>
          <p:cNvSpPr txBox="1"/>
          <p:nvPr/>
        </p:nvSpPr>
        <p:spPr>
          <a:xfrm>
            <a:off x="6909434" y="2179574"/>
            <a:ext cx="278130" cy="325755"/>
          </a:xfrm>
          <a:prstGeom prst="rect">
            <a:avLst/>
          </a:prstGeom>
          <a:noFill/>
        </p:spPr>
        <p:txBody>
          <a:bodyPr wrap="none" lIns="0" rIns="0" tIns="0" bIns="0">
            <a:spAutoFit/>
          </a:bodyPr>
          <a:lstStyle/>
          <a:p>
            <a:pPr algn="l"/>
            <a:r>
              <a:rPr sz="1900" b="0">
                <a:solidFill>
                  <a:srgbClr val="F2F3E9"/>
                </a:solidFill>
                <a:latin typeface="Noto Sans SC"/>
                <a:ea typeface="Noto Sans SC"/>
              </a:rPr>
              <a:t>L</a:t>
            </a:r>
          </a:p>
        </p:txBody>
      </p:sp>
      <p:sp>
        <p:nvSpPr>
          <p:cNvPr id="25" name="TextBox 24"/>
          <p:cNvSpPr txBox="1"/>
          <p:nvPr/>
        </p:nvSpPr>
        <p:spPr>
          <a:xfrm>
            <a:off x="7607934" y="2179574"/>
            <a:ext cx="278130" cy="325755"/>
          </a:xfrm>
          <a:prstGeom prst="rect">
            <a:avLst/>
          </a:prstGeom>
          <a:noFill/>
        </p:spPr>
        <p:txBody>
          <a:bodyPr wrap="none" lIns="0" rIns="0" tIns="0" bIns="0">
            <a:spAutoFit/>
          </a:bodyPr>
          <a:lstStyle/>
          <a:p>
            <a:pPr algn="l"/>
            <a:r>
              <a:rPr sz="1900" b="0">
                <a:solidFill>
                  <a:srgbClr val="F2F3E9"/>
                </a:solidFill>
                <a:latin typeface="Noto Sans SC"/>
                <a:ea typeface="Noto Sans SC"/>
              </a:rPr>
              <a:t>6</a:t>
            </a:r>
          </a:p>
        </p:txBody>
      </p:sp>
      <p:sp>
        <p:nvSpPr>
          <p:cNvPr id="26" name="TextBox 25"/>
          <p:cNvSpPr txBox="1"/>
          <p:nvPr/>
        </p:nvSpPr>
        <p:spPr>
          <a:xfrm>
            <a:off x="8560435" y="2179574"/>
            <a:ext cx="278130" cy="325755"/>
          </a:xfrm>
          <a:prstGeom prst="rect">
            <a:avLst/>
          </a:prstGeom>
          <a:noFill/>
        </p:spPr>
        <p:txBody>
          <a:bodyPr wrap="none" lIns="0" rIns="0" tIns="0" bIns="0">
            <a:spAutoFit/>
          </a:bodyPr>
          <a:lstStyle/>
          <a:p>
            <a:pPr algn="l"/>
            <a:r>
              <a:rPr sz="1900" b="0">
                <a:solidFill>
                  <a:srgbClr val="F2F3E9"/>
                </a:solidFill>
                <a:latin typeface="Noto Sans SC"/>
                <a:ea typeface="Noto Sans SC"/>
              </a:rPr>
              <a:t>0</a:t>
            </a:r>
          </a:p>
        </p:txBody>
      </p:sp>
      <p:sp>
        <p:nvSpPr>
          <p:cNvPr id="27" name="TextBox 26"/>
          <p:cNvSpPr txBox="1"/>
          <p:nvPr/>
        </p:nvSpPr>
        <p:spPr>
          <a:xfrm>
            <a:off x="9512935" y="2179574"/>
            <a:ext cx="411480" cy="325755"/>
          </a:xfrm>
          <a:prstGeom prst="rect">
            <a:avLst/>
          </a:prstGeom>
          <a:noFill/>
        </p:spPr>
        <p:txBody>
          <a:bodyPr wrap="none" lIns="0" rIns="0" tIns="0" bIns="0">
            <a:spAutoFit/>
          </a:bodyPr>
          <a:lstStyle/>
          <a:p>
            <a:pPr algn="l"/>
            <a:r>
              <a:rPr sz="1900" b="0">
                <a:solidFill>
                  <a:srgbClr val="F2F3E9"/>
                </a:solidFill>
                <a:latin typeface="Noto Sans SC"/>
                <a:ea typeface="Noto Sans SC"/>
              </a:rPr>
              <a:t>+6</a:t>
            </a:r>
          </a:p>
        </p:txBody>
      </p:sp>
      <p:sp>
        <p:nvSpPr>
          <p:cNvPr id="28" name="TextBox 27"/>
          <p:cNvSpPr txBox="1"/>
          <p:nvPr/>
        </p:nvSpPr>
        <p:spPr>
          <a:xfrm>
            <a:off x="6083935" y="2700274"/>
            <a:ext cx="303530" cy="325755"/>
          </a:xfrm>
          <a:prstGeom prst="rect">
            <a:avLst/>
          </a:prstGeom>
          <a:noFill/>
        </p:spPr>
        <p:txBody>
          <a:bodyPr wrap="none" lIns="0" rIns="0" tIns="0" bIns="0">
            <a:spAutoFit/>
          </a:bodyPr>
          <a:lstStyle/>
          <a:p>
            <a:pPr algn="l"/>
            <a:r>
              <a:rPr sz="1900" b="0">
                <a:solidFill>
                  <a:srgbClr val="F2F3E9"/>
                </a:solidFill>
                <a:latin typeface="Noto Sans SC"/>
                <a:ea typeface="Noto Sans SC"/>
              </a:rPr>
              <a:t>B</a:t>
            </a:r>
          </a:p>
        </p:txBody>
      </p:sp>
      <p:sp>
        <p:nvSpPr>
          <p:cNvPr id="29" name="TextBox 28"/>
          <p:cNvSpPr txBox="1"/>
          <p:nvPr/>
        </p:nvSpPr>
        <p:spPr>
          <a:xfrm>
            <a:off x="6909434" y="2700274"/>
            <a:ext cx="297180" cy="325755"/>
          </a:xfrm>
          <a:prstGeom prst="rect">
            <a:avLst/>
          </a:prstGeom>
          <a:noFill/>
        </p:spPr>
        <p:txBody>
          <a:bodyPr wrap="none" lIns="0" rIns="0" tIns="0" bIns="0">
            <a:spAutoFit/>
          </a:bodyPr>
          <a:lstStyle/>
          <a:p>
            <a:pPr algn="l"/>
            <a:r>
              <a:rPr sz="1900" b="0">
                <a:solidFill>
                  <a:srgbClr val="F2F3E9"/>
                </a:solidFill>
                <a:latin typeface="Noto Sans SC"/>
                <a:ea typeface="Noto Sans SC"/>
              </a:rPr>
              <a:t>R</a:t>
            </a:r>
          </a:p>
        </p:txBody>
      </p:sp>
      <p:sp>
        <p:nvSpPr>
          <p:cNvPr id="30" name="TextBox 29"/>
          <p:cNvSpPr txBox="1"/>
          <p:nvPr/>
        </p:nvSpPr>
        <p:spPr>
          <a:xfrm>
            <a:off x="7607934" y="2700274"/>
            <a:ext cx="278130" cy="325755"/>
          </a:xfrm>
          <a:prstGeom prst="rect">
            <a:avLst/>
          </a:prstGeom>
          <a:noFill/>
        </p:spPr>
        <p:txBody>
          <a:bodyPr wrap="none" lIns="0" rIns="0" tIns="0" bIns="0">
            <a:spAutoFit/>
          </a:bodyPr>
          <a:lstStyle/>
          <a:p>
            <a:pPr algn="l"/>
            <a:r>
              <a:rPr sz="1900" b="0">
                <a:solidFill>
                  <a:srgbClr val="F2F3E9"/>
                </a:solidFill>
                <a:latin typeface="Noto Sans SC"/>
                <a:ea typeface="Noto Sans SC"/>
              </a:rPr>
              <a:t>5</a:t>
            </a:r>
          </a:p>
        </p:txBody>
      </p:sp>
      <p:sp>
        <p:nvSpPr>
          <p:cNvPr id="31" name="TextBox 30"/>
          <p:cNvSpPr txBox="1"/>
          <p:nvPr/>
        </p:nvSpPr>
        <p:spPr>
          <a:xfrm>
            <a:off x="8560435" y="2700274"/>
            <a:ext cx="278130" cy="325755"/>
          </a:xfrm>
          <a:prstGeom prst="rect">
            <a:avLst/>
          </a:prstGeom>
          <a:noFill/>
        </p:spPr>
        <p:txBody>
          <a:bodyPr wrap="none" lIns="0" rIns="0" tIns="0" bIns="0">
            <a:spAutoFit/>
          </a:bodyPr>
          <a:lstStyle/>
          <a:p>
            <a:pPr algn="l"/>
            <a:r>
              <a:rPr sz="1900" b="0">
                <a:solidFill>
                  <a:srgbClr val="F2F3E9"/>
                </a:solidFill>
                <a:latin typeface="Noto Sans SC"/>
                <a:ea typeface="Noto Sans SC"/>
              </a:rPr>
              <a:t>4</a:t>
            </a:r>
          </a:p>
        </p:txBody>
      </p:sp>
      <p:sp>
        <p:nvSpPr>
          <p:cNvPr id="32" name="TextBox 31"/>
          <p:cNvSpPr txBox="1"/>
          <p:nvPr/>
        </p:nvSpPr>
        <p:spPr>
          <a:xfrm>
            <a:off x="9512935" y="2700274"/>
            <a:ext cx="411480" cy="325755"/>
          </a:xfrm>
          <a:prstGeom prst="rect">
            <a:avLst/>
          </a:prstGeom>
          <a:noFill/>
        </p:spPr>
        <p:txBody>
          <a:bodyPr wrap="none" lIns="0" rIns="0" tIns="0" bIns="0">
            <a:spAutoFit/>
          </a:bodyPr>
          <a:lstStyle/>
          <a:p>
            <a:pPr algn="l"/>
            <a:r>
              <a:rPr sz="1900" b="0">
                <a:solidFill>
                  <a:srgbClr val="F2F3E9"/>
                </a:solidFill>
                <a:latin typeface="Noto Sans SC"/>
                <a:ea typeface="Noto Sans SC"/>
              </a:rPr>
              <a:t>+1</a:t>
            </a:r>
          </a:p>
        </p:txBody>
      </p:sp>
      <p:sp>
        <p:nvSpPr>
          <p:cNvPr id="33" name="TextBox 32"/>
          <p:cNvSpPr txBox="1"/>
          <p:nvPr/>
        </p:nvSpPr>
        <p:spPr>
          <a:xfrm>
            <a:off x="6083935" y="3220974"/>
            <a:ext cx="297180" cy="325755"/>
          </a:xfrm>
          <a:prstGeom prst="rect">
            <a:avLst/>
          </a:prstGeom>
          <a:noFill/>
        </p:spPr>
        <p:txBody>
          <a:bodyPr wrap="none" lIns="0" rIns="0" tIns="0" bIns="0">
            <a:spAutoFit/>
          </a:bodyPr>
          <a:lstStyle/>
          <a:p>
            <a:pPr algn="l"/>
            <a:r>
              <a:rPr sz="1900" b="0">
                <a:solidFill>
                  <a:srgbClr val="F2F3E9"/>
                </a:solidFill>
                <a:latin typeface="Noto Sans SC"/>
                <a:ea typeface="Noto Sans SC"/>
              </a:rPr>
              <a:t>C</a:t>
            </a:r>
          </a:p>
        </p:txBody>
      </p:sp>
      <p:sp>
        <p:nvSpPr>
          <p:cNvPr id="34" name="TextBox 33"/>
          <p:cNvSpPr txBox="1"/>
          <p:nvPr/>
        </p:nvSpPr>
        <p:spPr>
          <a:xfrm>
            <a:off x="6909434" y="3220974"/>
            <a:ext cx="297180" cy="325755"/>
          </a:xfrm>
          <a:prstGeom prst="rect">
            <a:avLst/>
          </a:prstGeom>
          <a:noFill/>
        </p:spPr>
        <p:txBody>
          <a:bodyPr wrap="none" lIns="0" rIns="0" tIns="0" bIns="0">
            <a:spAutoFit/>
          </a:bodyPr>
          <a:lstStyle/>
          <a:p>
            <a:pPr algn="l"/>
            <a:r>
              <a:rPr sz="1900" b="0">
                <a:solidFill>
                  <a:srgbClr val="F2F3E9"/>
                </a:solidFill>
                <a:latin typeface="Noto Sans SC"/>
                <a:ea typeface="Noto Sans SC"/>
              </a:rPr>
              <a:t>R</a:t>
            </a:r>
          </a:p>
        </p:txBody>
      </p:sp>
      <p:sp>
        <p:nvSpPr>
          <p:cNvPr id="35" name="TextBox 34"/>
          <p:cNvSpPr txBox="1"/>
          <p:nvPr/>
        </p:nvSpPr>
        <p:spPr>
          <a:xfrm>
            <a:off x="7607934" y="3220974"/>
            <a:ext cx="278130" cy="325755"/>
          </a:xfrm>
          <a:prstGeom prst="rect">
            <a:avLst/>
          </a:prstGeom>
          <a:noFill/>
        </p:spPr>
        <p:txBody>
          <a:bodyPr wrap="none" lIns="0" rIns="0" tIns="0" bIns="0">
            <a:spAutoFit/>
          </a:bodyPr>
          <a:lstStyle/>
          <a:p>
            <a:pPr algn="l"/>
            <a:r>
              <a:rPr sz="1900" b="0">
                <a:solidFill>
                  <a:srgbClr val="F2F3E9"/>
                </a:solidFill>
                <a:latin typeface="Noto Sans SC"/>
                <a:ea typeface="Noto Sans SC"/>
              </a:rPr>
              <a:t>2</a:t>
            </a:r>
          </a:p>
        </p:txBody>
      </p:sp>
      <p:sp>
        <p:nvSpPr>
          <p:cNvPr id="36" name="TextBox 35"/>
          <p:cNvSpPr txBox="1"/>
          <p:nvPr/>
        </p:nvSpPr>
        <p:spPr>
          <a:xfrm>
            <a:off x="8560435" y="3220974"/>
            <a:ext cx="278130" cy="325755"/>
          </a:xfrm>
          <a:prstGeom prst="rect">
            <a:avLst/>
          </a:prstGeom>
          <a:noFill/>
        </p:spPr>
        <p:txBody>
          <a:bodyPr wrap="none" lIns="0" rIns="0" tIns="0" bIns="0">
            <a:spAutoFit/>
          </a:bodyPr>
          <a:lstStyle/>
          <a:p>
            <a:pPr algn="l"/>
            <a:r>
              <a:rPr sz="1900" b="0">
                <a:solidFill>
                  <a:srgbClr val="F2F3E9"/>
                </a:solidFill>
                <a:latin typeface="Noto Sans SC"/>
                <a:ea typeface="Noto Sans SC"/>
              </a:rPr>
              <a:t>6</a:t>
            </a:r>
          </a:p>
        </p:txBody>
      </p:sp>
      <p:sp>
        <p:nvSpPr>
          <p:cNvPr id="37" name="TextBox 36"/>
          <p:cNvSpPr txBox="1"/>
          <p:nvPr/>
        </p:nvSpPr>
        <p:spPr>
          <a:xfrm>
            <a:off x="9512935" y="3220974"/>
            <a:ext cx="360680" cy="325755"/>
          </a:xfrm>
          <a:prstGeom prst="rect">
            <a:avLst/>
          </a:prstGeom>
          <a:noFill/>
        </p:spPr>
        <p:txBody>
          <a:bodyPr wrap="none" lIns="0" rIns="0" tIns="0" bIns="0">
            <a:spAutoFit/>
          </a:bodyPr>
          <a:lstStyle/>
          <a:p>
            <a:pPr algn="l"/>
            <a:r>
              <a:rPr sz="1900" b="0">
                <a:solidFill>
                  <a:srgbClr val="F2F3E9"/>
                </a:solidFill>
                <a:latin typeface="Noto Sans SC"/>
                <a:ea typeface="Noto Sans SC"/>
              </a:rPr>
              <a:t>-4</a:t>
            </a:r>
          </a:p>
        </p:txBody>
      </p:sp>
      <p:sp>
        <p:nvSpPr>
          <p:cNvPr id="38" name="TextBox 37"/>
          <p:cNvSpPr txBox="1"/>
          <p:nvPr/>
        </p:nvSpPr>
        <p:spPr>
          <a:xfrm>
            <a:off x="6083935" y="3741674"/>
            <a:ext cx="309880" cy="325755"/>
          </a:xfrm>
          <a:prstGeom prst="rect">
            <a:avLst/>
          </a:prstGeom>
          <a:noFill/>
        </p:spPr>
        <p:txBody>
          <a:bodyPr wrap="none" lIns="0" rIns="0" tIns="0" bIns="0">
            <a:spAutoFit/>
          </a:bodyPr>
          <a:lstStyle/>
          <a:p>
            <a:pPr algn="l"/>
            <a:r>
              <a:rPr sz="1900" b="0">
                <a:solidFill>
                  <a:srgbClr val="F2F3E9"/>
                </a:solidFill>
                <a:latin typeface="Noto Sans SC"/>
                <a:ea typeface="Noto Sans SC"/>
              </a:rPr>
              <a:t>D</a:t>
            </a:r>
          </a:p>
        </p:txBody>
      </p:sp>
      <p:sp>
        <p:nvSpPr>
          <p:cNvPr id="39" name="TextBox 38"/>
          <p:cNvSpPr txBox="1"/>
          <p:nvPr/>
        </p:nvSpPr>
        <p:spPr>
          <a:xfrm>
            <a:off x="6909434" y="3741674"/>
            <a:ext cx="297180" cy="325755"/>
          </a:xfrm>
          <a:prstGeom prst="rect">
            <a:avLst/>
          </a:prstGeom>
          <a:noFill/>
        </p:spPr>
        <p:txBody>
          <a:bodyPr wrap="none" lIns="0" rIns="0" tIns="0" bIns="0">
            <a:spAutoFit/>
          </a:bodyPr>
          <a:lstStyle/>
          <a:p>
            <a:pPr algn="l"/>
            <a:r>
              <a:rPr sz="1900" b="0">
                <a:solidFill>
                  <a:srgbClr val="F2F3E9"/>
                </a:solidFill>
                <a:latin typeface="Noto Sans SC"/>
                <a:ea typeface="Noto Sans SC"/>
              </a:rPr>
              <a:t>R</a:t>
            </a:r>
          </a:p>
        </p:txBody>
      </p:sp>
      <p:sp>
        <p:nvSpPr>
          <p:cNvPr id="40" name="TextBox 39"/>
          <p:cNvSpPr txBox="1"/>
          <p:nvPr/>
        </p:nvSpPr>
        <p:spPr>
          <a:xfrm>
            <a:off x="7607934" y="3741674"/>
            <a:ext cx="278130" cy="325755"/>
          </a:xfrm>
          <a:prstGeom prst="rect">
            <a:avLst/>
          </a:prstGeom>
          <a:noFill/>
        </p:spPr>
        <p:txBody>
          <a:bodyPr wrap="none" lIns="0" rIns="0" tIns="0" bIns="0">
            <a:spAutoFit/>
          </a:bodyPr>
          <a:lstStyle/>
          <a:p>
            <a:pPr algn="l"/>
            <a:r>
              <a:rPr sz="1900" b="0">
                <a:solidFill>
                  <a:srgbClr val="F2F3E9"/>
                </a:solidFill>
                <a:latin typeface="Noto Sans SC"/>
                <a:ea typeface="Noto Sans SC"/>
              </a:rPr>
              <a:t>5</a:t>
            </a:r>
          </a:p>
        </p:txBody>
      </p:sp>
      <p:sp>
        <p:nvSpPr>
          <p:cNvPr id="41" name="TextBox 40"/>
          <p:cNvSpPr txBox="1"/>
          <p:nvPr/>
        </p:nvSpPr>
        <p:spPr>
          <a:xfrm>
            <a:off x="8560435" y="3741674"/>
            <a:ext cx="278130" cy="325755"/>
          </a:xfrm>
          <a:prstGeom prst="rect">
            <a:avLst/>
          </a:prstGeom>
          <a:noFill/>
        </p:spPr>
        <p:txBody>
          <a:bodyPr wrap="none" lIns="0" rIns="0" tIns="0" bIns="0">
            <a:spAutoFit/>
          </a:bodyPr>
          <a:lstStyle/>
          <a:p>
            <a:pPr algn="l"/>
            <a:r>
              <a:rPr sz="1900" b="0">
                <a:solidFill>
                  <a:srgbClr val="F2F3E9"/>
                </a:solidFill>
                <a:latin typeface="Noto Sans SC"/>
                <a:ea typeface="Noto Sans SC"/>
              </a:rPr>
              <a:t>2</a:t>
            </a:r>
          </a:p>
        </p:txBody>
      </p:sp>
      <p:sp>
        <p:nvSpPr>
          <p:cNvPr id="42" name="TextBox 41"/>
          <p:cNvSpPr txBox="1"/>
          <p:nvPr/>
        </p:nvSpPr>
        <p:spPr>
          <a:xfrm>
            <a:off x="9512935" y="3741674"/>
            <a:ext cx="411480" cy="325755"/>
          </a:xfrm>
          <a:prstGeom prst="rect">
            <a:avLst/>
          </a:prstGeom>
          <a:noFill/>
        </p:spPr>
        <p:txBody>
          <a:bodyPr wrap="none" lIns="0" rIns="0" tIns="0" bIns="0">
            <a:spAutoFit/>
          </a:bodyPr>
          <a:lstStyle/>
          <a:p>
            <a:pPr algn="l"/>
            <a:r>
              <a:rPr sz="1900" b="0">
                <a:solidFill>
                  <a:srgbClr val="F2F3E9"/>
                </a:solidFill>
                <a:latin typeface="Noto Sans SC"/>
                <a:ea typeface="Noto Sans SC"/>
              </a:rPr>
              <a:t>+3</a:t>
            </a:r>
          </a:p>
        </p:txBody>
      </p:sp>
      <p:sp>
        <p:nvSpPr>
          <p:cNvPr id="43" name="TextBox 42"/>
          <p:cNvSpPr txBox="1"/>
          <p:nvPr/>
        </p:nvSpPr>
        <p:spPr>
          <a:xfrm>
            <a:off x="6083935" y="4262374"/>
            <a:ext cx="284480" cy="325755"/>
          </a:xfrm>
          <a:prstGeom prst="rect">
            <a:avLst/>
          </a:prstGeom>
          <a:noFill/>
        </p:spPr>
        <p:txBody>
          <a:bodyPr wrap="none" lIns="0" rIns="0" tIns="0" bIns="0">
            <a:spAutoFit/>
          </a:bodyPr>
          <a:lstStyle/>
          <a:p>
            <a:pPr algn="l"/>
            <a:r>
              <a:rPr sz="1900" b="0">
                <a:solidFill>
                  <a:srgbClr val="F2F3E9"/>
                </a:solidFill>
                <a:latin typeface="Noto Sans SC"/>
                <a:ea typeface="Noto Sans SC"/>
              </a:rPr>
              <a:t>E</a:t>
            </a:r>
          </a:p>
        </p:txBody>
      </p:sp>
      <p:sp>
        <p:nvSpPr>
          <p:cNvPr id="44" name="TextBox 43"/>
          <p:cNvSpPr txBox="1"/>
          <p:nvPr/>
        </p:nvSpPr>
        <p:spPr>
          <a:xfrm>
            <a:off x="6909434" y="4262374"/>
            <a:ext cx="278130" cy="325755"/>
          </a:xfrm>
          <a:prstGeom prst="rect">
            <a:avLst/>
          </a:prstGeom>
          <a:noFill/>
        </p:spPr>
        <p:txBody>
          <a:bodyPr wrap="none" lIns="0" rIns="0" tIns="0" bIns="0">
            <a:spAutoFit/>
          </a:bodyPr>
          <a:lstStyle/>
          <a:p>
            <a:pPr algn="l"/>
            <a:r>
              <a:rPr sz="1900" b="0">
                <a:solidFill>
                  <a:srgbClr val="F2F3E9"/>
                </a:solidFill>
                <a:latin typeface="Noto Sans SC"/>
                <a:ea typeface="Noto Sans SC"/>
              </a:rPr>
              <a:t>L</a:t>
            </a:r>
          </a:p>
        </p:txBody>
      </p:sp>
      <p:sp>
        <p:nvSpPr>
          <p:cNvPr id="45" name="TextBox 44"/>
          <p:cNvSpPr txBox="1"/>
          <p:nvPr/>
        </p:nvSpPr>
        <p:spPr>
          <a:xfrm>
            <a:off x="7607934" y="4262374"/>
            <a:ext cx="278130" cy="325755"/>
          </a:xfrm>
          <a:prstGeom prst="rect">
            <a:avLst/>
          </a:prstGeom>
          <a:noFill/>
        </p:spPr>
        <p:txBody>
          <a:bodyPr wrap="none" lIns="0" rIns="0" tIns="0" bIns="0">
            <a:spAutoFit/>
          </a:bodyPr>
          <a:lstStyle/>
          <a:p>
            <a:pPr algn="l"/>
            <a:r>
              <a:rPr sz="1900" b="0">
                <a:solidFill>
                  <a:srgbClr val="F2F3E9"/>
                </a:solidFill>
                <a:latin typeface="Noto Sans SC"/>
                <a:ea typeface="Noto Sans SC"/>
              </a:rPr>
              <a:t>6</a:t>
            </a:r>
          </a:p>
        </p:txBody>
      </p:sp>
      <p:sp>
        <p:nvSpPr>
          <p:cNvPr id="46" name="TextBox 45"/>
          <p:cNvSpPr txBox="1"/>
          <p:nvPr/>
        </p:nvSpPr>
        <p:spPr>
          <a:xfrm>
            <a:off x="8560435" y="4262374"/>
            <a:ext cx="278130" cy="325755"/>
          </a:xfrm>
          <a:prstGeom prst="rect">
            <a:avLst/>
          </a:prstGeom>
          <a:noFill/>
        </p:spPr>
        <p:txBody>
          <a:bodyPr wrap="none" lIns="0" rIns="0" tIns="0" bIns="0">
            <a:spAutoFit/>
          </a:bodyPr>
          <a:lstStyle/>
          <a:p>
            <a:pPr algn="l"/>
            <a:r>
              <a:rPr sz="1900" b="0">
                <a:solidFill>
                  <a:srgbClr val="F2F3E9"/>
                </a:solidFill>
                <a:latin typeface="Noto Sans SC"/>
                <a:ea typeface="Noto Sans SC"/>
              </a:rPr>
              <a:t>0</a:t>
            </a:r>
          </a:p>
        </p:txBody>
      </p:sp>
      <p:sp>
        <p:nvSpPr>
          <p:cNvPr id="47" name="TextBox 46"/>
          <p:cNvSpPr txBox="1"/>
          <p:nvPr/>
        </p:nvSpPr>
        <p:spPr>
          <a:xfrm>
            <a:off x="9512935" y="4262374"/>
            <a:ext cx="411480" cy="325755"/>
          </a:xfrm>
          <a:prstGeom prst="rect">
            <a:avLst/>
          </a:prstGeom>
          <a:noFill/>
        </p:spPr>
        <p:txBody>
          <a:bodyPr wrap="none" lIns="0" rIns="0" tIns="0" bIns="0">
            <a:spAutoFit/>
          </a:bodyPr>
          <a:lstStyle/>
          <a:p>
            <a:pPr algn="l"/>
            <a:r>
              <a:rPr sz="1900" b="0">
                <a:solidFill>
                  <a:srgbClr val="F2F3E9"/>
                </a:solidFill>
                <a:latin typeface="Noto Sans SC"/>
                <a:ea typeface="Noto Sans SC"/>
              </a:rPr>
              <a:t>+6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71C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2000" cy="38100"/>
          </a:xfrm>
          <a:prstGeom prst="rect">
            <a:avLst/>
          </a:prstGeom>
          <a:solidFill>
            <a:srgbClr val="77CDBB">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53720" y="450088"/>
            <a:ext cx="2385060" cy="480060"/>
          </a:xfrm>
          <a:prstGeom prst="rect">
            <a:avLst/>
          </a:prstGeom>
          <a:noFill/>
        </p:spPr>
        <p:txBody>
          <a:bodyPr wrap="none" lIns="0" rIns="0" tIns="0" bIns="0">
            <a:spAutoFit/>
          </a:bodyPr>
          <a:lstStyle/>
          <a:p>
            <a:pPr algn="l"/>
            <a:r>
              <a:rPr sz="2800" b="0">
                <a:solidFill>
                  <a:srgbClr val="F2F3E9"/>
                </a:solidFill>
                <a:latin typeface="Noto Sans SC"/>
                <a:ea typeface="Noto Sans SC"/>
              </a:rPr>
              <a:t>The pair gain</a:t>
            </a:r>
          </a:p>
        </p:txBody>
      </p:sp>
      <p:sp>
        <p:nvSpPr>
          <p:cNvPr id="5" name="Rectangle 4"/>
          <p:cNvSpPr/>
          <p:nvPr/>
        </p:nvSpPr>
        <p:spPr>
          <a:xfrm>
            <a:off x="571500" y="965200"/>
            <a:ext cx="571500" cy="25400"/>
          </a:xfrm>
          <a:prstGeom prst="rect">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571500" y="6426200"/>
            <a:ext cx="11049000" cy="0"/>
          </a:xfrm>
          <a:prstGeom prst="line">
            <a:avLst/>
          </a:prstGeom>
          <a:ln w="12700">
            <a:solidFill>
              <a:srgbClr val="1D3D4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3880" y="6512052"/>
            <a:ext cx="2948940" cy="205740"/>
          </a:xfrm>
          <a:prstGeom prst="rect">
            <a:avLst/>
          </a:prstGeom>
          <a:noFill/>
        </p:spPr>
        <p:txBody>
          <a:bodyPr wrap="none" lIns="0" rIns="0" tIns="0" bIns="0">
            <a:spAutoFit/>
          </a:bodyPr>
          <a:lstStyle/>
          <a:p>
            <a:pPr algn="l"/>
            <a:r>
              <a:rPr sz="1200" b="0">
                <a:solidFill>
                  <a:srgbClr val="6F8F8F"/>
                </a:solidFill>
                <a:latin typeface="Noto Sans SC"/>
                <a:ea typeface="Noto Sans SC"/>
              </a:rPr>
              <a:t>Module 07 · Kernighan–Lin Refinement</a:t>
            </a:r>
          </a:p>
        </p:txBody>
      </p:sp>
      <p:sp>
        <p:nvSpPr>
          <p:cNvPr id="8" name="TextBox 7"/>
          <p:cNvSpPr txBox="1"/>
          <p:nvPr/>
        </p:nvSpPr>
        <p:spPr>
          <a:xfrm>
            <a:off x="11113770" y="6499098"/>
            <a:ext cx="556260" cy="222885"/>
          </a:xfrm>
          <a:prstGeom prst="rect">
            <a:avLst/>
          </a:prstGeom>
          <a:noFill/>
        </p:spPr>
        <p:txBody>
          <a:bodyPr wrap="none" lIns="0" rIns="0" tIns="0" bIns="0">
            <a:spAutoFit/>
          </a:bodyPr>
          <a:lstStyle/>
          <a:p>
            <a:pPr algn="r"/>
            <a:r>
              <a:rPr sz="1300" b="1">
                <a:solidFill>
                  <a:srgbClr val="BCD2D0"/>
                </a:solidFill>
                <a:latin typeface="Noto Sans SC"/>
                <a:ea typeface="Noto Sans SC"/>
              </a:rPr>
              <a:t>p5/14</a:t>
            </a:r>
          </a:p>
        </p:txBody>
      </p:sp>
      <p:sp>
        <p:nvSpPr>
          <p:cNvPr id="9" name="Oval 8"/>
          <p:cNvSpPr/>
          <p:nvPr/>
        </p:nvSpPr>
        <p:spPr>
          <a:xfrm>
            <a:off x="711200" y="15394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14400" y="1430782"/>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The gain of swapping a, b: g = D(a) + D(b) − 2w(a,b)</a:t>
            </a:r>
          </a:p>
        </p:txBody>
      </p:sp>
      <p:sp>
        <p:nvSpPr>
          <p:cNvPr id="11" name="Oval 10"/>
          <p:cNvSpPr/>
          <p:nvPr/>
        </p:nvSpPr>
        <p:spPr>
          <a:xfrm>
            <a:off x="711200" y="2284349"/>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14400" y="2175637"/>
            <a:ext cx="4718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One node from each side: 2 × 3 = 6 pairs</a:t>
            </a:r>
          </a:p>
        </p:txBody>
      </p:sp>
      <p:sp>
        <p:nvSpPr>
          <p:cNvPr id="13" name="Oval 12"/>
          <p:cNvSpPr/>
          <p:nvPr/>
        </p:nvSpPr>
        <p:spPr>
          <a:xfrm>
            <a:off x="711200" y="2716149"/>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14400" y="2607437"/>
            <a:ext cx="4718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Largest: A↔D, 6 + 3 − 0 = 9</a:t>
            </a:r>
          </a:p>
        </p:txBody>
      </p:sp>
      <p:sp>
        <p:nvSpPr>
          <p:cNvPr id="15" name="Oval 14"/>
          <p:cNvSpPr/>
          <p:nvPr/>
        </p:nvSpPr>
        <p:spPr>
          <a:xfrm>
            <a:off x="711200" y="3147948"/>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14400" y="3039236"/>
            <a:ext cx="4718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Ties go by the lexicographic order of (−g, a, b)</a:t>
            </a:r>
          </a:p>
        </p:txBody>
      </p:sp>
      <p:sp>
        <p:nvSpPr>
          <p:cNvPr id="17" name="TextBox 16"/>
          <p:cNvSpPr txBox="1"/>
          <p:nvPr/>
        </p:nvSpPr>
        <p:spPr>
          <a:xfrm>
            <a:off x="6666230" y="1556512"/>
            <a:ext cx="2853690" cy="377190"/>
          </a:xfrm>
          <a:prstGeom prst="rect">
            <a:avLst/>
          </a:prstGeom>
          <a:noFill/>
        </p:spPr>
        <p:txBody>
          <a:bodyPr wrap="none" lIns="0" rIns="0" tIns="0" bIns="0">
            <a:spAutoFit/>
          </a:bodyPr>
          <a:lstStyle/>
          <a:p>
            <a:pPr algn="l"/>
            <a:r>
              <a:rPr sz="2200" b="0">
                <a:solidFill>
                  <a:srgbClr val="F2F3E9"/>
                </a:solidFill>
                <a:latin typeface="Noto Sans SC"/>
                <a:ea typeface="Noto Sans SC"/>
              </a:rPr>
              <a:t>g(a,b) = D(a) + D(b) − </a:t>
            </a:r>
          </a:p>
        </p:txBody>
      </p:sp>
      <p:sp>
        <p:nvSpPr>
          <p:cNvPr id="18" name="TextBox 17"/>
          <p:cNvSpPr txBox="1"/>
          <p:nvPr/>
        </p:nvSpPr>
        <p:spPr>
          <a:xfrm>
            <a:off x="9352280" y="1556512"/>
            <a:ext cx="1139190" cy="377190"/>
          </a:xfrm>
          <a:prstGeom prst="rect">
            <a:avLst/>
          </a:prstGeom>
          <a:noFill/>
        </p:spPr>
        <p:txBody>
          <a:bodyPr wrap="none" lIns="0" rIns="0" tIns="0" bIns="0">
            <a:spAutoFit/>
          </a:bodyPr>
          <a:lstStyle/>
          <a:p>
            <a:pPr algn="l"/>
            <a:r>
              <a:rPr sz="2200" b="0">
                <a:solidFill>
                  <a:srgbClr val="DB7B72"/>
                </a:solidFill>
                <a:latin typeface="Noto Sans SC"/>
                <a:ea typeface="Noto Sans SC"/>
              </a:rPr>
              <a:t>2w(a,b)</a:t>
            </a:r>
          </a:p>
        </p:txBody>
      </p:sp>
      <p:sp>
        <p:nvSpPr>
          <p:cNvPr id="19" name="TextBox 18"/>
          <p:cNvSpPr txBox="1"/>
          <p:nvPr/>
        </p:nvSpPr>
        <p:spPr>
          <a:xfrm>
            <a:off x="6085840" y="2332736"/>
            <a:ext cx="629920" cy="274320"/>
          </a:xfrm>
          <a:prstGeom prst="rect">
            <a:avLst/>
          </a:prstGeom>
          <a:noFill/>
        </p:spPr>
        <p:txBody>
          <a:bodyPr wrap="none" lIns="0" rIns="0" tIns="0" bIns="0">
            <a:spAutoFit/>
          </a:bodyPr>
          <a:lstStyle/>
          <a:p>
            <a:pPr algn="l"/>
            <a:r>
              <a:rPr sz="1600" b="1">
                <a:solidFill>
                  <a:srgbClr val="BCD2D0"/>
                </a:solidFill>
                <a:latin typeface="Noto Sans SC"/>
                <a:ea typeface="Noto Sans SC"/>
              </a:rPr>
              <a:t>left a</a:t>
            </a:r>
          </a:p>
        </p:txBody>
      </p:sp>
      <p:sp>
        <p:nvSpPr>
          <p:cNvPr id="20" name="TextBox 19"/>
          <p:cNvSpPr txBox="1"/>
          <p:nvPr/>
        </p:nvSpPr>
        <p:spPr>
          <a:xfrm>
            <a:off x="6847840" y="2332736"/>
            <a:ext cx="782320" cy="274320"/>
          </a:xfrm>
          <a:prstGeom prst="rect">
            <a:avLst/>
          </a:prstGeom>
          <a:noFill/>
        </p:spPr>
        <p:txBody>
          <a:bodyPr wrap="none" lIns="0" rIns="0" tIns="0" bIns="0">
            <a:spAutoFit/>
          </a:bodyPr>
          <a:lstStyle/>
          <a:p>
            <a:pPr algn="l"/>
            <a:r>
              <a:rPr sz="1600" b="1">
                <a:solidFill>
                  <a:srgbClr val="BCD2D0"/>
                </a:solidFill>
                <a:latin typeface="Noto Sans SC"/>
                <a:ea typeface="Noto Sans SC"/>
              </a:rPr>
              <a:t>right b</a:t>
            </a:r>
          </a:p>
        </p:txBody>
      </p:sp>
      <p:sp>
        <p:nvSpPr>
          <p:cNvPr id="21" name="TextBox 20"/>
          <p:cNvSpPr txBox="1"/>
          <p:nvPr/>
        </p:nvSpPr>
        <p:spPr>
          <a:xfrm>
            <a:off x="7609840" y="2332736"/>
            <a:ext cx="1093470" cy="274320"/>
          </a:xfrm>
          <a:prstGeom prst="rect">
            <a:avLst/>
          </a:prstGeom>
          <a:noFill/>
        </p:spPr>
        <p:txBody>
          <a:bodyPr wrap="none" lIns="0" rIns="0" tIns="0" bIns="0">
            <a:spAutoFit/>
          </a:bodyPr>
          <a:lstStyle/>
          <a:p>
            <a:pPr algn="l"/>
            <a:r>
              <a:rPr sz="1600" b="1">
                <a:solidFill>
                  <a:srgbClr val="BCD2D0"/>
                </a:solidFill>
                <a:latin typeface="Noto Sans SC"/>
                <a:ea typeface="Noto Sans SC"/>
              </a:rPr>
              <a:t>D(a)+D(b)</a:t>
            </a:r>
          </a:p>
        </p:txBody>
      </p:sp>
      <p:sp>
        <p:nvSpPr>
          <p:cNvPr id="22" name="TextBox 21"/>
          <p:cNvSpPr txBox="1"/>
          <p:nvPr/>
        </p:nvSpPr>
        <p:spPr>
          <a:xfrm>
            <a:off x="9006840" y="2332736"/>
            <a:ext cx="541020" cy="274320"/>
          </a:xfrm>
          <a:prstGeom prst="rect">
            <a:avLst/>
          </a:prstGeom>
          <a:noFill/>
        </p:spPr>
        <p:txBody>
          <a:bodyPr wrap="none" lIns="0" rIns="0" tIns="0" bIns="0">
            <a:spAutoFit/>
          </a:bodyPr>
          <a:lstStyle/>
          <a:p>
            <a:pPr algn="l"/>
            <a:r>
              <a:rPr sz="1600" b="1">
                <a:solidFill>
                  <a:srgbClr val="BCD2D0"/>
                </a:solidFill>
                <a:latin typeface="Noto Sans SC"/>
                <a:ea typeface="Noto Sans SC"/>
              </a:rPr>
              <a:t>−2w</a:t>
            </a:r>
          </a:p>
        </p:txBody>
      </p:sp>
      <p:sp>
        <p:nvSpPr>
          <p:cNvPr id="23" name="TextBox 22"/>
          <p:cNvSpPr txBox="1"/>
          <p:nvPr/>
        </p:nvSpPr>
        <p:spPr>
          <a:xfrm>
            <a:off x="9895840" y="2332736"/>
            <a:ext cx="242570" cy="274320"/>
          </a:xfrm>
          <a:prstGeom prst="rect">
            <a:avLst/>
          </a:prstGeom>
          <a:noFill/>
        </p:spPr>
        <p:txBody>
          <a:bodyPr wrap="none" lIns="0" rIns="0" tIns="0" bIns="0">
            <a:spAutoFit/>
          </a:bodyPr>
          <a:lstStyle/>
          <a:p>
            <a:pPr algn="l"/>
            <a:r>
              <a:rPr sz="1600" b="1">
                <a:solidFill>
                  <a:srgbClr val="BCD2D0"/>
                </a:solidFill>
                <a:latin typeface="Noto Sans SC"/>
                <a:ea typeface="Noto Sans SC"/>
              </a:rPr>
              <a:t>g</a:t>
            </a:r>
          </a:p>
        </p:txBody>
      </p:sp>
      <p:cxnSp>
        <p:nvCxnSpPr>
          <p:cNvPr id="24" name="Connector 23"/>
          <p:cNvCxnSpPr/>
          <p:nvPr/>
        </p:nvCxnSpPr>
        <p:spPr>
          <a:xfrm>
            <a:off x="6057900" y="2641600"/>
            <a:ext cx="4737100" cy="0"/>
          </a:xfrm>
          <a:prstGeom prst="line">
            <a:avLst/>
          </a:prstGeom>
          <a:ln w="12700">
            <a:solidFill>
              <a:srgbClr val="2D4A4E"/>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007100" y="2730500"/>
            <a:ext cx="4876800" cy="444500"/>
          </a:xfrm>
          <a:prstGeom prst="roundRect">
            <a:avLst>
              <a:gd name="adj" fmla="val 11428"/>
            </a:avLst>
          </a:prstGeom>
          <a:solidFill>
            <a:srgbClr val="D8BB78">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084570" y="2776728"/>
            <a:ext cx="276859" cy="308610"/>
          </a:xfrm>
          <a:prstGeom prst="rect">
            <a:avLst/>
          </a:prstGeom>
          <a:noFill/>
        </p:spPr>
        <p:txBody>
          <a:bodyPr wrap="none" lIns="0" rIns="0" tIns="0" bIns="0">
            <a:spAutoFit/>
          </a:bodyPr>
          <a:lstStyle/>
          <a:p>
            <a:pPr algn="l"/>
            <a:r>
              <a:rPr sz="1800" b="0">
                <a:solidFill>
                  <a:srgbClr val="F2F3E9"/>
                </a:solidFill>
                <a:latin typeface="Noto Sans SC"/>
                <a:ea typeface="Noto Sans SC"/>
              </a:rPr>
              <a:t>A</a:t>
            </a:r>
          </a:p>
        </p:txBody>
      </p:sp>
      <p:sp>
        <p:nvSpPr>
          <p:cNvPr id="27" name="TextBox 26"/>
          <p:cNvSpPr txBox="1"/>
          <p:nvPr/>
        </p:nvSpPr>
        <p:spPr>
          <a:xfrm>
            <a:off x="6846570" y="2776728"/>
            <a:ext cx="295909" cy="308610"/>
          </a:xfrm>
          <a:prstGeom prst="rect">
            <a:avLst/>
          </a:prstGeom>
          <a:noFill/>
        </p:spPr>
        <p:txBody>
          <a:bodyPr wrap="none" lIns="0" rIns="0" tIns="0" bIns="0">
            <a:spAutoFit/>
          </a:bodyPr>
          <a:lstStyle/>
          <a:p>
            <a:pPr algn="l"/>
            <a:r>
              <a:rPr sz="1800" b="0">
                <a:solidFill>
                  <a:srgbClr val="F2F3E9"/>
                </a:solidFill>
                <a:latin typeface="Noto Sans SC"/>
                <a:ea typeface="Noto Sans SC"/>
              </a:rPr>
              <a:t>D</a:t>
            </a:r>
          </a:p>
        </p:txBody>
      </p:sp>
      <p:sp>
        <p:nvSpPr>
          <p:cNvPr id="28" name="TextBox 27"/>
          <p:cNvSpPr txBox="1"/>
          <p:nvPr/>
        </p:nvSpPr>
        <p:spPr>
          <a:xfrm>
            <a:off x="7608570" y="2776728"/>
            <a:ext cx="264159" cy="308610"/>
          </a:xfrm>
          <a:prstGeom prst="rect">
            <a:avLst/>
          </a:prstGeom>
          <a:noFill/>
        </p:spPr>
        <p:txBody>
          <a:bodyPr wrap="none" lIns="0" rIns="0" tIns="0" bIns="0">
            <a:spAutoFit/>
          </a:bodyPr>
          <a:lstStyle/>
          <a:p>
            <a:pPr algn="l"/>
            <a:r>
              <a:rPr sz="1800" b="0">
                <a:solidFill>
                  <a:srgbClr val="F2F3E9"/>
                </a:solidFill>
                <a:latin typeface="Noto Sans SC"/>
                <a:ea typeface="Noto Sans SC"/>
              </a:rPr>
              <a:t>9</a:t>
            </a:r>
          </a:p>
        </p:txBody>
      </p:sp>
      <p:sp>
        <p:nvSpPr>
          <p:cNvPr id="29" name="TextBox 28"/>
          <p:cNvSpPr txBox="1"/>
          <p:nvPr/>
        </p:nvSpPr>
        <p:spPr>
          <a:xfrm>
            <a:off x="9005570" y="2776728"/>
            <a:ext cx="264159" cy="308610"/>
          </a:xfrm>
          <a:prstGeom prst="rect">
            <a:avLst/>
          </a:prstGeom>
          <a:noFill/>
        </p:spPr>
        <p:txBody>
          <a:bodyPr wrap="none" lIns="0" rIns="0" tIns="0" bIns="0">
            <a:spAutoFit/>
          </a:bodyPr>
          <a:lstStyle/>
          <a:p>
            <a:pPr algn="l"/>
            <a:r>
              <a:rPr sz="1800" b="0">
                <a:solidFill>
                  <a:srgbClr val="F2F3E9"/>
                </a:solidFill>
                <a:latin typeface="Noto Sans SC"/>
                <a:ea typeface="Noto Sans SC"/>
              </a:rPr>
              <a:t>0</a:t>
            </a:r>
          </a:p>
        </p:txBody>
      </p:sp>
      <p:sp>
        <p:nvSpPr>
          <p:cNvPr id="30" name="TextBox 29"/>
          <p:cNvSpPr txBox="1"/>
          <p:nvPr/>
        </p:nvSpPr>
        <p:spPr>
          <a:xfrm>
            <a:off x="9894570" y="2776728"/>
            <a:ext cx="391159" cy="308610"/>
          </a:xfrm>
          <a:prstGeom prst="rect">
            <a:avLst/>
          </a:prstGeom>
          <a:noFill/>
        </p:spPr>
        <p:txBody>
          <a:bodyPr wrap="none" lIns="0" rIns="0" tIns="0" bIns="0">
            <a:spAutoFit/>
          </a:bodyPr>
          <a:lstStyle/>
          <a:p>
            <a:pPr algn="l"/>
            <a:r>
              <a:rPr sz="1800" b="0">
                <a:solidFill>
                  <a:srgbClr val="F2F3E9"/>
                </a:solidFill>
                <a:latin typeface="Noto Sans SC"/>
                <a:ea typeface="Noto Sans SC"/>
              </a:rPr>
              <a:t>+9</a:t>
            </a:r>
          </a:p>
        </p:txBody>
      </p:sp>
      <p:sp>
        <p:nvSpPr>
          <p:cNvPr id="31" name="TextBox 30"/>
          <p:cNvSpPr txBox="1"/>
          <p:nvPr/>
        </p:nvSpPr>
        <p:spPr>
          <a:xfrm>
            <a:off x="6084570" y="3246628"/>
            <a:ext cx="270509" cy="308610"/>
          </a:xfrm>
          <a:prstGeom prst="rect">
            <a:avLst/>
          </a:prstGeom>
          <a:noFill/>
        </p:spPr>
        <p:txBody>
          <a:bodyPr wrap="none" lIns="0" rIns="0" tIns="0" bIns="0">
            <a:spAutoFit/>
          </a:bodyPr>
          <a:lstStyle/>
          <a:p>
            <a:pPr algn="l"/>
            <a:r>
              <a:rPr sz="1800" b="0">
                <a:solidFill>
                  <a:srgbClr val="F2F3E9"/>
                </a:solidFill>
                <a:latin typeface="Noto Sans SC"/>
                <a:ea typeface="Noto Sans SC"/>
              </a:rPr>
              <a:t>E</a:t>
            </a:r>
          </a:p>
        </p:txBody>
      </p:sp>
      <p:sp>
        <p:nvSpPr>
          <p:cNvPr id="32" name="TextBox 31"/>
          <p:cNvSpPr txBox="1"/>
          <p:nvPr/>
        </p:nvSpPr>
        <p:spPr>
          <a:xfrm>
            <a:off x="6846570" y="3246628"/>
            <a:ext cx="289559" cy="308610"/>
          </a:xfrm>
          <a:prstGeom prst="rect">
            <a:avLst/>
          </a:prstGeom>
          <a:noFill/>
        </p:spPr>
        <p:txBody>
          <a:bodyPr wrap="none" lIns="0" rIns="0" tIns="0" bIns="0">
            <a:spAutoFit/>
          </a:bodyPr>
          <a:lstStyle/>
          <a:p>
            <a:pPr algn="l"/>
            <a:r>
              <a:rPr sz="1800" b="0">
                <a:solidFill>
                  <a:srgbClr val="F2F3E9"/>
                </a:solidFill>
                <a:latin typeface="Noto Sans SC"/>
                <a:ea typeface="Noto Sans SC"/>
              </a:rPr>
              <a:t>B</a:t>
            </a:r>
          </a:p>
        </p:txBody>
      </p:sp>
      <p:sp>
        <p:nvSpPr>
          <p:cNvPr id="33" name="TextBox 32"/>
          <p:cNvSpPr txBox="1"/>
          <p:nvPr/>
        </p:nvSpPr>
        <p:spPr>
          <a:xfrm>
            <a:off x="7608570" y="3246628"/>
            <a:ext cx="264159" cy="308610"/>
          </a:xfrm>
          <a:prstGeom prst="rect">
            <a:avLst/>
          </a:prstGeom>
          <a:noFill/>
        </p:spPr>
        <p:txBody>
          <a:bodyPr wrap="none" lIns="0" rIns="0" tIns="0" bIns="0">
            <a:spAutoFit/>
          </a:bodyPr>
          <a:lstStyle/>
          <a:p>
            <a:pPr algn="l"/>
            <a:r>
              <a:rPr sz="1800" b="0">
                <a:solidFill>
                  <a:srgbClr val="F2F3E9"/>
                </a:solidFill>
                <a:latin typeface="Noto Sans SC"/>
                <a:ea typeface="Noto Sans SC"/>
              </a:rPr>
              <a:t>7</a:t>
            </a:r>
          </a:p>
        </p:txBody>
      </p:sp>
      <p:sp>
        <p:nvSpPr>
          <p:cNvPr id="34" name="TextBox 33"/>
          <p:cNvSpPr txBox="1"/>
          <p:nvPr/>
        </p:nvSpPr>
        <p:spPr>
          <a:xfrm>
            <a:off x="9005570" y="3246628"/>
            <a:ext cx="264159" cy="308610"/>
          </a:xfrm>
          <a:prstGeom prst="rect">
            <a:avLst/>
          </a:prstGeom>
          <a:noFill/>
        </p:spPr>
        <p:txBody>
          <a:bodyPr wrap="none" lIns="0" rIns="0" tIns="0" bIns="0">
            <a:spAutoFit/>
          </a:bodyPr>
          <a:lstStyle/>
          <a:p>
            <a:pPr algn="l"/>
            <a:r>
              <a:rPr sz="1800" b="0">
                <a:solidFill>
                  <a:srgbClr val="F2F3E9"/>
                </a:solidFill>
                <a:latin typeface="Noto Sans SC"/>
                <a:ea typeface="Noto Sans SC"/>
              </a:rPr>
              <a:t>0</a:t>
            </a:r>
          </a:p>
        </p:txBody>
      </p:sp>
      <p:sp>
        <p:nvSpPr>
          <p:cNvPr id="35" name="TextBox 34"/>
          <p:cNvSpPr txBox="1"/>
          <p:nvPr/>
        </p:nvSpPr>
        <p:spPr>
          <a:xfrm>
            <a:off x="9894570" y="3246628"/>
            <a:ext cx="391159" cy="308610"/>
          </a:xfrm>
          <a:prstGeom prst="rect">
            <a:avLst/>
          </a:prstGeom>
          <a:noFill/>
        </p:spPr>
        <p:txBody>
          <a:bodyPr wrap="none" lIns="0" rIns="0" tIns="0" bIns="0">
            <a:spAutoFit/>
          </a:bodyPr>
          <a:lstStyle/>
          <a:p>
            <a:pPr algn="l"/>
            <a:r>
              <a:rPr sz="1800" b="0">
                <a:solidFill>
                  <a:srgbClr val="F2F3E9"/>
                </a:solidFill>
                <a:latin typeface="Noto Sans SC"/>
                <a:ea typeface="Noto Sans SC"/>
              </a:rPr>
              <a:t>+7</a:t>
            </a:r>
          </a:p>
        </p:txBody>
      </p:sp>
      <p:sp>
        <p:nvSpPr>
          <p:cNvPr id="36" name="TextBox 35"/>
          <p:cNvSpPr txBox="1"/>
          <p:nvPr/>
        </p:nvSpPr>
        <p:spPr>
          <a:xfrm>
            <a:off x="6084570" y="3716528"/>
            <a:ext cx="276859" cy="308610"/>
          </a:xfrm>
          <a:prstGeom prst="rect">
            <a:avLst/>
          </a:prstGeom>
          <a:noFill/>
        </p:spPr>
        <p:txBody>
          <a:bodyPr wrap="none" lIns="0" rIns="0" tIns="0" bIns="0">
            <a:spAutoFit/>
          </a:bodyPr>
          <a:lstStyle/>
          <a:p>
            <a:pPr algn="l"/>
            <a:r>
              <a:rPr sz="1800" b="0">
                <a:solidFill>
                  <a:srgbClr val="F2F3E9"/>
                </a:solidFill>
                <a:latin typeface="Noto Sans SC"/>
                <a:ea typeface="Noto Sans SC"/>
              </a:rPr>
              <a:t>A</a:t>
            </a:r>
          </a:p>
        </p:txBody>
      </p:sp>
      <p:sp>
        <p:nvSpPr>
          <p:cNvPr id="37" name="TextBox 36"/>
          <p:cNvSpPr txBox="1"/>
          <p:nvPr/>
        </p:nvSpPr>
        <p:spPr>
          <a:xfrm>
            <a:off x="6846570" y="3716528"/>
            <a:ext cx="283209" cy="308610"/>
          </a:xfrm>
          <a:prstGeom prst="rect">
            <a:avLst/>
          </a:prstGeom>
          <a:noFill/>
        </p:spPr>
        <p:txBody>
          <a:bodyPr wrap="none" lIns="0" rIns="0" tIns="0" bIns="0">
            <a:spAutoFit/>
          </a:bodyPr>
          <a:lstStyle/>
          <a:p>
            <a:pPr algn="l"/>
            <a:r>
              <a:rPr sz="1800" b="0">
                <a:solidFill>
                  <a:srgbClr val="F2F3E9"/>
                </a:solidFill>
                <a:latin typeface="Noto Sans SC"/>
                <a:ea typeface="Noto Sans SC"/>
              </a:rPr>
              <a:t>C</a:t>
            </a:r>
          </a:p>
        </p:txBody>
      </p:sp>
      <p:sp>
        <p:nvSpPr>
          <p:cNvPr id="38" name="TextBox 37"/>
          <p:cNvSpPr txBox="1"/>
          <p:nvPr/>
        </p:nvSpPr>
        <p:spPr>
          <a:xfrm>
            <a:off x="7608570" y="3716528"/>
            <a:ext cx="264159" cy="308610"/>
          </a:xfrm>
          <a:prstGeom prst="rect">
            <a:avLst/>
          </a:prstGeom>
          <a:noFill/>
        </p:spPr>
        <p:txBody>
          <a:bodyPr wrap="none" lIns="0" rIns="0" tIns="0" bIns="0">
            <a:spAutoFit/>
          </a:bodyPr>
          <a:lstStyle/>
          <a:p>
            <a:pPr algn="l"/>
            <a:r>
              <a:rPr sz="1800" b="0">
                <a:solidFill>
                  <a:srgbClr val="F2F3E9"/>
                </a:solidFill>
                <a:latin typeface="Noto Sans SC"/>
                <a:ea typeface="Noto Sans SC"/>
              </a:rPr>
              <a:t>2</a:t>
            </a:r>
          </a:p>
        </p:txBody>
      </p:sp>
      <p:sp>
        <p:nvSpPr>
          <p:cNvPr id="39" name="TextBox 38"/>
          <p:cNvSpPr txBox="1"/>
          <p:nvPr/>
        </p:nvSpPr>
        <p:spPr>
          <a:xfrm>
            <a:off x="9005570" y="3716528"/>
            <a:ext cx="340359" cy="308610"/>
          </a:xfrm>
          <a:prstGeom prst="rect">
            <a:avLst/>
          </a:prstGeom>
          <a:noFill/>
        </p:spPr>
        <p:txBody>
          <a:bodyPr wrap="none" lIns="0" rIns="0" tIns="0" bIns="0">
            <a:spAutoFit/>
          </a:bodyPr>
          <a:lstStyle/>
          <a:p>
            <a:pPr algn="l"/>
            <a:r>
              <a:rPr sz="1800" b="0">
                <a:solidFill>
                  <a:srgbClr val="F2F3E9"/>
                </a:solidFill>
                <a:latin typeface="Noto Sans SC"/>
                <a:ea typeface="Noto Sans SC"/>
              </a:rPr>
              <a:t>-2</a:t>
            </a:r>
          </a:p>
        </p:txBody>
      </p:sp>
      <p:sp>
        <p:nvSpPr>
          <p:cNvPr id="40" name="TextBox 39"/>
          <p:cNvSpPr txBox="1"/>
          <p:nvPr/>
        </p:nvSpPr>
        <p:spPr>
          <a:xfrm>
            <a:off x="9894570" y="3716528"/>
            <a:ext cx="264159" cy="308610"/>
          </a:xfrm>
          <a:prstGeom prst="rect">
            <a:avLst/>
          </a:prstGeom>
          <a:noFill/>
        </p:spPr>
        <p:txBody>
          <a:bodyPr wrap="none" lIns="0" rIns="0" tIns="0" bIns="0">
            <a:spAutoFit/>
          </a:bodyPr>
          <a:lstStyle/>
          <a:p>
            <a:pPr algn="l"/>
            <a:r>
              <a:rPr sz="1800" b="0">
                <a:solidFill>
                  <a:srgbClr val="F2F3E9"/>
                </a:solidFill>
                <a:latin typeface="Noto Sans SC"/>
                <a:ea typeface="Noto Sans SC"/>
              </a:rPr>
              <a:t>0</a:t>
            </a:r>
          </a:p>
        </p:txBody>
      </p:sp>
      <p:sp>
        <p:nvSpPr>
          <p:cNvPr id="41" name="TextBox 40"/>
          <p:cNvSpPr txBox="1"/>
          <p:nvPr/>
        </p:nvSpPr>
        <p:spPr>
          <a:xfrm>
            <a:off x="6084570" y="4186428"/>
            <a:ext cx="270509" cy="308610"/>
          </a:xfrm>
          <a:prstGeom prst="rect">
            <a:avLst/>
          </a:prstGeom>
          <a:noFill/>
        </p:spPr>
        <p:txBody>
          <a:bodyPr wrap="none" lIns="0" rIns="0" tIns="0" bIns="0">
            <a:spAutoFit/>
          </a:bodyPr>
          <a:lstStyle/>
          <a:p>
            <a:pPr algn="l"/>
            <a:r>
              <a:rPr sz="1800" b="0">
                <a:solidFill>
                  <a:srgbClr val="F2F3E9"/>
                </a:solidFill>
                <a:latin typeface="Noto Sans SC"/>
                <a:ea typeface="Noto Sans SC"/>
              </a:rPr>
              <a:t>E</a:t>
            </a:r>
          </a:p>
        </p:txBody>
      </p:sp>
      <p:sp>
        <p:nvSpPr>
          <p:cNvPr id="42" name="TextBox 41"/>
          <p:cNvSpPr txBox="1"/>
          <p:nvPr/>
        </p:nvSpPr>
        <p:spPr>
          <a:xfrm>
            <a:off x="6846570" y="4186428"/>
            <a:ext cx="283209" cy="308610"/>
          </a:xfrm>
          <a:prstGeom prst="rect">
            <a:avLst/>
          </a:prstGeom>
          <a:noFill/>
        </p:spPr>
        <p:txBody>
          <a:bodyPr wrap="none" lIns="0" rIns="0" tIns="0" bIns="0">
            <a:spAutoFit/>
          </a:bodyPr>
          <a:lstStyle/>
          <a:p>
            <a:pPr algn="l"/>
            <a:r>
              <a:rPr sz="1800" b="0">
                <a:solidFill>
                  <a:srgbClr val="F2F3E9"/>
                </a:solidFill>
                <a:latin typeface="Noto Sans SC"/>
                <a:ea typeface="Noto Sans SC"/>
              </a:rPr>
              <a:t>C</a:t>
            </a:r>
          </a:p>
        </p:txBody>
      </p:sp>
      <p:sp>
        <p:nvSpPr>
          <p:cNvPr id="43" name="TextBox 42"/>
          <p:cNvSpPr txBox="1"/>
          <p:nvPr/>
        </p:nvSpPr>
        <p:spPr>
          <a:xfrm>
            <a:off x="7608570" y="4186428"/>
            <a:ext cx="264159" cy="308610"/>
          </a:xfrm>
          <a:prstGeom prst="rect">
            <a:avLst/>
          </a:prstGeom>
          <a:noFill/>
        </p:spPr>
        <p:txBody>
          <a:bodyPr wrap="none" lIns="0" rIns="0" tIns="0" bIns="0">
            <a:spAutoFit/>
          </a:bodyPr>
          <a:lstStyle/>
          <a:p>
            <a:pPr algn="l"/>
            <a:r>
              <a:rPr sz="1800" b="0">
                <a:solidFill>
                  <a:srgbClr val="F2F3E9"/>
                </a:solidFill>
                <a:latin typeface="Noto Sans SC"/>
                <a:ea typeface="Noto Sans SC"/>
              </a:rPr>
              <a:t>2</a:t>
            </a:r>
          </a:p>
        </p:txBody>
      </p:sp>
      <p:sp>
        <p:nvSpPr>
          <p:cNvPr id="44" name="TextBox 43"/>
          <p:cNvSpPr txBox="1"/>
          <p:nvPr/>
        </p:nvSpPr>
        <p:spPr>
          <a:xfrm>
            <a:off x="9005570" y="4186428"/>
            <a:ext cx="340359" cy="308610"/>
          </a:xfrm>
          <a:prstGeom prst="rect">
            <a:avLst/>
          </a:prstGeom>
          <a:noFill/>
        </p:spPr>
        <p:txBody>
          <a:bodyPr wrap="none" lIns="0" rIns="0" tIns="0" bIns="0">
            <a:spAutoFit/>
          </a:bodyPr>
          <a:lstStyle/>
          <a:p>
            <a:pPr algn="l"/>
            <a:r>
              <a:rPr sz="1800" b="0">
                <a:solidFill>
                  <a:srgbClr val="F2F3E9"/>
                </a:solidFill>
                <a:latin typeface="Noto Sans SC"/>
                <a:ea typeface="Noto Sans SC"/>
              </a:rPr>
              <a:t>-2</a:t>
            </a:r>
          </a:p>
        </p:txBody>
      </p:sp>
      <p:sp>
        <p:nvSpPr>
          <p:cNvPr id="45" name="TextBox 44"/>
          <p:cNvSpPr txBox="1"/>
          <p:nvPr/>
        </p:nvSpPr>
        <p:spPr>
          <a:xfrm>
            <a:off x="9894570" y="4186428"/>
            <a:ext cx="264159" cy="308610"/>
          </a:xfrm>
          <a:prstGeom prst="rect">
            <a:avLst/>
          </a:prstGeom>
          <a:noFill/>
        </p:spPr>
        <p:txBody>
          <a:bodyPr wrap="none" lIns="0" rIns="0" tIns="0" bIns="0">
            <a:spAutoFit/>
          </a:bodyPr>
          <a:lstStyle/>
          <a:p>
            <a:pPr algn="l"/>
            <a:r>
              <a:rPr sz="1800" b="0">
                <a:solidFill>
                  <a:srgbClr val="F2F3E9"/>
                </a:solidFill>
                <a:latin typeface="Noto Sans SC"/>
                <a:ea typeface="Noto Sans SC"/>
              </a:rPr>
              <a:t>0</a:t>
            </a:r>
          </a:p>
        </p:txBody>
      </p:sp>
      <p:sp>
        <p:nvSpPr>
          <p:cNvPr id="46" name="TextBox 45"/>
          <p:cNvSpPr txBox="1"/>
          <p:nvPr/>
        </p:nvSpPr>
        <p:spPr>
          <a:xfrm>
            <a:off x="6084570" y="4656328"/>
            <a:ext cx="270509" cy="308610"/>
          </a:xfrm>
          <a:prstGeom prst="rect">
            <a:avLst/>
          </a:prstGeom>
          <a:noFill/>
        </p:spPr>
        <p:txBody>
          <a:bodyPr wrap="none" lIns="0" rIns="0" tIns="0" bIns="0">
            <a:spAutoFit/>
          </a:bodyPr>
          <a:lstStyle/>
          <a:p>
            <a:pPr algn="l"/>
            <a:r>
              <a:rPr sz="1800" b="0">
                <a:solidFill>
                  <a:srgbClr val="F2F3E9"/>
                </a:solidFill>
                <a:latin typeface="Noto Sans SC"/>
                <a:ea typeface="Noto Sans SC"/>
              </a:rPr>
              <a:t>E</a:t>
            </a:r>
          </a:p>
        </p:txBody>
      </p:sp>
      <p:sp>
        <p:nvSpPr>
          <p:cNvPr id="47" name="TextBox 46"/>
          <p:cNvSpPr txBox="1"/>
          <p:nvPr/>
        </p:nvSpPr>
        <p:spPr>
          <a:xfrm>
            <a:off x="6846570" y="4656328"/>
            <a:ext cx="295909" cy="308610"/>
          </a:xfrm>
          <a:prstGeom prst="rect">
            <a:avLst/>
          </a:prstGeom>
          <a:noFill/>
        </p:spPr>
        <p:txBody>
          <a:bodyPr wrap="none" lIns="0" rIns="0" tIns="0" bIns="0">
            <a:spAutoFit/>
          </a:bodyPr>
          <a:lstStyle/>
          <a:p>
            <a:pPr algn="l"/>
            <a:r>
              <a:rPr sz="1800" b="0">
                <a:solidFill>
                  <a:srgbClr val="F2F3E9"/>
                </a:solidFill>
                <a:latin typeface="Noto Sans SC"/>
                <a:ea typeface="Noto Sans SC"/>
              </a:rPr>
              <a:t>D</a:t>
            </a:r>
          </a:p>
        </p:txBody>
      </p:sp>
      <p:sp>
        <p:nvSpPr>
          <p:cNvPr id="48" name="TextBox 47"/>
          <p:cNvSpPr txBox="1"/>
          <p:nvPr/>
        </p:nvSpPr>
        <p:spPr>
          <a:xfrm>
            <a:off x="7608570" y="4656328"/>
            <a:ext cx="264159" cy="308610"/>
          </a:xfrm>
          <a:prstGeom prst="rect">
            <a:avLst/>
          </a:prstGeom>
          <a:noFill/>
        </p:spPr>
        <p:txBody>
          <a:bodyPr wrap="none" lIns="0" rIns="0" tIns="0" bIns="0">
            <a:spAutoFit/>
          </a:bodyPr>
          <a:lstStyle/>
          <a:p>
            <a:pPr algn="l"/>
            <a:r>
              <a:rPr sz="1800" b="0">
                <a:solidFill>
                  <a:srgbClr val="F2F3E9"/>
                </a:solidFill>
                <a:latin typeface="Noto Sans SC"/>
                <a:ea typeface="Noto Sans SC"/>
              </a:rPr>
              <a:t>9</a:t>
            </a:r>
          </a:p>
        </p:txBody>
      </p:sp>
      <p:sp>
        <p:nvSpPr>
          <p:cNvPr id="49" name="TextBox 48"/>
          <p:cNvSpPr txBox="1"/>
          <p:nvPr/>
        </p:nvSpPr>
        <p:spPr>
          <a:xfrm>
            <a:off x="9005570" y="4656328"/>
            <a:ext cx="467359" cy="308610"/>
          </a:xfrm>
          <a:prstGeom prst="rect">
            <a:avLst/>
          </a:prstGeom>
          <a:noFill/>
        </p:spPr>
        <p:txBody>
          <a:bodyPr wrap="none" lIns="0" rIns="0" tIns="0" bIns="0">
            <a:spAutoFit/>
          </a:bodyPr>
          <a:lstStyle/>
          <a:p>
            <a:pPr algn="l"/>
            <a:r>
              <a:rPr sz="1800" b="0">
                <a:solidFill>
                  <a:srgbClr val="F2F3E9"/>
                </a:solidFill>
                <a:latin typeface="Noto Sans SC"/>
                <a:ea typeface="Noto Sans SC"/>
              </a:rPr>
              <a:t>-10</a:t>
            </a:r>
          </a:p>
        </p:txBody>
      </p:sp>
      <p:sp>
        <p:nvSpPr>
          <p:cNvPr id="50" name="TextBox 49"/>
          <p:cNvSpPr txBox="1"/>
          <p:nvPr/>
        </p:nvSpPr>
        <p:spPr>
          <a:xfrm>
            <a:off x="9894570" y="4656328"/>
            <a:ext cx="340359" cy="308610"/>
          </a:xfrm>
          <a:prstGeom prst="rect">
            <a:avLst/>
          </a:prstGeom>
          <a:noFill/>
        </p:spPr>
        <p:txBody>
          <a:bodyPr wrap="none" lIns="0" rIns="0" tIns="0" bIns="0">
            <a:spAutoFit/>
          </a:bodyPr>
          <a:lstStyle/>
          <a:p>
            <a:pPr algn="l"/>
            <a:r>
              <a:rPr sz="1800" b="0">
                <a:solidFill>
                  <a:srgbClr val="F2F3E9"/>
                </a:solidFill>
                <a:latin typeface="Noto Sans SC"/>
                <a:ea typeface="Noto Sans SC"/>
              </a:rPr>
              <a:t>-1</a:t>
            </a:r>
          </a:p>
        </p:txBody>
      </p:sp>
      <p:sp>
        <p:nvSpPr>
          <p:cNvPr id="51" name="TextBox 50"/>
          <p:cNvSpPr txBox="1"/>
          <p:nvPr/>
        </p:nvSpPr>
        <p:spPr>
          <a:xfrm>
            <a:off x="6084570" y="5126228"/>
            <a:ext cx="276859" cy="308610"/>
          </a:xfrm>
          <a:prstGeom prst="rect">
            <a:avLst/>
          </a:prstGeom>
          <a:noFill/>
        </p:spPr>
        <p:txBody>
          <a:bodyPr wrap="none" lIns="0" rIns="0" tIns="0" bIns="0">
            <a:spAutoFit/>
          </a:bodyPr>
          <a:lstStyle/>
          <a:p>
            <a:pPr algn="l"/>
            <a:r>
              <a:rPr sz="1800" b="0">
                <a:solidFill>
                  <a:srgbClr val="F2F3E9"/>
                </a:solidFill>
                <a:latin typeface="Noto Sans SC"/>
                <a:ea typeface="Noto Sans SC"/>
              </a:rPr>
              <a:t>A</a:t>
            </a:r>
          </a:p>
        </p:txBody>
      </p:sp>
      <p:sp>
        <p:nvSpPr>
          <p:cNvPr id="52" name="TextBox 51"/>
          <p:cNvSpPr txBox="1"/>
          <p:nvPr/>
        </p:nvSpPr>
        <p:spPr>
          <a:xfrm>
            <a:off x="6846570" y="5126228"/>
            <a:ext cx="289559" cy="308610"/>
          </a:xfrm>
          <a:prstGeom prst="rect">
            <a:avLst/>
          </a:prstGeom>
          <a:noFill/>
        </p:spPr>
        <p:txBody>
          <a:bodyPr wrap="none" lIns="0" rIns="0" tIns="0" bIns="0">
            <a:spAutoFit/>
          </a:bodyPr>
          <a:lstStyle/>
          <a:p>
            <a:pPr algn="l"/>
            <a:r>
              <a:rPr sz="1800" b="0">
                <a:solidFill>
                  <a:srgbClr val="F2F3E9"/>
                </a:solidFill>
                <a:latin typeface="Noto Sans SC"/>
                <a:ea typeface="Noto Sans SC"/>
              </a:rPr>
              <a:t>B</a:t>
            </a:r>
          </a:p>
        </p:txBody>
      </p:sp>
      <p:sp>
        <p:nvSpPr>
          <p:cNvPr id="53" name="TextBox 52"/>
          <p:cNvSpPr txBox="1"/>
          <p:nvPr/>
        </p:nvSpPr>
        <p:spPr>
          <a:xfrm>
            <a:off x="7608570" y="5126228"/>
            <a:ext cx="264159" cy="308610"/>
          </a:xfrm>
          <a:prstGeom prst="rect">
            <a:avLst/>
          </a:prstGeom>
          <a:noFill/>
        </p:spPr>
        <p:txBody>
          <a:bodyPr wrap="none" lIns="0" rIns="0" tIns="0" bIns="0">
            <a:spAutoFit/>
          </a:bodyPr>
          <a:lstStyle/>
          <a:p>
            <a:pPr algn="l"/>
            <a:r>
              <a:rPr sz="1800" b="0">
                <a:solidFill>
                  <a:srgbClr val="F2F3E9"/>
                </a:solidFill>
                <a:latin typeface="Noto Sans SC"/>
                <a:ea typeface="Noto Sans SC"/>
              </a:rPr>
              <a:t>7</a:t>
            </a:r>
          </a:p>
        </p:txBody>
      </p:sp>
      <p:sp>
        <p:nvSpPr>
          <p:cNvPr id="54" name="TextBox 53"/>
          <p:cNvSpPr txBox="1"/>
          <p:nvPr/>
        </p:nvSpPr>
        <p:spPr>
          <a:xfrm>
            <a:off x="9005570" y="5126228"/>
            <a:ext cx="467359" cy="308610"/>
          </a:xfrm>
          <a:prstGeom prst="rect">
            <a:avLst/>
          </a:prstGeom>
          <a:noFill/>
        </p:spPr>
        <p:txBody>
          <a:bodyPr wrap="none" lIns="0" rIns="0" tIns="0" bIns="0">
            <a:spAutoFit/>
          </a:bodyPr>
          <a:lstStyle/>
          <a:p>
            <a:pPr algn="l"/>
            <a:r>
              <a:rPr sz="1800" b="0">
                <a:solidFill>
                  <a:srgbClr val="F2F3E9"/>
                </a:solidFill>
                <a:latin typeface="Noto Sans SC"/>
                <a:ea typeface="Noto Sans SC"/>
              </a:rPr>
              <a:t>-10</a:t>
            </a:r>
          </a:p>
        </p:txBody>
      </p:sp>
      <p:sp>
        <p:nvSpPr>
          <p:cNvPr id="55" name="TextBox 54"/>
          <p:cNvSpPr txBox="1"/>
          <p:nvPr/>
        </p:nvSpPr>
        <p:spPr>
          <a:xfrm>
            <a:off x="9894570" y="5126228"/>
            <a:ext cx="340359" cy="308610"/>
          </a:xfrm>
          <a:prstGeom prst="rect">
            <a:avLst/>
          </a:prstGeom>
          <a:noFill/>
        </p:spPr>
        <p:txBody>
          <a:bodyPr wrap="none" lIns="0" rIns="0" tIns="0" bIns="0">
            <a:spAutoFit/>
          </a:bodyPr>
          <a:lstStyle/>
          <a:p>
            <a:pPr algn="l"/>
            <a:r>
              <a:rPr sz="1800" b="0">
                <a:solidFill>
                  <a:srgbClr val="F2F3E9"/>
                </a:solidFill>
                <a:latin typeface="Noto Sans SC"/>
                <a:ea typeface="Noto Sans SC"/>
              </a:rPr>
              <a:t>-3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71C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2000" cy="38100"/>
          </a:xfrm>
          <a:prstGeom prst="rect">
            <a:avLst/>
          </a:prstGeom>
          <a:solidFill>
            <a:srgbClr val="77CDBB">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53720" y="450088"/>
            <a:ext cx="2969260" cy="480060"/>
          </a:xfrm>
          <a:prstGeom prst="rect">
            <a:avLst/>
          </a:prstGeom>
          <a:noFill/>
        </p:spPr>
        <p:txBody>
          <a:bodyPr wrap="none" lIns="0" rIns="0" tIns="0" bIns="0">
            <a:spAutoFit/>
          </a:bodyPr>
          <a:lstStyle/>
          <a:p>
            <a:pPr algn="l"/>
            <a:r>
              <a:rPr sz="2800" b="0">
                <a:solidFill>
                  <a:srgbClr val="F2F3E9"/>
                </a:solidFill>
                <a:latin typeface="Noto Sans SC"/>
                <a:ea typeface="Noto Sans SC"/>
              </a:rPr>
              <a:t>Why subtract 2w</a:t>
            </a:r>
          </a:p>
        </p:txBody>
      </p:sp>
      <p:sp>
        <p:nvSpPr>
          <p:cNvPr id="5" name="Rectangle 4"/>
          <p:cNvSpPr/>
          <p:nvPr/>
        </p:nvSpPr>
        <p:spPr>
          <a:xfrm>
            <a:off x="571500" y="965200"/>
            <a:ext cx="571500" cy="25400"/>
          </a:xfrm>
          <a:prstGeom prst="rect">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571500" y="6426200"/>
            <a:ext cx="11049000" cy="0"/>
          </a:xfrm>
          <a:prstGeom prst="line">
            <a:avLst/>
          </a:prstGeom>
          <a:ln w="12700">
            <a:solidFill>
              <a:srgbClr val="1D3D4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3880" y="6512052"/>
            <a:ext cx="2948940" cy="205740"/>
          </a:xfrm>
          <a:prstGeom prst="rect">
            <a:avLst/>
          </a:prstGeom>
          <a:noFill/>
        </p:spPr>
        <p:txBody>
          <a:bodyPr wrap="none" lIns="0" rIns="0" tIns="0" bIns="0">
            <a:spAutoFit/>
          </a:bodyPr>
          <a:lstStyle/>
          <a:p>
            <a:pPr algn="l"/>
            <a:r>
              <a:rPr sz="1200" b="0">
                <a:solidFill>
                  <a:srgbClr val="6F8F8F"/>
                </a:solidFill>
                <a:latin typeface="Noto Sans SC"/>
                <a:ea typeface="Noto Sans SC"/>
              </a:rPr>
              <a:t>Module 07 · Kernighan–Lin Refinement</a:t>
            </a:r>
          </a:p>
        </p:txBody>
      </p:sp>
      <p:sp>
        <p:nvSpPr>
          <p:cNvPr id="8" name="TextBox 7"/>
          <p:cNvSpPr txBox="1"/>
          <p:nvPr/>
        </p:nvSpPr>
        <p:spPr>
          <a:xfrm>
            <a:off x="11113770" y="6499098"/>
            <a:ext cx="556260" cy="222885"/>
          </a:xfrm>
          <a:prstGeom prst="rect">
            <a:avLst/>
          </a:prstGeom>
          <a:noFill/>
        </p:spPr>
        <p:txBody>
          <a:bodyPr wrap="none" lIns="0" rIns="0" tIns="0" bIns="0">
            <a:spAutoFit/>
          </a:bodyPr>
          <a:lstStyle/>
          <a:p>
            <a:pPr algn="r"/>
            <a:r>
              <a:rPr sz="1300" b="1">
                <a:solidFill>
                  <a:srgbClr val="BCD2D0"/>
                </a:solidFill>
                <a:latin typeface="Noto Sans SC"/>
                <a:ea typeface="Noto Sans SC"/>
              </a:rPr>
              <a:t>p6/14</a:t>
            </a:r>
          </a:p>
        </p:txBody>
      </p:sp>
      <p:sp>
        <p:nvSpPr>
          <p:cNvPr id="9" name="Oval 8"/>
          <p:cNvSpPr/>
          <p:nvPr/>
        </p:nvSpPr>
        <p:spPr>
          <a:xfrm>
            <a:off x="711200" y="15394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14400" y="1430782"/>
            <a:ext cx="4718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D(E) + D(D) = 6 + 3 = 9</a:t>
            </a:r>
          </a:p>
        </p:txBody>
      </p:sp>
      <p:sp>
        <p:nvSpPr>
          <p:cNvPr id="11" name="Oval 10"/>
          <p:cNvSpPr/>
          <p:nvPr/>
        </p:nvSpPr>
        <p:spPr>
          <a:xfrm>
            <a:off x="711200" y="19712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14400" y="1862582"/>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Both D values count edge DE (weight 5) as "external"</a:t>
            </a:r>
          </a:p>
        </p:txBody>
      </p:sp>
      <p:sp>
        <p:nvSpPr>
          <p:cNvPr id="13" name="Oval 12"/>
          <p:cNvSpPr/>
          <p:nvPr/>
        </p:nvSpPr>
        <p:spPr>
          <a:xfrm>
            <a:off x="711200" y="2716149"/>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14400" y="2607437"/>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After the swap E and D are still on opposite sides: DE is still cut</a:t>
            </a:r>
          </a:p>
        </p:txBody>
      </p:sp>
      <p:sp>
        <p:nvSpPr>
          <p:cNvPr id="15" name="Oval 14"/>
          <p:cNvSpPr/>
          <p:nvPr/>
        </p:nvSpPr>
        <p:spPr>
          <a:xfrm>
            <a:off x="711200" y="346100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14400" y="3352292"/>
            <a:ext cx="4718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The extra must come back off: 2 × 5 = 10</a:t>
            </a:r>
          </a:p>
        </p:txBody>
      </p:sp>
      <p:sp>
        <p:nvSpPr>
          <p:cNvPr id="17" name="Oval 16"/>
          <p:cNvSpPr/>
          <p:nvPr/>
        </p:nvSpPr>
        <p:spPr>
          <a:xfrm>
            <a:off x="711200" y="389280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14400" y="3784092"/>
            <a:ext cx="4718050" cy="313055"/>
          </a:xfrm>
          <a:prstGeom prst="rect">
            <a:avLst/>
          </a:prstGeom>
          <a:noFill/>
        </p:spPr>
        <p:txBody>
          <a:bodyPr wrap="square" lIns="0" rIns="0" tIns="0" bIns="0">
            <a:spAutoFit/>
          </a:bodyPr>
          <a:lstStyle/>
          <a:p>
            <a:pPr algn="l">
              <a:lnSpc>
                <a:spcPct val="121800"/>
              </a:lnSpc>
            </a:pPr>
            <a:r>
              <a:rPr sz="1700" b="0">
                <a:solidFill>
                  <a:srgbClr val="D8BB78"/>
                </a:solidFill>
                <a:latin typeface="Noto Sans SC"/>
                <a:ea typeface="Noto Sans SC"/>
              </a:rPr>
              <a:t>g(E, D) = 9 − 10 = −1</a:t>
            </a:r>
          </a:p>
        </p:txBody>
      </p:sp>
      <p:sp>
        <p:nvSpPr>
          <p:cNvPr id="19" name="Rounded Rectangle 18"/>
          <p:cNvSpPr/>
          <p:nvPr/>
        </p:nvSpPr>
        <p:spPr>
          <a:xfrm>
            <a:off x="5591175" y="1393825"/>
            <a:ext cx="2774950" cy="3860800"/>
          </a:xfrm>
          <a:prstGeom prst="roundRect">
            <a:avLst>
              <a:gd name="adj" fmla="val 5217"/>
            </a:avLst>
          </a:prstGeom>
          <a:noFill/>
          <a:ln w="12065">
            <a:solidFill>
              <a:srgbClr val="2B515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73590" y="1511338"/>
            <a:ext cx="1210119" cy="211740"/>
          </a:xfrm>
          <a:prstGeom prst="rect">
            <a:avLst/>
          </a:prstGeom>
          <a:noFill/>
        </p:spPr>
        <p:txBody>
          <a:bodyPr wrap="none" lIns="0" rIns="0" tIns="0" bIns="0">
            <a:spAutoFit/>
          </a:bodyPr>
          <a:lstStyle/>
          <a:p>
            <a:pPr algn="ctr"/>
            <a:r>
              <a:rPr sz="1235" b="1">
                <a:solidFill>
                  <a:srgbClr val="BCD2D0"/>
                </a:solidFill>
                <a:latin typeface="Noto Sans SC"/>
                <a:ea typeface="Noto Sans SC"/>
              </a:rPr>
              <a:t>left · 2 places</a:t>
            </a:r>
          </a:p>
        </p:txBody>
      </p:sp>
      <p:sp>
        <p:nvSpPr>
          <p:cNvPr id="21" name="Rounded Rectangle 20"/>
          <p:cNvSpPr/>
          <p:nvPr/>
        </p:nvSpPr>
        <p:spPr>
          <a:xfrm>
            <a:off x="8728075" y="1393825"/>
            <a:ext cx="2774950" cy="3860800"/>
          </a:xfrm>
          <a:prstGeom prst="roundRect">
            <a:avLst>
              <a:gd name="adj" fmla="val 5217"/>
            </a:avLst>
          </a:prstGeom>
          <a:noFill/>
          <a:ln w="12065">
            <a:solidFill>
              <a:srgbClr val="2B515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453181" y="1511338"/>
            <a:ext cx="1324736" cy="211740"/>
          </a:xfrm>
          <a:prstGeom prst="rect">
            <a:avLst/>
          </a:prstGeom>
          <a:noFill/>
        </p:spPr>
        <p:txBody>
          <a:bodyPr wrap="none" lIns="0" rIns="0" tIns="0" bIns="0">
            <a:spAutoFit/>
          </a:bodyPr>
          <a:lstStyle/>
          <a:p>
            <a:pPr algn="ctr"/>
            <a:r>
              <a:rPr sz="1235" b="1">
                <a:solidFill>
                  <a:srgbClr val="BCD2D0"/>
                </a:solidFill>
                <a:latin typeface="Noto Sans SC"/>
                <a:ea typeface="Noto Sans SC"/>
              </a:rPr>
              <a:t>right · 3 places</a:t>
            </a:r>
          </a:p>
        </p:txBody>
      </p:sp>
      <p:cxnSp>
        <p:nvCxnSpPr>
          <p:cNvPr id="23" name="Connector 22"/>
          <p:cNvCxnSpPr/>
          <p:nvPr/>
        </p:nvCxnSpPr>
        <p:spPr>
          <a:xfrm flipV="1">
            <a:off x="6978650" y="1997075"/>
            <a:ext cx="3136900" cy="482600"/>
          </a:xfrm>
          <a:prstGeom prst="line">
            <a:avLst/>
          </a:prstGeom>
          <a:ln w="24130">
            <a:solidFill>
              <a:srgbClr val="DB7B72"/>
            </a:solidFill>
            <a:prstDash val="dash"/>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8384261" y="1878731"/>
            <a:ext cx="277977" cy="277977"/>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408029" y="1886453"/>
            <a:ext cx="230441" cy="260604"/>
          </a:xfrm>
          <a:prstGeom prst="rect">
            <a:avLst/>
          </a:prstGeom>
          <a:noFill/>
        </p:spPr>
        <p:txBody>
          <a:bodyPr wrap="none" lIns="0" rIns="0" tIns="0" bIns="0">
            <a:spAutoFit/>
          </a:bodyPr>
          <a:lstStyle/>
          <a:p>
            <a:pPr algn="ctr"/>
            <a:r>
              <a:rPr sz="1520" b="1">
                <a:solidFill>
                  <a:srgbClr val="D9E4E1"/>
                </a:solidFill>
                <a:latin typeface="Noto Sans SC"/>
                <a:ea typeface="Noto Sans SC"/>
              </a:rPr>
              <a:t>5</a:t>
            </a:r>
          </a:p>
        </p:txBody>
      </p:sp>
      <p:cxnSp>
        <p:nvCxnSpPr>
          <p:cNvPr id="26" name="Connector 25"/>
          <p:cNvCxnSpPr/>
          <p:nvPr/>
        </p:nvCxnSpPr>
        <p:spPr>
          <a:xfrm>
            <a:off x="6978650" y="2479675"/>
            <a:ext cx="3136900" cy="844550"/>
          </a:xfrm>
          <a:prstGeom prst="line">
            <a:avLst/>
          </a:prstGeom>
          <a:ln w="24130">
            <a:solidFill>
              <a:srgbClr val="DB7B72"/>
            </a:solidFill>
            <a:prstDash val="dash"/>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8448886" y="2545875"/>
            <a:ext cx="277977" cy="277977"/>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472654" y="2553597"/>
            <a:ext cx="230441" cy="260604"/>
          </a:xfrm>
          <a:prstGeom prst="rect">
            <a:avLst/>
          </a:prstGeom>
          <a:noFill/>
        </p:spPr>
        <p:txBody>
          <a:bodyPr wrap="none" lIns="0" rIns="0" tIns="0" bIns="0">
            <a:spAutoFit/>
          </a:bodyPr>
          <a:lstStyle/>
          <a:p>
            <a:pPr algn="ctr"/>
            <a:r>
              <a:rPr sz="1520" b="1">
                <a:solidFill>
                  <a:srgbClr val="D9E4E1"/>
                </a:solidFill>
                <a:latin typeface="Noto Sans SC"/>
                <a:ea typeface="Noto Sans SC"/>
              </a:rPr>
              <a:t>1</a:t>
            </a:r>
          </a:p>
        </p:txBody>
      </p:sp>
      <p:cxnSp>
        <p:nvCxnSpPr>
          <p:cNvPr id="29" name="Connector 28"/>
          <p:cNvCxnSpPr/>
          <p:nvPr/>
        </p:nvCxnSpPr>
        <p:spPr>
          <a:xfrm>
            <a:off x="10115550" y="1997075"/>
            <a:ext cx="0" cy="1327150"/>
          </a:xfrm>
          <a:prstGeom prst="line">
            <a:avLst/>
          </a:prstGeom>
          <a:ln w="30162">
            <a:solidFill>
              <a:srgbClr val="9FC9BF"/>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10133406" y="2456027"/>
            <a:ext cx="277977" cy="277977"/>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0157174" y="2463749"/>
            <a:ext cx="230441" cy="260604"/>
          </a:xfrm>
          <a:prstGeom prst="rect">
            <a:avLst/>
          </a:prstGeom>
          <a:noFill/>
        </p:spPr>
        <p:txBody>
          <a:bodyPr wrap="none" lIns="0" rIns="0" tIns="0" bIns="0">
            <a:spAutoFit/>
          </a:bodyPr>
          <a:lstStyle/>
          <a:p>
            <a:pPr algn="ctr"/>
            <a:r>
              <a:rPr sz="1520" b="1">
                <a:solidFill>
                  <a:srgbClr val="D9E4E1"/>
                </a:solidFill>
                <a:latin typeface="Noto Sans SC"/>
                <a:ea typeface="Noto Sans SC"/>
              </a:rPr>
              <a:t>4</a:t>
            </a:r>
          </a:p>
        </p:txBody>
      </p:sp>
      <p:cxnSp>
        <p:nvCxnSpPr>
          <p:cNvPr id="32" name="Connector 31"/>
          <p:cNvCxnSpPr/>
          <p:nvPr/>
        </p:nvCxnSpPr>
        <p:spPr>
          <a:xfrm>
            <a:off x="10115550" y="3324225"/>
            <a:ext cx="0" cy="1327150"/>
          </a:xfrm>
          <a:prstGeom prst="line">
            <a:avLst/>
          </a:prstGeom>
          <a:ln w="30162">
            <a:solidFill>
              <a:srgbClr val="9FC9BF"/>
            </a:solidFill>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10133406" y="3783177"/>
            <a:ext cx="277977" cy="277977"/>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0157174" y="3790899"/>
            <a:ext cx="230441" cy="260604"/>
          </a:xfrm>
          <a:prstGeom prst="rect">
            <a:avLst/>
          </a:prstGeom>
          <a:noFill/>
        </p:spPr>
        <p:txBody>
          <a:bodyPr wrap="none" lIns="0" rIns="0" tIns="0" bIns="0">
            <a:spAutoFit/>
          </a:bodyPr>
          <a:lstStyle/>
          <a:p>
            <a:pPr algn="ctr"/>
            <a:r>
              <a:rPr sz="1520" b="1">
                <a:solidFill>
                  <a:srgbClr val="D9E4E1"/>
                </a:solidFill>
                <a:latin typeface="Noto Sans SC"/>
                <a:ea typeface="Noto Sans SC"/>
              </a:rPr>
              <a:t>2</a:t>
            </a:r>
          </a:p>
        </p:txBody>
      </p:sp>
      <p:cxnSp>
        <p:nvCxnSpPr>
          <p:cNvPr id="35" name="Connector 34"/>
          <p:cNvCxnSpPr/>
          <p:nvPr/>
        </p:nvCxnSpPr>
        <p:spPr>
          <a:xfrm flipH="1">
            <a:off x="6978650" y="3324225"/>
            <a:ext cx="3136900" cy="904875"/>
          </a:xfrm>
          <a:prstGeom prst="line">
            <a:avLst/>
          </a:prstGeom>
          <a:ln w="24130">
            <a:solidFill>
              <a:srgbClr val="DB7B72"/>
            </a:solidFill>
            <a:prstDash val="dash"/>
          </a:ln>
        </p:spPr>
        <p:style>
          <a:lnRef idx="2">
            <a:schemeClr val="accent1"/>
          </a:lnRef>
          <a:fillRef idx="0">
            <a:schemeClr val="accent1"/>
          </a:fillRef>
          <a:effectRef idx="1">
            <a:schemeClr val="accent1"/>
          </a:effectRef>
          <a:fontRef idx="minor">
            <a:schemeClr val="tx1"/>
          </a:fontRef>
        </p:style>
      </p:cxnSp>
      <p:sp>
        <p:nvSpPr>
          <p:cNvPr id="36" name="Oval 35"/>
          <p:cNvSpPr/>
          <p:nvPr/>
        </p:nvSpPr>
        <p:spPr>
          <a:xfrm>
            <a:off x="8451582" y="3722740"/>
            <a:ext cx="277977" cy="277977"/>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475350" y="3730462"/>
            <a:ext cx="230441" cy="260604"/>
          </a:xfrm>
          <a:prstGeom prst="rect">
            <a:avLst/>
          </a:prstGeom>
          <a:noFill/>
        </p:spPr>
        <p:txBody>
          <a:bodyPr wrap="none" lIns="0" rIns="0" tIns="0" bIns="0">
            <a:spAutoFit/>
          </a:bodyPr>
          <a:lstStyle/>
          <a:p>
            <a:pPr algn="ctr"/>
            <a:r>
              <a:rPr sz="1520" b="1">
                <a:solidFill>
                  <a:srgbClr val="D9E4E1"/>
                </a:solidFill>
                <a:latin typeface="Noto Sans SC"/>
                <a:ea typeface="Noto Sans SC"/>
              </a:rPr>
              <a:t>1</a:t>
            </a:r>
          </a:p>
        </p:txBody>
      </p:sp>
      <p:cxnSp>
        <p:nvCxnSpPr>
          <p:cNvPr id="38" name="Connector 37"/>
          <p:cNvCxnSpPr/>
          <p:nvPr/>
        </p:nvCxnSpPr>
        <p:spPr>
          <a:xfrm flipH="1" flipV="1">
            <a:off x="6978650" y="4229100"/>
            <a:ext cx="3136900" cy="422275"/>
          </a:xfrm>
          <a:prstGeom prst="line">
            <a:avLst/>
          </a:prstGeom>
          <a:ln w="42227">
            <a:solidFill>
              <a:srgbClr val="D8BB78"/>
            </a:solidFill>
          </a:ln>
        </p:spPr>
        <p:style>
          <a:lnRef idx="2">
            <a:schemeClr val="accent1"/>
          </a:lnRef>
          <a:fillRef idx="0">
            <a:schemeClr val="accent1"/>
          </a:fillRef>
          <a:effectRef idx="1">
            <a:schemeClr val="accent1"/>
          </a:effectRef>
          <a:fontRef idx="minor">
            <a:schemeClr val="tx1"/>
          </a:fontRef>
        </p:style>
      </p:cxnSp>
      <p:sp>
        <p:nvSpPr>
          <p:cNvPr id="39" name="Oval 38"/>
          <p:cNvSpPr/>
          <p:nvPr/>
        </p:nvSpPr>
        <p:spPr>
          <a:xfrm>
            <a:off x="8387186" y="4391058"/>
            <a:ext cx="277977" cy="277977"/>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8410954" y="4398779"/>
            <a:ext cx="230441" cy="260604"/>
          </a:xfrm>
          <a:prstGeom prst="rect">
            <a:avLst/>
          </a:prstGeom>
          <a:noFill/>
        </p:spPr>
        <p:txBody>
          <a:bodyPr wrap="none" lIns="0" rIns="0" tIns="0" bIns="0">
            <a:spAutoFit/>
          </a:bodyPr>
          <a:lstStyle/>
          <a:p>
            <a:pPr algn="ctr"/>
            <a:r>
              <a:rPr sz="1520" b="1">
                <a:solidFill>
                  <a:srgbClr val="D8BB78"/>
                </a:solidFill>
                <a:latin typeface="Noto Sans SC"/>
                <a:ea typeface="Noto Sans SC"/>
              </a:rPr>
              <a:t>5</a:t>
            </a:r>
          </a:p>
        </p:txBody>
      </p:sp>
      <p:sp>
        <p:nvSpPr>
          <p:cNvPr id="41" name="Oval 40"/>
          <p:cNvSpPr/>
          <p:nvPr/>
        </p:nvSpPr>
        <p:spPr>
          <a:xfrm>
            <a:off x="6725284" y="2226310"/>
            <a:ext cx="506730" cy="506730"/>
          </a:xfrm>
          <a:prstGeom prst="ellipse">
            <a:avLst/>
          </a:prstGeom>
          <a:solidFill>
            <a:srgbClr val="77CDBB"/>
          </a:solidFill>
          <a:ln w="18097">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850760" y="2344305"/>
            <a:ext cx="255778" cy="276891"/>
          </a:xfrm>
          <a:prstGeom prst="rect">
            <a:avLst/>
          </a:prstGeom>
          <a:noFill/>
        </p:spPr>
        <p:txBody>
          <a:bodyPr wrap="none" lIns="0" rIns="0" tIns="0" bIns="0">
            <a:spAutoFit/>
          </a:bodyPr>
          <a:lstStyle/>
          <a:p>
            <a:pPr algn="ctr"/>
            <a:r>
              <a:rPr sz="1614" b="1">
                <a:solidFill>
                  <a:srgbClr val="0B1B1F"/>
                </a:solidFill>
                <a:latin typeface="Noto Sans SC"/>
                <a:ea typeface="Noto Sans SC"/>
              </a:rPr>
              <a:t>A</a:t>
            </a:r>
          </a:p>
        </p:txBody>
      </p:sp>
      <p:sp>
        <p:nvSpPr>
          <p:cNvPr id="43" name="Oval 42"/>
          <p:cNvSpPr/>
          <p:nvPr/>
        </p:nvSpPr>
        <p:spPr>
          <a:xfrm>
            <a:off x="9862185" y="1743710"/>
            <a:ext cx="506730" cy="506730"/>
          </a:xfrm>
          <a:prstGeom prst="ellipse">
            <a:avLst/>
          </a:prstGeom>
          <a:solidFill>
            <a:srgbClr val="8FB1E6"/>
          </a:solidFill>
          <a:ln w="18097">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9984644" y="1861705"/>
            <a:ext cx="261810" cy="276891"/>
          </a:xfrm>
          <a:prstGeom prst="rect">
            <a:avLst/>
          </a:prstGeom>
          <a:noFill/>
        </p:spPr>
        <p:txBody>
          <a:bodyPr wrap="none" lIns="0" rIns="0" tIns="0" bIns="0">
            <a:spAutoFit/>
          </a:bodyPr>
          <a:lstStyle/>
          <a:p>
            <a:pPr algn="ctr"/>
            <a:r>
              <a:rPr sz="1614" b="1">
                <a:solidFill>
                  <a:srgbClr val="0B1B1F"/>
                </a:solidFill>
                <a:latin typeface="Noto Sans SC"/>
                <a:ea typeface="Noto Sans SC"/>
              </a:rPr>
              <a:t>B</a:t>
            </a:r>
          </a:p>
        </p:txBody>
      </p:sp>
      <p:sp>
        <p:nvSpPr>
          <p:cNvPr id="45" name="Oval 44"/>
          <p:cNvSpPr/>
          <p:nvPr/>
        </p:nvSpPr>
        <p:spPr>
          <a:xfrm>
            <a:off x="9862185" y="3070860"/>
            <a:ext cx="506730" cy="506730"/>
          </a:xfrm>
          <a:prstGeom prst="ellipse">
            <a:avLst/>
          </a:prstGeom>
          <a:solidFill>
            <a:srgbClr val="8FB1E6"/>
          </a:solidFill>
          <a:ln w="18097">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9987661" y="3188855"/>
            <a:ext cx="255778" cy="276891"/>
          </a:xfrm>
          <a:prstGeom prst="rect">
            <a:avLst/>
          </a:prstGeom>
          <a:noFill/>
        </p:spPr>
        <p:txBody>
          <a:bodyPr wrap="none" lIns="0" rIns="0" tIns="0" bIns="0">
            <a:spAutoFit/>
          </a:bodyPr>
          <a:lstStyle/>
          <a:p>
            <a:pPr algn="ctr"/>
            <a:r>
              <a:rPr sz="1614" b="1">
                <a:solidFill>
                  <a:srgbClr val="0B1B1F"/>
                </a:solidFill>
                <a:latin typeface="Noto Sans SC"/>
                <a:ea typeface="Noto Sans SC"/>
              </a:rPr>
              <a:t>C</a:t>
            </a:r>
          </a:p>
        </p:txBody>
      </p:sp>
      <p:sp>
        <p:nvSpPr>
          <p:cNvPr id="47" name="Oval 46"/>
          <p:cNvSpPr/>
          <p:nvPr/>
        </p:nvSpPr>
        <p:spPr>
          <a:xfrm>
            <a:off x="9801860" y="4337685"/>
            <a:ext cx="627380" cy="627380"/>
          </a:xfrm>
          <a:prstGeom prst="ellipse">
            <a:avLst/>
          </a:prstGeom>
          <a:noFill/>
          <a:ln w="30162">
            <a:solidFill>
              <a:srgbClr val="D8BB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Oval 47"/>
          <p:cNvSpPr/>
          <p:nvPr/>
        </p:nvSpPr>
        <p:spPr>
          <a:xfrm>
            <a:off x="9862185" y="4398010"/>
            <a:ext cx="506730" cy="506730"/>
          </a:xfrm>
          <a:prstGeom prst="ellipse">
            <a:avLst/>
          </a:prstGeom>
          <a:solidFill>
            <a:srgbClr val="8FB1E6"/>
          </a:solidFill>
          <a:ln w="18097">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9981628" y="4516005"/>
            <a:ext cx="267842" cy="276891"/>
          </a:xfrm>
          <a:prstGeom prst="rect">
            <a:avLst/>
          </a:prstGeom>
          <a:noFill/>
        </p:spPr>
        <p:txBody>
          <a:bodyPr wrap="none" lIns="0" rIns="0" tIns="0" bIns="0">
            <a:spAutoFit/>
          </a:bodyPr>
          <a:lstStyle/>
          <a:p>
            <a:pPr algn="ctr"/>
            <a:r>
              <a:rPr sz="1614" b="1">
                <a:solidFill>
                  <a:srgbClr val="0B1B1F"/>
                </a:solidFill>
                <a:latin typeface="Noto Sans SC"/>
                <a:ea typeface="Noto Sans SC"/>
              </a:rPr>
              <a:t>D</a:t>
            </a:r>
          </a:p>
        </p:txBody>
      </p:sp>
      <p:sp>
        <p:nvSpPr>
          <p:cNvPr id="50" name="Oval 49"/>
          <p:cNvSpPr/>
          <p:nvPr/>
        </p:nvSpPr>
        <p:spPr>
          <a:xfrm>
            <a:off x="6664959" y="3915410"/>
            <a:ext cx="627380" cy="627380"/>
          </a:xfrm>
          <a:prstGeom prst="ellipse">
            <a:avLst/>
          </a:prstGeom>
          <a:noFill/>
          <a:ln w="30162">
            <a:solidFill>
              <a:srgbClr val="D8BB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Oval 50"/>
          <p:cNvSpPr/>
          <p:nvPr/>
        </p:nvSpPr>
        <p:spPr>
          <a:xfrm>
            <a:off x="6725284" y="3975735"/>
            <a:ext cx="506730" cy="506730"/>
          </a:xfrm>
          <a:prstGeom prst="ellipse">
            <a:avLst/>
          </a:prstGeom>
          <a:solidFill>
            <a:srgbClr val="77CDBB"/>
          </a:solidFill>
          <a:ln w="18097">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6853777" y="4093730"/>
            <a:ext cx="249745" cy="276891"/>
          </a:xfrm>
          <a:prstGeom prst="rect">
            <a:avLst/>
          </a:prstGeom>
          <a:noFill/>
        </p:spPr>
        <p:txBody>
          <a:bodyPr wrap="none" lIns="0" rIns="0" tIns="0" bIns="0">
            <a:spAutoFit/>
          </a:bodyPr>
          <a:lstStyle/>
          <a:p>
            <a:pPr algn="ctr"/>
            <a:r>
              <a:rPr sz="1614" b="1">
                <a:solidFill>
                  <a:srgbClr val="0B1B1F"/>
                </a:solidFill>
                <a:latin typeface="Noto Sans SC"/>
                <a:ea typeface="Noto Sans SC"/>
              </a:rPr>
              <a:t>E</a:t>
            </a:r>
          </a:p>
        </p:txBody>
      </p:sp>
      <p:sp>
        <p:nvSpPr>
          <p:cNvPr id="53" name="TextBox 52"/>
          <p:cNvSpPr txBox="1"/>
          <p:nvPr/>
        </p:nvSpPr>
        <p:spPr>
          <a:xfrm>
            <a:off x="6162675" y="5520690"/>
            <a:ext cx="4756150" cy="257175"/>
          </a:xfrm>
          <a:prstGeom prst="rect">
            <a:avLst/>
          </a:prstGeom>
          <a:noFill/>
        </p:spPr>
        <p:txBody>
          <a:bodyPr wrap="none" lIns="0" rIns="0" tIns="0" bIns="0">
            <a:spAutoFit/>
          </a:bodyPr>
          <a:lstStyle/>
          <a:p>
            <a:pPr algn="ctr"/>
            <a:r>
              <a:rPr sz="1500" b="1">
                <a:solidFill>
                  <a:srgbClr val="D8BB78"/>
                </a:solidFill>
                <a:latin typeface="Noto Sans SC"/>
                <a:ea typeface="Noto Sans SC"/>
              </a:rPr>
              <a:t>E↔D: DE is cut before and after → take back 2 × 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71C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2000" cy="38100"/>
          </a:xfrm>
          <a:prstGeom prst="rect">
            <a:avLst/>
          </a:prstGeom>
          <a:solidFill>
            <a:srgbClr val="77CDBB">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53720" y="450088"/>
            <a:ext cx="5515610" cy="480060"/>
          </a:xfrm>
          <a:prstGeom prst="rect">
            <a:avLst/>
          </a:prstGeom>
          <a:noFill/>
        </p:spPr>
        <p:txBody>
          <a:bodyPr wrap="none" lIns="0" rIns="0" tIns="0" bIns="0">
            <a:spAutoFit/>
          </a:bodyPr>
          <a:lstStyle/>
          <a:p>
            <a:pPr algn="l"/>
            <a:r>
              <a:rPr sz="2800" b="0">
                <a:solidFill>
                  <a:srgbClr val="F2F3E9"/>
                </a:solidFill>
                <a:latin typeface="Noto Sans SC"/>
                <a:ea typeface="Noto Sans SC"/>
              </a:rPr>
              <a:t>Step one: a trial swap, then lock</a:t>
            </a:r>
          </a:p>
        </p:txBody>
      </p:sp>
      <p:sp>
        <p:nvSpPr>
          <p:cNvPr id="5" name="Rectangle 4"/>
          <p:cNvSpPr/>
          <p:nvPr/>
        </p:nvSpPr>
        <p:spPr>
          <a:xfrm>
            <a:off x="571500" y="965200"/>
            <a:ext cx="571500" cy="25400"/>
          </a:xfrm>
          <a:prstGeom prst="rect">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571500" y="6426200"/>
            <a:ext cx="11049000" cy="0"/>
          </a:xfrm>
          <a:prstGeom prst="line">
            <a:avLst/>
          </a:prstGeom>
          <a:ln w="12700">
            <a:solidFill>
              <a:srgbClr val="1D3D4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3880" y="6512052"/>
            <a:ext cx="2948940" cy="205740"/>
          </a:xfrm>
          <a:prstGeom prst="rect">
            <a:avLst/>
          </a:prstGeom>
          <a:noFill/>
        </p:spPr>
        <p:txBody>
          <a:bodyPr wrap="none" lIns="0" rIns="0" tIns="0" bIns="0">
            <a:spAutoFit/>
          </a:bodyPr>
          <a:lstStyle/>
          <a:p>
            <a:pPr algn="l"/>
            <a:r>
              <a:rPr sz="1200" b="0">
                <a:solidFill>
                  <a:srgbClr val="6F8F8F"/>
                </a:solidFill>
                <a:latin typeface="Noto Sans SC"/>
                <a:ea typeface="Noto Sans SC"/>
              </a:rPr>
              <a:t>Module 07 · Kernighan–Lin Refinement</a:t>
            </a:r>
          </a:p>
        </p:txBody>
      </p:sp>
      <p:sp>
        <p:nvSpPr>
          <p:cNvPr id="8" name="TextBox 7"/>
          <p:cNvSpPr txBox="1"/>
          <p:nvPr/>
        </p:nvSpPr>
        <p:spPr>
          <a:xfrm>
            <a:off x="11113770" y="6499098"/>
            <a:ext cx="556260" cy="222885"/>
          </a:xfrm>
          <a:prstGeom prst="rect">
            <a:avLst/>
          </a:prstGeom>
          <a:noFill/>
        </p:spPr>
        <p:txBody>
          <a:bodyPr wrap="none" lIns="0" rIns="0" tIns="0" bIns="0">
            <a:spAutoFit/>
          </a:bodyPr>
          <a:lstStyle/>
          <a:p>
            <a:pPr algn="r"/>
            <a:r>
              <a:rPr sz="1300" b="1">
                <a:solidFill>
                  <a:srgbClr val="BCD2D0"/>
                </a:solidFill>
                <a:latin typeface="Noto Sans SC"/>
                <a:ea typeface="Noto Sans SC"/>
              </a:rPr>
              <a:t>p7/14</a:t>
            </a:r>
          </a:p>
        </p:txBody>
      </p:sp>
      <p:sp>
        <p:nvSpPr>
          <p:cNvPr id="9" name="Oval 8"/>
          <p:cNvSpPr/>
          <p:nvPr/>
        </p:nvSpPr>
        <p:spPr>
          <a:xfrm>
            <a:off x="711200" y="15394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14400" y="1430782"/>
            <a:ext cx="4718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Pick the largest-gain pair: A↔D, g = +9</a:t>
            </a:r>
          </a:p>
        </p:txBody>
      </p:sp>
      <p:sp>
        <p:nvSpPr>
          <p:cNvPr id="11" name="Oval 10"/>
          <p:cNvSpPr/>
          <p:nvPr/>
        </p:nvSpPr>
        <p:spPr>
          <a:xfrm>
            <a:off x="711200" y="19712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14400" y="1862582"/>
            <a:ext cx="4718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After the swap, cut 12 → 3</a:t>
            </a:r>
          </a:p>
        </p:txBody>
      </p:sp>
      <p:sp>
        <p:nvSpPr>
          <p:cNvPr id="13" name="Oval 12"/>
          <p:cNvSpPr/>
          <p:nvPr/>
        </p:nvSpPr>
        <p:spPr>
          <a:xfrm>
            <a:off x="711200" y="24030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14400" y="2294382"/>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A and D lock: they don't move again this pass (dashed rings)</a:t>
            </a:r>
          </a:p>
        </p:txBody>
      </p:sp>
      <p:sp>
        <p:nvSpPr>
          <p:cNvPr id="15" name="Oval 14"/>
          <p:cNvSpPr/>
          <p:nvPr/>
        </p:nvSpPr>
        <p:spPr>
          <a:xfrm>
            <a:off x="711200" y="3147948"/>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14400" y="3039236"/>
            <a:ext cx="4718050" cy="313055"/>
          </a:xfrm>
          <a:prstGeom prst="rect">
            <a:avLst/>
          </a:prstGeom>
          <a:noFill/>
        </p:spPr>
        <p:txBody>
          <a:bodyPr wrap="square" lIns="0" rIns="0" tIns="0" bIns="0">
            <a:spAutoFit/>
          </a:bodyPr>
          <a:lstStyle/>
          <a:p>
            <a:pPr algn="l">
              <a:lnSpc>
                <a:spcPct val="121800"/>
              </a:lnSpc>
            </a:pPr>
            <a:r>
              <a:rPr sz="1700" b="0">
                <a:solidFill>
                  <a:srgbClr val="D8BB78"/>
                </a:solidFill>
                <a:latin typeface="Noto Sans SC"/>
                <a:ea typeface="Noto Sans SC"/>
              </a:rPr>
              <a:t>This is still a "trial", not yet accepted</a:t>
            </a:r>
          </a:p>
        </p:txBody>
      </p:sp>
      <p:sp>
        <p:nvSpPr>
          <p:cNvPr id="17" name="Rounded Rectangle 16"/>
          <p:cNvSpPr/>
          <p:nvPr/>
        </p:nvSpPr>
        <p:spPr>
          <a:xfrm>
            <a:off x="5591175" y="1393825"/>
            <a:ext cx="2774950" cy="3860800"/>
          </a:xfrm>
          <a:prstGeom prst="roundRect">
            <a:avLst>
              <a:gd name="adj" fmla="val 5217"/>
            </a:avLst>
          </a:prstGeom>
          <a:noFill/>
          <a:ln w="12065">
            <a:solidFill>
              <a:srgbClr val="2B515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73590" y="1511338"/>
            <a:ext cx="1210119" cy="211740"/>
          </a:xfrm>
          <a:prstGeom prst="rect">
            <a:avLst/>
          </a:prstGeom>
          <a:noFill/>
        </p:spPr>
        <p:txBody>
          <a:bodyPr wrap="none" lIns="0" rIns="0" tIns="0" bIns="0">
            <a:spAutoFit/>
          </a:bodyPr>
          <a:lstStyle/>
          <a:p>
            <a:pPr algn="ctr"/>
            <a:r>
              <a:rPr sz="1235" b="1">
                <a:solidFill>
                  <a:srgbClr val="BCD2D0"/>
                </a:solidFill>
                <a:latin typeface="Noto Sans SC"/>
                <a:ea typeface="Noto Sans SC"/>
              </a:rPr>
              <a:t>left · 2 places</a:t>
            </a:r>
          </a:p>
        </p:txBody>
      </p:sp>
      <p:sp>
        <p:nvSpPr>
          <p:cNvPr id="19" name="Rounded Rectangle 18"/>
          <p:cNvSpPr/>
          <p:nvPr/>
        </p:nvSpPr>
        <p:spPr>
          <a:xfrm>
            <a:off x="8728075" y="1393825"/>
            <a:ext cx="2774950" cy="3860800"/>
          </a:xfrm>
          <a:prstGeom prst="roundRect">
            <a:avLst>
              <a:gd name="adj" fmla="val 5217"/>
            </a:avLst>
          </a:prstGeom>
          <a:noFill/>
          <a:ln w="12065">
            <a:solidFill>
              <a:srgbClr val="2B515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453181" y="1511338"/>
            <a:ext cx="1324736" cy="211740"/>
          </a:xfrm>
          <a:prstGeom prst="rect">
            <a:avLst/>
          </a:prstGeom>
          <a:noFill/>
        </p:spPr>
        <p:txBody>
          <a:bodyPr wrap="none" lIns="0" rIns="0" tIns="0" bIns="0">
            <a:spAutoFit/>
          </a:bodyPr>
          <a:lstStyle/>
          <a:p>
            <a:pPr algn="ctr"/>
            <a:r>
              <a:rPr sz="1235" b="1">
                <a:solidFill>
                  <a:srgbClr val="BCD2D0"/>
                </a:solidFill>
                <a:latin typeface="Noto Sans SC"/>
                <a:ea typeface="Noto Sans SC"/>
              </a:rPr>
              <a:t>right · 3 places</a:t>
            </a:r>
          </a:p>
        </p:txBody>
      </p:sp>
      <p:cxnSp>
        <p:nvCxnSpPr>
          <p:cNvPr id="21" name="Connector 20"/>
          <p:cNvCxnSpPr/>
          <p:nvPr/>
        </p:nvCxnSpPr>
        <p:spPr>
          <a:xfrm>
            <a:off x="10115550" y="1997075"/>
            <a:ext cx="0" cy="1327150"/>
          </a:xfrm>
          <a:prstGeom prst="line">
            <a:avLst/>
          </a:prstGeom>
          <a:ln w="30162">
            <a:solidFill>
              <a:srgbClr val="9FC9BF"/>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10133406" y="2456027"/>
            <a:ext cx="277977" cy="277977"/>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0157174" y="2463749"/>
            <a:ext cx="230441" cy="260604"/>
          </a:xfrm>
          <a:prstGeom prst="rect">
            <a:avLst/>
          </a:prstGeom>
          <a:noFill/>
        </p:spPr>
        <p:txBody>
          <a:bodyPr wrap="none" lIns="0" rIns="0" tIns="0" bIns="0">
            <a:spAutoFit/>
          </a:bodyPr>
          <a:lstStyle/>
          <a:p>
            <a:pPr algn="ctr"/>
            <a:r>
              <a:rPr sz="1520" b="1">
                <a:solidFill>
                  <a:srgbClr val="D9E4E1"/>
                </a:solidFill>
                <a:latin typeface="Noto Sans SC"/>
                <a:ea typeface="Noto Sans SC"/>
              </a:rPr>
              <a:t>5</a:t>
            </a:r>
          </a:p>
        </p:txBody>
      </p:sp>
      <p:cxnSp>
        <p:nvCxnSpPr>
          <p:cNvPr id="24" name="Connector 23"/>
          <p:cNvCxnSpPr/>
          <p:nvPr/>
        </p:nvCxnSpPr>
        <p:spPr>
          <a:xfrm>
            <a:off x="10115550" y="1997075"/>
            <a:ext cx="0" cy="2654300"/>
          </a:xfrm>
          <a:prstGeom prst="line">
            <a:avLst/>
          </a:prstGeom>
          <a:ln w="30162">
            <a:solidFill>
              <a:srgbClr val="9FC9BF"/>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10133406" y="3119602"/>
            <a:ext cx="277977" cy="277977"/>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157174" y="3127324"/>
            <a:ext cx="230441" cy="260604"/>
          </a:xfrm>
          <a:prstGeom prst="rect">
            <a:avLst/>
          </a:prstGeom>
          <a:noFill/>
        </p:spPr>
        <p:txBody>
          <a:bodyPr wrap="none" lIns="0" rIns="0" tIns="0" bIns="0">
            <a:spAutoFit/>
          </a:bodyPr>
          <a:lstStyle/>
          <a:p>
            <a:pPr algn="ctr"/>
            <a:r>
              <a:rPr sz="1520" b="1">
                <a:solidFill>
                  <a:srgbClr val="D9E4E1"/>
                </a:solidFill>
                <a:latin typeface="Noto Sans SC"/>
                <a:ea typeface="Noto Sans SC"/>
              </a:rPr>
              <a:t>1</a:t>
            </a:r>
          </a:p>
        </p:txBody>
      </p:sp>
      <p:cxnSp>
        <p:nvCxnSpPr>
          <p:cNvPr id="27" name="Connector 26"/>
          <p:cNvCxnSpPr/>
          <p:nvPr/>
        </p:nvCxnSpPr>
        <p:spPr>
          <a:xfrm>
            <a:off x="10115550" y="3324225"/>
            <a:ext cx="0" cy="1327150"/>
          </a:xfrm>
          <a:prstGeom prst="line">
            <a:avLst/>
          </a:prstGeom>
          <a:ln w="30162">
            <a:solidFill>
              <a:srgbClr val="9FC9BF"/>
            </a:solidFill>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10133406" y="3783177"/>
            <a:ext cx="277977" cy="277977"/>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57174" y="3790899"/>
            <a:ext cx="230441" cy="260604"/>
          </a:xfrm>
          <a:prstGeom prst="rect">
            <a:avLst/>
          </a:prstGeom>
          <a:noFill/>
        </p:spPr>
        <p:txBody>
          <a:bodyPr wrap="none" lIns="0" rIns="0" tIns="0" bIns="0">
            <a:spAutoFit/>
          </a:bodyPr>
          <a:lstStyle/>
          <a:p>
            <a:pPr algn="ctr"/>
            <a:r>
              <a:rPr sz="1520" b="1">
                <a:solidFill>
                  <a:srgbClr val="D9E4E1"/>
                </a:solidFill>
                <a:latin typeface="Noto Sans SC"/>
                <a:ea typeface="Noto Sans SC"/>
              </a:rPr>
              <a:t>4</a:t>
            </a:r>
          </a:p>
        </p:txBody>
      </p:sp>
      <p:cxnSp>
        <p:nvCxnSpPr>
          <p:cNvPr id="30" name="Connector 29"/>
          <p:cNvCxnSpPr/>
          <p:nvPr/>
        </p:nvCxnSpPr>
        <p:spPr>
          <a:xfrm flipH="1" flipV="1">
            <a:off x="6978650" y="2479675"/>
            <a:ext cx="3136900" cy="2171700"/>
          </a:xfrm>
          <a:prstGeom prst="line">
            <a:avLst/>
          </a:prstGeom>
          <a:ln w="24130">
            <a:solidFill>
              <a:srgbClr val="DB7B72"/>
            </a:solidFill>
            <a:prstDash val="dash"/>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8318833" y="3489859"/>
            <a:ext cx="277977" cy="277977"/>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342601" y="3497580"/>
            <a:ext cx="230441" cy="260604"/>
          </a:xfrm>
          <a:prstGeom prst="rect">
            <a:avLst/>
          </a:prstGeom>
          <a:noFill/>
        </p:spPr>
        <p:txBody>
          <a:bodyPr wrap="none" lIns="0" rIns="0" tIns="0" bIns="0">
            <a:spAutoFit/>
          </a:bodyPr>
          <a:lstStyle/>
          <a:p>
            <a:pPr algn="ctr"/>
            <a:r>
              <a:rPr sz="1520" b="1">
                <a:solidFill>
                  <a:srgbClr val="D9E4E1"/>
                </a:solidFill>
                <a:latin typeface="Noto Sans SC"/>
                <a:ea typeface="Noto Sans SC"/>
              </a:rPr>
              <a:t>2</a:t>
            </a:r>
          </a:p>
        </p:txBody>
      </p:sp>
      <p:cxnSp>
        <p:nvCxnSpPr>
          <p:cNvPr id="33" name="Connector 32"/>
          <p:cNvCxnSpPr/>
          <p:nvPr/>
        </p:nvCxnSpPr>
        <p:spPr>
          <a:xfrm flipH="1" flipV="1">
            <a:off x="6978650" y="4229100"/>
            <a:ext cx="3136900" cy="422275"/>
          </a:xfrm>
          <a:prstGeom prst="line">
            <a:avLst/>
          </a:prstGeom>
          <a:ln w="24130">
            <a:solidFill>
              <a:srgbClr val="DB7B72"/>
            </a:solidFill>
            <a:prstDash val="dash"/>
          </a:ln>
        </p:spPr>
        <p:style>
          <a:lnRef idx="2">
            <a:schemeClr val="accent1"/>
          </a:lnRef>
          <a:fillRef idx="0">
            <a:schemeClr val="accent1"/>
          </a:fillRef>
          <a:effectRef idx="1">
            <a:schemeClr val="accent1"/>
          </a:effectRef>
          <a:fontRef idx="minor">
            <a:schemeClr val="tx1"/>
          </a:fontRef>
        </p:style>
      </p:cxnSp>
      <p:sp>
        <p:nvSpPr>
          <p:cNvPr id="34" name="Oval 33"/>
          <p:cNvSpPr/>
          <p:nvPr/>
        </p:nvSpPr>
        <p:spPr>
          <a:xfrm>
            <a:off x="8387186" y="4391058"/>
            <a:ext cx="277977" cy="277977"/>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410954" y="4398779"/>
            <a:ext cx="230441" cy="260604"/>
          </a:xfrm>
          <a:prstGeom prst="rect">
            <a:avLst/>
          </a:prstGeom>
          <a:noFill/>
        </p:spPr>
        <p:txBody>
          <a:bodyPr wrap="none" lIns="0" rIns="0" tIns="0" bIns="0">
            <a:spAutoFit/>
          </a:bodyPr>
          <a:lstStyle/>
          <a:p>
            <a:pPr algn="ctr"/>
            <a:r>
              <a:rPr sz="1520" b="1">
                <a:solidFill>
                  <a:srgbClr val="D9E4E1"/>
                </a:solidFill>
                <a:latin typeface="Noto Sans SC"/>
                <a:ea typeface="Noto Sans SC"/>
              </a:rPr>
              <a:t>1</a:t>
            </a:r>
          </a:p>
        </p:txBody>
      </p:sp>
      <p:cxnSp>
        <p:nvCxnSpPr>
          <p:cNvPr id="36" name="Connector 35"/>
          <p:cNvCxnSpPr/>
          <p:nvPr/>
        </p:nvCxnSpPr>
        <p:spPr>
          <a:xfrm>
            <a:off x="6978650" y="2479675"/>
            <a:ext cx="0" cy="1749425"/>
          </a:xfrm>
          <a:prstGeom prst="line">
            <a:avLst/>
          </a:prstGeom>
          <a:ln w="30162">
            <a:solidFill>
              <a:srgbClr val="9FC9BF"/>
            </a:solidFill>
          </a:ln>
        </p:spPr>
        <p:style>
          <a:lnRef idx="2">
            <a:schemeClr val="accent1"/>
          </a:lnRef>
          <a:fillRef idx="0">
            <a:schemeClr val="accent1"/>
          </a:fillRef>
          <a:effectRef idx="1">
            <a:schemeClr val="accent1"/>
          </a:effectRef>
          <a:fontRef idx="minor">
            <a:schemeClr val="tx1"/>
          </a:fontRef>
        </p:style>
      </p:cxnSp>
      <p:sp>
        <p:nvSpPr>
          <p:cNvPr id="37" name="Oval 36"/>
          <p:cNvSpPr/>
          <p:nvPr/>
        </p:nvSpPr>
        <p:spPr>
          <a:xfrm>
            <a:off x="6996506" y="3149765"/>
            <a:ext cx="277977" cy="277977"/>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7020274" y="3157486"/>
            <a:ext cx="230441" cy="260604"/>
          </a:xfrm>
          <a:prstGeom prst="rect">
            <a:avLst/>
          </a:prstGeom>
          <a:noFill/>
        </p:spPr>
        <p:txBody>
          <a:bodyPr wrap="none" lIns="0" rIns="0" tIns="0" bIns="0">
            <a:spAutoFit/>
          </a:bodyPr>
          <a:lstStyle/>
          <a:p>
            <a:pPr algn="ctr"/>
            <a:r>
              <a:rPr sz="1520" b="1">
                <a:solidFill>
                  <a:srgbClr val="D9E4E1"/>
                </a:solidFill>
                <a:latin typeface="Noto Sans SC"/>
                <a:ea typeface="Noto Sans SC"/>
              </a:rPr>
              <a:t>5</a:t>
            </a:r>
          </a:p>
        </p:txBody>
      </p:sp>
      <p:sp>
        <p:nvSpPr>
          <p:cNvPr id="39" name="Oval 38"/>
          <p:cNvSpPr/>
          <p:nvPr/>
        </p:nvSpPr>
        <p:spPr>
          <a:xfrm>
            <a:off x="9862185" y="1743710"/>
            <a:ext cx="506730" cy="506730"/>
          </a:xfrm>
          <a:prstGeom prst="ellipse">
            <a:avLst/>
          </a:prstGeom>
          <a:solidFill>
            <a:srgbClr val="8FB1E6"/>
          </a:solidFill>
          <a:ln w="18097">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Oval 39"/>
          <p:cNvSpPr/>
          <p:nvPr/>
        </p:nvSpPr>
        <p:spPr>
          <a:xfrm>
            <a:off x="9856152" y="1737677"/>
            <a:ext cx="518795" cy="518795"/>
          </a:xfrm>
          <a:prstGeom prst="ellipse">
            <a:avLst/>
          </a:prstGeom>
          <a:noFill/>
          <a:ln w="18097">
            <a:solidFill>
              <a:srgbClr val="F2F3E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9987661" y="1861705"/>
            <a:ext cx="255778" cy="276891"/>
          </a:xfrm>
          <a:prstGeom prst="rect">
            <a:avLst/>
          </a:prstGeom>
          <a:noFill/>
        </p:spPr>
        <p:txBody>
          <a:bodyPr wrap="none" lIns="0" rIns="0" tIns="0" bIns="0">
            <a:spAutoFit/>
          </a:bodyPr>
          <a:lstStyle/>
          <a:p>
            <a:pPr algn="ctr"/>
            <a:r>
              <a:rPr sz="1614" b="1">
                <a:solidFill>
                  <a:srgbClr val="0B1B1F"/>
                </a:solidFill>
                <a:latin typeface="Noto Sans SC"/>
                <a:ea typeface="Noto Sans SC"/>
              </a:rPr>
              <a:t>A</a:t>
            </a:r>
          </a:p>
        </p:txBody>
      </p:sp>
      <p:sp>
        <p:nvSpPr>
          <p:cNvPr id="42" name="Oval 41"/>
          <p:cNvSpPr/>
          <p:nvPr/>
        </p:nvSpPr>
        <p:spPr>
          <a:xfrm>
            <a:off x="9862185" y="3070860"/>
            <a:ext cx="506730" cy="506730"/>
          </a:xfrm>
          <a:prstGeom prst="ellipse">
            <a:avLst/>
          </a:prstGeom>
          <a:solidFill>
            <a:srgbClr val="8FB1E6"/>
          </a:solidFill>
          <a:ln w="18097">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9984644" y="3188855"/>
            <a:ext cx="261810" cy="276891"/>
          </a:xfrm>
          <a:prstGeom prst="rect">
            <a:avLst/>
          </a:prstGeom>
          <a:noFill/>
        </p:spPr>
        <p:txBody>
          <a:bodyPr wrap="none" lIns="0" rIns="0" tIns="0" bIns="0">
            <a:spAutoFit/>
          </a:bodyPr>
          <a:lstStyle/>
          <a:p>
            <a:pPr algn="ctr"/>
            <a:r>
              <a:rPr sz="1614" b="1">
                <a:solidFill>
                  <a:srgbClr val="0B1B1F"/>
                </a:solidFill>
                <a:latin typeface="Noto Sans SC"/>
                <a:ea typeface="Noto Sans SC"/>
              </a:rPr>
              <a:t>B</a:t>
            </a:r>
          </a:p>
        </p:txBody>
      </p:sp>
      <p:sp>
        <p:nvSpPr>
          <p:cNvPr id="44" name="Oval 43"/>
          <p:cNvSpPr/>
          <p:nvPr/>
        </p:nvSpPr>
        <p:spPr>
          <a:xfrm>
            <a:off x="9862185" y="4398010"/>
            <a:ext cx="506730" cy="506730"/>
          </a:xfrm>
          <a:prstGeom prst="ellipse">
            <a:avLst/>
          </a:prstGeom>
          <a:solidFill>
            <a:srgbClr val="8FB1E6"/>
          </a:solidFill>
          <a:ln w="18097">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987661" y="4516005"/>
            <a:ext cx="255778" cy="276891"/>
          </a:xfrm>
          <a:prstGeom prst="rect">
            <a:avLst/>
          </a:prstGeom>
          <a:noFill/>
        </p:spPr>
        <p:txBody>
          <a:bodyPr wrap="none" lIns="0" rIns="0" tIns="0" bIns="0">
            <a:spAutoFit/>
          </a:bodyPr>
          <a:lstStyle/>
          <a:p>
            <a:pPr algn="ctr"/>
            <a:r>
              <a:rPr sz="1614" b="1">
                <a:solidFill>
                  <a:srgbClr val="0B1B1F"/>
                </a:solidFill>
                <a:latin typeface="Noto Sans SC"/>
                <a:ea typeface="Noto Sans SC"/>
              </a:rPr>
              <a:t>C</a:t>
            </a:r>
          </a:p>
        </p:txBody>
      </p:sp>
      <p:sp>
        <p:nvSpPr>
          <p:cNvPr id="46" name="Oval 45"/>
          <p:cNvSpPr/>
          <p:nvPr/>
        </p:nvSpPr>
        <p:spPr>
          <a:xfrm>
            <a:off x="6725284" y="2226310"/>
            <a:ext cx="506730" cy="506730"/>
          </a:xfrm>
          <a:prstGeom prst="ellipse">
            <a:avLst/>
          </a:prstGeom>
          <a:solidFill>
            <a:srgbClr val="77CDBB"/>
          </a:solidFill>
          <a:ln w="18097">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Oval 46"/>
          <p:cNvSpPr/>
          <p:nvPr/>
        </p:nvSpPr>
        <p:spPr>
          <a:xfrm>
            <a:off x="6719252" y="2220277"/>
            <a:ext cx="518795" cy="518795"/>
          </a:xfrm>
          <a:prstGeom prst="ellipse">
            <a:avLst/>
          </a:prstGeom>
          <a:noFill/>
          <a:ln w="18097">
            <a:solidFill>
              <a:srgbClr val="F2F3E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6844728" y="2344305"/>
            <a:ext cx="267842" cy="276891"/>
          </a:xfrm>
          <a:prstGeom prst="rect">
            <a:avLst/>
          </a:prstGeom>
          <a:noFill/>
        </p:spPr>
        <p:txBody>
          <a:bodyPr wrap="none" lIns="0" rIns="0" tIns="0" bIns="0">
            <a:spAutoFit/>
          </a:bodyPr>
          <a:lstStyle/>
          <a:p>
            <a:pPr algn="ctr"/>
            <a:r>
              <a:rPr sz="1614" b="1">
                <a:solidFill>
                  <a:srgbClr val="0B1B1F"/>
                </a:solidFill>
                <a:latin typeface="Noto Sans SC"/>
                <a:ea typeface="Noto Sans SC"/>
              </a:rPr>
              <a:t>D</a:t>
            </a:r>
          </a:p>
        </p:txBody>
      </p:sp>
      <p:sp>
        <p:nvSpPr>
          <p:cNvPr id="49" name="Oval 48"/>
          <p:cNvSpPr/>
          <p:nvPr/>
        </p:nvSpPr>
        <p:spPr>
          <a:xfrm>
            <a:off x="6725284" y="3975735"/>
            <a:ext cx="506730" cy="506730"/>
          </a:xfrm>
          <a:prstGeom prst="ellipse">
            <a:avLst/>
          </a:prstGeom>
          <a:solidFill>
            <a:srgbClr val="77CDBB"/>
          </a:solidFill>
          <a:ln w="18097">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6853777" y="4093730"/>
            <a:ext cx="249745" cy="276891"/>
          </a:xfrm>
          <a:prstGeom prst="rect">
            <a:avLst/>
          </a:prstGeom>
          <a:noFill/>
        </p:spPr>
        <p:txBody>
          <a:bodyPr wrap="none" lIns="0" rIns="0" tIns="0" bIns="0">
            <a:spAutoFit/>
          </a:bodyPr>
          <a:lstStyle/>
          <a:p>
            <a:pPr algn="ctr"/>
            <a:r>
              <a:rPr sz="1614" b="1">
                <a:solidFill>
                  <a:srgbClr val="0B1B1F"/>
                </a:solidFill>
                <a:latin typeface="Noto Sans SC"/>
                <a:ea typeface="Noto Sans SC"/>
              </a:rPr>
              <a:t>E</a:t>
            </a:r>
          </a:p>
        </p:txBody>
      </p:sp>
      <p:sp>
        <p:nvSpPr>
          <p:cNvPr id="51" name="TextBox 50"/>
          <p:cNvSpPr txBox="1"/>
          <p:nvPr/>
        </p:nvSpPr>
        <p:spPr>
          <a:xfrm>
            <a:off x="7082790" y="5507736"/>
            <a:ext cx="2915920" cy="274320"/>
          </a:xfrm>
          <a:prstGeom prst="rect">
            <a:avLst/>
          </a:prstGeom>
          <a:noFill/>
        </p:spPr>
        <p:txBody>
          <a:bodyPr wrap="none" lIns="0" rIns="0" tIns="0" bIns="0">
            <a:spAutoFit/>
          </a:bodyPr>
          <a:lstStyle/>
          <a:p>
            <a:pPr algn="ctr"/>
            <a:r>
              <a:rPr sz="1600" b="1">
                <a:solidFill>
                  <a:srgbClr val="D8BB78"/>
                </a:solidFill>
                <a:latin typeface="Noto Sans SC"/>
                <a:ea typeface="Noto Sans SC"/>
              </a:rPr>
              <a:t>Trial A↔D: g = +9, cut 12 → 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71C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2000" cy="38100"/>
          </a:xfrm>
          <a:prstGeom prst="rect">
            <a:avLst/>
          </a:prstGeom>
          <a:solidFill>
            <a:srgbClr val="77CDBB">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53720" y="450088"/>
            <a:ext cx="6195060" cy="480060"/>
          </a:xfrm>
          <a:prstGeom prst="rect">
            <a:avLst/>
          </a:prstGeom>
          <a:noFill/>
        </p:spPr>
        <p:txBody>
          <a:bodyPr wrap="none" lIns="0" rIns="0" tIns="0" bIns="0">
            <a:spAutoFit/>
          </a:bodyPr>
          <a:lstStyle/>
          <a:p>
            <a:pPr algn="l"/>
            <a:r>
              <a:rPr sz="2800" b="0">
                <a:solidFill>
                  <a:srgbClr val="F2F3E9"/>
                </a:solidFill>
                <a:latin typeface="Noto Sans SC"/>
                <a:ea typeface="Noto Sans SC"/>
              </a:rPr>
              <a:t>Step two: take the negative gain too</a:t>
            </a:r>
          </a:p>
        </p:txBody>
      </p:sp>
      <p:sp>
        <p:nvSpPr>
          <p:cNvPr id="5" name="Rectangle 4"/>
          <p:cNvSpPr/>
          <p:nvPr/>
        </p:nvSpPr>
        <p:spPr>
          <a:xfrm>
            <a:off x="571500" y="965200"/>
            <a:ext cx="571500" cy="25400"/>
          </a:xfrm>
          <a:prstGeom prst="rect">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571500" y="6426200"/>
            <a:ext cx="11049000" cy="0"/>
          </a:xfrm>
          <a:prstGeom prst="line">
            <a:avLst/>
          </a:prstGeom>
          <a:ln w="12700">
            <a:solidFill>
              <a:srgbClr val="1D3D4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3880" y="6512052"/>
            <a:ext cx="2948940" cy="205740"/>
          </a:xfrm>
          <a:prstGeom prst="rect">
            <a:avLst/>
          </a:prstGeom>
          <a:noFill/>
        </p:spPr>
        <p:txBody>
          <a:bodyPr wrap="none" lIns="0" rIns="0" tIns="0" bIns="0">
            <a:spAutoFit/>
          </a:bodyPr>
          <a:lstStyle/>
          <a:p>
            <a:pPr algn="l"/>
            <a:r>
              <a:rPr sz="1200" b="0">
                <a:solidFill>
                  <a:srgbClr val="6F8F8F"/>
                </a:solidFill>
                <a:latin typeface="Noto Sans SC"/>
                <a:ea typeface="Noto Sans SC"/>
              </a:rPr>
              <a:t>Module 07 · Kernighan–Lin Refinement</a:t>
            </a:r>
          </a:p>
        </p:txBody>
      </p:sp>
      <p:sp>
        <p:nvSpPr>
          <p:cNvPr id="8" name="TextBox 7"/>
          <p:cNvSpPr txBox="1"/>
          <p:nvPr/>
        </p:nvSpPr>
        <p:spPr>
          <a:xfrm>
            <a:off x="11113770" y="6499098"/>
            <a:ext cx="556260" cy="222885"/>
          </a:xfrm>
          <a:prstGeom prst="rect">
            <a:avLst/>
          </a:prstGeom>
          <a:noFill/>
        </p:spPr>
        <p:txBody>
          <a:bodyPr wrap="none" lIns="0" rIns="0" tIns="0" bIns="0">
            <a:spAutoFit/>
          </a:bodyPr>
          <a:lstStyle/>
          <a:p>
            <a:pPr algn="r"/>
            <a:r>
              <a:rPr sz="1300" b="1">
                <a:solidFill>
                  <a:srgbClr val="BCD2D0"/>
                </a:solidFill>
                <a:latin typeface="Noto Sans SC"/>
                <a:ea typeface="Noto Sans SC"/>
              </a:rPr>
              <a:t>p8/14</a:t>
            </a:r>
          </a:p>
        </p:txBody>
      </p:sp>
      <p:sp>
        <p:nvSpPr>
          <p:cNvPr id="9" name="Oval 8"/>
          <p:cNvSpPr/>
          <p:nvPr/>
        </p:nvSpPr>
        <p:spPr>
          <a:xfrm>
            <a:off x="711200" y="15394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14400" y="1430782"/>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Recompute D: the candidates left are E↔C −8, E↔B −13</a:t>
            </a:r>
          </a:p>
        </p:txBody>
      </p:sp>
      <p:sp>
        <p:nvSpPr>
          <p:cNvPr id="11" name="Oval 10"/>
          <p:cNvSpPr/>
          <p:nvPr/>
        </p:nvSpPr>
        <p:spPr>
          <a:xfrm>
            <a:off x="711200" y="2284349"/>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14400" y="2175637"/>
            <a:ext cx="4718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KL does not stop at the first negative gain</a:t>
            </a:r>
          </a:p>
        </p:txBody>
      </p:sp>
      <p:sp>
        <p:nvSpPr>
          <p:cNvPr id="13" name="Oval 12"/>
          <p:cNvSpPr/>
          <p:nvPr/>
        </p:nvSpPr>
        <p:spPr>
          <a:xfrm>
            <a:off x="711200" y="2716149"/>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14400" y="2607437"/>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It still takes the largest, E↔C: the cut rises to 11 for now</a:t>
            </a:r>
          </a:p>
        </p:txBody>
      </p:sp>
      <p:sp>
        <p:nvSpPr>
          <p:cNvPr id="15" name="Oval 14"/>
          <p:cNvSpPr/>
          <p:nvPr/>
        </p:nvSpPr>
        <p:spPr>
          <a:xfrm>
            <a:off x="711200" y="346100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14400" y="3352292"/>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No unlocked node is left on the left: the pass's trials end</a:t>
            </a:r>
          </a:p>
        </p:txBody>
      </p:sp>
      <p:sp>
        <p:nvSpPr>
          <p:cNvPr id="17" name="TextBox 16"/>
          <p:cNvSpPr txBox="1"/>
          <p:nvPr/>
        </p:nvSpPr>
        <p:spPr>
          <a:xfrm>
            <a:off x="698500" y="5546598"/>
            <a:ext cx="4908550" cy="718185"/>
          </a:xfrm>
          <a:prstGeom prst="rect">
            <a:avLst/>
          </a:prstGeom>
          <a:noFill/>
        </p:spPr>
        <p:txBody>
          <a:bodyPr wrap="square" lIns="0" rIns="0" tIns="0" bIns="0">
            <a:spAutoFit/>
          </a:bodyPr>
          <a:lstStyle/>
          <a:p>
            <a:pPr algn="l">
              <a:lnSpc>
                <a:spcPct val="121800"/>
              </a:lnSpc>
            </a:pPr>
            <a:r>
              <a:rPr sz="1300" b="0">
                <a:solidFill>
                  <a:srgbClr val="BCD2D0"/>
                </a:solidFill>
                <a:latin typeface="Noto Sans SC"/>
                <a:ea typeface="Noto Sans SC"/>
              </a:rPr>
              <a:t>Why take a negative gain? On a bigger graph, a step that first makes things worse can be followed by a larger positive gain; only a finished pass shows it.</a:t>
            </a:r>
          </a:p>
        </p:txBody>
      </p:sp>
      <p:sp>
        <p:nvSpPr>
          <p:cNvPr id="18" name="Rounded Rectangle 17"/>
          <p:cNvSpPr/>
          <p:nvPr/>
        </p:nvSpPr>
        <p:spPr>
          <a:xfrm>
            <a:off x="5591175" y="1393825"/>
            <a:ext cx="2774950" cy="3860800"/>
          </a:xfrm>
          <a:prstGeom prst="roundRect">
            <a:avLst>
              <a:gd name="adj" fmla="val 5217"/>
            </a:avLst>
          </a:prstGeom>
          <a:noFill/>
          <a:ln w="12065">
            <a:solidFill>
              <a:srgbClr val="2B515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373590" y="1511338"/>
            <a:ext cx="1210119" cy="211740"/>
          </a:xfrm>
          <a:prstGeom prst="rect">
            <a:avLst/>
          </a:prstGeom>
          <a:noFill/>
        </p:spPr>
        <p:txBody>
          <a:bodyPr wrap="none" lIns="0" rIns="0" tIns="0" bIns="0">
            <a:spAutoFit/>
          </a:bodyPr>
          <a:lstStyle/>
          <a:p>
            <a:pPr algn="ctr"/>
            <a:r>
              <a:rPr sz="1235" b="1">
                <a:solidFill>
                  <a:srgbClr val="BCD2D0"/>
                </a:solidFill>
                <a:latin typeface="Noto Sans SC"/>
                <a:ea typeface="Noto Sans SC"/>
              </a:rPr>
              <a:t>left · 2 places</a:t>
            </a:r>
          </a:p>
        </p:txBody>
      </p:sp>
      <p:sp>
        <p:nvSpPr>
          <p:cNvPr id="20" name="Rounded Rectangle 19"/>
          <p:cNvSpPr/>
          <p:nvPr/>
        </p:nvSpPr>
        <p:spPr>
          <a:xfrm>
            <a:off x="8728075" y="1393825"/>
            <a:ext cx="2774950" cy="3860800"/>
          </a:xfrm>
          <a:prstGeom prst="roundRect">
            <a:avLst>
              <a:gd name="adj" fmla="val 5217"/>
            </a:avLst>
          </a:prstGeom>
          <a:noFill/>
          <a:ln w="12065">
            <a:solidFill>
              <a:srgbClr val="2B515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453181" y="1511338"/>
            <a:ext cx="1324736" cy="211740"/>
          </a:xfrm>
          <a:prstGeom prst="rect">
            <a:avLst/>
          </a:prstGeom>
          <a:noFill/>
        </p:spPr>
        <p:txBody>
          <a:bodyPr wrap="none" lIns="0" rIns="0" tIns="0" bIns="0">
            <a:spAutoFit/>
          </a:bodyPr>
          <a:lstStyle/>
          <a:p>
            <a:pPr algn="ctr"/>
            <a:r>
              <a:rPr sz="1235" b="1">
                <a:solidFill>
                  <a:srgbClr val="BCD2D0"/>
                </a:solidFill>
                <a:latin typeface="Noto Sans SC"/>
                <a:ea typeface="Noto Sans SC"/>
              </a:rPr>
              <a:t>right · 3 places</a:t>
            </a:r>
          </a:p>
        </p:txBody>
      </p:sp>
      <p:cxnSp>
        <p:nvCxnSpPr>
          <p:cNvPr id="22" name="Connector 21"/>
          <p:cNvCxnSpPr/>
          <p:nvPr/>
        </p:nvCxnSpPr>
        <p:spPr>
          <a:xfrm>
            <a:off x="10115550" y="1997075"/>
            <a:ext cx="0" cy="1327150"/>
          </a:xfrm>
          <a:prstGeom prst="line">
            <a:avLst/>
          </a:prstGeom>
          <a:ln w="30162">
            <a:solidFill>
              <a:srgbClr val="9FC9BF"/>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10133406" y="2456027"/>
            <a:ext cx="277977" cy="277977"/>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57174" y="2463749"/>
            <a:ext cx="230441" cy="260604"/>
          </a:xfrm>
          <a:prstGeom prst="rect">
            <a:avLst/>
          </a:prstGeom>
          <a:noFill/>
        </p:spPr>
        <p:txBody>
          <a:bodyPr wrap="none" lIns="0" rIns="0" tIns="0" bIns="0">
            <a:spAutoFit/>
          </a:bodyPr>
          <a:lstStyle/>
          <a:p>
            <a:pPr algn="ctr"/>
            <a:r>
              <a:rPr sz="1520" b="1">
                <a:solidFill>
                  <a:srgbClr val="D9E4E1"/>
                </a:solidFill>
                <a:latin typeface="Noto Sans SC"/>
                <a:ea typeface="Noto Sans SC"/>
              </a:rPr>
              <a:t>5</a:t>
            </a:r>
          </a:p>
        </p:txBody>
      </p:sp>
      <p:cxnSp>
        <p:nvCxnSpPr>
          <p:cNvPr id="25" name="Connector 24"/>
          <p:cNvCxnSpPr/>
          <p:nvPr/>
        </p:nvCxnSpPr>
        <p:spPr>
          <a:xfrm flipH="1">
            <a:off x="6978650" y="1997075"/>
            <a:ext cx="3136900" cy="482600"/>
          </a:xfrm>
          <a:prstGeom prst="line">
            <a:avLst/>
          </a:prstGeom>
          <a:ln w="24130">
            <a:solidFill>
              <a:srgbClr val="DB7B72"/>
            </a:solidFill>
            <a:prstDash val="dash"/>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8431960" y="2188773"/>
            <a:ext cx="277977" cy="277977"/>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455728" y="2196495"/>
            <a:ext cx="230441" cy="260604"/>
          </a:xfrm>
          <a:prstGeom prst="rect">
            <a:avLst/>
          </a:prstGeom>
          <a:noFill/>
        </p:spPr>
        <p:txBody>
          <a:bodyPr wrap="none" lIns="0" rIns="0" tIns="0" bIns="0">
            <a:spAutoFit/>
          </a:bodyPr>
          <a:lstStyle/>
          <a:p>
            <a:pPr algn="ctr"/>
            <a:r>
              <a:rPr sz="1520" b="1">
                <a:solidFill>
                  <a:srgbClr val="D9E4E1"/>
                </a:solidFill>
                <a:latin typeface="Noto Sans SC"/>
                <a:ea typeface="Noto Sans SC"/>
              </a:rPr>
              <a:t>1</a:t>
            </a:r>
          </a:p>
        </p:txBody>
      </p:sp>
      <p:cxnSp>
        <p:nvCxnSpPr>
          <p:cNvPr id="28" name="Connector 27"/>
          <p:cNvCxnSpPr/>
          <p:nvPr/>
        </p:nvCxnSpPr>
        <p:spPr>
          <a:xfrm flipH="1" flipV="1">
            <a:off x="6978650" y="2479675"/>
            <a:ext cx="3136900" cy="844550"/>
          </a:xfrm>
          <a:prstGeom prst="line">
            <a:avLst/>
          </a:prstGeom>
          <a:ln w="24130">
            <a:solidFill>
              <a:srgbClr val="DB7B72"/>
            </a:solidFill>
            <a:prstDash val="dash"/>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8367335" y="2848779"/>
            <a:ext cx="277977" cy="277977"/>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391103" y="2856501"/>
            <a:ext cx="230441" cy="260604"/>
          </a:xfrm>
          <a:prstGeom prst="rect">
            <a:avLst/>
          </a:prstGeom>
          <a:noFill/>
        </p:spPr>
        <p:txBody>
          <a:bodyPr wrap="none" lIns="0" rIns="0" tIns="0" bIns="0">
            <a:spAutoFit/>
          </a:bodyPr>
          <a:lstStyle/>
          <a:p>
            <a:pPr algn="ctr"/>
            <a:r>
              <a:rPr sz="1520" b="1">
                <a:solidFill>
                  <a:srgbClr val="D9E4E1"/>
                </a:solidFill>
                <a:latin typeface="Noto Sans SC"/>
                <a:ea typeface="Noto Sans SC"/>
              </a:rPr>
              <a:t>4</a:t>
            </a:r>
          </a:p>
        </p:txBody>
      </p:sp>
      <p:cxnSp>
        <p:nvCxnSpPr>
          <p:cNvPr id="31" name="Connector 30"/>
          <p:cNvCxnSpPr/>
          <p:nvPr/>
        </p:nvCxnSpPr>
        <p:spPr>
          <a:xfrm>
            <a:off x="6978650" y="2479675"/>
            <a:ext cx="0" cy="1749425"/>
          </a:xfrm>
          <a:prstGeom prst="line">
            <a:avLst/>
          </a:prstGeom>
          <a:ln w="30162">
            <a:solidFill>
              <a:srgbClr val="9FC9BF"/>
            </a:solidFill>
          </a:ln>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6996506" y="3149765"/>
            <a:ext cx="277977" cy="277977"/>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020274" y="3157486"/>
            <a:ext cx="230441" cy="260604"/>
          </a:xfrm>
          <a:prstGeom prst="rect">
            <a:avLst/>
          </a:prstGeom>
          <a:noFill/>
        </p:spPr>
        <p:txBody>
          <a:bodyPr wrap="none" lIns="0" rIns="0" tIns="0" bIns="0">
            <a:spAutoFit/>
          </a:bodyPr>
          <a:lstStyle/>
          <a:p>
            <a:pPr algn="ctr"/>
            <a:r>
              <a:rPr sz="1520" b="1">
                <a:solidFill>
                  <a:srgbClr val="D9E4E1"/>
                </a:solidFill>
                <a:latin typeface="Noto Sans SC"/>
                <a:ea typeface="Noto Sans SC"/>
              </a:rPr>
              <a:t>2</a:t>
            </a:r>
          </a:p>
        </p:txBody>
      </p:sp>
      <p:cxnSp>
        <p:nvCxnSpPr>
          <p:cNvPr id="34" name="Connector 33"/>
          <p:cNvCxnSpPr/>
          <p:nvPr/>
        </p:nvCxnSpPr>
        <p:spPr>
          <a:xfrm>
            <a:off x="6978650" y="2479675"/>
            <a:ext cx="3136900" cy="2171700"/>
          </a:xfrm>
          <a:prstGeom prst="line">
            <a:avLst/>
          </a:prstGeom>
          <a:ln w="24130">
            <a:solidFill>
              <a:srgbClr val="DB7B72"/>
            </a:solidFill>
            <a:prstDash val="dash"/>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8497388" y="3231945"/>
            <a:ext cx="277977" cy="277977"/>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8521156" y="3239667"/>
            <a:ext cx="230441" cy="260604"/>
          </a:xfrm>
          <a:prstGeom prst="rect">
            <a:avLst/>
          </a:prstGeom>
          <a:noFill/>
        </p:spPr>
        <p:txBody>
          <a:bodyPr wrap="none" lIns="0" rIns="0" tIns="0" bIns="0">
            <a:spAutoFit/>
          </a:bodyPr>
          <a:lstStyle/>
          <a:p>
            <a:pPr algn="ctr"/>
            <a:r>
              <a:rPr sz="1520" b="1">
                <a:solidFill>
                  <a:srgbClr val="D9E4E1"/>
                </a:solidFill>
                <a:latin typeface="Noto Sans SC"/>
                <a:ea typeface="Noto Sans SC"/>
              </a:rPr>
              <a:t>1</a:t>
            </a:r>
          </a:p>
        </p:txBody>
      </p:sp>
      <p:cxnSp>
        <p:nvCxnSpPr>
          <p:cNvPr id="37" name="Connector 36"/>
          <p:cNvCxnSpPr/>
          <p:nvPr/>
        </p:nvCxnSpPr>
        <p:spPr>
          <a:xfrm>
            <a:off x="6978650" y="4229100"/>
            <a:ext cx="3136900" cy="422275"/>
          </a:xfrm>
          <a:prstGeom prst="line">
            <a:avLst/>
          </a:prstGeom>
          <a:ln w="24130">
            <a:solidFill>
              <a:srgbClr val="DB7B72"/>
            </a:solidFill>
            <a:prstDash val="dash"/>
          </a:ln>
        </p:spPr>
        <p:style>
          <a:lnRef idx="2">
            <a:schemeClr val="accent1"/>
          </a:lnRef>
          <a:fillRef idx="0">
            <a:schemeClr val="accent1"/>
          </a:fillRef>
          <a:effectRef idx="1">
            <a:schemeClr val="accent1"/>
          </a:effectRef>
          <a:fontRef idx="minor">
            <a:schemeClr val="tx1"/>
          </a:fontRef>
        </p:style>
      </p:cxnSp>
      <p:sp>
        <p:nvSpPr>
          <p:cNvPr id="38" name="Oval 37"/>
          <p:cNvSpPr/>
          <p:nvPr/>
        </p:nvSpPr>
        <p:spPr>
          <a:xfrm>
            <a:off x="8429036" y="4080172"/>
            <a:ext cx="277977" cy="277977"/>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8452804" y="4087893"/>
            <a:ext cx="230441" cy="260604"/>
          </a:xfrm>
          <a:prstGeom prst="rect">
            <a:avLst/>
          </a:prstGeom>
          <a:noFill/>
        </p:spPr>
        <p:txBody>
          <a:bodyPr wrap="none" lIns="0" rIns="0" tIns="0" bIns="0">
            <a:spAutoFit/>
          </a:bodyPr>
          <a:lstStyle/>
          <a:p>
            <a:pPr algn="ctr"/>
            <a:r>
              <a:rPr sz="1520" b="1">
                <a:solidFill>
                  <a:srgbClr val="D9E4E1"/>
                </a:solidFill>
                <a:latin typeface="Noto Sans SC"/>
                <a:ea typeface="Noto Sans SC"/>
              </a:rPr>
              <a:t>5</a:t>
            </a:r>
          </a:p>
        </p:txBody>
      </p:sp>
      <p:sp>
        <p:nvSpPr>
          <p:cNvPr id="40" name="Oval 39"/>
          <p:cNvSpPr/>
          <p:nvPr/>
        </p:nvSpPr>
        <p:spPr>
          <a:xfrm>
            <a:off x="9862185" y="1743710"/>
            <a:ext cx="506730" cy="506730"/>
          </a:xfrm>
          <a:prstGeom prst="ellipse">
            <a:avLst/>
          </a:prstGeom>
          <a:solidFill>
            <a:srgbClr val="8FB1E6"/>
          </a:solidFill>
          <a:ln w="18097">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9856152" y="1737677"/>
            <a:ext cx="518795" cy="518795"/>
          </a:xfrm>
          <a:prstGeom prst="ellipse">
            <a:avLst/>
          </a:prstGeom>
          <a:noFill/>
          <a:ln w="18097">
            <a:solidFill>
              <a:srgbClr val="F2F3E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9987661" y="1861705"/>
            <a:ext cx="255778" cy="276891"/>
          </a:xfrm>
          <a:prstGeom prst="rect">
            <a:avLst/>
          </a:prstGeom>
          <a:noFill/>
        </p:spPr>
        <p:txBody>
          <a:bodyPr wrap="none" lIns="0" rIns="0" tIns="0" bIns="0">
            <a:spAutoFit/>
          </a:bodyPr>
          <a:lstStyle/>
          <a:p>
            <a:pPr algn="ctr"/>
            <a:r>
              <a:rPr sz="1614" b="1">
                <a:solidFill>
                  <a:srgbClr val="0B1B1F"/>
                </a:solidFill>
                <a:latin typeface="Noto Sans SC"/>
                <a:ea typeface="Noto Sans SC"/>
              </a:rPr>
              <a:t>A</a:t>
            </a:r>
          </a:p>
        </p:txBody>
      </p:sp>
      <p:sp>
        <p:nvSpPr>
          <p:cNvPr id="43" name="Oval 42"/>
          <p:cNvSpPr/>
          <p:nvPr/>
        </p:nvSpPr>
        <p:spPr>
          <a:xfrm>
            <a:off x="9862185" y="3070860"/>
            <a:ext cx="506730" cy="506730"/>
          </a:xfrm>
          <a:prstGeom prst="ellipse">
            <a:avLst/>
          </a:prstGeom>
          <a:solidFill>
            <a:srgbClr val="8FB1E6"/>
          </a:solidFill>
          <a:ln w="18097">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9984644" y="3188855"/>
            <a:ext cx="261810" cy="276891"/>
          </a:xfrm>
          <a:prstGeom prst="rect">
            <a:avLst/>
          </a:prstGeom>
          <a:noFill/>
        </p:spPr>
        <p:txBody>
          <a:bodyPr wrap="none" lIns="0" rIns="0" tIns="0" bIns="0">
            <a:spAutoFit/>
          </a:bodyPr>
          <a:lstStyle/>
          <a:p>
            <a:pPr algn="ctr"/>
            <a:r>
              <a:rPr sz="1614" b="1">
                <a:solidFill>
                  <a:srgbClr val="0B1B1F"/>
                </a:solidFill>
                <a:latin typeface="Noto Sans SC"/>
                <a:ea typeface="Noto Sans SC"/>
              </a:rPr>
              <a:t>B</a:t>
            </a:r>
          </a:p>
        </p:txBody>
      </p:sp>
      <p:sp>
        <p:nvSpPr>
          <p:cNvPr id="45" name="Oval 44"/>
          <p:cNvSpPr/>
          <p:nvPr/>
        </p:nvSpPr>
        <p:spPr>
          <a:xfrm>
            <a:off x="6725284" y="2226310"/>
            <a:ext cx="506730" cy="506730"/>
          </a:xfrm>
          <a:prstGeom prst="ellipse">
            <a:avLst/>
          </a:prstGeom>
          <a:solidFill>
            <a:srgbClr val="77CDBB"/>
          </a:solidFill>
          <a:ln w="18097">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Oval 45"/>
          <p:cNvSpPr/>
          <p:nvPr/>
        </p:nvSpPr>
        <p:spPr>
          <a:xfrm>
            <a:off x="6719252" y="2220277"/>
            <a:ext cx="518795" cy="518795"/>
          </a:xfrm>
          <a:prstGeom prst="ellipse">
            <a:avLst/>
          </a:prstGeom>
          <a:noFill/>
          <a:ln w="18097">
            <a:solidFill>
              <a:srgbClr val="F2F3E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6850760" y="2344305"/>
            <a:ext cx="255778" cy="276891"/>
          </a:xfrm>
          <a:prstGeom prst="rect">
            <a:avLst/>
          </a:prstGeom>
          <a:noFill/>
        </p:spPr>
        <p:txBody>
          <a:bodyPr wrap="none" lIns="0" rIns="0" tIns="0" bIns="0">
            <a:spAutoFit/>
          </a:bodyPr>
          <a:lstStyle/>
          <a:p>
            <a:pPr algn="ctr"/>
            <a:r>
              <a:rPr sz="1614" b="1">
                <a:solidFill>
                  <a:srgbClr val="0B1B1F"/>
                </a:solidFill>
                <a:latin typeface="Noto Sans SC"/>
                <a:ea typeface="Noto Sans SC"/>
              </a:rPr>
              <a:t>C</a:t>
            </a:r>
          </a:p>
        </p:txBody>
      </p:sp>
      <p:sp>
        <p:nvSpPr>
          <p:cNvPr id="48" name="Oval 47"/>
          <p:cNvSpPr/>
          <p:nvPr/>
        </p:nvSpPr>
        <p:spPr>
          <a:xfrm>
            <a:off x="6725284" y="3975735"/>
            <a:ext cx="506730" cy="506730"/>
          </a:xfrm>
          <a:prstGeom prst="ellipse">
            <a:avLst/>
          </a:prstGeom>
          <a:solidFill>
            <a:srgbClr val="77CDBB"/>
          </a:solidFill>
          <a:ln w="18097">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Oval 48"/>
          <p:cNvSpPr/>
          <p:nvPr/>
        </p:nvSpPr>
        <p:spPr>
          <a:xfrm>
            <a:off x="6719252" y="3969702"/>
            <a:ext cx="518795" cy="518795"/>
          </a:xfrm>
          <a:prstGeom prst="ellipse">
            <a:avLst/>
          </a:prstGeom>
          <a:noFill/>
          <a:ln w="18097">
            <a:solidFill>
              <a:srgbClr val="F2F3E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6844728" y="4093730"/>
            <a:ext cx="267842" cy="276891"/>
          </a:xfrm>
          <a:prstGeom prst="rect">
            <a:avLst/>
          </a:prstGeom>
          <a:noFill/>
        </p:spPr>
        <p:txBody>
          <a:bodyPr wrap="none" lIns="0" rIns="0" tIns="0" bIns="0">
            <a:spAutoFit/>
          </a:bodyPr>
          <a:lstStyle/>
          <a:p>
            <a:pPr algn="ctr"/>
            <a:r>
              <a:rPr sz="1614" b="1">
                <a:solidFill>
                  <a:srgbClr val="0B1B1F"/>
                </a:solidFill>
                <a:latin typeface="Noto Sans SC"/>
                <a:ea typeface="Noto Sans SC"/>
              </a:rPr>
              <a:t>D</a:t>
            </a:r>
          </a:p>
        </p:txBody>
      </p:sp>
      <p:sp>
        <p:nvSpPr>
          <p:cNvPr id="51" name="Oval 50"/>
          <p:cNvSpPr/>
          <p:nvPr/>
        </p:nvSpPr>
        <p:spPr>
          <a:xfrm>
            <a:off x="9862185" y="4398010"/>
            <a:ext cx="506730" cy="506730"/>
          </a:xfrm>
          <a:prstGeom prst="ellipse">
            <a:avLst/>
          </a:prstGeom>
          <a:solidFill>
            <a:srgbClr val="8FB1E6"/>
          </a:solidFill>
          <a:ln w="18097">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Oval 51"/>
          <p:cNvSpPr/>
          <p:nvPr/>
        </p:nvSpPr>
        <p:spPr>
          <a:xfrm>
            <a:off x="9856152" y="4391977"/>
            <a:ext cx="518795" cy="518795"/>
          </a:xfrm>
          <a:prstGeom prst="ellipse">
            <a:avLst/>
          </a:prstGeom>
          <a:noFill/>
          <a:ln w="18097">
            <a:solidFill>
              <a:srgbClr val="F2F3E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9990677" y="4516005"/>
            <a:ext cx="249745" cy="276891"/>
          </a:xfrm>
          <a:prstGeom prst="rect">
            <a:avLst/>
          </a:prstGeom>
          <a:noFill/>
        </p:spPr>
        <p:txBody>
          <a:bodyPr wrap="none" lIns="0" rIns="0" tIns="0" bIns="0">
            <a:spAutoFit/>
          </a:bodyPr>
          <a:lstStyle/>
          <a:p>
            <a:pPr algn="ctr"/>
            <a:r>
              <a:rPr sz="1614" b="1">
                <a:solidFill>
                  <a:srgbClr val="0B1B1F"/>
                </a:solidFill>
                <a:latin typeface="Noto Sans SC"/>
                <a:ea typeface="Noto Sans SC"/>
              </a:rPr>
              <a:t>E</a:t>
            </a:r>
          </a:p>
        </p:txBody>
      </p:sp>
      <p:sp>
        <p:nvSpPr>
          <p:cNvPr id="54" name="TextBox 53"/>
          <p:cNvSpPr txBox="1"/>
          <p:nvPr/>
        </p:nvSpPr>
        <p:spPr>
          <a:xfrm>
            <a:off x="6314440" y="5507736"/>
            <a:ext cx="4452620" cy="274320"/>
          </a:xfrm>
          <a:prstGeom prst="rect">
            <a:avLst/>
          </a:prstGeom>
          <a:noFill/>
        </p:spPr>
        <p:txBody>
          <a:bodyPr wrap="none" lIns="0" rIns="0" tIns="0" bIns="0">
            <a:spAutoFit/>
          </a:bodyPr>
          <a:lstStyle/>
          <a:p>
            <a:pPr algn="ctr"/>
            <a:r>
              <a:rPr sz="1600" b="1">
                <a:solidFill>
                  <a:srgbClr val="DB7B72"/>
                </a:solidFill>
                <a:latin typeface="Noto Sans SC"/>
                <a:ea typeface="Noto Sans SC"/>
              </a:rPr>
              <a:t>Trial E↔C: g = −8, the cut rises to 11 for now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71C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2000" cy="38100"/>
          </a:xfrm>
          <a:prstGeom prst="rect">
            <a:avLst/>
          </a:prstGeom>
          <a:solidFill>
            <a:srgbClr val="77CDBB">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53720" y="450088"/>
            <a:ext cx="4963160" cy="480060"/>
          </a:xfrm>
          <a:prstGeom prst="rect">
            <a:avLst/>
          </a:prstGeom>
          <a:noFill/>
        </p:spPr>
        <p:txBody>
          <a:bodyPr wrap="none" lIns="0" rIns="0" tIns="0" bIns="0">
            <a:spAutoFit/>
          </a:bodyPr>
          <a:lstStyle/>
          <a:p>
            <a:pPr algn="l"/>
            <a:r>
              <a:rPr sz="2800" b="0">
                <a:solidFill>
                  <a:srgbClr val="F2F3E9"/>
                </a:solidFill>
                <a:latin typeface="Noto Sans SC"/>
                <a:ea typeface="Noto Sans SC"/>
              </a:rPr>
              <a:t>The best prefix and roll-back</a:t>
            </a:r>
          </a:p>
        </p:txBody>
      </p:sp>
      <p:sp>
        <p:nvSpPr>
          <p:cNvPr id="5" name="Rectangle 4"/>
          <p:cNvSpPr/>
          <p:nvPr/>
        </p:nvSpPr>
        <p:spPr>
          <a:xfrm>
            <a:off x="571500" y="965200"/>
            <a:ext cx="571500" cy="25400"/>
          </a:xfrm>
          <a:prstGeom prst="rect">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571500" y="6426200"/>
            <a:ext cx="11049000" cy="0"/>
          </a:xfrm>
          <a:prstGeom prst="line">
            <a:avLst/>
          </a:prstGeom>
          <a:ln w="12700">
            <a:solidFill>
              <a:srgbClr val="1D3D4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3880" y="6512052"/>
            <a:ext cx="2948940" cy="205740"/>
          </a:xfrm>
          <a:prstGeom prst="rect">
            <a:avLst/>
          </a:prstGeom>
          <a:noFill/>
        </p:spPr>
        <p:txBody>
          <a:bodyPr wrap="none" lIns="0" rIns="0" tIns="0" bIns="0">
            <a:spAutoFit/>
          </a:bodyPr>
          <a:lstStyle/>
          <a:p>
            <a:pPr algn="l"/>
            <a:r>
              <a:rPr sz="1200" b="0">
                <a:solidFill>
                  <a:srgbClr val="6F8F8F"/>
                </a:solidFill>
                <a:latin typeface="Noto Sans SC"/>
                <a:ea typeface="Noto Sans SC"/>
              </a:rPr>
              <a:t>Module 07 · Kernighan–Lin Refinement</a:t>
            </a:r>
          </a:p>
        </p:txBody>
      </p:sp>
      <p:sp>
        <p:nvSpPr>
          <p:cNvPr id="8" name="TextBox 7"/>
          <p:cNvSpPr txBox="1"/>
          <p:nvPr/>
        </p:nvSpPr>
        <p:spPr>
          <a:xfrm>
            <a:off x="11113770" y="6499098"/>
            <a:ext cx="556260" cy="222885"/>
          </a:xfrm>
          <a:prstGeom prst="rect">
            <a:avLst/>
          </a:prstGeom>
          <a:noFill/>
        </p:spPr>
        <p:txBody>
          <a:bodyPr wrap="none" lIns="0" rIns="0" tIns="0" bIns="0">
            <a:spAutoFit/>
          </a:bodyPr>
          <a:lstStyle/>
          <a:p>
            <a:pPr algn="r"/>
            <a:r>
              <a:rPr sz="1300" b="1">
                <a:solidFill>
                  <a:srgbClr val="BCD2D0"/>
                </a:solidFill>
                <a:latin typeface="Noto Sans SC"/>
                <a:ea typeface="Noto Sans SC"/>
              </a:rPr>
              <a:t>p9/14</a:t>
            </a:r>
          </a:p>
        </p:txBody>
      </p:sp>
      <p:sp>
        <p:nvSpPr>
          <p:cNvPr id="9" name="Oval 8"/>
          <p:cNvSpPr/>
          <p:nvPr/>
        </p:nvSpPr>
        <p:spPr>
          <a:xfrm>
            <a:off x="711200" y="15394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14400" y="1430782"/>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Cumulative gains: k=0 → 0, k=1 → +9, k=2 → +1</a:t>
            </a:r>
          </a:p>
        </p:txBody>
      </p:sp>
      <p:sp>
        <p:nvSpPr>
          <p:cNvPr id="11" name="Oval 10"/>
          <p:cNvSpPr/>
          <p:nvPr/>
        </p:nvSpPr>
        <p:spPr>
          <a:xfrm>
            <a:off x="711200" y="2284349"/>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14400" y="2175637"/>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Take the largest, consecutive prefix only: k* = 1</a:t>
            </a:r>
          </a:p>
        </p:txBody>
      </p:sp>
      <p:sp>
        <p:nvSpPr>
          <p:cNvPr id="13" name="Oval 12"/>
          <p:cNvSpPr/>
          <p:nvPr/>
        </p:nvSpPr>
        <p:spPr>
          <a:xfrm>
            <a:off x="711200" y="302920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14400" y="2920492"/>
            <a:ext cx="4718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From the pass start, apply only the first step</a:t>
            </a:r>
          </a:p>
        </p:txBody>
      </p:sp>
      <p:sp>
        <p:nvSpPr>
          <p:cNvPr id="15" name="Oval 14"/>
          <p:cNvSpPr/>
          <p:nvPr/>
        </p:nvSpPr>
        <p:spPr>
          <a:xfrm>
            <a:off x="711200" y="346100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14400" y="3352292"/>
            <a:ext cx="4718050" cy="313055"/>
          </a:xfrm>
          <a:prstGeom prst="rect">
            <a:avLst/>
          </a:prstGeom>
          <a:noFill/>
        </p:spPr>
        <p:txBody>
          <a:bodyPr wrap="square" lIns="0" rIns="0" tIns="0" bIns="0">
            <a:spAutoFit/>
          </a:bodyPr>
          <a:lstStyle/>
          <a:p>
            <a:pPr algn="l">
              <a:lnSpc>
                <a:spcPct val="121800"/>
              </a:lnSpc>
            </a:pPr>
            <a:r>
              <a:rPr sz="1700" b="0">
                <a:solidFill>
                  <a:srgbClr val="77CDBB"/>
                </a:solidFill>
                <a:latin typeface="Noto Sans SC"/>
                <a:ea typeface="Noto Sans SC"/>
              </a:rPr>
              <a:t>Accept ABC | DE, cut = 3; step 2 is undone</a:t>
            </a:r>
          </a:p>
        </p:txBody>
      </p:sp>
      <p:sp>
        <p:nvSpPr>
          <p:cNvPr id="17" name="Rounded Rectangle 16"/>
          <p:cNvSpPr/>
          <p:nvPr/>
        </p:nvSpPr>
        <p:spPr>
          <a:xfrm>
            <a:off x="6350000" y="1587500"/>
            <a:ext cx="4064000" cy="2921000"/>
          </a:xfrm>
          <a:prstGeom prst="roundRect">
            <a:avLst>
              <a:gd name="adj" fmla="val 3043"/>
            </a:avLst>
          </a:prstGeom>
          <a:solidFill>
            <a:srgbClr val="0D272D">
              <a:alpha val="96000"/>
            </a:srgbClr>
          </a:solidFill>
          <a:ln w="12700">
            <a:solidFill>
              <a:srgbClr val="24474D">
                <a:alpha val="96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506209" y="1698244"/>
            <a:ext cx="2741930" cy="240030"/>
          </a:xfrm>
          <a:prstGeom prst="rect">
            <a:avLst/>
          </a:prstGeom>
          <a:noFill/>
        </p:spPr>
        <p:txBody>
          <a:bodyPr wrap="none" lIns="0" rIns="0" tIns="0" bIns="0">
            <a:spAutoFit/>
          </a:bodyPr>
          <a:lstStyle/>
          <a:p>
            <a:pPr algn="l"/>
            <a:r>
              <a:rPr sz="1400" b="1">
                <a:solidFill>
                  <a:srgbClr val="D8BB78"/>
                </a:solidFill>
                <a:latin typeface="Noto Sans SC"/>
                <a:ea typeface="Noto Sans SC"/>
              </a:rPr>
              <a:t>Cumulative gain (first k steps)</a:t>
            </a:r>
          </a:p>
        </p:txBody>
      </p:sp>
      <p:cxnSp>
        <p:nvCxnSpPr>
          <p:cNvPr id="19" name="Connector 18"/>
          <p:cNvCxnSpPr/>
          <p:nvPr/>
        </p:nvCxnSpPr>
        <p:spPr>
          <a:xfrm>
            <a:off x="6667500" y="3378200"/>
            <a:ext cx="3492500" cy="0"/>
          </a:xfrm>
          <a:prstGeom prst="line">
            <a:avLst/>
          </a:prstGeom>
          <a:ln w="12700">
            <a:solidFill>
              <a:srgbClr val="3B5A5E"/>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475730" y="3286252"/>
            <a:ext cx="173990" cy="205740"/>
          </a:xfrm>
          <a:prstGeom prst="rect">
            <a:avLst/>
          </a:prstGeom>
          <a:noFill/>
        </p:spPr>
        <p:txBody>
          <a:bodyPr wrap="none" lIns="0" rIns="0" tIns="0" bIns="0">
            <a:spAutoFit/>
          </a:bodyPr>
          <a:lstStyle/>
          <a:p>
            <a:pPr algn="r"/>
            <a:r>
              <a:rPr sz="1200" b="0">
                <a:solidFill>
                  <a:srgbClr val="BCD2D0"/>
                </a:solidFill>
                <a:latin typeface="Noto Sans SC"/>
                <a:ea typeface="Noto Sans SC"/>
              </a:rPr>
              <a:t>0</a:t>
            </a:r>
          </a:p>
        </p:txBody>
      </p:sp>
      <p:sp>
        <p:nvSpPr>
          <p:cNvPr id="21" name="Rounded Rectangle 20"/>
          <p:cNvSpPr/>
          <p:nvPr/>
        </p:nvSpPr>
        <p:spPr>
          <a:xfrm>
            <a:off x="6921500" y="3359150"/>
            <a:ext cx="571500" cy="38100"/>
          </a:xfrm>
          <a:prstGeom prst="roundRect">
            <a:avLst>
              <a:gd name="adj" fmla="val 50000"/>
            </a:avLst>
          </a:prstGeom>
          <a:solidFill>
            <a:srgbClr val="BCD2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085965" y="3082036"/>
            <a:ext cx="242570" cy="274320"/>
          </a:xfrm>
          <a:prstGeom prst="rect">
            <a:avLst/>
          </a:prstGeom>
          <a:noFill/>
        </p:spPr>
        <p:txBody>
          <a:bodyPr wrap="none" lIns="0" rIns="0" tIns="0" bIns="0">
            <a:spAutoFit/>
          </a:bodyPr>
          <a:lstStyle/>
          <a:p>
            <a:pPr algn="ctr"/>
            <a:r>
              <a:rPr sz="1600" b="1">
                <a:solidFill>
                  <a:srgbClr val="BCD2D0"/>
                </a:solidFill>
                <a:latin typeface="Noto Sans SC"/>
                <a:ea typeface="Noto Sans SC"/>
              </a:rPr>
              <a:t>0</a:t>
            </a:r>
          </a:p>
        </p:txBody>
      </p:sp>
      <p:sp>
        <p:nvSpPr>
          <p:cNvPr id="23" name="TextBox 22"/>
          <p:cNvSpPr txBox="1"/>
          <p:nvPr/>
        </p:nvSpPr>
        <p:spPr>
          <a:xfrm>
            <a:off x="6986270" y="4086098"/>
            <a:ext cx="441959" cy="222885"/>
          </a:xfrm>
          <a:prstGeom prst="rect">
            <a:avLst/>
          </a:prstGeom>
          <a:noFill/>
        </p:spPr>
        <p:txBody>
          <a:bodyPr wrap="none" lIns="0" rIns="0" tIns="0" bIns="0">
            <a:spAutoFit/>
          </a:bodyPr>
          <a:lstStyle/>
          <a:p>
            <a:pPr algn="ctr"/>
            <a:r>
              <a:rPr sz="1300" b="0">
                <a:solidFill>
                  <a:srgbClr val="BCD2D0"/>
                </a:solidFill>
                <a:latin typeface="Noto Sans SC"/>
                <a:ea typeface="Noto Sans SC"/>
              </a:rPr>
              <a:t>k = 0</a:t>
            </a:r>
          </a:p>
        </p:txBody>
      </p:sp>
      <p:sp>
        <p:nvSpPr>
          <p:cNvPr id="24" name="Rounded Rectangle 23"/>
          <p:cNvSpPr/>
          <p:nvPr/>
        </p:nvSpPr>
        <p:spPr>
          <a:xfrm>
            <a:off x="7937500" y="2349500"/>
            <a:ext cx="571500" cy="1028700"/>
          </a:xfrm>
          <a:prstGeom prst="roundRect">
            <a:avLst>
              <a:gd name="adj" fmla="val 6666"/>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041640" y="2053336"/>
            <a:ext cx="363220" cy="274320"/>
          </a:xfrm>
          <a:prstGeom prst="rect">
            <a:avLst/>
          </a:prstGeom>
          <a:noFill/>
        </p:spPr>
        <p:txBody>
          <a:bodyPr wrap="none" lIns="0" rIns="0" tIns="0" bIns="0">
            <a:spAutoFit/>
          </a:bodyPr>
          <a:lstStyle/>
          <a:p>
            <a:pPr algn="ctr"/>
            <a:r>
              <a:rPr sz="1600" b="1">
                <a:solidFill>
                  <a:srgbClr val="D8BB78"/>
                </a:solidFill>
                <a:latin typeface="Noto Sans SC"/>
                <a:ea typeface="Noto Sans SC"/>
              </a:rPr>
              <a:t>+9</a:t>
            </a:r>
          </a:p>
        </p:txBody>
      </p:sp>
      <p:sp>
        <p:nvSpPr>
          <p:cNvPr id="26" name="TextBox 25"/>
          <p:cNvSpPr txBox="1"/>
          <p:nvPr/>
        </p:nvSpPr>
        <p:spPr>
          <a:xfrm>
            <a:off x="8002270" y="4086098"/>
            <a:ext cx="441959" cy="222885"/>
          </a:xfrm>
          <a:prstGeom prst="rect">
            <a:avLst/>
          </a:prstGeom>
          <a:noFill/>
        </p:spPr>
        <p:txBody>
          <a:bodyPr wrap="none" lIns="0" rIns="0" tIns="0" bIns="0">
            <a:spAutoFit/>
          </a:bodyPr>
          <a:lstStyle/>
          <a:p>
            <a:pPr algn="ctr"/>
            <a:r>
              <a:rPr sz="1300" b="0">
                <a:solidFill>
                  <a:srgbClr val="BCD2D0"/>
                </a:solidFill>
                <a:latin typeface="Noto Sans SC"/>
                <a:ea typeface="Noto Sans SC"/>
              </a:rPr>
              <a:t>k = 1</a:t>
            </a:r>
          </a:p>
        </p:txBody>
      </p:sp>
      <p:sp>
        <p:nvSpPr>
          <p:cNvPr id="27" name="Rounded Rectangle 26"/>
          <p:cNvSpPr/>
          <p:nvPr/>
        </p:nvSpPr>
        <p:spPr>
          <a:xfrm>
            <a:off x="7848600" y="2032000"/>
            <a:ext cx="749300" cy="2349500"/>
          </a:xfrm>
          <a:prstGeom prst="roundRect">
            <a:avLst>
              <a:gd name="adj" fmla="val 10169"/>
            </a:avLst>
          </a:prstGeom>
          <a:noFill/>
          <a:ln w="19050">
            <a:solidFill>
              <a:srgbClr val="D8BB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ounded Rectangle 27"/>
          <p:cNvSpPr/>
          <p:nvPr/>
        </p:nvSpPr>
        <p:spPr>
          <a:xfrm>
            <a:off x="8953500" y="3263900"/>
            <a:ext cx="571500" cy="114300"/>
          </a:xfrm>
          <a:prstGeom prst="roundRect">
            <a:avLst>
              <a:gd name="adj" fmla="val 33333"/>
            </a:avLst>
          </a:prstGeom>
          <a:solidFill>
            <a:srgbClr val="77CD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057640" y="2967736"/>
            <a:ext cx="363220" cy="274320"/>
          </a:xfrm>
          <a:prstGeom prst="rect">
            <a:avLst/>
          </a:prstGeom>
          <a:noFill/>
        </p:spPr>
        <p:txBody>
          <a:bodyPr wrap="none" lIns="0" rIns="0" tIns="0" bIns="0">
            <a:spAutoFit/>
          </a:bodyPr>
          <a:lstStyle/>
          <a:p>
            <a:pPr algn="ctr"/>
            <a:r>
              <a:rPr sz="1600" b="1">
                <a:solidFill>
                  <a:srgbClr val="77CDBB"/>
                </a:solidFill>
                <a:latin typeface="Noto Sans SC"/>
                <a:ea typeface="Noto Sans SC"/>
              </a:rPr>
              <a:t>+1</a:t>
            </a:r>
          </a:p>
        </p:txBody>
      </p:sp>
      <p:sp>
        <p:nvSpPr>
          <p:cNvPr id="30" name="TextBox 29"/>
          <p:cNvSpPr txBox="1"/>
          <p:nvPr/>
        </p:nvSpPr>
        <p:spPr>
          <a:xfrm>
            <a:off x="9018270" y="4086098"/>
            <a:ext cx="441959" cy="222885"/>
          </a:xfrm>
          <a:prstGeom prst="rect">
            <a:avLst/>
          </a:prstGeom>
          <a:noFill/>
        </p:spPr>
        <p:txBody>
          <a:bodyPr wrap="none" lIns="0" rIns="0" tIns="0" bIns="0">
            <a:spAutoFit/>
          </a:bodyPr>
          <a:lstStyle/>
          <a:p>
            <a:pPr algn="ctr"/>
            <a:r>
              <a:rPr sz="1300" b="0">
                <a:solidFill>
                  <a:srgbClr val="BCD2D0"/>
                </a:solidFill>
                <a:latin typeface="Noto Sans SC"/>
                <a:ea typeface="Noto Sans SC"/>
              </a:rPr>
              <a:t>k = 2</a:t>
            </a:r>
          </a:p>
        </p:txBody>
      </p:sp>
      <p:sp>
        <p:nvSpPr>
          <p:cNvPr id="31" name="Rounded Rectangle 30"/>
          <p:cNvSpPr/>
          <p:nvPr/>
        </p:nvSpPr>
        <p:spPr>
          <a:xfrm>
            <a:off x="6969125" y="4864100"/>
            <a:ext cx="2825750" cy="292100"/>
          </a:xfrm>
          <a:prstGeom prst="roundRect">
            <a:avLst>
              <a:gd name="adj" fmla="val 50000"/>
            </a:avLst>
          </a:prstGeom>
          <a:solidFill>
            <a:srgbClr val="0A2126"/>
          </a:solidFill>
          <a:ln w="12700">
            <a:solidFill>
              <a:srgbClr val="77CD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014845" y="4924298"/>
            <a:ext cx="2734310" cy="222885"/>
          </a:xfrm>
          <a:prstGeom prst="rect">
            <a:avLst/>
          </a:prstGeom>
          <a:noFill/>
        </p:spPr>
        <p:txBody>
          <a:bodyPr wrap="none" lIns="0" rIns="0" tIns="0" bIns="0">
            <a:spAutoFit/>
          </a:bodyPr>
          <a:lstStyle/>
          <a:p>
            <a:pPr algn="ctr"/>
            <a:r>
              <a:rPr sz="1300" b="1">
                <a:solidFill>
                  <a:srgbClr val="77CDBB"/>
                </a:solidFill>
                <a:latin typeface="Noto Sans SC"/>
                <a:ea typeface="Noto Sans SC"/>
              </a:rPr>
              <a:t>Accept the first 1: ABC | DE, cut 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71C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2000" cy="38100"/>
          </a:xfrm>
          <a:prstGeom prst="rect">
            <a:avLst/>
          </a:prstGeom>
          <a:solidFill>
            <a:srgbClr val="77CDBB">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53720" y="450088"/>
            <a:ext cx="6766559" cy="480060"/>
          </a:xfrm>
          <a:prstGeom prst="rect">
            <a:avLst/>
          </a:prstGeom>
          <a:noFill/>
        </p:spPr>
        <p:txBody>
          <a:bodyPr wrap="none" lIns="0" rIns="0" tIns="0" bIns="0">
            <a:spAutoFit/>
          </a:bodyPr>
          <a:lstStyle/>
          <a:p>
            <a:pPr algn="l"/>
            <a:r>
              <a:rPr sz="2800" b="0">
                <a:solidFill>
                  <a:srgbClr val="F2F3E9"/>
                </a:solidFill>
                <a:latin typeface="Noto Sans SC"/>
                <a:ea typeface="Noto Sans SC"/>
              </a:rPr>
              <a:t>Pass two: the empty prefix and the stop</a:t>
            </a:r>
          </a:p>
        </p:txBody>
      </p:sp>
      <p:sp>
        <p:nvSpPr>
          <p:cNvPr id="5" name="Rectangle 4"/>
          <p:cNvSpPr/>
          <p:nvPr/>
        </p:nvSpPr>
        <p:spPr>
          <a:xfrm>
            <a:off x="571500" y="965200"/>
            <a:ext cx="571500" cy="25400"/>
          </a:xfrm>
          <a:prstGeom prst="rect">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571500" y="6426200"/>
            <a:ext cx="11049000" cy="0"/>
          </a:xfrm>
          <a:prstGeom prst="line">
            <a:avLst/>
          </a:prstGeom>
          <a:ln w="12700">
            <a:solidFill>
              <a:srgbClr val="1D3D4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3880" y="6512052"/>
            <a:ext cx="2948940" cy="205740"/>
          </a:xfrm>
          <a:prstGeom prst="rect">
            <a:avLst/>
          </a:prstGeom>
          <a:noFill/>
        </p:spPr>
        <p:txBody>
          <a:bodyPr wrap="none" lIns="0" rIns="0" tIns="0" bIns="0">
            <a:spAutoFit/>
          </a:bodyPr>
          <a:lstStyle/>
          <a:p>
            <a:pPr algn="l"/>
            <a:r>
              <a:rPr sz="1200" b="0">
                <a:solidFill>
                  <a:srgbClr val="6F8F8F"/>
                </a:solidFill>
                <a:latin typeface="Noto Sans SC"/>
                <a:ea typeface="Noto Sans SC"/>
              </a:rPr>
              <a:t>Module 07 · Kernighan–Lin Refinement</a:t>
            </a:r>
          </a:p>
        </p:txBody>
      </p:sp>
      <p:sp>
        <p:nvSpPr>
          <p:cNvPr id="8" name="TextBox 7"/>
          <p:cNvSpPr txBox="1"/>
          <p:nvPr/>
        </p:nvSpPr>
        <p:spPr>
          <a:xfrm>
            <a:off x="11018520" y="6499098"/>
            <a:ext cx="651510" cy="222885"/>
          </a:xfrm>
          <a:prstGeom prst="rect">
            <a:avLst/>
          </a:prstGeom>
          <a:noFill/>
        </p:spPr>
        <p:txBody>
          <a:bodyPr wrap="none" lIns="0" rIns="0" tIns="0" bIns="0">
            <a:spAutoFit/>
          </a:bodyPr>
          <a:lstStyle/>
          <a:p>
            <a:pPr algn="r"/>
            <a:r>
              <a:rPr sz="1300" b="1">
                <a:solidFill>
                  <a:srgbClr val="BCD2D0"/>
                </a:solidFill>
                <a:latin typeface="Noto Sans SC"/>
                <a:ea typeface="Noto Sans SC"/>
              </a:rPr>
              <a:t>p10/14</a:t>
            </a:r>
          </a:p>
        </p:txBody>
      </p:sp>
      <p:sp>
        <p:nvSpPr>
          <p:cNvPr id="9" name="Oval 8"/>
          <p:cNvSpPr/>
          <p:nvPr/>
        </p:nvSpPr>
        <p:spPr>
          <a:xfrm>
            <a:off x="711200" y="15394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14400" y="1430782"/>
            <a:ext cx="4718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Start from ABC | DE, everything unlocked</a:t>
            </a:r>
          </a:p>
        </p:txBody>
      </p:sp>
      <p:sp>
        <p:nvSpPr>
          <p:cNvPr id="11" name="Oval 10"/>
          <p:cNvSpPr/>
          <p:nvPr/>
        </p:nvSpPr>
        <p:spPr>
          <a:xfrm>
            <a:off x="711200" y="19712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14400" y="1862582"/>
            <a:ext cx="4718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Trials: E↔C −8, D↔B +2</a:t>
            </a:r>
          </a:p>
        </p:txBody>
      </p:sp>
      <p:sp>
        <p:nvSpPr>
          <p:cNvPr id="13" name="Oval 12"/>
          <p:cNvSpPr/>
          <p:nvPr/>
        </p:nvSpPr>
        <p:spPr>
          <a:xfrm>
            <a:off x="711200" y="24030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14400" y="2294382"/>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Cumulative −8, −6: neither beats doing nothing</a:t>
            </a:r>
          </a:p>
        </p:txBody>
      </p:sp>
      <p:sp>
        <p:nvSpPr>
          <p:cNvPr id="15" name="Oval 14"/>
          <p:cNvSpPr/>
          <p:nvPr/>
        </p:nvSpPr>
        <p:spPr>
          <a:xfrm>
            <a:off x="711200" y="3147948"/>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14400" y="3039236"/>
            <a:ext cx="4718050" cy="626110"/>
          </a:xfrm>
          <a:prstGeom prst="rect">
            <a:avLst/>
          </a:prstGeom>
          <a:noFill/>
        </p:spPr>
        <p:txBody>
          <a:bodyPr wrap="square" lIns="0" rIns="0" tIns="0" bIns="0">
            <a:spAutoFit/>
          </a:bodyPr>
          <a:lstStyle/>
          <a:p>
            <a:pPr algn="l">
              <a:lnSpc>
                <a:spcPct val="121800"/>
              </a:lnSpc>
            </a:pPr>
            <a:r>
              <a:rPr sz="1700" b="0">
                <a:solidFill>
                  <a:srgbClr val="D8BB78"/>
                </a:solidFill>
                <a:latin typeface="Noto Sans SC"/>
                <a:ea typeface="Noto Sans SC"/>
              </a:rPr>
              <a:t>The best prefix is empty (k = 0) → the algorithm stops</a:t>
            </a:r>
          </a:p>
        </p:txBody>
      </p:sp>
      <p:sp>
        <p:nvSpPr>
          <p:cNvPr id="17" name="Rounded Rectangle 16"/>
          <p:cNvSpPr/>
          <p:nvPr/>
        </p:nvSpPr>
        <p:spPr>
          <a:xfrm>
            <a:off x="6350000" y="1587500"/>
            <a:ext cx="4064000" cy="2921000"/>
          </a:xfrm>
          <a:prstGeom prst="roundRect">
            <a:avLst>
              <a:gd name="adj" fmla="val 3043"/>
            </a:avLst>
          </a:prstGeom>
          <a:solidFill>
            <a:srgbClr val="0D272D">
              <a:alpha val="96000"/>
            </a:srgbClr>
          </a:solidFill>
          <a:ln w="12700">
            <a:solidFill>
              <a:srgbClr val="24474D">
                <a:alpha val="96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506209" y="1698244"/>
            <a:ext cx="2176780" cy="240030"/>
          </a:xfrm>
          <a:prstGeom prst="rect">
            <a:avLst/>
          </a:prstGeom>
          <a:noFill/>
        </p:spPr>
        <p:txBody>
          <a:bodyPr wrap="none" lIns="0" rIns="0" tIns="0" bIns="0">
            <a:spAutoFit/>
          </a:bodyPr>
          <a:lstStyle/>
          <a:p>
            <a:pPr algn="l"/>
            <a:r>
              <a:rPr sz="1400" b="1">
                <a:solidFill>
                  <a:srgbClr val="D8BB78"/>
                </a:solidFill>
                <a:latin typeface="Noto Sans SC"/>
                <a:ea typeface="Noto Sans SC"/>
              </a:rPr>
              <a:t>Pass 2, cumulative gain</a:t>
            </a:r>
          </a:p>
        </p:txBody>
      </p:sp>
      <p:cxnSp>
        <p:nvCxnSpPr>
          <p:cNvPr id="19" name="Connector 18"/>
          <p:cNvCxnSpPr/>
          <p:nvPr/>
        </p:nvCxnSpPr>
        <p:spPr>
          <a:xfrm>
            <a:off x="6667500" y="2349500"/>
            <a:ext cx="3492500" cy="0"/>
          </a:xfrm>
          <a:prstGeom prst="line">
            <a:avLst/>
          </a:prstGeom>
          <a:ln w="12700">
            <a:solidFill>
              <a:srgbClr val="3B5A5E"/>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475730" y="2257552"/>
            <a:ext cx="173990" cy="205740"/>
          </a:xfrm>
          <a:prstGeom prst="rect">
            <a:avLst/>
          </a:prstGeom>
          <a:noFill/>
        </p:spPr>
        <p:txBody>
          <a:bodyPr wrap="none" lIns="0" rIns="0" tIns="0" bIns="0">
            <a:spAutoFit/>
          </a:bodyPr>
          <a:lstStyle/>
          <a:p>
            <a:pPr algn="r"/>
            <a:r>
              <a:rPr sz="1200" b="0">
                <a:solidFill>
                  <a:srgbClr val="BCD2D0"/>
                </a:solidFill>
                <a:latin typeface="Noto Sans SC"/>
                <a:ea typeface="Noto Sans SC"/>
              </a:rPr>
              <a:t>0</a:t>
            </a:r>
          </a:p>
        </p:txBody>
      </p:sp>
      <p:sp>
        <p:nvSpPr>
          <p:cNvPr id="21" name="Rounded Rectangle 20"/>
          <p:cNvSpPr/>
          <p:nvPr/>
        </p:nvSpPr>
        <p:spPr>
          <a:xfrm>
            <a:off x="6921500" y="2330450"/>
            <a:ext cx="571500" cy="38100"/>
          </a:xfrm>
          <a:prstGeom prst="roundRect">
            <a:avLst>
              <a:gd name="adj" fmla="val 50000"/>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085965" y="2053336"/>
            <a:ext cx="242570" cy="274320"/>
          </a:xfrm>
          <a:prstGeom prst="rect">
            <a:avLst/>
          </a:prstGeom>
          <a:noFill/>
        </p:spPr>
        <p:txBody>
          <a:bodyPr wrap="none" lIns="0" rIns="0" tIns="0" bIns="0">
            <a:spAutoFit/>
          </a:bodyPr>
          <a:lstStyle/>
          <a:p>
            <a:pPr algn="ctr"/>
            <a:r>
              <a:rPr sz="1600" b="1">
                <a:solidFill>
                  <a:srgbClr val="D8BB78"/>
                </a:solidFill>
                <a:latin typeface="Noto Sans SC"/>
                <a:ea typeface="Noto Sans SC"/>
              </a:rPr>
              <a:t>0</a:t>
            </a:r>
          </a:p>
        </p:txBody>
      </p:sp>
      <p:sp>
        <p:nvSpPr>
          <p:cNvPr id="23" name="TextBox 22"/>
          <p:cNvSpPr txBox="1"/>
          <p:nvPr/>
        </p:nvSpPr>
        <p:spPr>
          <a:xfrm>
            <a:off x="6986270" y="4086098"/>
            <a:ext cx="441959" cy="222885"/>
          </a:xfrm>
          <a:prstGeom prst="rect">
            <a:avLst/>
          </a:prstGeom>
          <a:noFill/>
        </p:spPr>
        <p:txBody>
          <a:bodyPr wrap="none" lIns="0" rIns="0" tIns="0" bIns="0">
            <a:spAutoFit/>
          </a:bodyPr>
          <a:lstStyle/>
          <a:p>
            <a:pPr algn="ctr"/>
            <a:r>
              <a:rPr sz="1300" b="0">
                <a:solidFill>
                  <a:srgbClr val="BCD2D0"/>
                </a:solidFill>
                <a:latin typeface="Noto Sans SC"/>
                <a:ea typeface="Noto Sans SC"/>
              </a:rPr>
              <a:t>k = 0</a:t>
            </a:r>
          </a:p>
        </p:txBody>
      </p:sp>
      <p:sp>
        <p:nvSpPr>
          <p:cNvPr id="24" name="Rounded Rectangle 23"/>
          <p:cNvSpPr/>
          <p:nvPr/>
        </p:nvSpPr>
        <p:spPr>
          <a:xfrm>
            <a:off x="6832600" y="2032000"/>
            <a:ext cx="749300" cy="2349500"/>
          </a:xfrm>
          <a:prstGeom prst="roundRect">
            <a:avLst>
              <a:gd name="adj" fmla="val 10169"/>
            </a:avLst>
          </a:prstGeom>
          <a:noFill/>
          <a:ln w="19050">
            <a:solidFill>
              <a:srgbClr val="D8BB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7937500" y="2349500"/>
            <a:ext cx="571500" cy="914400"/>
          </a:xfrm>
          <a:prstGeom prst="roundRect">
            <a:avLst>
              <a:gd name="adj" fmla="val 6666"/>
            </a:avLst>
          </a:prstGeom>
          <a:solidFill>
            <a:srgbClr val="DB7B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063865" y="3310636"/>
            <a:ext cx="318770" cy="274320"/>
          </a:xfrm>
          <a:prstGeom prst="rect">
            <a:avLst/>
          </a:prstGeom>
          <a:noFill/>
        </p:spPr>
        <p:txBody>
          <a:bodyPr wrap="none" lIns="0" rIns="0" tIns="0" bIns="0">
            <a:spAutoFit/>
          </a:bodyPr>
          <a:lstStyle/>
          <a:p>
            <a:pPr algn="ctr"/>
            <a:r>
              <a:rPr sz="1600" b="1">
                <a:solidFill>
                  <a:srgbClr val="DB7B72"/>
                </a:solidFill>
                <a:latin typeface="Noto Sans SC"/>
                <a:ea typeface="Noto Sans SC"/>
              </a:rPr>
              <a:t>-8</a:t>
            </a:r>
          </a:p>
        </p:txBody>
      </p:sp>
      <p:sp>
        <p:nvSpPr>
          <p:cNvPr id="27" name="TextBox 26"/>
          <p:cNvSpPr txBox="1"/>
          <p:nvPr/>
        </p:nvSpPr>
        <p:spPr>
          <a:xfrm>
            <a:off x="8002270" y="4086098"/>
            <a:ext cx="441959" cy="222885"/>
          </a:xfrm>
          <a:prstGeom prst="rect">
            <a:avLst/>
          </a:prstGeom>
          <a:noFill/>
        </p:spPr>
        <p:txBody>
          <a:bodyPr wrap="none" lIns="0" rIns="0" tIns="0" bIns="0">
            <a:spAutoFit/>
          </a:bodyPr>
          <a:lstStyle/>
          <a:p>
            <a:pPr algn="ctr"/>
            <a:r>
              <a:rPr sz="1300" b="0">
                <a:solidFill>
                  <a:srgbClr val="BCD2D0"/>
                </a:solidFill>
                <a:latin typeface="Noto Sans SC"/>
                <a:ea typeface="Noto Sans SC"/>
              </a:rPr>
              <a:t>k = 1</a:t>
            </a:r>
          </a:p>
        </p:txBody>
      </p:sp>
      <p:sp>
        <p:nvSpPr>
          <p:cNvPr id="28" name="Rounded Rectangle 27"/>
          <p:cNvSpPr/>
          <p:nvPr/>
        </p:nvSpPr>
        <p:spPr>
          <a:xfrm>
            <a:off x="8953500" y="2349500"/>
            <a:ext cx="571500" cy="685800"/>
          </a:xfrm>
          <a:prstGeom prst="roundRect">
            <a:avLst>
              <a:gd name="adj" fmla="val 6666"/>
            </a:avLst>
          </a:prstGeom>
          <a:solidFill>
            <a:srgbClr val="DB7B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079865" y="3082036"/>
            <a:ext cx="318770" cy="274320"/>
          </a:xfrm>
          <a:prstGeom prst="rect">
            <a:avLst/>
          </a:prstGeom>
          <a:noFill/>
        </p:spPr>
        <p:txBody>
          <a:bodyPr wrap="none" lIns="0" rIns="0" tIns="0" bIns="0">
            <a:spAutoFit/>
          </a:bodyPr>
          <a:lstStyle/>
          <a:p>
            <a:pPr algn="ctr"/>
            <a:r>
              <a:rPr sz="1600" b="1">
                <a:solidFill>
                  <a:srgbClr val="DB7B72"/>
                </a:solidFill>
                <a:latin typeface="Noto Sans SC"/>
                <a:ea typeface="Noto Sans SC"/>
              </a:rPr>
              <a:t>-6</a:t>
            </a:r>
          </a:p>
        </p:txBody>
      </p:sp>
      <p:sp>
        <p:nvSpPr>
          <p:cNvPr id="30" name="TextBox 29"/>
          <p:cNvSpPr txBox="1"/>
          <p:nvPr/>
        </p:nvSpPr>
        <p:spPr>
          <a:xfrm>
            <a:off x="9018270" y="4086098"/>
            <a:ext cx="441959" cy="222885"/>
          </a:xfrm>
          <a:prstGeom prst="rect">
            <a:avLst/>
          </a:prstGeom>
          <a:noFill/>
        </p:spPr>
        <p:txBody>
          <a:bodyPr wrap="none" lIns="0" rIns="0" tIns="0" bIns="0">
            <a:spAutoFit/>
          </a:bodyPr>
          <a:lstStyle/>
          <a:p>
            <a:pPr algn="ctr"/>
            <a:r>
              <a:rPr sz="1300" b="0">
                <a:solidFill>
                  <a:srgbClr val="BCD2D0"/>
                </a:solidFill>
                <a:latin typeface="Noto Sans SC"/>
                <a:ea typeface="Noto Sans SC"/>
              </a:rPr>
              <a:t>k = 2</a:t>
            </a:r>
          </a:p>
        </p:txBody>
      </p:sp>
      <p:sp>
        <p:nvSpPr>
          <p:cNvPr id="31" name="Rounded Rectangle 30"/>
          <p:cNvSpPr/>
          <p:nvPr/>
        </p:nvSpPr>
        <p:spPr>
          <a:xfrm>
            <a:off x="6632575" y="4864100"/>
            <a:ext cx="3498850" cy="292100"/>
          </a:xfrm>
          <a:prstGeom prst="roundRect">
            <a:avLst>
              <a:gd name="adj" fmla="val 50000"/>
            </a:avLst>
          </a:prstGeom>
          <a:solidFill>
            <a:srgbClr val="0A2126"/>
          </a:solidFill>
          <a:ln w="12700">
            <a:solidFill>
              <a:srgbClr val="D8BB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678295" y="4924298"/>
            <a:ext cx="3407410" cy="222885"/>
          </a:xfrm>
          <a:prstGeom prst="rect">
            <a:avLst/>
          </a:prstGeom>
          <a:noFill/>
        </p:spPr>
        <p:txBody>
          <a:bodyPr wrap="none" lIns="0" rIns="0" tIns="0" bIns="0">
            <a:spAutoFit/>
          </a:bodyPr>
          <a:lstStyle/>
          <a:p>
            <a:pPr algn="ctr"/>
            <a:r>
              <a:rPr sz="1300" b="1">
                <a:solidFill>
                  <a:srgbClr val="D8BB78"/>
                </a:solidFill>
                <a:latin typeface="Noto Sans SC"/>
                <a:ea typeface="Noto Sans SC"/>
              </a:rPr>
              <a:t>The empty prefix k = 0 wins → stop, cut 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71C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2000" cy="38100"/>
          </a:xfrm>
          <a:prstGeom prst="rect">
            <a:avLst/>
          </a:prstGeom>
          <a:solidFill>
            <a:srgbClr val="77CDBB">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53720" y="450088"/>
            <a:ext cx="4956810" cy="480060"/>
          </a:xfrm>
          <a:prstGeom prst="rect">
            <a:avLst/>
          </a:prstGeom>
          <a:noFill/>
        </p:spPr>
        <p:txBody>
          <a:bodyPr wrap="none" lIns="0" rIns="0" tIns="0" bIns="0">
            <a:spAutoFit/>
          </a:bodyPr>
          <a:lstStyle/>
          <a:p>
            <a:pPr algn="l"/>
            <a:r>
              <a:rPr sz="2800" b="0">
                <a:solidFill>
                  <a:srgbClr val="F2F3E9"/>
                </a:solidFill>
                <a:latin typeface="Noto Sans SC"/>
                <a:ea typeface="Noto Sans SC"/>
              </a:rPr>
              <a:t>The pseudocode, line by line</a:t>
            </a:r>
          </a:p>
        </p:txBody>
      </p:sp>
      <p:sp>
        <p:nvSpPr>
          <p:cNvPr id="5" name="Rectangle 4"/>
          <p:cNvSpPr/>
          <p:nvPr/>
        </p:nvSpPr>
        <p:spPr>
          <a:xfrm>
            <a:off x="571500" y="965200"/>
            <a:ext cx="571500" cy="25400"/>
          </a:xfrm>
          <a:prstGeom prst="rect">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571500" y="6426200"/>
            <a:ext cx="11049000" cy="0"/>
          </a:xfrm>
          <a:prstGeom prst="line">
            <a:avLst/>
          </a:prstGeom>
          <a:ln w="12700">
            <a:solidFill>
              <a:srgbClr val="1D3D4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3880" y="6512052"/>
            <a:ext cx="2948940" cy="205740"/>
          </a:xfrm>
          <a:prstGeom prst="rect">
            <a:avLst/>
          </a:prstGeom>
          <a:noFill/>
        </p:spPr>
        <p:txBody>
          <a:bodyPr wrap="none" lIns="0" rIns="0" tIns="0" bIns="0">
            <a:spAutoFit/>
          </a:bodyPr>
          <a:lstStyle/>
          <a:p>
            <a:pPr algn="l"/>
            <a:r>
              <a:rPr sz="1200" b="0">
                <a:solidFill>
                  <a:srgbClr val="6F8F8F"/>
                </a:solidFill>
                <a:latin typeface="Noto Sans SC"/>
                <a:ea typeface="Noto Sans SC"/>
              </a:rPr>
              <a:t>Module 07 · Kernighan–Lin Refinement</a:t>
            </a:r>
          </a:p>
        </p:txBody>
      </p:sp>
      <p:sp>
        <p:nvSpPr>
          <p:cNvPr id="8" name="TextBox 7"/>
          <p:cNvSpPr txBox="1"/>
          <p:nvPr/>
        </p:nvSpPr>
        <p:spPr>
          <a:xfrm>
            <a:off x="11018520" y="6499098"/>
            <a:ext cx="651510" cy="222885"/>
          </a:xfrm>
          <a:prstGeom prst="rect">
            <a:avLst/>
          </a:prstGeom>
          <a:noFill/>
        </p:spPr>
        <p:txBody>
          <a:bodyPr wrap="none" lIns="0" rIns="0" tIns="0" bIns="0">
            <a:spAutoFit/>
          </a:bodyPr>
          <a:lstStyle/>
          <a:p>
            <a:pPr algn="r"/>
            <a:r>
              <a:rPr sz="1300" b="1">
                <a:solidFill>
                  <a:srgbClr val="BCD2D0"/>
                </a:solidFill>
                <a:latin typeface="Noto Sans SC"/>
                <a:ea typeface="Noto Sans SC"/>
              </a:rPr>
              <a:t>p11/14</a:t>
            </a:r>
          </a:p>
        </p:txBody>
      </p:sp>
      <p:sp>
        <p:nvSpPr>
          <p:cNvPr id="9" name="Oval 8"/>
          <p:cNvSpPr/>
          <p:nvPr/>
        </p:nvSpPr>
        <p:spPr>
          <a:xfrm>
            <a:off x="711200" y="15394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14400" y="1430782"/>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Lines 1 and 8: pass after pass, until the best prefix is empty</a:t>
            </a:r>
          </a:p>
        </p:txBody>
      </p:sp>
      <p:sp>
        <p:nvSpPr>
          <p:cNvPr id="11" name="Oval 10"/>
          <p:cNvSpPr/>
          <p:nvPr/>
        </p:nvSpPr>
        <p:spPr>
          <a:xfrm>
            <a:off x="711200" y="2284349"/>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14400" y="2175637"/>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Lines 3–5: take negative gains too; after a swap, lock and update D</a:t>
            </a:r>
          </a:p>
        </p:txBody>
      </p:sp>
      <p:sp>
        <p:nvSpPr>
          <p:cNvPr id="13" name="Oval 12"/>
          <p:cNvSpPr/>
          <p:nvPr/>
        </p:nvSpPr>
        <p:spPr>
          <a:xfrm>
            <a:off x="711200" y="302920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14400" y="2920492"/>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Lines 6–7: roll back to the start and apply only the best prefix</a:t>
            </a:r>
          </a:p>
        </p:txBody>
      </p:sp>
      <p:sp>
        <p:nvSpPr>
          <p:cNvPr id="15" name="Oval 14"/>
          <p:cNvSpPr/>
          <p:nvPr/>
        </p:nvSpPr>
        <p:spPr>
          <a:xfrm>
            <a:off x="711200" y="3774059"/>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14400" y="3665347"/>
            <a:ext cx="4718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Each node swaps at most once per pass</a:t>
            </a:r>
          </a:p>
        </p:txBody>
      </p:sp>
      <p:sp>
        <p:nvSpPr>
          <p:cNvPr id="17" name="Rounded Rectangle 16"/>
          <p:cNvSpPr/>
          <p:nvPr/>
        </p:nvSpPr>
        <p:spPr>
          <a:xfrm>
            <a:off x="5943600" y="1574800"/>
            <a:ext cx="5461000" cy="3530600"/>
          </a:xfrm>
          <a:prstGeom prst="roundRect">
            <a:avLst>
              <a:gd name="adj" fmla="val 2158"/>
            </a:avLst>
          </a:prstGeom>
          <a:solidFill>
            <a:srgbClr val="0A1C1F"/>
          </a:solidFill>
          <a:ln w="12700">
            <a:solidFill>
              <a:srgbClr val="24474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089015" y="1762506"/>
            <a:ext cx="160020" cy="188595"/>
          </a:xfrm>
          <a:prstGeom prst="rect">
            <a:avLst/>
          </a:prstGeom>
          <a:noFill/>
        </p:spPr>
        <p:txBody>
          <a:bodyPr wrap="none" lIns="0" rIns="0" tIns="0" bIns="0">
            <a:spAutoFit/>
          </a:bodyPr>
          <a:lstStyle/>
          <a:p>
            <a:pPr algn="l"/>
            <a:r>
              <a:rPr sz="1100" b="0">
                <a:solidFill>
                  <a:srgbClr val="6F8F8F"/>
                </a:solidFill>
                <a:latin typeface="Noto Sans SC"/>
                <a:ea typeface="Noto Sans SC"/>
              </a:rPr>
              <a:t>1</a:t>
            </a:r>
          </a:p>
        </p:txBody>
      </p:sp>
      <p:sp>
        <p:nvSpPr>
          <p:cNvPr id="19" name="TextBox 18"/>
          <p:cNvSpPr txBox="1"/>
          <p:nvPr/>
        </p:nvSpPr>
        <p:spPr>
          <a:xfrm>
            <a:off x="6379210" y="1723644"/>
            <a:ext cx="3281679" cy="240030"/>
          </a:xfrm>
          <a:prstGeom prst="rect">
            <a:avLst/>
          </a:prstGeom>
          <a:noFill/>
        </p:spPr>
        <p:txBody>
          <a:bodyPr wrap="none" lIns="0" rIns="0" tIns="0" bIns="0">
            <a:spAutoFit/>
          </a:bodyPr>
          <a:lstStyle/>
          <a:p>
            <a:pPr algn="l"/>
            <a:r>
              <a:rPr sz="1400" b="0">
                <a:solidFill>
                  <a:srgbClr val="DFEADF"/>
                </a:solidFill>
                <a:latin typeface="Noto Sans SC"/>
                <a:ea typeface="Noto Sans SC"/>
              </a:rPr>
              <a:t>repeat:                      # one pass each time</a:t>
            </a:r>
          </a:p>
        </p:txBody>
      </p:sp>
      <p:sp>
        <p:nvSpPr>
          <p:cNvPr id="20" name="TextBox 19"/>
          <p:cNvSpPr txBox="1"/>
          <p:nvPr/>
        </p:nvSpPr>
        <p:spPr>
          <a:xfrm>
            <a:off x="6089015" y="2168906"/>
            <a:ext cx="160020" cy="188595"/>
          </a:xfrm>
          <a:prstGeom prst="rect">
            <a:avLst/>
          </a:prstGeom>
          <a:noFill/>
        </p:spPr>
        <p:txBody>
          <a:bodyPr wrap="none" lIns="0" rIns="0" tIns="0" bIns="0">
            <a:spAutoFit/>
          </a:bodyPr>
          <a:lstStyle/>
          <a:p>
            <a:pPr algn="l"/>
            <a:r>
              <a:rPr sz="1100" b="0">
                <a:solidFill>
                  <a:srgbClr val="6F8F8F"/>
                </a:solidFill>
                <a:latin typeface="Noto Sans SC"/>
                <a:ea typeface="Noto Sans SC"/>
              </a:rPr>
              <a:t>2</a:t>
            </a:r>
          </a:p>
        </p:txBody>
      </p:sp>
      <p:sp>
        <p:nvSpPr>
          <p:cNvPr id="21" name="TextBox 20"/>
          <p:cNvSpPr txBox="1"/>
          <p:nvPr/>
        </p:nvSpPr>
        <p:spPr>
          <a:xfrm>
            <a:off x="6379210" y="2130044"/>
            <a:ext cx="3484879" cy="240030"/>
          </a:xfrm>
          <a:prstGeom prst="rect">
            <a:avLst/>
          </a:prstGeom>
          <a:noFill/>
        </p:spPr>
        <p:txBody>
          <a:bodyPr wrap="none" lIns="0" rIns="0" tIns="0" bIns="0">
            <a:spAutoFit/>
          </a:bodyPr>
          <a:lstStyle/>
          <a:p>
            <a:pPr algn="l"/>
            <a:r>
              <a:rPr sz="1400" b="0">
                <a:solidFill>
                  <a:srgbClr val="DFEADF"/>
                </a:solidFill>
                <a:latin typeface="Noto Sans SC"/>
                <a:ea typeface="Noto Sans SC"/>
              </a:rPr>
              <a:t>  start from the current split, all unlocked</a:t>
            </a:r>
          </a:p>
        </p:txBody>
      </p:sp>
      <p:sp>
        <p:nvSpPr>
          <p:cNvPr id="22" name="TextBox 21"/>
          <p:cNvSpPr txBox="1"/>
          <p:nvPr/>
        </p:nvSpPr>
        <p:spPr>
          <a:xfrm>
            <a:off x="6089015" y="2575306"/>
            <a:ext cx="160020" cy="188595"/>
          </a:xfrm>
          <a:prstGeom prst="rect">
            <a:avLst/>
          </a:prstGeom>
          <a:noFill/>
        </p:spPr>
        <p:txBody>
          <a:bodyPr wrap="none" lIns="0" rIns="0" tIns="0" bIns="0">
            <a:spAutoFit/>
          </a:bodyPr>
          <a:lstStyle/>
          <a:p>
            <a:pPr algn="l"/>
            <a:r>
              <a:rPr sz="1100" b="0">
                <a:solidFill>
                  <a:srgbClr val="6F8F8F"/>
                </a:solidFill>
                <a:latin typeface="Noto Sans SC"/>
                <a:ea typeface="Noto Sans SC"/>
              </a:rPr>
              <a:t>3</a:t>
            </a:r>
          </a:p>
        </p:txBody>
      </p:sp>
      <p:sp>
        <p:nvSpPr>
          <p:cNvPr id="23" name="TextBox 22"/>
          <p:cNvSpPr txBox="1"/>
          <p:nvPr/>
        </p:nvSpPr>
        <p:spPr>
          <a:xfrm>
            <a:off x="6379210" y="2536444"/>
            <a:ext cx="3376929" cy="240030"/>
          </a:xfrm>
          <a:prstGeom prst="rect">
            <a:avLst/>
          </a:prstGeom>
          <a:noFill/>
        </p:spPr>
        <p:txBody>
          <a:bodyPr wrap="none" lIns="0" rIns="0" tIns="0" bIns="0">
            <a:spAutoFit/>
          </a:bodyPr>
          <a:lstStyle/>
          <a:p>
            <a:pPr algn="l"/>
            <a:r>
              <a:rPr sz="1400" b="0">
                <a:solidFill>
                  <a:srgbClr val="DFEADF"/>
                </a:solidFill>
                <a:latin typeface="Noto Sans SC"/>
                <a:ea typeface="Noto Sans SC"/>
              </a:rPr>
              <a:t>  while both sides have unlocked nodes:</a:t>
            </a:r>
          </a:p>
        </p:txBody>
      </p:sp>
      <p:sp>
        <p:nvSpPr>
          <p:cNvPr id="24" name="Rectangle 23"/>
          <p:cNvSpPr/>
          <p:nvPr/>
        </p:nvSpPr>
        <p:spPr>
          <a:xfrm>
            <a:off x="5943600" y="2908300"/>
            <a:ext cx="5461000" cy="393700"/>
          </a:xfrm>
          <a:prstGeom prst="rect">
            <a:avLst/>
          </a:prstGeom>
          <a:solidFill>
            <a:srgbClr val="2A3D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5943600" y="2908300"/>
            <a:ext cx="38100" cy="393700"/>
          </a:xfrm>
          <a:prstGeom prst="rect">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089015" y="2981706"/>
            <a:ext cx="160020" cy="188595"/>
          </a:xfrm>
          <a:prstGeom prst="rect">
            <a:avLst/>
          </a:prstGeom>
          <a:noFill/>
        </p:spPr>
        <p:txBody>
          <a:bodyPr wrap="none" lIns="0" rIns="0" tIns="0" bIns="0">
            <a:spAutoFit/>
          </a:bodyPr>
          <a:lstStyle/>
          <a:p>
            <a:pPr algn="l"/>
            <a:r>
              <a:rPr sz="1100" b="0">
                <a:solidFill>
                  <a:srgbClr val="6F8F8F"/>
                </a:solidFill>
                <a:latin typeface="Noto Sans SC"/>
                <a:ea typeface="Noto Sans SC"/>
              </a:rPr>
              <a:t>4</a:t>
            </a:r>
          </a:p>
        </p:txBody>
      </p:sp>
      <p:sp>
        <p:nvSpPr>
          <p:cNvPr id="27" name="TextBox 26"/>
          <p:cNvSpPr txBox="1"/>
          <p:nvPr/>
        </p:nvSpPr>
        <p:spPr>
          <a:xfrm>
            <a:off x="6379210" y="2942844"/>
            <a:ext cx="3656329" cy="240030"/>
          </a:xfrm>
          <a:prstGeom prst="rect">
            <a:avLst/>
          </a:prstGeom>
          <a:noFill/>
        </p:spPr>
        <p:txBody>
          <a:bodyPr wrap="none" lIns="0" rIns="0" tIns="0" bIns="0">
            <a:spAutoFit/>
          </a:bodyPr>
          <a:lstStyle/>
          <a:p>
            <a:pPr algn="l"/>
            <a:r>
              <a:rPr sz="1400" b="0">
                <a:solidFill>
                  <a:srgbClr val="D8BB78"/>
                </a:solidFill>
                <a:latin typeface="Noto Sans SC"/>
                <a:ea typeface="Noto Sans SC"/>
              </a:rPr>
              <a:t>    pick the unlocked (a, b) with the largest g</a:t>
            </a:r>
          </a:p>
        </p:txBody>
      </p:sp>
      <p:sp>
        <p:nvSpPr>
          <p:cNvPr id="28" name="Rectangle 27"/>
          <p:cNvSpPr/>
          <p:nvPr/>
        </p:nvSpPr>
        <p:spPr>
          <a:xfrm>
            <a:off x="5943600" y="3314700"/>
            <a:ext cx="5461000" cy="393700"/>
          </a:xfrm>
          <a:prstGeom prst="rect">
            <a:avLst/>
          </a:prstGeom>
          <a:solidFill>
            <a:srgbClr val="2A3D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5943600" y="3314700"/>
            <a:ext cx="38100" cy="393700"/>
          </a:xfrm>
          <a:prstGeom prst="rect">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089015" y="3388105"/>
            <a:ext cx="160020" cy="188595"/>
          </a:xfrm>
          <a:prstGeom prst="rect">
            <a:avLst/>
          </a:prstGeom>
          <a:noFill/>
        </p:spPr>
        <p:txBody>
          <a:bodyPr wrap="none" lIns="0" rIns="0" tIns="0" bIns="0">
            <a:spAutoFit/>
          </a:bodyPr>
          <a:lstStyle/>
          <a:p>
            <a:pPr algn="l"/>
            <a:r>
              <a:rPr sz="1100" b="0">
                <a:solidFill>
                  <a:srgbClr val="6F8F8F"/>
                </a:solidFill>
                <a:latin typeface="Noto Sans SC"/>
                <a:ea typeface="Noto Sans SC"/>
              </a:rPr>
              <a:t>5</a:t>
            </a:r>
          </a:p>
        </p:txBody>
      </p:sp>
      <p:sp>
        <p:nvSpPr>
          <p:cNvPr id="31" name="TextBox 30"/>
          <p:cNvSpPr txBox="1"/>
          <p:nvPr/>
        </p:nvSpPr>
        <p:spPr>
          <a:xfrm>
            <a:off x="6379210" y="3349244"/>
            <a:ext cx="2938780" cy="240030"/>
          </a:xfrm>
          <a:prstGeom prst="rect">
            <a:avLst/>
          </a:prstGeom>
          <a:noFill/>
        </p:spPr>
        <p:txBody>
          <a:bodyPr wrap="none" lIns="0" rIns="0" tIns="0" bIns="0">
            <a:spAutoFit/>
          </a:bodyPr>
          <a:lstStyle/>
          <a:p>
            <a:pPr algn="l"/>
            <a:r>
              <a:rPr sz="1400" b="0">
                <a:solidFill>
                  <a:srgbClr val="D8BB78"/>
                </a:solidFill>
                <a:latin typeface="Noto Sans SC"/>
                <a:ea typeface="Noto Sans SC"/>
              </a:rPr>
              <a:t>    swap a, b (a trial), lock, update D</a:t>
            </a:r>
          </a:p>
        </p:txBody>
      </p:sp>
      <p:sp>
        <p:nvSpPr>
          <p:cNvPr id="32" name="TextBox 31"/>
          <p:cNvSpPr txBox="1"/>
          <p:nvPr/>
        </p:nvSpPr>
        <p:spPr>
          <a:xfrm>
            <a:off x="6089015" y="3794505"/>
            <a:ext cx="160020" cy="188595"/>
          </a:xfrm>
          <a:prstGeom prst="rect">
            <a:avLst/>
          </a:prstGeom>
          <a:noFill/>
        </p:spPr>
        <p:txBody>
          <a:bodyPr wrap="none" lIns="0" rIns="0" tIns="0" bIns="0">
            <a:spAutoFit/>
          </a:bodyPr>
          <a:lstStyle/>
          <a:p>
            <a:pPr algn="l"/>
            <a:r>
              <a:rPr sz="1100" b="0">
                <a:solidFill>
                  <a:srgbClr val="6F8F8F"/>
                </a:solidFill>
                <a:latin typeface="Noto Sans SC"/>
                <a:ea typeface="Noto Sans SC"/>
              </a:rPr>
              <a:t>6</a:t>
            </a:r>
          </a:p>
        </p:txBody>
      </p:sp>
      <p:sp>
        <p:nvSpPr>
          <p:cNvPr id="33" name="TextBox 32"/>
          <p:cNvSpPr txBox="1"/>
          <p:nvPr/>
        </p:nvSpPr>
        <p:spPr>
          <a:xfrm>
            <a:off x="6379210" y="3755644"/>
            <a:ext cx="4519930" cy="240030"/>
          </a:xfrm>
          <a:prstGeom prst="rect">
            <a:avLst/>
          </a:prstGeom>
          <a:noFill/>
        </p:spPr>
        <p:txBody>
          <a:bodyPr wrap="none" lIns="0" rIns="0" tIns="0" bIns="0">
            <a:spAutoFit/>
          </a:bodyPr>
          <a:lstStyle/>
          <a:p>
            <a:pPr algn="l"/>
            <a:r>
              <a:rPr sz="1400" b="0">
                <a:solidFill>
                  <a:srgbClr val="DFEADF"/>
                </a:solidFill>
                <a:latin typeface="Noto Sans SC"/>
                <a:ea typeface="Noto Sans SC"/>
              </a:rPr>
              <a:t>  take the prefix k with the largest total (k = 0 allowed)</a:t>
            </a:r>
          </a:p>
        </p:txBody>
      </p:sp>
      <p:sp>
        <p:nvSpPr>
          <p:cNvPr id="34" name="TextBox 33"/>
          <p:cNvSpPr txBox="1"/>
          <p:nvPr/>
        </p:nvSpPr>
        <p:spPr>
          <a:xfrm>
            <a:off x="6089015" y="4200906"/>
            <a:ext cx="160020" cy="188595"/>
          </a:xfrm>
          <a:prstGeom prst="rect">
            <a:avLst/>
          </a:prstGeom>
          <a:noFill/>
        </p:spPr>
        <p:txBody>
          <a:bodyPr wrap="none" lIns="0" rIns="0" tIns="0" bIns="0">
            <a:spAutoFit/>
          </a:bodyPr>
          <a:lstStyle/>
          <a:p>
            <a:pPr algn="l"/>
            <a:r>
              <a:rPr sz="1100" b="0">
                <a:solidFill>
                  <a:srgbClr val="6F8F8F"/>
                </a:solidFill>
                <a:latin typeface="Noto Sans SC"/>
                <a:ea typeface="Noto Sans SC"/>
              </a:rPr>
              <a:t>7</a:t>
            </a:r>
          </a:p>
        </p:txBody>
      </p:sp>
      <p:sp>
        <p:nvSpPr>
          <p:cNvPr id="35" name="TextBox 34"/>
          <p:cNvSpPr txBox="1"/>
          <p:nvPr/>
        </p:nvSpPr>
        <p:spPr>
          <a:xfrm>
            <a:off x="6379210" y="4162044"/>
            <a:ext cx="3465829" cy="240030"/>
          </a:xfrm>
          <a:prstGeom prst="rect">
            <a:avLst/>
          </a:prstGeom>
          <a:noFill/>
        </p:spPr>
        <p:txBody>
          <a:bodyPr wrap="none" lIns="0" rIns="0" tIns="0" bIns="0">
            <a:spAutoFit/>
          </a:bodyPr>
          <a:lstStyle/>
          <a:p>
            <a:pPr algn="l"/>
            <a:r>
              <a:rPr sz="1400" b="0">
                <a:solidFill>
                  <a:srgbClr val="DFEADF"/>
                </a:solidFill>
                <a:latin typeface="Noto Sans SC"/>
                <a:ea typeface="Noto Sans SC"/>
              </a:rPr>
              <a:t>  from the pass start apply only the first k</a:t>
            </a:r>
          </a:p>
        </p:txBody>
      </p:sp>
      <p:sp>
        <p:nvSpPr>
          <p:cNvPr id="36" name="TextBox 35"/>
          <p:cNvSpPr txBox="1"/>
          <p:nvPr/>
        </p:nvSpPr>
        <p:spPr>
          <a:xfrm>
            <a:off x="6089015" y="4607306"/>
            <a:ext cx="160020" cy="188595"/>
          </a:xfrm>
          <a:prstGeom prst="rect">
            <a:avLst/>
          </a:prstGeom>
          <a:noFill/>
        </p:spPr>
        <p:txBody>
          <a:bodyPr wrap="none" lIns="0" rIns="0" tIns="0" bIns="0">
            <a:spAutoFit/>
          </a:bodyPr>
          <a:lstStyle/>
          <a:p>
            <a:pPr algn="l"/>
            <a:r>
              <a:rPr sz="1100" b="0">
                <a:solidFill>
                  <a:srgbClr val="6F8F8F"/>
                </a:solidFill>
                <a:latin typeface="Noto Sans SC"/>
                <a:ea typeface="Noto Sans SC"/>
              </a:rPr>
              <a:t>8</a:t>
            </a:r>
          </a:p>
        </p:txBody>
      </p:sp>
      <p:sp>
        <p:nvSpPr>
          <p:cNvPr id="37" name="TextBox 36"/>
          <p:cNvSpPr txBox="1"/>
          <p:nvPr/>
        </p:nvSpPr>
        <p:spPr>
          <a:xfrm>
            <a:off x="6379210" y="4568444"/>
            <a:ext cx="906780" cy="240030"/>
          </a:xfrm>
          <a:prstGeom prst="rect">
            <a:avLst/>
          </a:prstGeom>
          <a:noFill/>
        </p:spPr>
        <p:txBody>
          <a:bodyPr wrap="none" lIns="0" rIns="0" tIns="0" bIns="0">
            <a:spAutoFit/>
          </a:bodyPr>
          <a:lstStyle/>
          <a:p>
            <a:pPr algn="l"/>
            <a:r>
              <a:rPr sz="1400" b="0">
                <a:solidFill>
                  <a:srgbClr val="DFEADF"/>
                </a:solidFill>
                <a:latin typeface="Noto Sans SC"/>
                <a:ea typeface="Noto Sans SC"/>
              </a:rPr>
              <a:t>until k = 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71C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2000" cy="38100"/>
          </a:xfrm>
          <a:prstGeom prst="rect">
            <a:avLst/>
          </a:prstGeom>
          <a:solidFill>
            <a:srgbClr val="77CDBB">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53720" y="450088"/>
            <a:ext cx="3318510" cy="480060"/>
          </a:xfrm>
          <a:prstGeom prst="rect">
            <a:avLst/>
          </a:prstGeom>
          <a:noFill/>
        </p:spPr>
        <p:txBody>
          <a:bodyPr wrap="none" lIns="0" rIns="0" tIns="0" bIns="0">
            <a:spAutoFit/>
          </a:bodyPr>
          <a:lstStyle/>
          <a:p>
            <a:pPr algn="l"/>
            <a:r>
              <a:rPr sz="2800" b="0">
                <a:solidFill>
                  <a:srgbClr val="F2F3E9"/>
                </a:solidFill>
                <a:latin typeface="Noto Sans SC"/>
                <a:ea typeface="Noto Sans SC"/>
              </a:rPr>
              <a:t>Common mistakes</a:t>
            </a:r>
          </a:p>
        </p:txBody>
      </p:sp>
      <p:sp>
        <p:nvSpPr>
          <p:cNvPr id="5" name="Rectangle 4"/>
          <p:cNvSpPr/>
          <p:nvPr/>
        </p:nvSpPr>
        <p:spPr>
          <a:xfrm>
            <a:off x="571500" y="965200"/>
            <a:ext cx="571500" cy="25400"/>
          </a:xfrm>
          <a:prstGeom prst="rect">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571500" y="6426200"/>
            <a:ext cx="11049000" cy="0"/>
          </a:xfrm>
          <a:prstGeom prst="line">
            <a:avLst/>
          </a:prstGeom>
          <a:ln w="12700">
            <a:solidFill>
              <a:srgbClr val="1D3D4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3880" y="6512052"/>
            <a:ext cx="2948940" cy="205740"/>
          </a:xfrm>
          <a:prstGeom prst="rect">
            <a:avLst/>
          </a:prstGeom>
          <a:noFill/>
        </p:spPr>
        <p:txBody>
          <a:bodyPr wrap="none" lIns="0" rIns="0" tIns="0" bIns="0">
            <a:spAutoFit/>
          </a:bodyPr>
          <a:lstStyle/>
          <a:p>
            <a:pPr algn="l"/>
            <a:r>
              <a:rPr sz="1200" b="0">
                <a:solidFill>
                  <a:srgbClr val="6F8F8F"/>
                </a:solidFill>
                <a:latin typeface="Noto Sans SC"/>
                <a:ea typeface="Noto Sans SC"/>
              </a:rPr>
              <a:t>Module 07 · Kernighan–Lin Refinement</a:t>
            </a:r>
          </a:p>
        </p:txBody>
      </p:sp>
      <p:sp>
        <p:nvSpPr>
          <p:cNvPr id="8" name="TextBox 7"/>
          <p:cNvSpPr txBox="1"/>
          <p:nvPr/>
        </p:nvSpPr>
        <p:spPr>
          <a:xfrm>
            <a:off x="11018520" y="6499098"/>
            <a:ext cx="651510" cy="222885"/>
          </a:xfrm>
          <a:prstGeom prst="rect">
            <a:avLst/>
          </a:prstGeom>
          <a:noFill/>
        </p:spPr>
        <p:txBody>
          <a:bodyPr wrap="none" lIns="0" rIns="0" tIns="0" bIns="0">
            <a:spAutoFit/>
          </a:bodyPr>
          <a:lstStyle/>
          <a:p>
            <a:pPr algn="r"/>
            <a:r>
              <a:rPr sz="1300" b="1">
                <a:solidFill>
                  <a:srgbClr val="BCD2D0"/>
                </a:solidFill>
                <a:latin typeface="Noto Sans SC"/>
                <a:ea typeface="Noto Sans SC"/>
              </a:rPr>
              <a:t>p12/14</a:t>
            </a:r>
          </a:p>
        </p:txBody>
      </p:sp>
      <p:sp>
        <p:nvSpPr>
          <p:cNvPr id="9" name="Oval 8"/>
          <p:cNvSpPr/>
          <p:nvPr/>
        </p:nvSpPr>
        <p:spPr>
          <a:xfrm>
            <a:off x="711200" y="15394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14400" y="1430782"/>
            <a:ext cx="10433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Forgetting −2w: computing g(E,D) as +9 and thinking E↔D pays</a:t>
            </a:r>
          </a:p>
        </p:txBody>
      </p:sp>
      <p:sp>
        <p:nvSpPr>
          <p:cNvPr id="11" name="Oval 10"/>
          <p:cNvSpPr/>
          <p:nvPr/>
        </p:nvSpPr>
        <p:spPr>
          <a:xfrm>
            <a:off x="711200" y="19712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14400" y="1862582"/>
            <a:ext cx="10433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Stopping at a negative gain: ending pass 1 after cut 3, without seeing every prefix</a:t>
            </a:r>
          </a:p>
        </p:txBody>
      </p:sp>
      <p:sp>
        <p:nvSpPr>
          <p:cNvPr id="13" name="Oval 12"/>
          <p:cNvSpPr/>
          <p:nvPr/>
        </p:nvSpPr>
        <p:spPr>
          <a:xfrm>
            <a:off x="711200" y="24030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14400" y="2294382"/>
            <a:ext cx="10433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Taking "any positive steps" as the prefix: a prefix is consecutive from step 1</a:t>
            </a:r>
          </a:p>
        </p:txBody>
      </p:sp>
      <p:sp>
        <p:nvSpPr>
          <p:cNvPr id="15" name="Oval 14"/>
          <p:cNvSpPr/>
          <p:nvPr/>
        </p:nvSpPr>
        <p:spPr>
          <a:xfrm>
            <a:off x="711200" y="28348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14400" y="2726182"/>
            <a:ext cx="10433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Reporting the trial state: cut 11 instead of the rolled-back 3</a:t>
            </a:r>
          </a:p>
        </p:txBody>
      </p:sp>
      <p:sp>
        <p:nvSpPr>
          <p:cNvPr id="17" name="Oval 16"/>
          <p:cNvSpPr/>
          <p:nvPr/>
        </p:nvSpPr>
        <p:spPr>
          <a:xfrm>
            <a:off x="711200" y="32666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14400" y="3157982"/>
            <a:ext cx="10433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Thinking count balance is area balance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71C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2000" cy="38100"/>
          </a:xfrm>
          <a:prstGeom prst="rect">
            <a:avLst/>
          </a:prstGeom>
          <a:solidFill>
            <a:srgbClr val="77CDBB">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53720" y="450088"/>
            <a:ext cx="2969260" cy="480060"/>
          </a:xfrm>
          <a:prstGeom prst="rect">
            <a:avLst/>
          </a:prstGeom>
          <a:noFill/>
        </p:spPr>
        <p:txBody>
          <a:bodyPr wrap="none" lIns="0" rIns="0" tIns="0" bIns="0">
            <a:spAutoFit/>
          </a:bodyPr>
          <a:lstStyle/>
          <a:p>
            <a:pPr algn="l"/>
            <a:r>
              <a:rPr sz="2800" b="0">
                <a:solidFill>
                  <a:srgbClr val="F2F3E9"/>
                </a:solidFill>
                <a:latin typeface="Noto Sans SC"/>
                <a:ea typeface="Noto Sans SC"/>
              </a:rPr>
              <a:t>Scope and limits</a:t>
            </a:r>
          </a:p>
        </p:txBody>
      </p:sp>
      <p:sp>
        <p:nvSpPr>
          <p:cNvPr id="5" name="Rectangle 4"/>
          <p:cNvSpPr/>
          <p:nvPr/>
        </p:nvSpPr>
        <p:spPr>
          <a:xfrm>
            <a:off x="571500" y="965200"/>
            <a:ext cx="571500" cy="25400"/>
          </a:xfrm>
          <a:prstGeom prst="rect">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571500" y="6426200"/>
            <a:ext cx="11049000" cy="0"/>
          </a:xfrm>
          <a:prstGeom prst="line">
            <a:avLst/>
          </a:prstGeom>
          <a:ln w="12700">
            <a:solidFill>
              <a:srgbClr val="1D3D4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3880" y="6512052"/>
            <a:ext cx="2948940" cy="205740"/>
          </a:xfrm>
          <a:prstGeom prst="rect">
            <a:avLst/>
          </a:prstGeom>
          <a:noFill/>
        </p:spPr>
        <p:txBody>
          <a:bodyPr wrap="none" lIns="0" rIns="0" tIns="0" bIns="0">
            <a:spAutoFit/>
          </a:bodyPr>
          <a:lstStyle/>
          <a:p>
            <a:pPr algn="l"/>
            <a:r>
              <a:rPr sz="1200" b="0">
                <a:solidFill>
                  <a:srgbClr val="6F8F8F"/>
                </a:solidFill>
                <a:latin typeface="Noto Sans SC"/>
                <a:ea typeface="Noto Sans SC"/>
              </a:rPr>
              <a:t>Module 07 · Kernighan–Lin Refinement</a:t>
            </a:r>
          </a:p>
        </p:txBody>
      </p:sp>
      <p:sp>
        <p:nvSpPr>
          <p:cNvPr id="8" name="TextBox 7"/>
          <p:cNvSpPr txBox="1"/>
          <p:nvPr/>
        </p:nvSpPr>
        <p:spPr>
          <a:xfrm>
            <a:off x="11018520" y="6499098"/>
            <a:ext cx="651510" cy="222885"/>
          </a:xfrm>
          <a:prstGeom prst="rect">
            <a:avLst/>
          </a:prstGeom>
          <a:noFill/>
        </p:spPr>
        <p:txBody>
          <a:bodyPr wrap="none" lIns="0" rIns="0" tIns="0" bIns="0">
            <a:spAutoFit/>
          </a:bodyPr>
          <a:lstStyle/>
          <a:p>
            <a:pPr algn="r"/>
            <a:r>
              <a:rPr sz="1300" b="1">
                <a:solidFill>
                  <a:srgbClr val="BCD2D0"/>
                </a:solidFill>
                <a:latin typeface="Noto Sans SC"/>
                <a:ea typeface="Noto Sans SC"/>
              </a:rPr>
              <a:t>p13/14</a:t>
            </a:r>
          </a:p>
        </p:txBody>
      </p:sp>
      <p:sp>
        <p:nvSpPr>
          <p:cNvPr id="9" name="Oval 8"/>
          <p:cNvSpPr/>
          <p:nvPr/>
        </p:nvSpPr>
        <p:spPr>
          <a:xfrm>
            <a:off x="711200" y="15394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14400" y="1430782"/>
            <a:ext cx="10433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KL is a heuristic: cut 3 on this graph does not mean it finds the global optimum in general</a:t>
            </a:r>
          </a:p>
        </p:txBody>
      </p:sp>
      <p:sp>
        <p:nvSpPr>
          <p:cNvPr id="11" name="Oval 10"/>
          <p:cNvSpPr/>
          <p:nvPr/>
        </p:nvSpPr>
        <p:spPr>
          <a:xfrm>
            <a:off x="711200" y="19712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14400" y="1862582"/>
            <a:ext cx="10433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The result depends on the initial grouping: compare methods from the same seed</a:t>
            </a:r>
          </a:p>
        </p:txBody>
      </p:sp>
      <p:sp>
        <p:nvSpPr>
          <p:cNvPr id="13" name="Oval 12"/>
          <p:cNvSpPr/>
          <p:nvPr/>
        </p:nvSpPr>
        <p:spPr>
          <a:xfrm>
            <a:off x="711200" y="24030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14400" y="2294382"/>
            <a:ext cx="10433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Each step scans every cross pair: about O(n</a:t>
            </a:r>
            <a:r>
              <a:rPr sz="1700" b="0" baseline="30000">
                <a:solidFill>
                  <a:srgbClr val="F2F3E9"/>
                </a:solidFill>
                <a:latin typeface="Noto Sans SC"/>
                <a:ea typeface="Noto Sans SC"/>
              </a:rPr>
              <a:t>2</a:t>
            </a:r>
            <a:r>
              <a:rPr sz="1700" b="0">
                <a:solidFill>
                  <a:srgbClr val="F2F3E9"/>
                </a:solidFill>
                <a:latin typeface="Noto Sans SC"/>
                <a:ea typeface="Noto Sans SC"/>
              </a:rPr>
              <a:t>) per step, naively</a:t>
            </a:r>
          </a:p>
        </p:txBody>
      </p:sp>
      <p:sp>
        <p:nvSpPr>
          <p:cNvPr id="15" name="Oval 14"/>
          <p:cNvSpPr/>
          <p:nvPr/>
        </p:nvSpPr>
        <p:spPr>
          <a:xfrm>
            <a:off x="711200" y="28348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14400" y="2726182"/>
            <a:ext cx="10433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It keeps only the node count per side; different cell areas need their own constraint</a:t>
            </a:r>
          </a:p>
        </p:txBody>
      </p:sp>
      <p:sp>
        <p:nvSpPr>
          <p:cNvPr id="17" name="Oval 16"/>
          <p:cNvSpPr/>
          <p:nvPr/>
        </p:nvSpPr>
        <p:spPr>
          <a:xfrm>
            <a:off x="711200" y="32666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14400" y="3157982"/>
            <a:ext cx="10433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In EDA it is often the local-improvement step of partitioning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71C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2000" cy="38100"/>
          </a:xfrm>
          <a:prstGeom prst="rect">
            <a:avLst/>
          </a:prstGeom>
          <a:solidFill>
            <a:srgbClr val="77CDBB">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53720" y="450088"/>
            <a:ext cx="1826260" cy="480060"/>
          </a:xfrm>
          <a:prstGeom prst="rect">
            <a:avLst/>
          </a:prstGeom>
          <a:noFill/>
        </p:spPr>
        <p:txBody>
          <a:bodyPr wrap="none" lIns="0" rIns="0" tIns="0" bIns="0">
            <a:spAutoFit/>
          </a:bodyPr>
          <a:lstStyle/>
          <a:p>
            <a:pPr algn="l"/>
            <a:r>
              <a:rPr sz="2800" b="0">
                <a:solidFill>
                  <a:srgbClr val="F2F3E9"/>
                </a:solidFill>
                <a:latin typeface="Noto Sans SC"/>
                <a:ea typeface="Noto Sans SC"/>
              </a:rPr>
              <a:t>Summary</a:t>
            </a:r>
          </a:p>
        </p:txBody>
      </p:sp>
      <p:sp>
        <p:nvSpPr>
          <p:cNvPr id="5" name="Rectangle 4"/>
          <p:cNvSpPr/>
          <p:nvPr/>
        </p:nvSpPr>
        <p:spPr>
          <a:xfrm>
            <a:off x="571500" y="965200"/>
            <a:ext cx="571500" cy="25400"/>
          </a:xfrm>
          <a:prstGeom prst="rect">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571500" y="6426200"/>
            <a:ext cx="11049000" cy="0"/>
          </a:xfrm>
          <a:prstGeom prst="line">
            <a:avLst/>
          </a:prstGeom>
          <a:ln w="12700">
            <a:solidFill>
              <a:srgbClr val="1D3D4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3880" y="6512052"/>
            <a:ext cx="2948940" cy="205740"/>
          </a:xfrm>
          <a:prstGeom prst="rect">
            <a:avLst/>
          </a:prstGeom>
          <a:noFill/>
        </p:spPr>
        <p:txBody>
          <a:bodyPr wrap="none" lIns="0" rIns="0" tIns="0" bIns="0">
            <a:spAutoFit/>
          </a:bodyPr>
          <a:lstStyle/>
          <a:p>
            <a:pPr algn="l"/>
            <a:r>
              <a:rPr sz="1200" b="0">
                <a:solidFill>
                  <a:srgbClr val="6F8F8F"/>
                </a:solidFill>
                <a:latin typeface="Noto Sans SC"/>
                <a:ea typeface="Noto Sans SC"/>
              </a:rPr>
              <a:t>Module 07 · Kernighan–Lin Refinement</a:t>
            </a:r>
          </a:p>
        </p:txBody>
      </p:sp>
      <p:sp>
        <p:nvSpPr>
          <p:cNvPr id="8" name="TextBox 7"/>
          <p:cNvSpPr txBox="1"/>
          <p:nvPr/>
        </p:nvSpPr>
        <p:spPr>
          <a:xfrm>
            <a:off x="11018520" y="6499098"/>
            <a:ext cx="651510" cy="222885"/>
          </a:xfrm>
          <a:prstGeom prst="rect">
            <a:avLst/>
          </a:prstGeom>
          <a:noFill/>
        </p:spPr>
        <p:txBody>
          <a:bodyPr wrap="none" lIns="0" rIns="0" tIns="0" bIns="0">
            <a:spAutoFit/>
          </a:bodyPr>
          <a:lstStyle/>
          <a:p>
            <a:pPr algn="r"/>
            <a:r>
              <a:rPr sz="1300" b="1">
                <a:solidFill>
                  <a:srgbClr val="BCD2D0"/>
                </a:solidFill>
                <a:latin typeface="Noto Sans SC"/>
                <a:ea typeface="Noto Sans SC"/>
              </a:rPr>
              <a:t>p14/14</a:t>
            </a:r>
          </a:p>
        </p:txBody>
      </p:sp>
      <p:sp>
        <p:nvSpPr>
          <p:cNvPr id="9" name="TextBox 8"/>
          <p:cNvSpPr txBox="1"/>
          <p:nvPr/>
        </p:nvSpPr>
        <p:spPr>
          <a:xfrm>
            <a:off x="1016000" y="1897380"/>
            <a:ext cx="10350500" cy="1104900"/>
          </a:xfrm>
          <a:prstGeom prst="rect">
            <a:avLst/>
          </a:prstGeom>
          <a:noFill/>
        </p:spPr>
        <p:txBody>
          <a:bodyPr wrap="square" lIns="0" rIns="0" tIns="0" bIns="0">
            <a:spAutoFit/>
          </a:bodyPr>
          <a:lstStyle/>
          <a:p>
            <a:pPr algn="l">
              <a:lnSpc>
                <a:spcPct val="121800"/>
              </a:lnSpc>
            </a:pPr>
            <a:r>
              <a:rPr sz="3000" b="0">
                <a:solidFill>
                  <a:srgbClr val="D8BB78"/>
                </a:solidFill>
                <a:latin typeface="Noto Sans SC"/>
                <a:ea typeface="Noto Sans SC"/>
              </a:rPr>
              <a:t>A trial may make things worse; acceptance looks only at the best prefix.</a:t>
            </a:r>
          </a:p>
        </p:txBody>
      </p:sp>
      <p:sp>
        <p:nvSpPr>
          <p:cNvPr id="10" name="TextBox 9"/>
          <p:cNvSpPr txBox="1"/>
          <p:nvPr/>
        </p:nvSpPr>
        <p:spPr>
          <a:xfrm>
            <a:off x="1016000" y="3335274"/>
            <a:ext cx="10280650" cy="699770"/>
          </a:xfrm>
          <a:prstGeom prst="rect">
            <a:avLst/>
          </a:prstGeom>
          <a:noFill/>
        </p:spPr>
        <p:txBody>
          <a:bodyPr wrap="square" lIns="0" rIns="0" tIns="0" bIns="0">
            <a:spAutoFit/>
          </a:bodyPr>
          <a:lstStyle/>
          <a:p>
            <a:pPr algn="l">
              <a:lnSpc>
                <a:spcPct val="121800"/>
              </a:lnSpc>
            </a:pPr>
            <a:r>
              <a:rPr sz="1900" b="0">
                <a:solidFill>
                  <a:srgbClr val="F2F3E9"/>
                </a:solidFill>
                <a:latin typeface="Noto Sans SC"/>
                <a:ea typeface="Noto Sans SC"/>
              </a:rPr>
              <a:t>Pair gain g = D(a) + D(b) − 2w(a,b); lock each pass, roll back, repeat; stop on the empty prefix.</a:t>
            </a:r>
          </a:p>
        </p:txBody>
      </p:sp>
      <p:sp>
        <p:nvSpPr>
          <p:cNvPr id="11" name="TextBox 10"/>
          <p:cNvSpPr txBox="1"/>
          <p:nvPr/>
        </p:nvSpPr>
        <p:spPr>
          <a:xfrm>
            <a:off x="1016000" y="4225544"/>
            <a:ext cx="10280650" cy="699770"/>
          </a:xfrm>
          <a:prstGeom prst="rect">
            <a:avLst/>
          </a:prstGeom>
          <a:noFill/>
        </p:spPr>
        <p:txBody>
          <a:bodyPr wrap="square" lIns="0" rIns="0" tIns="0" bIns="0">
            <a:spAutoFit/>
          </a:bodyPr>
          <a:lstStyle/>
          <a:p>
            <a:pPr algn="l">
              <a:lnSpc>
                <a:spcPct val="121800"/>
              </a:lnSpc>
            </a:pPr>
            <a:r>
              <a:rPr sz="1900" b="0">
                <a:solidFill>
                  <a:srgbClr val="F2F3E9"/>
                </a:solidFill>
                <a:latin typeface="Noto Sans SC"/>
                <a:ea typeface="Noto Sans SC"/>
              </a:rPr>
              <a:t>Next module, FM: move one node at a time, with a balance window instead of "one for one".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07 Kernighan–Lin Refinement</dc:title>
  <dc:subject/>
  <dc:creator>Learning Clustering</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