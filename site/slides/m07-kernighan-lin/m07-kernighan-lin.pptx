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这一模块讲 Kernighan–Lin（KL）改进：给定一个两侧人数固定的初始分组，怎样通过成对交换减少跨组连线。核心是三件事：成对收益为什么要减 2w；为什么负收益也要试探；为什么最后只保留最佳前缀。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问题的输入是一张带权无向图和一个初始二分。这里的初始二分是 AE 在左、BCD 在右，跨组的边是 AB、AC、CE、DE，cut 等于 12。KL 只允许一对一交换，所以两侧的节点数量永远不变。注意这只是节点个数的平衡，不是面积的平衡。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KL 是 1970 年 Kernighan 和 Lin 在贝尔系统技术期刊上发表的启发式方法。它不从零开始分组，而是改进一个已有的二分。在本课程里，它接在谱二分之后：先有初始分组，再局部改进。下一模块 FM 会把一换一改成一次移动一个点。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先给每个点算一个数 D。外部边权是它和对面节点之间的边，内部边权是它和同侧节点之间的边。A 的两条边都连到对面，所以 D(A) 等于 6 减 0，等于 6。C 的外部只有 2，内部有 6，所以 D(C) 是负 4，它更想留在原地。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交换一对 a、b 的收益是 D(a) 加 D(b) 再减 2w(a,b)。左边两个点、右边三个点，一共六对。表里最大的是 A 和 D，6 加 3 减 0 等于 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为什么要减 2w？看 E 和 D。D(E) 加 D(D) 是 9，但这两个 D 都把边 DE 当成了外部边，各算了一次。交换以后，E 去了右边、D 去了左边，它们依然分处两侧，DE 还是被切。所以要把这条边的贡献扣回两次，g 等于 9 减 10，等于负 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第一步选收益最大的 A 和 D，交换后 cut 从 12 降到 3。交换过的两个点被锁定，本轮不再移动。要强调：这一步现在只是试探，还没有被接受。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重新计算 D 之后，剩下的两个候选收益都是负数。KL 不在这里停下，而是照样选最大的那个，E 和 C，收益负 8，cut 暂时升到 11。这时左边已经没有未锁定的点，本轮的试探结束。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一轮结束后回头看累计收益：什么都不做是 0，做第一步是正 9，两步都做是正 1。最大的是前 1 步，所以从本轮起点出发，只应用 A 和 D 的交换，接受的分组是 ABC 对 DE，cut 等于 3。第二步被撤回，它只是用来看清后面有没有更好的。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第二轮从 ABC 对 DE 出发，所有点重新解锁。试探的两步收益是负 8 和正 2，累计是负 8 和负 6，都不如什么都不做。空前缀胜出，cut 保持 3，算法停止。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伪代码的外层是一轮接一轮的 pass。内层在两侧都还有未锁定点时，选收益最大的一对交换、锁定、更新 D，负收益也照走。一轮结束时取累计收益最大的前缀，从本轮起点只应用这几步。如果最佳前缀是空的，就停止。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常见错误有五个。第一，忘记减 2w，会把 E 和 D 的交换误算成正 9。第二，遇到负收益就停下，就看不到完整的前缀。第三，前缀必须从第一步开始连续，不能挑几步正收益的。第四，不要把试探状态当结果。第五，人数平衡不等于面积平衡。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KL 是启发式。在这张小图上得到 cut 3 只是这张图的性质，不代表一般能找到全局最优。它依赖初始分组，所以比较不同方法时要从同一个种子出发。朴素实现每一步都要枚举所有跨侧的点对。它只保持人数平衡，单元面积不同的情况要另外处理。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小结：试探可以变差，接受只看最佳前缀。成对收益要减 2w，每轮交换后锁定，结束时回退到最佳前缀；如果最佳前缀为空就停止。下一模块的 FM 一次只移动一个点，用平衡窗口代替一换一。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3880" y="6512052"/>
            <a:ext cx="2418587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07 · Kernighan–Lin 改进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8524" y="6499098"/>
            <a:ext cx="561505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p1/14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55147" y="377952"/>
            <a:ext cx="811072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影片 00:00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86479" y="2310892"/>
            <a:ext cx="5019040" cy="8915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200" b="0">
                <a:solidFill>
                  <a:srgbClr val="D8BB78"/>
                </a:solidFill>
                <a:latin typeface="Noto Sans SC"/>
                <a:ea typeface="Noto Sans SC"/>
              </a:rPr>
              <a:t>先试探，再回退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88753" y="3335782"/>
            <a:ext cx="5014493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BCD2D0"/>
                </a:solidFill>
                <a:latin typeface="Noto Sans SC"/>
                <a:ea typeface="Noto Sans SC"/>
              </a:rPr>
              <a:t>Kernighan–Lin refinement · 成对交换与最佳前缀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5448" y="4136644"/>
            <a:ext cx="4561103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6F8F8F"/>
                </a:solidFill>
                <a:latin typeface="Noto Sans SC"/>
                <a:ea typeface="Noto Sans SC"/>
              </a:rPr>
              <a:t>Learning Clustering · 原作者 FanqinZeng（Issue #6）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16357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问题定义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2418587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07 · Kernighan–Lin 改进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8524" y="6499098"/>
            <a:ext cx="561505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p2/14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5147" y="377952"/>
            <a:ext cx="811072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影片 00:03</a:t>
            </a:r>
          </a:p>
        </p:txBody>
      </p:sp>
      <p:sp>
        <p:nvSpPr>
          <p:cNvPr id="10" name="Oval 9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143078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输入：带权无向图，一个两侧人数固定的初始二分</a:t>
            </a:r>
          </a:p>
        </p:txBody>
      </p:sp>
      <p:sp>
        <p:nvSpPr>
          <p:cNvPr id="12" name="Oval 11"/>
          <p:cNvSpPr/>
          <p:nvPr/>
        </p:nvSpPr>
        <p:spPr>
          <a:xfrm>
            <a:off x="711200" y="22843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21756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操作：一次交换一对 a（左）、b（右）</a:t>
            </a:r>
          </a:p>
        </p:txBody>
      </p:sp>
      <p:sp>
        <p:nvSpPr>
          <p:cNvPr id="14" name="Oval 13"/>
          <p:cNvSpPr/>
          <p:nvPr/>
        </p:nvSpPr>
        <p:spPr>
          <a:xfrm>
            <a:off x="711200" y="27161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26074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目标：让 cut（跨组边权和）变小</a:t>
            </a:r>
          </a:p>
        </p:txBody>
      </p:sp>
      <p:sp>
        <p:nvSpPr>
          <p:cNvPr id="16" name="Oval 15"/>
          <p:cNvSpPr/>
          <p:nvPr/>
        </p:nvSpPr>
        <p:spPr>
          <a:xfrm>
            <a:off x="711200" y="3147948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3039236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约束：两侧节点数始终不变</a:t>
            </a:r>
          </a:p>
        </p:txBody>
      </p:sp>
      <p:sp>
        <p:nvSpPr>
          <p:cNvPr id="18" name="Oval 17"/>
          <p:cNvSpPr/>
          <p:nvPr/>
        </p:nvSpPr>
        <p:spPr>
          <a:xfrm>
            <a:off x="711200" y="35797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14400" y="3471037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输出：试探轨迹、最佳前缀、接受的分组与停止原因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8500" y="5546598"/>
            <a:ext cx="4908550" cy="4787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300" b="0">
                <a:solidFill>
                  <a:srgbClr val="BCD2D0"/>
                </a:solidFill>
                <a:latin typeface="Noto Sans SC"/>
                <a:ea typeface="Noto Sans SC"/>
              </a:rPr>
              <a:t>人数固定 ≠ 面积平衡：单元面积不同时，交换两个点也可能让面积失衡。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91175" y="1393825"/>
            <a:ext cx="2774950" cy="3860800"/>
          </a:xfrm>
          <a:prstGeom prst="roundRect">
            <a:avLst>
              <a:gd name="adj" fmla="val 5217"/>
            </a:avLst>
          </a:prstGeom>
          <a:noFill/>
          <a:ln w="12065">
            <a:solidFill>
              <a:srgbClr val="2B515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8728075" y="1393825"/>
            <a:ext cx="2774950" cy="3860800"/>
          </a:xfrm>
          <a:prstGeom prst="roundRect">
            <a:avLst>
              <a:gd name="adj" fmla="val 5217"/>
            </a:avLst>
          </a:prstGeom>
          <a:noFill/>
          <a:ln w="12065">
            <a:solidFill>
              <a:srgbClr val="2B515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361386" y="1511338"/>
            <a:ext cx="1234526" cy="211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35" b="1">
                <a:solidFill>
                  <a:srgbClr val="BCD2D0"/>
                </a:solidFill>
                <a:latin typeface="Noto Sans SC"/>
                <a:ea typeface="Noto Sans SC"/>
              </a:rPr>
              <a:t>左侧 · 2 个位置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98286" y="1511338"/>
            <a:ext cx="1234526" cy="211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35" b="1">
                <a:solidFill>
                  <a:srgbClr val="BCD2D0"/>
                </a:solidFill>
                <a:latin typeface="Noto Sans SC"/>
                <a:ea typeface="Noto Sans SC"/>
              </a:rPr>
              <a:t>右侧 · 3 个位置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6978650" y="1997075"/>
            <a:ext cx="3136900" cy="482600"/>
          </a:xfrm>
          <a:prstGeom prst="line">
            <a:avLst/>
          </a:prstGeom>
          <a:ln w="2413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8384261" y="1878731"/>
            <a:ext cx="277977" cy="277977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408391" y="1886453"/>
            <a:ext cx="229717" cy="2606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20" b="1">
                <a:solidFill>
                  <a:srgbClr val="D9E4E1"/>
                </a:solidFill>
                <a:latin typeface="Noto Sans SC"/>
                <a:ea typeface="Noto Sans SC"/>
              </a:rPr>
              <a:t>5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978650" y="2479675"/>
            <a:ext cx="3136900" cy="844550"/>
          </a:xfrm>
          <a:prstGeom prst="line">
            <a:avLst/>
          </a:prstGeom>
          <a:ln w="2413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448886" y="2545875"/>
            <a:ext cx="277977" cy="277977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73016" y="2553597"/>
            <a:ext cx="229717" cy="2606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20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115550" y="1997075"/>
            <a:ext cx="0" cy="1327150"/>
          </a:xfrm>
          <a:prstGeom prst="line">
            <a:avLst/>
          </a:prstGeom>
          <a:ln w="30162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10133406" y="2456027"/>
            <a:ext cx="277977" cy="277977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0157536" y="2463749"/>
            <a:ext cx="229717" cy="2606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20" b="1">
                <a:solidFill>
                  <a:srgbClr val="D9E4E1"/>
                </a:solidFill>
                <a:latin typeface="Noto Sans SC"/>
                <a:ea typeface="Noto Sans SC"/>
              </a:rPr>
              <a:t>4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115550" y="3324225"/>
            <a:ext cx="0" cy="1327150"/>
          </a:xfrm>
          <a:prstGeom prst="line">
            <a:avLst/>
          </a:prstGeom>
          <a:ln w="30162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10133406" y="3783177"/>
            <a:ext cx="277977" cy="277977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0157536" y="3790899"/>
            <a:ext cx="229717" cy="2606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20" b="1">
                <a:solidFill>
                  <a:srgbClr val="D9E4E1"/>
                </a:solidFill>
                <a:latin typeface="Noto Sans SC"/>
                <a:ea typeface="Noto Sans SC"/>
              </a:rPr>
              <a:t>2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6978650" y="3324225"/>
            <a:ext cx="3136900" cy="904875"/>
          </a:xfrm>
          <a:prstGeom prst="line">
            <a:avLst/>
          </a:prstGeom>
          <a:ln w="2413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451582" y="3722740"/>
            <a:ext cx="277977" cy="277977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475712" y="3730462"/>
            <a:ext cx="229717" cy="2606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20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40" name="Connector 39"/>
          <p:cNvCxnSpPr/>
          <p:nvPr/>
        </p:nvCxnSpPr>
        <p:spPr>
          <a:xfrm flipH="1" flipV="1">
            <a:off x="6978650" y="4229100"/>
            <a:ext cx="3136900" cy="422275"/>
          </a:xfrm>
          <a:prstGeom prst="line">
            <a:avLst/>
          </a:prstGeom>
          <a:ln w="2413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8387186" y="4391058"/>
            <a:ext cx="277977" cy="277977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411316" y="4398779"/>
            <a:ext cx="229717" cy="2606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20" b="1">
                <a:solidFill>
                  <a:srgbClr val="D9E4E1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43" name="Oval 42"/>
          <p:cNvSpPr/>
          <p:nvPr/>
        </p:nvSpPr>
        <p:spPr>
          <a:xfrm>
            <a:off x="6725284" y="2226310"/>
            <a:ext cx="506730" cy="506730"/>
          </a:xfrm>
          <a:prstGeom prst="ellipse">
            <a:avLst/>
          </a:prstGeom>
          <a:solidFill>
            <a:srgbClr val="77CDBB"/>
          </a:solidFill>
          <a:ln w="18097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850561" y="2344305"/>
            <a:ext cx="256176" cy="2768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14" b="1">
                <a:solidFill>
                  <a:srgbClr val="0B1B1F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45" name="Oval 44"/>
          <p:cNvSpPr/>
          <p:nvPr/>
        </p:nvSpPr>
        <p:spPr>
          <a:xfrm>
            <a:off x="9862185" y="1743710"/>
            <a:ext cx="506730" cy="506730"/>
          </a:xfrm>
          <a:prstGeom prst="ellipse">
            <a:avLst/>
          </a:prstGeom>
          <a:solidFill>
            <a:srgbClr val="8FB1E6"/>
          </a:solidFill>
          <a:ln w="18097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9984180" y="1861705"/>
            <a:ext cx="262739" cy="2768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14" b="1">
                <a:solidFill>
                  <a:srgbClr val="0B1B1F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47" name="Oval 46"/>
          <p:cNvSpPr/>
          <p:nvPr/>
        </p:nvSpPr>
        <p:spPr>
          <a:xfrm>
            <a:off x="9862185" y="3070860"/>
            <a:ext cx="506730" cy="506730"/>
          </a:xfrm>
          <a:prstGeom prst="ellipse">
            <a:avLst/>
          </a:prstGeom>
          <a:solidFill>
            <a:srgbClr val="8FB1E6"/>
          </a:solidFill>
          <a:ln w="18097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9986744" y="3188855"/>
            <a:ext cx="257611" cy="2768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14" b="1">
                <a:solidFill>
                  <a:srgbClr val="0B1B1F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49" name="Oval 48"/>
          <p:cNvSpPr/>
          <p:nvPr/>
        </p:nvSpPr>
        <p:spPr>
          <a:xfrm>
            <a:off x="9862185" y="4398010"/>
            <a:ext cx="506730" cy="506730"/>
          </a:xfrm>
          <a:prstGeom prst="ellipse">
            <a:avLst/>
          </a:prstGeom>
          <a:solidFill>
            <a:srgbClr val="8FB1E6"/>
          </a:solidFill>
          <a:ln w="18097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980796" y="4516005"/>
            <a:ext cx="269507" cy="2768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14" b="1">
                <a:solidFill>
                  <a:srgbClr val="0B1B1F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51" name="Oval 50"/>
          <p:cNvSpPr/>
          <p:nvPr/>
        </p:nvSpPr>
        <p:spPr>
          <a:xfrm>
            <a:off x="6725284" y="3975735"/>
            <a:ext cx="506730" cy="506730"/>
          </a:xfrm>
          <a:prstGeom prst="ellipse">
            <a:avLst/>
          </a:prstGeom>
          <a:solidFill>
            <a:srgbClr val="77CDBB"/>
          </a:solidFill>
          <a:ln w="18097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854048" y="4093730"/>
            <a:ext cx="249202" cy="2768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14" b="1">
                <a:solidFill>
                  <a:srgbClr val="0B1B1F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51928" y="5507736"/>
            <a:ext cx="2377643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8BB78"/>
                </a:solidFill>
                <a:latin typeface="Noto Sans SC"/>
                <a:ea typeface="Noto Sans SC"/>
              </a:rPr>
              <a:t>种子 AE | BCD：cut =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19913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背景与位置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2418587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07 · Kernighan–Lin 改进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8524" y="6499098"/>
            <a:ext cx="561505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p3/14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1897380"/>
            <a:ext cx="10350500" cy="552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3000" b="0">
                <a:solidFill>
                  <a:srgbClr val="D8BB78"/>
                </a:solidFill>
                <a:latin typeface="Noto Sans SC"/>
                <a:ea typeface="Noto Sans SC"/>
              </a:rPr>
              <a:t>给一个还不错的分组，再一步步改好。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2782824"/>
            <a:ext cx="10280650" cy="6997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KL 由 Kernighan 与 Lin 在 1970 年提出（Bell System Technical Journal），是二分改进的经典启发式。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3673094"/>
            <a:ext cx="10280650" cy="6997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本课程中它接在 Module 06 之后：谱二分给出初始分组，KL 在此基础上局部改进；Module 08 的 FM 再把成对交换改成单点移动。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1939442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cut 与 D 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2418587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07 · Kernighan–Lin 改进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8524" y="6499098"/>
            <a:ext cx="561505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p4/14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5147" y="377952"/>
            <a:ext cx="811072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影片 00:20</a:t>
            </a:r>
          </a:p>
        </p:txBody>
      </p:sp>
      <p:sp>
        <p:nvSpPr>
          <p:cNvPr id="10" name="Oval 9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14307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D(v) = 外部边权 − 内部边权</a:t>
            </a:r>
          </a:p>
        </p:txBody>
      </p:sp>
      <p:sp>
        <p:nvSpPr>
          <p:cNvPr id="12" name="Oval 11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186258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外部：v 与对面节点之间的边；内部：v 与同侧节点之间的边</a:t>
            </a:r>
          </a:p>
        </p:txBody>
      </p:sp>
      <p:sp>
        <p:nvSpPr>
          <p:cNvPr id="14" name="Oval 13"/>
          <p:cNvSpPr/>
          <p:nvPr/>
        </p:nvSpPr>
        <p:spPr>
          <a:xfrm>
            <a:off x="711200" y="27161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26074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D(v) 就是“只把 v 换到对面”时 cut 的下降量</a:t>
            </a:r>
          </a:p>
        </p:txBody>
      </p:sp>
      <p:sp>
        <p:nvSpPr>
          <p:cNvPr id="16" name="Oval 15"/>
          <p:cNvSpPr/>
          <p:nvPr/>
        </p:nvSpPr>
        <p:spPr>
          <a:xfrm>
            <a:off x="711200" y="3147948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3039236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D 越大，v 越“想去对面”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5205" y="1684782"/>
            <a:ext cx="5613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BCD2D0"/>
                </a:solidFill>
                <a:latin typeface="Noto Sans SC"/>
                <a:ea typeface="Noto Sans SC"/>
              </a:rPr>
              <a:t>节点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10705" y="1684782"/>
            <a:ext cx="3454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BCD2D0"/>
                </a:solidFill>
                <a:latin typeface="Noto Sans SC"/>
                <a:ea typeface="Noto Sans SC"/>
              </a:rPr>
              <a:t>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9205" y="1684782"/>
            <a:ext cx="5613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BCD2D0"/>
                </a:solidFill>
                <a:latin typeface="Noto Sans SC"/>
                <a:ea typeface="Noto Sans SC"/>
              </a:rPr>
              <a:t>外部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61705" y="1684782"/>
            <a:ext cx="5613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BCD2D0"/>
                </a:solidFill>
                <a:latin typeface="Noto Sans SC"/>
                <a:ea typeface="Noto Sans SC"/>
              </a:rPr>
              <a:t>内部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14205" y="1684782"/>
            <a:ext cx="1166291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BCD2D0"/>
                </a:solidFill>
                <a:latin typeface="Noto Sans SC"/>
                <a:ea typeface="Noto Sans SC"/>
              </a:rPr>
              <a:t>D = 外 − 内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57900" y="2006600"/>
            <a:ext cx="4991100" cy="0"/>
          </a:xfrm>
          <a:prstGeom prst="line">
            <a:avLst/>
          </a:prstGeom>
          <a:ln w="12700">
            <a:solidFill>
              <a:srgbClr val="2D4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083935" y="2179574"/>
            <a:ext cx="291490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9434" y="2179574"/>
            <a:ext cx="386080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07934" y="2179574"/>
            <a:ext cx="278701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60435" y="2179574"/>
            <a:ext cx="278701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12935" y="2179574"/>
            <a:ext cx="412623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+6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3935" y="2700274"/>
            <a:ext cx="303314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9434" y="2700274"/>
            <a:ext cx="386080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07934" y="2700274"/>
            <a:ext cx="278701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60435" y="2700274"/>
            <a:ext cx="278701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12935" y="2700274"/>
            <a:ext cx="412623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+1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3935" y="3220974"/>
            <a:ext cx="298729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9434" y="3220974"/>
            <a:ext cx="386080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07934" y="3220974"/>
            <a:ext cx="278701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60435" y="3220974"/>
            <a:ext cx="278701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12935" y="3220974"/>
            <a:ext cx="362432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-4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83935" y="3741674"/>
            <a:ext cx="310794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9434" y="3741674"/>
            <a:ext cx="386080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07934" y="3741674"/>
            <a:ext cx="278701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60435" y="3741674"/>
            <a:ext cx="278701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12935" y="3741674"/>
            <a:ext cx="412623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+3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83935" y="4262374"/>
            <a:ext cx="286905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09434" y="4262374"/>
            <a:ext cx="386080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07934" y="4262374"/>
            <a:ext cx="278701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60435" y="4262374"/>
            <a:ext cx="278701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12935" y="4262374"/>
            <a:ext cx="412623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+6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16357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成对收益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2418587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07 · Kernighan–Lin 改进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8524" y="6499098"/>
            <a:ext cx="561505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p5/14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5147" y="377952"/>
            <a:ext cx="811072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影片 00:40</a:t>
            </a:r>
          </a:p>
        </p:txBody>
      </p:sp>
      <p:sp>
        <p:nvSpPr>
          <p:cNvPr id="10" name="Oval 9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14307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交换 a、b 的收益 g = D(a) + D(b) − 2w(a,b)</a:t>
            </a:r>
          </a:p>
        </p:txBody>
      </p:sp>
      <p:sp>
        <p:nvSpPr>
          <p:cNvPr id="12" name="Oval 11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18625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左右各取一点，共 2 × 3 = 6 对</a:t>
            </a:r>
          </a:p>
        </p:txBody>
      </p:sp>
      <p:sp>
        <p:nvSpPr>
          <p:cNvPr id="14" name="Oval 13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22943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最大：A↔D，6 + 3 − 0 = 9</a:t>
            </a:r>
          </a:p>
        </p:txBody>
      </p:sp>
      <p:sp>
        <p:nvSpPr>
          <p:cNvPr id="16" name="Oval 15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27261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平票时按 (−g, a, b) 的字典序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3702" y="1556512"/>
            <a:ext cx="2854629" cy="377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200" b="0">
                <a:solidFill>
                  <a:srgbClr val="F2F3E9"/>
                </a:solidFill>
                <a:latin typeface="Noto Sans SC"/>
                <a:ea typeface="Noto Sans SC"/>
              </a:rPr>
              <a:t>g(a,b) = D(a) + D(b) −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50692" y="1556512"/>
            <a:ext cx="1143304" cy="3771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200" b="0">
                <a:solidFill>
                  <a:srgbClr val="DB7B72"/>
                </a:solidFill>
                <a:latin typeface="Noto Sans SC"/>
                <a:ea typeface="Noto Sans SC"/>
              </a:rPr>
              <a:t>2w(a,b)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5840" y="2332736"/>
            <a:ext cx="491337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BCD2D0"/>
                </a:solidFill>
                <a:latin typeface="Noto Sans SC"/>
                <a:ea typeface="Noto Sans SC"/>
              </a:rPr>
              <a:t>左 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47840" y="2332736"/>
            <a:ext cx="502107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BCD2D0"/>
                </a:solidFill>
                <a:latin typeface="Noto Sans SC"/>
                <a:ea typeface="Noto Sans SC"/>
              </a:rPr>
              <a:t>右 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9840" y="2332736"/>
            <a:ext cx="1090167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BCD2D0"/>
                </a:solidFill>
                <a:latin typeface="Noto Sans SC"/>
                <a:ea typeface="Noto Sans SC"/>
              </a:rPr>
              <a:t>D(a)+D(b)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2332736"/>
            <a:ext cx="537057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BCD2D0"/>
                </a:solidFill>
                <a:latin typeface="Noto Sans SC"/>
                <a:ea typeface="Noto Sans SC"/>
              </a:rPr>
              <a:t>−2w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95840" y="2332736"/>
            <a:ext cx="24323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BCD2D0"/>
                </a:solidFill>
                <a:latin typeface="Noto Sans SC"/>
                <a:ea typeface="Noto Sans SC"/>
              </a:rPr>
              <a:t>g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57900" y="2641600"/>
            <a:ext cx="4737100" cy="0"/>
          </a:xfrm>
          <a:prstGeom prst="line">
            <a:avLst/>
          </a:prstGeom>
          <a:ln w="12700">
            <a:solidFill>
              <a:srgbClr val="2D4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007100" y="2730500"/>
            <a:ext cx="4876800" cy="444500"/>
          </a:xfrm>
          <a:prstGeom prst="roundRect">
            <a:avLst>
              <a:gd name="adj" fmla="val 11428"/>
            </a:avLst>
          </a:prstGeom>
          <a:solidFill>
            <a:srgbClr val="D8BB7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084570" y="2776728"/>
            <a:ext cx="276148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6570" y="2776728"/>
            <a:ext cx="294436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08570" y="2776728"/>
            <a:ext cx="264033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5570" y="2776728"/>
            <a:ext cx="264033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94570" y="2776728"/>
            <a:ext cx="390906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+9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4570" y="3246628"/>
            <a:ext cx="271805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46570" y="3246628"/>
            <a:ext cx="28735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08570" y="3246628"/>
            <a:ext cx="264033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5570" y="3246628"/>
            <a:ext cx="264033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94570" y="3246628"/>
            <a:ext cx="390906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+7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4570" y="3716528"/>
            <a:ext cx="276148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46570" y="3716528"/>
            <a:ext cx="283006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08570" y="3716528"/>
            <a:ext cx="264033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5570" y="3716528"/>
            <a:ext cx="343357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-2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94570" y="3716528"/>
            <a:ext cx="390906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+0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4570" y="4186428"/>
            <a:ext cx="271805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46570" y="4186428"/>
            <a:ext cx="283006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08570" y="4186428"/>
            <a:ext cx="264033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05570" y="4186428"/>
            <a:ext cx="343357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-2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94570" y="4186428"/>
            <a:ext cx="390906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+0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84570" y="4656328"/>
            <a:ext cx="271805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46570" y="4656328"/>
            <a:ext cx="294436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08570" y="4656328"/>
            <a:ext cx="264033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05570" y="4656328"/>
            <a:ext cx="47023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-10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94570" y="4656328"/>
            <a:ext cx="343357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-1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4570" y="5126228"/>
            <a:ext cx="276148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46570" y="5126228"/>
            <a:ext cx="28735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08570" y="5126228"/>
            <a:ext cx="264033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05570" y="5126228"/>
            <a:ext cx="47023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-10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94570" y="5126228"/>
            <a:ext cx="343357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-3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2553563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为什么要减 2w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2418587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07 · Kernighan–Lin 改进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8524" y="6499098"/>
            <a:ext cx="561505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p6/14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5147" y="377952"/>
            <a:ext cx="811072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影片 00:56</a:t>
            </a:r>
          </a:p>
        </p:txBody>
      </p:sp>
      <p:sp>
        <p:nvSpPr>
          <p:cNvPr id="10" name="Oval 9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14307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D(E) + D(D) = 6 + 3 = 9</a:t>
            </a:r>
          </a:p>
        </p:txBody>
      </p:sp>
      <p:sp>
        <p:nvSpPr>
          <p:cNvPr id="12" name="Oval 11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18625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两个 D 都把边 DE（权 5）当作“外部边”计入</a:t>
            </a:r>
          </a:p>
        </p:txBody>
      </p:sp>
      <p:sp>
        <p:nvSpPr>
          <p:cNvPr id="14" name="Oval 13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22943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交换后 E、D 仍分处两侧：DE 依然被切</a:t>
            </a:r>
          </a:p>
        </p:txBody>
      </p:sp>
      <p:sp>
        <p:nvSpPr>
          <p:cNvPr id="16" name="Oval 15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27261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多算的部分要扣回：2 × 5 = 10</a:t>
            </a:r>
          </a:p>
        </p:txBody>
      </p:sp>
      <p:sp>
        <p:nvSpPr>
          <p:cNvPr id="18" name="Oval 17"/>
          <p:cNvSpPr/>
          <p:nvPr/>
        </p:nvSpPr>
        <p:spPr>
          <a:xfrm>
            <a:off x="711200" y="32666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14400" y="31579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D8BB78"/>
                </a:solidFill>
                <a:latin typeface="Noto Sans SC"/>
                <a:ea typeface="Noto Sans SC"/>
              </a:rPr>
              <a:t>g(E, D) = 9 − 10 = −1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91175" y="1393825"/>
            <a:ext cx="2774950" cy="3860800"/>
          </a:xfrm>
          <a:prstGeom prst="roundRect">
            <a:avLst>
              <a:gd name="adj" fmla="val 5217"/>
            </a:avLst>
          </a:prstGeom>
          <a:noFill/>
          <a:ln w="12065">
            <a:solidFill>
              <a:srgbClr val="2B515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728075" y="1393825"/>
            <a:ext cx="2774950" cy="3860800"/>
          </a:xfrm>
          <a:prstGeom prst="roundRect">
            <a:avLst>
              <a:gd name="adj" fmla="val 5217"/>
            </a:avLst>
          </a:prstGeom>
          <a:noFill/>
          <a:ln w="12065">
            <a:solidFill>
              <a:srgbClr val="2B515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61386" y="1511338"/>
            <a:ext cx="1234526" cy="211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35" b="1">
                <a:solidFill>
                  <a:srgbClr val="BCD2D0"/>
                </a:solidFill>
                <a:latin typeface="Noto Sans SC"/>
                <a:ea typeface="Noto Sans SC"/>
              </a:rPr>
              <a:t>左侧 · 2 个位置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98286" y="1511338"/>
            <a:ext cx="1234526" cy="211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35" b="1">
                <a:solidFill>
                  <a:srgbClr val="BCD2D0"/>
                </a:solidFill>
                <a:latin typeface="Noto Sans SC"/>
                <a:ea typeface="Noto Sans SC"/>
              </a:rPr>
              <a:t>右侧 · 3 个位置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6978650" y="1997075"/>
            <a:ext cx="3136900" cy="482600"/>
          </a:xfrm>
          <a:prstGeom prst="line">
            <a:avLst/>
          </a:prstGeom>
          <a:ln w="2413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8384261" y="1878731"/>
            <a:ext cx="277977" cy="277977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08391" y="1886453"/>
            <a:ext cx="229717" cy="2606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20" b="1">
                <a:solidFill>
                  <a:srgbClr val="D9E4E1"/>
                </a:solidFill>
                <a:latin typeface="Noto Sans SC"/>
                <a:ea typeface="Noto Sans SC"/>
              </a:rPr>
              <a:t>5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978650" y="2479675"/>
            <a:ext cx="3136900" cy="844550"/>
          </a:xfrm>
          <a:prstGeom prst="line">
            <a:avLst/>
          </a:prstGeom>
          <a:ln w="2413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8448886" y="2545875"/>
            <a:ext cx="277977" cy="277977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473016" y="2553597"/>
            <a:ext cx="229717" cy="2606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20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115550" y="1997075"/>
            <a:ext cx="0" cy="1327150"/>
          </a:xfrm>
          <a:prstGeom prst="line">
            <a:avLst/>
          </a:prstGeom>
          <a:ln w="30162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10133406" y="2456027"/>
            <a:ext cx="277977" cy="277977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0157536" y="2463749"/>
            <a:ext cx="229717" cy="2606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20" b="1">
                <a:solidFill>
                  <a:srgbClr val="D9E4E1"/>
                </a:solidFill>
                <a:latin typeface="Noto Sans SC"/>
                <a:ea typeface="Noto Sans SC"/>
              </a:rPr>
              <a:t>4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115550" y="3324225"/>
            <a:ext cx="0" cy="1327150"/>
          </a:xfrm>
          <a:prstGeom prst="line">
            <a:avLst/>
          </a:prstGeom>
          <a:ln w="30162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10133406" y="3783177"/>
            <a:ext cx="277977" cy="277977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0157536" y="3790899"/>
            <a:ext cx="229717" cy="2606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20" b="1">
                <a:solidFill>
                  <a:srgbClr val="D9E4E1"/>
                </a:solidFill>
                <a:latin typeface="Noto Sans SC"/>
                <a:ea typeface="Noto Sans SC"/>
              </a:rPr>
              <a:t>2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6978650" y="3324225"/>
            <a:ext cx="3136900" cy="904875"/>
          </a:xfrm>
          <a:prstGeom prst="line">
            <a:avLst/>
          </a:prstGeom>
          <a:ln w="2413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8451582" y="3722740"/>
            <a:ext cx="277977" cy="277977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75712" y="3730462"/>
            <a:ext cx="229717" cy="2606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20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39" name="Connector 38"/>
          <p:cNvCxnSpPr/>
          <p:nvPr/>
        </p:nvCxnSpPr>
        <p:spPr>
          <a:xfrm flipH="1" flipV="1">
            <a:off x="6978650" y="4229100"/>
            <a:ext cx="3136900" cy="422275"/>
          </a:xfrm>
          <a:prstGeom prst="line">
            <a:avLst/>
          </a:prstGeom>
          <a:ln w="42227">
            <a:solidFill>
              <a:srgbClr val="D8B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8387186" y="4391058"/>
            <a:ext cx="277977" cy="277977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411316" y="4398779"/>
            <a:ext cx="229717" cy="2606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20" b="1">
                <a:solidFill>
                  <a:srgbClr val="D8BB78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42" name="Oval 41"/>
          <p:cNvSpPr/>
          <p:nvPr/>
        </p:nvSpPr>
        <p:spPr>
          <a:xfrm>
            <a:off x="6725284" y="2226310"/>
            <a:ext cx="506730" cy="506730"/>
          </a:xfrm>
          <a:prstGeom prst="ellipse">
            <a:avLst/>
          </a:prstGeom>
          <a:solidFill>
            <a:srgbClr val="77CDBB"/>
          </a:solidFill>
          <a:ln w="18097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850561" y="2344305"/>
            <a:ext cx="256176" cy="2768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14" b="1">
                <a:solidFill>
                  <a:srgbClr val="0B1B1F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44" name="Oval 43"/>
          <p:cNvSpPr/>
          <p:nvPr/>
        </p:nvSpPr>
        <p:spPr>
          <a:xfrm>
            <a:off x="9862185" y="1743710"/>
            <a:ext cx="506730" cy="506730"/>
          </a:xfrm>
          <a:prstGeom prst="ellipse">
            <a:avLst/>
          </a:prstGeom>
          <a:solidFill>
            <a:srgbClr val="8FB1E6"/>
          </a:solidFill>
          <a:ln w="18097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9984180" y="1861705"/>
            <a:ext cx="262739" cy="2768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14" b="1">
                <a:solidFill>
                  <a:srgbClr val="0B1B1F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46" name="Oval 45"/>
          <p:cNvSpPr/>
          <p:nvPr/>
        </p:nvSpPr>
        <p:spPr>
          <a:xfrm>
            <a:off x="9862185" y="3070860"/>
            <a:ext cx="506730" cy="506730"/>
          </a:xfrm>
          <a:prstGeom prst="ellipse">
            <a:avLst/>
          </a:prstGeom>
          <a:solidFill>
            <a:srgbClr val="8FB1E6"/>
          </a:solidFill>
          <a:ln w="18097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9986744" y="3188855"/>
            <a:ext cx="257611" cy="2768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14" b="1">
                <a:solidFill>
                  <a:srgbClr val="0B1B1F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48" name="Oval 47"/>
          <p:cNvSpPr/>
          <p:nvPr/>
        </p:nvSpPr>
        <p:spPr>
          <a:xfrm>
            <a:off x="9801860" y="4337685"/>
            <a:ext cx="627380" cy="627380"/>
          </a:xfrm>
          <a:prstGeom prst="ellipse">
            <a:avLst/>
          </a:prstGeom>
          <a:noFill/>
          <a:ln w="30162">
            <a:solidFill>
              <a:srgbClr val="D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9862185" y="4398010"/>
            <a:ext cx="506730" cy="506730"/>
          </a:xfrm>
          <a:prstGeom prst="ellipse">
            <a:avLst/>
          </a:prstGeom>
          <a:solidFill>
            <a:srgbClr val="8FB1E6"/>
          </a:solidFill>
          <a:ln w="18097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980796" y="4516005"/>
            <a:ext cx="269507" cy="2768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14" b="1">
                <a:solidFill>
                  <a:srgbClr val="0B1B1F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51" name="Oval 50"/>
          <p:cNvSpPr/>
          <p:nvPr/>
        </p:nvSpPr>
        <p:spPr>
          <a:xfrm>
            <a:off x="6664959" y="3915410"/>
            <a:ext cx="627380" cy="627380"/>
          </a:xfrm>
          <a:prstGeom prst="ellipse">
            <a:avLst/>
          </a:prstGeom>
          <a:noFill/>
          <a:ln w="30162">
            <a:solidFill>
              <a:srgbClr val="D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Oval 51"/>
          <p:cNvSpPr/>
          <p:nvPr/>
        </p:nvSpPr>
        <p:spPr>
          <a:xfrm>
            <a:off x="6725284" y="3975735"/>
            <a:ext cx="506730" cy="506730"/>
          </a:xfrm>
          <a:prstGeom prst="ellipse">
            <a:avLst/>
          </a:prstGeom>
          <a:solidFill>
            <a:srgbClr val="77CDBB"/>
          </a:solidFill>
          <a:ln w="18097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854048" y="4093730"/>
            <a:ext cx="249202" cy="2768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14" b="1">
                <a:solidFill>
                  <a:srgbClr val="0B1B1F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50050" y="5520690"/>
            <a:ext cx="3581400" cy="257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D8BB78"/>
                </a:solidFill>
                <a:latin typeface="Noto Sans SC"/>
                <a:ea typeface="Noto Sans SC"/>
              </a:rPr>
              <a:t>E↔D：DE 交换前后都被切 → 扣回 2 ×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41249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第一步：试探交换并锁定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2418587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07 · Kernighan–Lin 改进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8524" y="6499098"/>
            <a:ext cx="561505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p7/14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5147" y="377952"/>
            <a:ext cx="811072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影片 01:24</a:t>
            </a:r>
          </a:p>
        </p:txBody>
      </p:sp>
      <p:sp>
        <p:nvSpPr>
          <p:cNvPr id="10" name="Oval 9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14307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选收益最大的一对：A↔D，g = +9</a:t>
            </a:r>
          </a:p>
        </p:txBody>
      </p:sp>
      <p:sp>
        <p:nvSpPr>
          <p:cNvPr id="12" name="Oval 11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18625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交换后 cut 12 → 3</a:t>
            </a:r>
          </a:p>
        </p:txBody>
      </p:sp>
      <p:sp>
        <p:nvSpPr>
          <p:cNvPr id="14" name="Oval 13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22943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A、D 锁定：本轮不再移动（虚线圈）</a:t>
            </a:r>
          </a:p>
        </p:txBody>
      </p:sp>
      <p:sp>
        <p:nvSpPr>
          <p:cNvPr id="16" name="Oval 15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27261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D8BB78"/>
                </a:solidFill>
                <a:latin typeface="Noto Sans SC"/>
                <a:ea typeface="Noto Sans SC"/>
              </a:rPr>
              <a:t>这仍是“试探”，还没有被接受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91175" y="1393825"/>
            <a:ext cx="2774950" cy="3860800"/>
          </a:xfrm>
          <a:prstGeom prst="roundRect">
            <a:avLst>
              <a:gd name="adj" fmla="val 5217"/>
            </a:avLst>
          </a:prstGeom>
          <a:noFill/>
          <a:ln w="12065">
            <a:solidFill>
              <a:srgbClr val="2B515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8728075" y="1393825"/>
            <a:ext cx="2774950" cy="3860800"/>
          </a:xfrm>
          <a:prstGeom prst="roundRect">
            <a:avLst>
              <a:gd name="adj" fmla="val 5217"/>
            </a:avLst>
          </a:prstGeom>
          <a:noFill/>
          <a:ln w="12065">
            <a:solidFill>
              <a:srgbClr val="2B515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361386" y="1511338"/>
            <a:ext cx="1234526" cy="211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35" b="1">
                <a:solidFill>
                  <a:srgbClr val="BCD2D0"/>
                </a:solidFill>
                <a:latin typeface="Noto Sans SC"/>
                <a:ea typeface="Noto Sans SC"/>
              </a:rPr>
              <a:t>左侧 · 2 个位置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98286" y="1511338"/>
            <a:ext cx="1234526" cy="211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35" b="1">
                <a:solidFill>
                  <a:srgbClr val="BCD2D0"/>
                </a:solidFill>
                <a:latin typeface="Noto Sans SC"/>
                <a:ea typeface="Noto Sans SC"/>
              </a:rPr>
              <a:t>右侧 · 3 个位置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10115550" y="1997075"/>
            <a:ext cx="0" cy="2654300"/>
          </a:xfrm>
          <a:prstGeom prst="line">
            <a:avLst/>
          </a:prstGeom>
          <a:ln w="30162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819716" y="3119602"/>
            <a:ext cx="277977" cy="277977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843846" y="3127324"/>
            <a:ext cx="229717" cy="2606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20" b="1">
                <a:solidFill>
                  <a:srgbClr val="D9E4E1"/>
                </a:solidFill>
                <a:latin typeface="Noto Sans SC"/>
                <a:ea typeface="Noto Sans SC"/>
              </a:rPr>
              <a:t>5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10115550" y="3324225"/>
            <a:ext cx="0" cy="1327150"/>
          </a:xfrm>
          <a:prstGeom prst="line">
            <a:avLst/>
          </a:prstGeom>
          <a:ln w="30162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819716" y="3783177"/>
            <a:ext cx="277977" cy="277977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843846" y="3790899"/>
            <a:ext cx="229717" cy="2606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20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115550" y="1997075"/>
            <a:ext cx="0" cy="1327150"/>
          </a:xfrm>
          <a:prstGeom prst="line">
            <a:avLst/>
          </a:prstGeom>
          <a:ln w="30162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10133406" y="2456027"/>
            <a:ext cx="277977" cy="277977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157536" y="2463749"/>
            <a:ext cx="229717" cy="2606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20" b="1">
                <a:solidFill>
                  <a:srgbClr val="D9E4E1"/>
                </a:solidFill>
                <a:latin typeface="Noto Sans SC"/>
                <a:ea typeface="Noto Sans SC"/>
              </a:rPr>
              <a:t>4</a:t>
            </a:r>
          </a:p>
        </p:txBody>
      </p:sp>
      <p:cxnSp>
        <p:nvCxnSpPr>
          <p:cNvPr id="31" name="Connector 30"/>
          <p:cNvCxnSpPr/>
          <p:nvPr/>
        </p:nvCxnSpPr>
        <p:spPr>
          <a:xfrm flipH="1" flipV="1">
            <a:off x="6978650" y="2479675"/>
            <a:ext cx="3136900" cy="844550"/>
          </a:xfrm>
          <a:prstGeom prst="line">
            <a:avLst/>
          </a:prstGeom>
          <a:ln w="2413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367335" y="2848779"/>
            <a:ext cx="277977" cy="277977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391465" y="2856501"/>
            <a:ext cx="229717" cy="2606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20" b="1">
                <a:solidFill>
                  <a:srgbClr val="D9E4E1"/>
                </a:solidFill>
                <a:latin typeface="Noto Sans SC"/>
                <a:ea typeface="Noto Sans SC"/>
              </a:rPr>
              <a:t>2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6978650" y="3324225"/>
            <a:ext cx="3136900" cy="904875"/>
          </a:xfrm>
          <a:prstGeom prst="line">
            <a:avLst/>
          </a:prstGeom>
          <a:ln w="2413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8451582" y="3722740"/>
            <a:ext cx="277977" cy="277977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475712" y="3730462"/>
            <a:ext cx="229717" cy="2606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20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978650" y="2479675"/>
            <a:ext cx="0" cy="1749425"/>
          </a:xfrm>
          <a:prstGeom prst="line">
            <a:avLst/>
          </a:prstGeom>
          <a:ln w="30162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6996506" y="3149765"/>
            <a:ext cx="277977" cy="277977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020636" y="3157486"/>
            <a:ext cx="229717" cy="2606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20" b="1">
                <a:solidFill>
                  <a:srgbClr val="D9E4E1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40" name="Oval 39"/>
          <p:cNvSpPr/>
          <p:nvPr/>
        </p:nvSpPr>
        <p:spPr>
          <a:xfrm>
            <a:off x="9862185" y="4398010"/>
            <a:ext cx="506730" cy="506730"/>
          </a:xfrm>
          <a:prstGeom prst="ellipse">
            <a:avLst/>
          </a:prstGeom>
          <a:solidFill>
            <a:srgbClr val="8FB1E6"/>
          </a:solidFill>
          <a:ln w="18097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9856152" y="4391977"/>
            <a:ext cx="518795" cy="518795"/>
          </a:xfrm>
          <a:prstGeom prst="ellipse">
            <a:avLst/>
          </a:prstGeom>
          <a:noFill/>
          <a:ln w="18097">
            <a:solidFill>
              <a:srgbClr val="F2F3E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987461" y="4516005"/>
            <a:ext cx="256176" cy="2768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14" b="1">
                <a:solidFill>
                  <a:srgbClr val="0B1B1F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43" name="Oval 42"/>
          <p:cNvSpPr/>
          <p:nvPr/>
        </p:nvSpPr>
        <p:spPr>
          <a:xfrm>
            <a:off x="9862185" y="1743710"/>
            <a:ext cx="506730" cy="506730"/>
          </a:xfrm>
          <a:prstGeom prst="ellipse">
            <a:avLst/>
          </a:prstGeom>
          <a:solidFill>
            <a:srgbClr val="8FB1E6"/>
          </a:solidFill>
          <a:ln w="18097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984180" y="1861705"/>
            <a:ext cx="262739" cy="2768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14" b="1">
                <a:solidFill>
                  <a:srgbClr val="0B1B1F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45" name="Oval 44"/>
          <p:cNvSpPr/>
          <p:nvPr/>
        </p:nvSpPr>
        <p:spPr>
          <a:xfrm>
            <a:off x="9862185" y="3070860"/>
            <a:ext cx="506730" cy="506730"/>
          </a:xfrm>
          <a:prstGeom prst="ellipse">
            <a:avLst/>
          </a:prstGeom>
          <a:solidFill>
            <a:srgbClr val="8FB1E6"/>
          </a:solidFill>
          <a:ln w="18097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9986744" y="3188855"/>
            <a:ext cx="257611" cy="2768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14" b="1">
                <a:solidFill>
                  <a:srgbClr val="0B1B1F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47" name="Oval 46"/>
          <p:cNvSpPr/>
          <p:nvPr/>
        </p:nvSpPr>
        <p:spPr>
          <a:xfrm>
            <a:off x="6725284" y="2226310"/>
            <a:ext cx="506730" cy="506730"/>
          </a:xfrm>
          <a:prstGeom prst="ellipse">
            <a:avLst/>
          </a:prstGeom>
          <a:solidFill>
            <a:srgbClr val="77CDBB"/>
          </a:solidFill>
          <a:ln w="18097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Oval 47"/>
          <p:cNvSpPr/>
          <p:nvPr/>
        </p:nvSpPr>
        <p:spPr>
          <a:xfrm>
            <a:off x="6719252" y="2220277"/>
            <a:ext cx="518795" cy="518795"/>
          </a:xfrm>
          <a:prstGeom prst="ellipse">
            <a:avLst/>
          </a:prstGeom>
          <a:noFill/>
          <a:ln w="18097">
            <a:solidFill>
              <a:srgbClr val="F2F3E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843896" y="2344305"/>
            <a:ext cx="269507" cy="2768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14" b="1">
                <a:solidFill>
                  <a:srgbClr val="0B1B1F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50" name="Oval 49"/>
          <p:cNvSpPr/>
          <p:nvPr/>
        </p:nvSpPr>
        <p:spPr>
          <a:xfrm>
            <a:off x="6725284" y="3975735"/>
            <a:ext cx="506730" cy="506730"/>
          </a:xfrm>
          <a:prstGeom prst="ellipse">
            <a:avLst/>
          </a:prstGeom>
          <a:solidFill>
            <a:srgbClr val="77CDBB"/>
          </a:solidFill>
          <a:ln w="18097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6854048" y="4093730"/>
            <a:ext cx="249202" cy="2768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14" b="1">
                <a:solidFill>
                  <a:srgbClr val="0B1B1F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11974" y="5507736"/>
            <a:ext cx="305755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8BB78"/>
                </a:solidFill>
                <a:latin typeface="Noto Sans SC"/>
                <a:ea typeface="Noto Sans SC"/>
              </a:rPr>
              <a:t>试探 A↔D：g = +9，cut 12 →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37693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第二步：负收益也要走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2418587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07 · Kernighan–Lin 改进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8524" y="6499098"/>
            <a:ext cx="561505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p8/14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5147" y="377952"/>
            <a:ext cx="811072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影片 01:36</a:t>
            </a:r>
          </a:p>
        </p:txBody>
      </p:sp>
      <p:sp>
        <p:nvSpPr>
          <p:cNvPr id="10" name="Oval 9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14307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重算 D：剩下的候选 E↔C −8、E↔B −13</a:t>
            </a:r>
          </a:p>
        </p:txBody>
      </p:sp>
      <p:sp>
        <p:nvSpPr>
          <p:cNvPr id="12" name="Oval 11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18625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KL 不在第一个负收益处停下</a:t>
            </a:r>
          </a:p>
        </p:txBody>
      </p:sp>
      <p:sp>
        <p:nvSpPr>
          <p:cNvPr id="14" name="Oval 13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22943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照样选最大者 E↔C：cut 暂升到 11</a:t>
            </a:r>
          </a:p>
        </p:txBody>
      </p:sp>
      <p:sp>
        <p:nvSpPr>
          <p:cNvPr id="16" name="Oval 15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27261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左侧已无未锁定的点，本轮试探结束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500" y="5546598"/>
            <a:ext cx="4908550" cy="4787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300" b="0">
                <a:solidFill>
                  <a:srgbClr val="BCD2D0"/>
                </a:solidFill>
                <a:latin typeface="Noto Sans SC"/>
                <a:ea typeface="Noto Sans SC"/>
              </a:rPr>
              <a:t>为什么要走负收益？在更大的图上，先变差的一步可能让后面出现更大的正收益；只有走完整轮才能看清。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91175" y="1393825"/>
            <a:ext cx="2774950" cy="3860800"/>
          </a:xfrm>
          <a:prstGeom prst="roundRect">
            <a:avLst>
              <a:gd name="adj" fmla="val 5217"/>
            </a:avLst>
          </a:prstGeom>
          <a:noFill/>
          <a:ln w="12065">
            <a:solidFill>
              <a:srgbClr val="2B515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728075" y="1393825"/>
            <a:ext cx="2774950" cy="3860800"/>
          </a:xfrm>
          <a:prstGeom prst="roundRect">
            <a:avLst>
              <a:gd name="adj" fmla="val 5217"/>
            </a:avLst>
          </a:prstGeom>
          <a:noFill/>
          <a:ln w="12065">
            <a:solidFill>
              <a:srgbClr val="2B515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361386" y="1511338"/>
            <a:ext cx="1234526" cy="211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35" b="1">
                <a:solidFill>
                  <a:srgbClr val="BCD2D0"/>
                </a:solidFill>
                <a:latin typeface="Noto Sans SC"/>
                <a:ea typeface="Noto Sans SC"/>
              </a:rPr>
              <a:t>左侧 · 2 个位置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98286" y="1511338"/>
            <a:ext cx="1234526" cy="211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35" b="1">
                <a:solidFill>
                  <a:srgbClr val="BCD2D0"/>
                </a:solidFill>
                <a:latin typeface="Noto Sans SC"/>
                <a:ea typeface="Noto Sans SC"/>
              </a:rPr>
              <a:t>右侧 · 3 个位置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10115550" y="1997075"/>
            <a:ext cx="0" cy="2654300"/>
          </a:xfrm>
          <a:prstGeom prst="line">
            <a:avLst/>
          </a:prstGeom>
          <a:ln w="30162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9819716" y="3119602"/>
            <a:ext cx="277977" cy="277977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843846" y="3127324"/>
            <a:ext cx="229717" cy="2606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20" b="1">
                <a:solidFill>
                  <a:srgbClr val="D9E4E1"/>
                </a:solidFill>
                <a:latin typeface="Noto Sans SC"/>
                <a:ea typeface="Noto Sans SC"/>
              </a:rPr>
              <a:t>5</a:t>
            </a:r>
          </a:p>
        </p:txBody>
      </p:sp>
      <p:cxnSp>
        <p:nvCxnSpPr>
          <p:cNvPr id="26" name="Connector 25"/>
          <p:cNvCxnSpPr/>
          <p:nvPr/>
        </p:nvCxnSpPr>
        <p:spPr>
          <a:xfrm flipH="1" flipV="1">
            <a:off x="6978650" y="4229100"/>
            <a:ext cx="3136900" cy="422275"/>
          </a:xfrm>
          <a:prstGeom prst="line">
            <a:avLst/>
          </a:prstGeom>
          <a:ln w="2413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387186" y="4391058"/>
            <a:ext cx="277977" cy="277977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411316" y="4398779"/>
            <a:ext cx="229717" cy="2606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20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6978650" y="1997075"/>
            <a:ext cx="3136900" cy="2232025"/>
          </a:xfrm>
          <a:prstGeom prst="line">
            <a:avLst/>
          </a:prstGeom>
          <a:ln w="2413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8499042" y="3036260"/>
            <a:ext cx="277977" cy="277977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523172" y="3043982"/>
            <a:ext cx="229717" cy="2606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20" b="1">
                <a:solidFill>
                  <a:srgbClr val="D9E4E1"/>
                </a:solidFill>
                <a:latin typeface="Noto Sans SC"/>
                <a:ea typeface="Noto Sans SC"/>
              </a:rPr>
              <a:t>4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6978650" y="2479675"/>
            <a:ext cx="0" cy="1749425"/>
          </a:xfrm>
          <a:prstGeom prst="line">
            <a:avLst/>
          </a:prstGeom>
          <a:ln w="30162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6682816" y="3149765"/>
            <a:ext cx="277977" cy="277977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706946" y="3157486"/>
            <a:ext cx="229717" cy="2606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20" b="1">
                <a:solidFill>
                  <a:srgbClr val="D9E4E1"/>
                </a:solidFill>
                <a:latin typeface="Noto Sans SC"/>
                <a:ea typeface="Noto Sans SC"/>
              </a:rPr>
              <a:t>2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6978650" y="3324225"/>
            <a:ext cx="3136900" cy="904875"/>
          </a:xfrm>
          <a:prstGeom prst="line">
            <a:avLst/>
          </a:prstGeom>
          <a:ln w="2413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364639" y="3421339"/>
            <a:ext cx="277977" cy="277977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388769" y="3429061"/>
            <a:ext cx="229717" cy="2606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20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978650" y="2479675"/>
            <a:ext cx="3136900" cy="844550"/>
          </a:xfrm>
          <a:prstGeom prst="line">
            <a:avLst/>
          </a:prstGeom>
          <a:ln w="2413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8448886" y="2545875"/>
            <a:ext cx="277977" cy="277977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473016" y="2553597"/>
            <a:ext cx="229717" cy="2606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20" b="1">
                <a:solidFill>
                  <a:srgbClr val="D9E4E1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41" name="Oval 40"/>
          <p:cNvSpPr/>
          <p:nvPr/>
        </p:nvSpPr>
        <p:spPr>
          <a:xfrm>
            <a:off x="9862185" y="4398010"/>
            <a:ext cx="506730" cy="506730"/>
          </a:xfrm>
          <a:prstGeom prst="ellipse">
            <a:avLst/>
          </a:prstGeom>
          <a:solidFill>
            <a:srgbClr val="8FB1E6"/>
          </a:solidFill>
          <a:ln w="18097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9856152" y="4391977"/>
            <a:ext cx="518795" cy="518795"/>
          </a:xfrm>
          <a:prstGeom prst="ellipse">
            <a:avLst/>
          </a:prstGeom>
          <a:noFill/>
          <a:ln w="18097">
            <a:solidFill>
              <a:srgbClr val="F2F3E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9987461" y="4516005"/>
            <a:ext cx="256176" cy="2768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14" b="1">
                <a:solidFill>
                  <a:srgbClr val="0B1B1F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44" name="Oval 43"/>
          <p:cNvSpPr/>
          <p:nvPr/>
        </p:nvSpPr>
        <p:spPr>
          <a:xfrm>
            <a:off x="9862185" y="1743710"/>
            <a:ext cx="506730" cy="506730"/>
          </a:xfrm>
          <a:prstGeom prst="ellipse">
            <a:avLst/>
          </a:prstGeom>
          <a:solidFill>
            <a:srgbClr val="8FB1E6"/>
          </a:solidFill>
          <a:ln w="18097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9984180" y="1861705"/>
            <a:ext cx="262739" cy="2768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14" b="1">
                <a:solidFill>
                  <a:srgbClr val="0B1B1F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46" name="Oval 45"/>
          <p:cNvSpPr/>
          <p:nvPr/>
        </p:nvSpPr>
        <p:spPr>
          <a:xfrm>
            <a:off x="6725284" y="3975735"/>
            <a:ext cx="506730" cy="506730"/>
          </a:xfrm>
          <a:prstGeom prst="ellipse">
            <a:avLst/>
          </a:prstGeom>
          <a:solidFill>
            <a:srgbClr val="77CDBB"/>
          </a:solidFill>
          <a:ln w="18097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6719252" y="3969702"/>
            <a:ext cx="518795" cy="518795"/>
          </a:xfrm>
          <a:prstGeom prst="ellipse">
            <a:avLst/>
          </a:prstGeom>
          <a:noFill/>
          <a:ln w="18097">
            <a:solidFill>
              <a:srgbClr val="F2F3E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849844" y="4093730"/>
            <a:ext cx="257611" cy="2768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14" b="1">
                <a:solidFill>
                  <a:srgbClr val="0B1B1F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49" name="Oval 48"/>
          <p:cNvSpPr/>
          <p:nvPr/>
        </p:nvSpPr>
        <p:spPr>
          <a:xfrm>
            <a:off x="6725284" y="2226310"/>
            <a:ext cx="506730" cy="506730"/>
          </a:xfrm>
          <a:prstGeom prst="ellipse">
            <a:avLst/>
          </a:prstGeom>
          <a:solidFill>
            <a:srgbClr val="77CDBB"/>
          </a:solidFill>
          <a:ln w="18097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Oval 49"/>
          <p:cNvSpPr/>
          <p:nvPr/>
        </p:nvSpPr>
        <p:spPr>
          <a:xfrm>
            <a:off x="6719252" y="2220277"/>
            <a:ext cx="518795" cy="518795"/>
          </a:xfrm>
          <a:prstGeom prst="ellipse">
            <a:avLst/>
          </a:prstGeom>
          <a:noFill/>
          <a:ln w="18097">
            <a:solidFill>
              <a:srgbClr val="F2F3E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6843896" y="2344305"/>
            <a:ext cx="269507" cy="2768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14" b="1">
                <a:solidFill>
                  <a:srgbClr val="0B1B1F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52" name="Oval 51"/>
          <p:cNvSpPr/>
          <p:nvPr/>
        </p:nvSpPr>
        <p:spPr>
          <a:xfrm>
            <a:off x="9862185" y="3070860"/>
            <a:ext cx="506730" cy="506730"/>
          </a:xfrm>
          <a:prstGeom prst="ellipse">
            <a:avLst/>
          </a:prstGeom>
          <a:solidFill>
            <a:srgbClr val="8FB1E6"/>
          </a:solidFill>
          <a:ln w="18097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Oval 52"/>
          <p:cNvSpPr/>
          <p:nvPr/>
        </p:nvSpPr>
        <p:spPr>
          <a:xfrm>
            <a:off x="9856152" y="3064827"/>
            <a:ext cx="518795" cy="518795"/>
          </a:xfrm>
          <a:prstGeom prst="ellipse">
            <a:avLst/>
          </a:prstGeom>
          <a:noFill/>
          <a:ln w="18097">
            <a:solidFill>
              <a:srgbClr val="F2F3E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9990948" y="3188855"/>
            <a:ext cx="249202" cy="2768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14" b="1">
                <a:solidFill>
                  <a:srgbClr val="0B1B1F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01129" y="5507736"/>
            <a:ext cx="3279241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B7B72"/>
                </a:solidFill>
                <a:latin typeface="Noto Sans SC"/>
                <a:ea typeface="Noto Sans SC"/>
              </a:rPr>
              <a:t>试探 E↔C：g = −8，cut 暂升到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27025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最佳前缀与回退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2418587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07 · Kernighan–Lin 改进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8524" y="6499098"/>
            <a:ext cx="561505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p9/14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5147" y="377952"/>
            <a:ext cx="811072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影片 01:52</a:t>
            </a:r>
          </a:p>
        </p:txBody>
      </p:sp>
      <p:sp>
        <p:nvSpPr>
          <p:cNvPr id="10" name="Oval 9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14307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累计收益：k=0 → 0，k=1 → +9，k=2 → +1</a:t>
            </a:r>
          </a:p>
        </p:txBody>
      </p:sp>
      <p:sp>
        <p:nvSpPr>
          <p:cNvPr id="12" name="Oval 11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18625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取最大且只取连续的前 k 步：k* = 1</a:t>
            </a:r>
          </a:p>
        </p:txBody>
      </p:sp>
      <p:sp>
        <p:nvSpPr>
          <p:cNvPr id="14" name="Oval 13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22943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从本轮起点只应用前 1 步</a:t>
            </a:r>
          </a:p>
        </p:txBody>
      </p:sp>
      <p:sp>
        <p:nvSpPr>
          <p:cNvPr id="16" name="Oval 15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27261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77CDBB"/>
                </a:solidFill>
                <a:latin typeface="Noto Sans SC"/>
                <a:ea typeface="Noto Sans SC"/>
              </a:rPr>
              <a:t>接受 ABC | DE，cut = 3；第 2 步被撤回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0000" y="1587500"/>
            <a:ext cx="4064000" cy="2921000"/>
          </a:xfrm>
          <a:prstGeom prst="roundRect">
            <a:avLst>
              <a:gd name="adj" fmla="val 3043"/>
            </a:avLst>
          </a:prstGeom>
          <a:solidFill>
            <a:srgbClr val="0D272D">
              <a:alpha val="96000"/>
            </a:srgbClr>
          </a:solidFill>
          <a:ln w="12700">
            <a:solidFill>
              <a:srgbClr val="24474D">
                <a:alpha val="9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06209" y="1698244"/>
            <a:ext cx="1717192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D8BB78"/>
                </a:solidFill>
                <a:latin typeface="Noto Sans SC"/>
                <a:ea typeface="Noto Sans SC"/>
              </a:rPr>
              <a:t>累计收益（前 k 步）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667500" y="3492500"/>
            <a:ext cx="3492500" cy="0"/>
          </a:xfrm>
          <a:prstGeom prst="line">
            <a:avLst/>
          </a:prstGeom>
          <a:ln w="12700">
            <a:solidFill>
              <a:srgbClr val="3B5A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73698" y="3400552"/>
            <a:ext cx="176022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0">
                <a:solidFill>
                  <a:srgbClr val="BCD2D0"/>
                </a:solidFill>
                <a:latin typeface="Noto Sans SC"/>
                <a:ea typeface="Noto Sans SC"/>
              </a:rPr>
              <a:t>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21500" y="347345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BCD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086346" y="3196336"/>
            <a:ext cx="2418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BCD2D0"/>
                </a:solidFill>
                <a:latin typeface="Noto Sans SC"/>
                <a:ea typeface="Noto Sans SC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3539" y="4086098"/>
            <a:ext cx="44742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BCD2D0"/>
                </a:solidFill>
                <a:latin typeface="Noto Sans SC"/>
                <a:ea typeface="Noto Sans SC"/>
              </a:rPr>
              <a:t>k = 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37500" y="2463800"/>
            <a:ext cx="571500" cy="1028700"/>
          </a:xfrm>
          <a:prstGeom prst="roundRect">
            <a:avLst>
              <a:gd name="adj" fmla="val 6666"/>
            </a:avLst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042402" y="2167636"/>
            <a:ext cx="36169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8BB78"/>
                </a:solidFill>
                <a:latin typeface="Noto Sans SC"/>
                <a:ea typeface="Noto Sans SC"/>
              </a:rPr>
              <a:t>+9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99539" y="4086098"/>
            <a:ext cx="44742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BCD2D0"/>
                </a:solidFill>
                <a:latin typeface="Noto Sans SC"/>
                <a:ea typeface="Noto Sans SC"/>
              </a:rPr>
              <a:t>k = 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48600" y="2032000"/>
            <a:ext cx="749300" cy="2349500"/>
          </a:xfrm>
          <a:prstGeom prst="roundRect">
            <a:avLst>
              <a:gd name="adj" fmla="val 10169"/>
            </a:avLst>
          </a:prstGeom>
          <a:noFill/>
          <a:ln w="19050">
            <a:solidFill>
              <a:srgbClr val="D8BB7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953500" y="3378200"/>
            <a:ext cx="571500" cy="114300"/>
          </a:xfrm>
          <a:prstGeom prst="roundRect">
            <a:avLst>
              <a:gd name="adj" fmla="val 33333"/>
            </a:avLst>
          </a:prstGeom>
          <a:solidFill>
            <a:srgbClr val="77C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058402" y="3082036"/>
            <a:ext cx="36169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77CDBB"/>
                </a:solidFill>
                <a:latin typeface="Noto Sans SC"/>
                <a:ea typeface="Noto Sans SC"/>
              </a:rPr>
              <a:t>+1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15539" y="4086098"/>
            <a:ext cx="44742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BCD2D0"/>
                </a:solidFill>
                <a:latin typeface="Noto Sans SC"/>
                <a:ea typeface="Noto Sans SC"/>
              </a:rPr>
              <a:t>k = 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71416" y="4864100"/>
            <a:ext cx="2421166" cy="292100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12700">
            <a:solidFill>
              <a:srgbClr val="77C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217136" y="4924298"/>
            <a:ext cx="2329726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77CDBB"/>
                </a:solidFill>
                <a:latin typeface="Noto Sans SC"/>
                <a:ea typeface="Noto Sans SC"/>
              </a:rPr>
              <a:t>接受前 1 步：ABC | DE，cut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37693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第二轮：空前缀与停止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2418587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07 · Kernighan–Lin 改进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1115" y="6499098"/>
            <a:ext cx="658914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p10/14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5147" y="377952"/>
            <a:ext cx="811072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影片 02:17</a:t>
            </a:r>
          </a:p>
        </p:txBody>
      </p:sp>
      <p:sp>
        <p:nvSpPr>
          <p:cNvPr id="10" name="Oval 9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14307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从 ABC | DE 出发，全部解锁</a:t>
            </a:r>
          </a:p>
        </p:txBody>
      </p:sp>
      <p:sp>
        <p:nvSpPr>
          <p:cNvPr id="12" name="Oval 11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18625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试探：E↔C −8，D↔B +2</a:t>
            </a:r>
          </a:p>
        </p:txBody>
      </p:sp>
      <p:sp>
        <p:nvSpPr>
          <p:cNvPr id="14" name="Oval 13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22943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累计 −8、−6：都不如什么都不做</a:t>
            </a:r>
          </a:p>
        </p:txBody>
      </p:sp>
      <p:sp>
        <p:nvSpPr>
          <p:cNvPr id="16" name="Oval 15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27261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D8BB78"/>
                </a:solidFill>
                <a:latin typeface="Noto Sans SC"/>
                <a:ea typeface="Noto Sans SC"/>
              </a:rPr>
              <a:t>最佳前缀为空（k = 0）→ 算法停止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0000" y="1587500"/>
            <a:ext cx="4064000" cy="2921000"/>
          </a:xfrm>
          <a:prstGeom prst="roundRect">
            <a:avLst>
              <a:gd name="adj" fmla="val 3043"/>
            </a:avLst>
          </a:prstGeom>
          <a:solidFill>
            <a:srgbClr val="0D272D">
              <a:alpha val="96000"/>
            </a:srgbClr>
          </a:solidFill>
          <a:ln w="12700">
            <a:solidFill>
              <a:srgbClr val="24474D">
                <a:alpha val="9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06209" y="1698244"/>
            <a:ext cx="15290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D8BB78"/>
                </a:solidFill>
                <a:latin typeface="Noto Sans SC"/>
                <a:ea typeface="Noto Sans SC"/>
              </a:rPr>
              <a:t>第二轮的累计收益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667500" y="3492500"/>
            <a:ext cx="3492500" cy="0"/>
          </a:xfrm>
          <a:prstGeom prst="line">
            <a:avLst/>
          </a:prstGeom>
          <a:ln w="12700">
            <a:solidFill>
              <a:srgbClr val="3B5A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73698" y="3400552"/>
            <a:ext cx="176022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0">
                <a:solidFill>
                  <a:srgbClr val="BCD2D0"/>
                </a:solidFill>
                <a:latin typeface="Noto Sans SC"/>
                <a:ea typeface="Noto Sans SC"/>
              </a:rPr>
              <a:t>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21500" y="347345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086346" y="3196336"/>
            <a:ext cx="2418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8BB78"/>
                </a:solidFill>
                <a:latin typeface="Noto Sans SC"/>
                <a:ea typeface="Noto Sans SC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3539" y="4086098"/>
            <a:ext cx="44742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BCD2D0"/>
                </a:solidFill>
                <a:latin typeface="Noto Sans SC"/>
                <a:ea typeface="Noto Sans SC"/>
              </a:rPr>
              <a:t>k = 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32600" y="2032000"/>
            <a:ext cx="749300" cy="2349500"/>
          </a:xfrm>
          <a:prstGeom prst="roundRect">
            <a:avLst>
              <a:gd name="adj" fmla="val 10169"/>
            </a:avLst>
          </a:prstGeom>
          <a:noFill/>
          <a:ln w="19050">
            <a:solidFill>
              <a:srgbClr val="D8BB7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7937500" y="3492500"/>
            <a:ext cx="571500" cy="914400"/>
          </a:xfrm>
          <a:prstGeom prst="roundRect">
            <a:avLst>
              <a:gd name="adj" fmla="val 6666"/>
            </a:avLst>
          </a:prstGeom>
          <a:solidFill>
            <a:srgbClr val="DB7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064754" y="4453636"/>
            <a:ext cx="31699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B7B72"/>
                </a:solidFill>
                <a:latin typeface="Noto Sans SC"/>
                <a:ea typeface="Noto Sans SC"/>
              </a:rPr>
              <a:t>-8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99539" y="4086098"/>
            <a:ext cx="44742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BCD2D0"/>
                </a:solidFill>
                <a:latin typeface="Noto Sans SC"/>
                <a:ea typeface="Noto Sans SC"/>
              </a:rPr>
              <a:t>k = 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53500" y="3492500"/>
            <a:ext cx="571500" cy="685800"/>
          </a:xfrm>
          <a:prstGeom prst="roundRect">
            <a:avLst>
              <a:gd name="adj" fmla="val 6666"/>
            </a:avLst>
          </a:prstGeom>
          <a:solidFill>
            <a:srgbClr val="DB7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080754" y="4225036"/>
            <a:ext cx="31699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B7B72"/>
                </a:solidFill>
                <a:latin typeface="Noto Sans SC"/>
                <a:ea typeface="Noto Sans SC"/>
              </a:rPr>
              <a:t>-6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15539" y="4086098"/>
            <a:ext cx="44742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BCD2D0"/>
                </a:solidFill>
                <a:latin typeface="Noto Sans SC"/>
                <a:ea typeface="Noto Sans SC"/>
              </a:rPr>
              <a:t>k = 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85812" y="4864100"/>
            <a:ext cx="2592374" cy="292100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12700">
            <a:solidFill>
              <a:srgbClr val="D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131532" y="4924298"/>
            <a:ext cx="2500934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D8BB78"/>
                </a:solidFill>
                <a:latin typeface="Noto Sans SC"/>
                <a:ea typeface="Noto Sans SC"/>
              </a:rPr>
              <a:t>空前缀 k = 0 胜出 → 停止，cut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19913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伪代码逐行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2418587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07 · Kernighan–Lin 改进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1115" y="6499098"/>
            <a:ext cx="658914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p11/14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5147" y="377952"/>
            <a:ext cx="811072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影片 02:29</a:t>
            </a:r>
          </a:p>
        </p:txBody>
      </p:sp>
      <p:sp>
        <p:nvSpPr>
          <p:cNvPr id="10" name="Oval 9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14307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第 1、8 行：一轮接一轮，直到最佳前缀为空</a:t>
            </a:r>
          </a:p>
        </p:txBody>
      </p:sp>
      <p:sp>
        <p:nvSpPr>
          <p:cNvPr id="12" name="Oval 11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18625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第 3–5 行：负收益也照走，交换后锁定并更新 D</a:t>
            </a:r>
          </a:p>
        </p:txBody>
      </p:sp>
      <p:sp>
        <p:nvSpPr>
          <p:cNvPr id="14" name="Oval 13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22943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第 6–7 行：回退到起点，只应用最佳前缀</a:t>
            </a:r>
          </a:p>
        </p:txBody>
      </p:sp>
      <p:sp>
        <p:nvSpPr>
          <p:cNvPr id="16" name="Oval 15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27261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每个点每轮最多交换一次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1574800"/>
            <a:ext cx="5461000" cy="3530600"/>
          </a:xfrm>
          <a:prstGeom prst="roundRect">
            <a:avLst>
              <a:gd name="adj" fmla="val 2158"/>
            </a:avLst>
          </a:prstGeom>
          <a:solidFill>
            <a:srgbClr val="0A1C1F"/>
          </a:solidFill>
          <a:ln w="12700">
            <a:solidFill>
              <a:srgbClr val="244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089015" y="1762506"/>
            <a:ext cx="161353" cy="188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F8F8F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9210" y="1723644"/>
            <a:ext cx="171416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DFEADF"/>
                </a:solidFill>
                <a:latin typeface="Noto Sans SC"/>
                <a:ea typeface="Noto Sans SC"/>
              </a:rPr>
              <a:t>repeat:                      #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86699" y="1723644"/>
            <a:ext cx="8178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DFEADF"/>
                </a:solidFill>
                <a:latin typeface="Noto Sans SC"/>
                <a:ea typeface="Noto Sans SC"/>
              </a:rPr>
              <a:t>每次一轮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97899" y="1723644"/>
            <a:ext cx="523265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DFEADF"/>
                </a:solidFill>
                <a:latin typeface="Noto Sans SC"/>
                <a:ea typeface="Noto Sans SC"/>
              </a:rPr>
              <a:t> pass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9015" y="2168906"/>
            <a:ext cx="161353" cy="188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F8F8F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9210" y="2130044"/>
            <a:ext cx="186334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DFEADF"/>
                </a:solidFill>
                <a:latin typeface="Noto Sans SC"/>
                <a:ea typeface="Noto Sans SC"/>
              </a:rPr>
              <a:t> 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8864" y="2130044"/>
            <a:ext cx="22402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DFEADF"/>
                </a:solidFill>
                <a:latin typeface="Noto Sans SC"/>
                <a:ea typeface="Noto Sans SC"/>
              </a:rPr>
              <a:t>从当前分组开始，全部解锁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9015" y="2575306"/>
            <a:ext cx="161353" cy="188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F8F8F"/>
                </a:solidFill>
                <a:latin typeface="Noto Sans SC"/>
                <a:ea typeface="Noto Sans SC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9210" y="2536444"/>
            <a:ext cx="674573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DFEADF"/>
                </a:solidFill>
                <a:latin typeface="Noto Sans SC"/>
                <a:ea typeface="Noto Sans SC"/>
              </a:rPr>
              <a:t>  while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7103" y="2536444"/>
            <a:ext cx="17068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DFEADF"/>
                </a:solidFill>
                <a:latin typeface="Noto Sans SC"/>
                <a:ea typeface="Noto Sans SC"/>
              </a:rPr>
              <a:t>两侧都有未锁定的点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7303" y="2536444"/>
            <a:ext cx="156108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DFEADF"/>
                </a:solidFill>
                <a:latin typeface="Noto Sans SC"/>
                <a:ea typeface="Noto Sans SC"/>
              </a:rPr>
              <a:t>: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2908300"/>
            <a:ext cx="5461000" cy="393700"/>
          </a:xfrm>
          <a:prstGeom prst="rect">
            <a:avLst/>
          </a:prstGeom>
          <a:solidFill>
            <a:srgbClr val="2A3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5943600" y="2908300"/>
            <a:ext cx="38100" cy="3937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089015" y="2981706"/>
            <a:ext cx="161353" cy="188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F8F8F"/>
                </a:solidFill>
                <a:latin typeface="Noto Sans SC"/>
                <a:ea typeface="Noto Sans SC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9210" y="2942844"/>
            <a:ext cx="265988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D8BB78"/>
                </a:solidFill>
                <a:latin typeface="Noto Sans SC"/>
                <a:ea typeface="Noto Sans SC"/>
              </a:rPr>
              <a:t>   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8518" y="2942844"/>
            <a:ext cx="9956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D8BB78"/>
                </a:solidFill>
                <a:latin typeface="Noto Sans SC"/>
                <a:ea typeface="Noto Sans SC"/>
              </a:rPr>
              <a:t>在未锁定的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27518" y="2942844"/>
            <a:ext cx="605764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D8BB78"/>
                </a:solidFill>
                <a:latin typeface="Noto Sans SC"/>
                <a:ea typeface="Noto Sans SC"/>
              </a:rPr>
              <a:t> (a, b)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26603" y="2942844"/>
            <a:ext cx="4622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D8BB78"/>
                </a:solidFill>
                <a:latin typeface="Noto Sans SC"/>
                <a:ea typeface="Noto Sans SC"/>
              </a:rPr>
              <a:t>中选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82203" y="2942844"/>
            <a:ext cx="286613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D8BB78"/>
                </a:solidFill>
                <a:latin typeface="Noto Sans SC"/>
                <a:ea typeface="Noto Sans SC"/>
              </a:rPr>
              <a:t> g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62137" y="2942844"/>
            <a:ext cx="9956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D8BB78"/>
                </a:solidFill>
                <a:latin typeface="Noto Sans SC"/>
                <a:ea typeface="Noto Sans SC"/>
              </a:rPr>
              <a:t>最大的一对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3314700"/>
            <a:ext cx="5461000" cy="393700"/>
          </a:xfrm>
          <a:prstGeom prst="rect">
            <a:avLst/>
          </a:prstGeom>
          <a:solidFill>
            <a:srgbClr val="2A3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5943600" y="3314700"/>
            <a:ext cx="38100" cy="3937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089015" y="3388105"/>
            <a:ext cx="161353" cy="188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F8F8F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9210" y="3349244"/>
            <a:ext cx="265988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D8BB78"/>
                </a:solidFill>
                <a:latin typeface="Noto Sans SC"/>
                <a:ea typeface="Noto Sans SC"/>
              </a:rPr>
              <a:t>   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8518" y="3349244"/>
            <a:ext cx="4622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D8BB78"/>
                </a:solidFill>
                <a:latin typeface="Noto Sans SC"/>
                <a:ea typeface="Noto Sans SC"/>
              </a:rPr>
              <a:t>交换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94118" y="3349244"/>
            <a:ext cx="445744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D8BB78"/>
                </a:solidFill>
                <a:latin typeface="Noto Sans SC"/>
                <a:ea typeface="Noto Sans SC"/>
              </a:rPr>
              <a:t> a, 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33183" y="3349244"/>
            <a:ext cx="18846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D8BB78"/>
                </a:solidFill>
                <a:latin typeface="Noto Sans SC"/>
                <a:ea typeface="Noto Sans SC"/>
              </a:rPr>
              <a:t>（试探），锁定，更新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11183" y="3349244"/>
            <a:ext cx="268833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D8BB78"/>
                </a:solidFill>
                <a:latin typeface="Noto Sans SC"/>
                <a:ea typeface="Noto Sans SC"/>
              </a:rPr>
              <a:t> 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89015" y="3794505"/>
            <a:ext cx="161353" cy="188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F8F8F"/>
                </a:solidFill>
                <a:latin typeface="Noto Sans SC"/>
                <a:ea typeface="Noto Sans SC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79210" y="3755644"/>
            <a:ext cx="186334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DFEADF"/>
                </a:solidFill>
                <a:latin typeface="Noto Sans SC"/>
                <a:ea typeface="Noto Sans SC"/>
              </a:rPr>
              <a:t> 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58864" y="3755644"/>
            <a:ext cx="18846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DFEADF"/>
                </a:solidFill>
                <a:latin typeface="Noto Sans SC"/>
                <a:ea typeface="Noto Sans SC"/>
              </a:rPr>
              <a:t>取累计收益最大的前缀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36864" y="3755644"/>
            <a:ext cx="244652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DFEADF"/>
                </a:solidFill>
                <a:latin typeface="Noto Sans SC"/>
                <a:ea typeface="Noto Sans SC"/>
              </a:rPr>
              <a:t> 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74837" y="3755644"/>
            <a:ext cx="6400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DFEADF"/>
                </a:solidFill>
                <a:latin typeface="Noto Sans SC"/>
                <a:ea typeface="Noto Sans SC"/>
              </a:rPr>
              <a:t>（允许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08237" y="3755644"/>
            <a:ext cx="521665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DFEADF"/>
                </a:solidFill>
                <a:latin typeface="Noto Sans SC"/>
                <a:ea typeface="Noto Sans SC"/>
              </a:rPr>
              <a:t> k = 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23222" y="3755644"/>
            <a:ext cx="2844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DFEADF"/>
                </a:solidFill>
                <a:latin typeface="Noto Sans SC"/>
                <a:ea typeface="Noto Sans SC"/>
              </a:rPr>
              <a:t>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89015" y="4200906"/>
            <a:ext cx="161353" cy="188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F8F8F"/>
                </a:solidFill>
                <a:latin typeface="Noto Sans SC"/>
                <a:ea typeface="Noto Sans SC"/>
              </a:rPr>
              <a:t>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79210" y="4162044"/>
            <a:ext cx="186334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DFEADF"/>
                </a:solidFill>
                <a:latin typeface="Noto Sans SC"/>
                <a:ea typeface="Noto Sans SC"/>
              </a:rPr>
              <a:t> 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58864" y="4162044"/>
            <a:ext cx="17068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DFEADF"/>
                </a:solidFill>
                <a:latin typeface="Noto Sans SC"/>
                <a:ea typeface="Noto Sans SC"/>
              </a:rPr>
              <a:t>从本轮起点只应用前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59064" y="4162044"/>
            <a:ext cx="2844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DFEADF"/>
                </a:solidFill>
                <a:latin typeface="Noto Sans SC"/>
                <a:ea typeface="Noto Sans SC"/>
              </a:rPr>
              <a:t> k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36864" y="4162044"/>
            <a:ext cx="2844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DFEADF"/>
                </a:solidFill>
                <a:latin typeface="Noto Sans SC"/>
                <a:ea typeface="Noto Sans SC"/>
              </a:rPr>
              <a:t>步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89015" y="4607306"/>
            <a:ext cx="161353" cy="188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F8F8F"/>
                </a:solidFill>
                <a:latin typeface="Noto Sans SC"/>
                <a:ea typeface="Noto Sans SC"/>
              </a:rPr>
              <a:t>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79210" y="4568444"/>
            <a:ext cx="904468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DFEADF"/>
                </a:solidFill>
                <a:latin typeface="Noto Sans SC"/>
                <a:ea typeface="Noto Sans SC"/>
              </a:rPr>
              <a:t>until k = 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16357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常见错误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2418587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07 · Kernighan–Lin 改进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1115" y="6499098"/>
            <a:ext cx="658914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p12/14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忘记减 2w：把 g(E,D) 算成 +9，误以为 E↔D 有利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18625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遇到负收益就停：第一轮在 cut 3 之后提前结束，看不到完整前缀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2943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把“任意正收益步”当前缀：前缀必须从第 1 步起连续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27261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把试探状态当结果：报告 cut 11 而不是回退后的 3</a:t>
            </a:r>
          </a:p>
        </p:txBody>
      </p:sp>
      <p:sp>
        <p:nvSpPr>
          <p:cNvPr id="17" name="Oval 16"/>
          <p:cNvSpPr/>
          <p:nvPr/>
        </p:nvSpPr>
        <p:spPr>
          <a:xfrm>
            <a:off x="711200" y="32666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31579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以为人数平衡等于面积平衡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27025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适用范围与局限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2418587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07 · Kernighan–Lin 改进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1115" y="6499098"/>
            <a:ext cx="658914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p13/14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KL 是启发式：在这张图上得到 cut 3，不代表一般能找到全局最优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18625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结果依赖初始分组：比较方法要从同一个种子出发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2943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每步枚举所有跨侧对：朴素实现每步约 O(n</a:t>
            </a:r>
            <a:r>
              <a:rPr sz="1700" b="0" baseline="30000">
                <a:solidFill>
                  <a:srgbClr val="F2F3E9"/>
                </a:solidFill>
                <a:latin typeface="Noto Sans SC"/>
                <a:ea typeface="Noto Sans SC"/>
              </a:rPr>
              <a:t>2</a:t>
            </a: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)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27261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只保持两侧节点数；不同单元面积需另加约束</a:t>
            </a:r>
          </a:p>
        </p:txBody>
      </p:sp>
      <p:sp>
        <p:nvSpPr>
          <p:cNvPr id="17" name="Oval 16"/>
          <p:cNvSpPr/>
          <p:nvPr/>
        </p:nvSpPr>
        <p:spPr>
          <a:xfrm>
            <a:off x="711200" y="32666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31579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EDA 中常作为划分的局部改进步骤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9245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2418587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07 · Kernighan–Lin 改进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1115" y="6499098"/>
            <a:ext cx="658914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p14/14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1897380"/>
            <a:ext cx="10350500" cy="552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3000" b="0">
                <a:solidFill>
                  <a:srgbClr val="D8BB78"/>
                </a:solidFill>
                <a:latin typeface="Noto Sans SC"/>
                <a:ea typeface="Noto Sans SC"/>
              </a:rPr>
              <a:t>试探可以变差，接受只看最佳前缀。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2782824"/>
            <a:ext cx="10280650" cy="3498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成对收益 g = D(a) + D(b) − 2w(a,b)；每轮锁定、回退、再来；空前缀即停止。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3323209"/>
            <a:ext cx="10280650" cy="3498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下一模块 FM：一次只移动一个点，用平衡窗口代替“一换一”。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07 Kernighan–Lin 改进</dc:title>
  <dc:subject/>
  <dc:creator>Learning Clustering（统一课程）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