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这一模块从单点出发，每次把最亲近的两个簇合在一起。我们会手算 G01 的完整轨迹，解释平票规则，看清原网页比较器的错误，并预览容量约束。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输入是图、目标簇数 K 和可选的容量。每一步合并最亲近的合法一对。停止有两种情况：簇数达到 K，或者已经没有合法的正亲和度对。后一种情况要如实报告没有达到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开始时每个节点自己是一个簇，所有边都被切断，cut 等于 18。两个簇的亲和度是它们之间所有边权的和。合并以后这些边成为内部边，所以每次合并，cut 恰好减少这一次的亲和度。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每一步用选择键比较候选：先比亲和度，大的优先；并列时比较成员名字。第一步 A–B 和 D–E 都是 5，A 排在 D 前，所以合并 A–B，cut 从 18 降到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和 B 收缩成超节点之后，A–C 和 B–C 是两条连到 C 的平行边，加起来是 5，又和 D–E 并列。比较成员 [A, B] 与 [D]，选 AB–C，cut 从 13 降到 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第三步合并 D–E，cut 从 8 降到 3，簇数达到 2，停止。结果是 ABC 对 DE，剩下被切断的是 C–D 和 C–E。如果 K 等于 3，就在第二步之后停下，cut 是 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原网页的 JavaScript 用小于号比较数组。JavaScript 会先把数组转成字符串，再逐个字符比较，于是负 1 开头的字符串排在负 5 前面，亲和度 1 的 A–C 被当成更好的一对。四个配置都因此出错。原作的 Python 参考是对的。本课程改成逐字段比较，并加了多位数和小数的回归测试。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容量为 2 时，第二步想把 C 加入 AB，大小变成 3，超过容量，被阻止，于是转选 D–E。之后再也没有合法的合并，停在三个簇，cut 8。这个结果是合法的，但没有达到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伪代码中，第二行检查是否达到 K；第三、四行列出候选并过滤超容量的；第五行在没有合法候选时停止；第六行逐字段比较选择键；第七行收缩，cut 下降这一次的亲和度。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常见错误：把数组当字符串比较；为了凑够 K 强行做超容量的合并；收缩后忘了把平行边相加；以及看到这张图得到 cut 3，就以为贪心总能找到最优。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贪心合并不回撤，早期的错误无法纠正，下一模块会给出反例。它依赖评分与平票规则。朴素实现每一步都要检查所有簇对。在芯片设计中，这类合并常用来先把大量单元粗化成较少的簇，同时限制簇的面积。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小结：每次合并最亲近的合法一对，数值优先、平票看名字。每次合并 cut 下降这一次的亲和度。达到 K 或者没有合法的正亲和度对时停止，并如实报告。下一模块讨论容量：到底是装不下，还是贪心走错了路。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6679" y="2310892"/>
            <a:ext cx="43586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合并，再合并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6150" y="3335782"/>
            <a:ext cx="337969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Greedy pair merge · 凝聚式聚类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8008" y="4136644"/>
            <a:ext cx="413598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thy031（Issue #2）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输入：带权无向图、目标簇数 K、可选容量 C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每一步：合并亲和度 &gt; 0 且合法的“最亲近”一对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停止：簇数达到 K，或没有合法的正亲和度对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输出：簇、cut、是否达到 K、停止原因、每步记录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784091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绝不为凑 K 强行合并，也不撤销已做的合并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674654" y="1841500"/>
            <a:ext cx="2164367" cy="147570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600167" y="15478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5567" y="1555974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4654" y="1989070"/>
            <a:ext cx="1328134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1763" y="25151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37163" y="25232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002788" y="1841500"/>
            <a:ext cx="836233" cy="182003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413083" y="25997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38483" y="260788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02788" y="3661535"/>
            <a:ext cx="2213557" cy="103299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27710" y="38245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3110" y="3832665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756838" y="3661535"/>
            <a:ext cx="245950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884287" y="43045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09687" y="431267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756838" y="4694528"/>
            <a:ext cx="2459507" cy="639472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878636" y="49463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904036" y="49544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420654" y="173507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39825" y="184657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0" name="Oval 39"/>
          <p:cNvSpPr/>
          <p:nvPr/>
        </p:nvSpPr>
        <p:spPr>
          <a:xfrm>
            <a:off x="8585021" y="1587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00737" y="16990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Oval 41"/>
          <p:cNvSpPr/>
          <p:nvPr/>
        </p:nvSpPr>
        <p:spPr>
          <a:xfrm>
            <a:off x="7748788" y="3407535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67203" y="3519041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Oval 43"/>
          <p:cNvSpPr/>
          <p:nvPr/>
        </p:nvSpPr>
        <p:spPr>
          <a:xfrm>
            <a:off x="9962345" y="4440528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074498" y="4552034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7502838" y="50800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625678" y="51915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32617" y="5880100"/>
            <a:ext cx="1479765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878337" y="5940298"/>
            <a:ext cx="138832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B7B72"/>
                </a:solidFill>
                <a:latin typeface="Noto Sans SC"/>
                <a:ea typeface="Noto Sans SC"/>
              </a:rPr>
              <a:t>单点簇：cut =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078732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单点簇、K 与簇间亲和度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00:19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单点簇：开始时每个节点自成一簇，cut = 全部边权 18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簇间亲和度：两个簇之间所有边权之和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收缩：两簇之间的边变成内部边，平行边相加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每次合并，cut 恰好下降这一次的亲和度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674654" y="1841500"/>
            <a:ext cx="2164367" cy="147570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600167" y="15478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25567" y="1555974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4654" y="1989070"/>
            <a:ext cx="1328134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11763" y="25151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37163" y="25232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002788" y="1841500"/>
            <a:ext cx="836233" cy="182003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413083" y="25997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38483" y="260788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2788" y="3661535"/>
            <a:ext cx="2213557" cy="103299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027710" y="38245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3110" y="3832665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756838" y="3661535"/>
            <a:ext cx="245950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884287" y="43045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09687" y="431267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756838" y="4694528"/>
            <a:ext cx="2459507" cy="639472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878636" y="49463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04036" y="49544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420654" y="173507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39825" y="184657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8585021" y="1587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700737" y="16990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7748788" y="3407535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867203" y="3519041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9962345" y="4440528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74498" y="4552034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7502838" y="50800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25678" y="51915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32617" y="5880100"/>
            <a:ext cx="1479765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78337" y="5940298"/>
            <a:ext cx="138832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B7B72"/>
                </a:solidFill>
                <a:latin typeface="Noto Sans SC"/>
                <a:ea typeface="Noto Sans SC"/>
              </a:rPr>
              <a:t>单点簇：cut =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选择键与平票规则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00:42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选择键 (−亲和度, 簇 A 成员, 簇 B 成员)，逐字段比较取最小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第一字段取负：亲和度大的排前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第一步 A–B 与 D–E 都是 5：比较 A 与 D，选 A–B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cut 18 → 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980" y="1483360"/>
            <a:ext cx="841380" cy="18288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88156" y="1480718"/>
            <a:ext cx="8190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40" b="1">
                <a:solidFill>
                  <a:srgbClr val="77CDBB"/>
                </a:solidFill>
                <a:latin typeface="Noto Sans SC"/>
                <a:ea typeface="Noto Sans SC"/>
              </a:rPr>
              <a:t>AB · 大小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643" y="1696720"/>
            <a:ext cx="2402052" cy="788616"/>
          </a:xfrm>
          <a:prstGeom prst="roundRect">
            <a:avLst>
              <a:gd name="adj" fmla="val 42514"/>
            </a:avLst>
          </a:prstGeom>
          <a:noFill/>
          <a:ln w="1524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 flipV="1">
            <a:off x="6431923" y="2032000"/>
            <a:ext cx="1731493" cy="118056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172333" y="1797076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92653" y="1803579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31923" y="2150056"/>
            <a:ext cx="1062507" cy="1337972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941611" y="2570908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61931" y="2577411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94430" y="2032000"/>
            <a:ext cx="668986" cy="1456028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822666" y="2638602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42986" y="2645104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4430" y="3488028"/>
            <a:ext cx="1770846" cy="826394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314368" y="3618429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34688" y="3624932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297670" y="3488028"/>
            <a:ext cx="196760" cy="1337972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99630" y="4002439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19950" y="4008941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297670" y="4314422"/>
            <a:ext cx="1967606" cy="511578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195109" y="4515894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15429" y="4522396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6177923" y="1896056"/>
            <a:ext cx="508000" cy="508000"/>
          </a:xfrm>
          <a:prstGeom prst="ellipse">
            <a:avLst/>
          </a:prstGeom>
          <a:noFill/>
          <a:ln w="254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228723" y="1946856"/>
            <a:ext cx="406400" cy="406400"/>
          </a:xfrm>
          <a:prstGeom prst="ellipse">
            <a:avLst/>
          </a:prstGeom>
          <a:solidFill>
            <a:srgbClr val="77CDBB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24060" y="2036061"/>
            <a:ext cx="215727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7909416" y="1778000"/>
            <a:ext cx="508000" cy="508000"/>
          </a:xfrm>
          <a:prstGeom prst="ellipse">
            <a:avLst/>
          </a:prstGeom>
          <a:noFill/>
          <a:ln w="254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960216" y="1828800"/>
            <a:ext cx="406400" cy="406400"/>
          </a:xfrm>
          <a:prstGeom prst="ellipse">
            <a:avLst/>
          </a:prstGeom>
          <a:solidFill>
            <a:srgbClr val="77CDBB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052789" y="1918004"/>
            <a:ext cx="2212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7291230" y="3284828"/>
            <a:ext cx="406400" cy="406400"/>
          </a:xfrm>
          <a:prstGeom prst="ellipse">
            <a:avLst/>
          </a:prstGeom>
          <a:solidFill>
            <a:srgbClr val="A9BDB8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85962" y="3374032"/>
            <a:ext cx="216936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9062076" y="4111222"/>
            <a:ext cx="406400" cy="406400"/>
          </a:xfrm>
          <a:prstGeom prst="ellipse">
            <a:avLst/>
          </a:prstGeom>
          <a:solidFill>
            <a:srgbClr val="A9BDB8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51799" y="4200427"/>
            <a:ext cx="2269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9" name="Oval 48"/>
          <p:cNvSpPr/>
          <p:nvPr/>
        </p:nvSpPr>
        <p:spPr>
          <a:xfrm>
            <a:off x="7094470" y="4622800"/>
            <a:ext cx="406400" cy="406400"/>
          </a:xfrm>
          <a:prstGeom prst="ellipse">
            <a:avLst/>
          </a:prstGeom>
          <a:solidFill>
            <a:srgbClr val="A9BDB8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92743" y="4712004"/>
            <a:ext cx="2098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25380" y="1749552"/>
            <a:ext cx="396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7880" y="17495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亲和度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94900" y="2006600"/>
            <a:ext cx="1752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944100" y="2032000"/>
            <a:ext cx="1892300" cy="330200"/>
          </a:xfrm>
          <a:prstGeom prst="roundRect">
            <a:avLst>
              <a:gd name="adj" fmla="val 15384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024110" y="2079244"/>
            <a:ext cx="426897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6610" y="20792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24110" y="2434844"/>
            <a:ext cx="429031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6610" y="24348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24110" y="2790444"/>
            <a:ext cx="432231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B–C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6610" y="27904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4110" y="3146044"/>
            <a:ext cx="43774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6610" y="31460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12823" y="5880100"/>
            <a:ext cx="1119352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058543" y="5940298"/>
            <a:ext cx="1027912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cut 18 →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058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收缩：平行边相加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00:58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A、B 收缩为超节点 AB（原作者 thy031 的核心示意）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AB–C = A–C 1 + B–C 4 = 5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与 D–E 再次并列 5：[A, B] &lt; [D]，选 AB–C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cut 13 → 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99244" y="1483360"/>
            <a:ext cx="928024" cy="18288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10420" y="1480718"/>
            <a:ext cx="905672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40" b="1">
                <a:solidFill>
                  <a:srgbClr val="77CDBB"/>
                </a:solidFill>
                <a:latin typeface="Noto Sans SC"/>
                <a:ea typeface="Noto Sans SC"/>
              </a:rPr>
              <a:t>ABC · 大小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643" y="1696720"/>
            <a:ext cx="2402052" cy="2126588"/>
          </a:xfrm>
          <a:prstGeom prst="roundRect">
            <a:avLst>
              <a:gd name="adj" fmla="val 15766"/>
            </a:avLst>
          </a:prstGeom>
          <a:noFill/>
          <a:ln w="1524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 flipV="1">
            <a:off x="6431923" y="2032000"/>
            <a:ext cx="1731493" cy="118056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172333" y="1797076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92653" y="1803579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31923" y="2150056"/>
            <a:ext cx="1062507" cy="1337972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941611" y="2570908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61931" y="2577411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94430" y="2032000"/>
            <a:ext cx="668986" cy="1456028"/>
          </a:xfrm>
          <a:prstGeom prst="line">
            <a:avLst/>
          </a:prstGeom>
          <a:ln w="2540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822666" y="2638602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42986" y="2645104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4430" y="3488028"/>
            <a:ext cx="1770846" cy="826394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314368" y="3618429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34688" y="3624932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297670" y="3488028"/>
            <a:ext cx="196760" cy="1337972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99630" y="4002439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19950" y="4008941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297670" y="4314422"/>
            <a:ext cx="1967606" cy="511578"/>
          </a:xfrm>
          <a:prstGeom prst="line">
            <a:avLst/>
          </a:prstGeom>
          <a:ln w="2032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195109" y="4515894"/>
            <a:ext cx="234086" cy="23408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15429" y="4522396"/>
            <a:ext cx="19344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6177923" y="1896056"/>
            <a:ext cx="508000" cy="508000"/>
          </a:xfrm>
          <a:prstGeom prst="ellipse">
            <a:avLst/>
          </a:prstGeom>
          <a:noFill/>
          <a:ln w="254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228723" y="1946856"/>
            <a:ext cx="406400" cy="406400"/>
          </a:xfrm>
          <a:prstGeom prst="ellipse">
            <a:avLst/>
          </a:prstGeom>
          <a:solidFill>
            <a:srgbClr val="77CDBB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24060" y="2036061"/>
            <a:ext cx="215727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7909416" y="1778000"/>
            <a:ext cx="508000" cy="508000"/>
          </a:xfrm>
          <a:prstGeom prst="ellipse">
            <a:avLst/>
          </a:prstGeom>
          <a:noFill/>
          <a:ln w="254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960216" y="1828800"/>
            <a:ext cx="406400" cy="406400"/>
          </a:xfrm>
          <a:prstGeom prst="ellipse">
            <a:avLst/>
          </a:prstGeom>
          <a:solidFill>
            <a:srgbClr val="77CDBB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052789" y="1918004"/>
            <a:ext cx="2212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7240430" y="3234028"/>
            <a:ext cx="508000" cy="508000"/>
          </a:xfrm>
          <a:prstGeom prst="ellipse">
            <a:avLst/>
          </a:prstGeom>
          <a:noFill/>
          <a:ln w="254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7291230" y="3284828"/>
            <a:ext cx="406400" cy="406400"/>
          </a:xfrm>
          <a:prstGeom prst="ellipse">
            <a:avLst/>
          </a:prstGeom>
          <a:solidFill>
            <a:srgbClr val="77CDBB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85962" y="3374032"/>
            <a:ext cx="216936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8" name="Oval 47"/>
          <p:cNvSpPr/>
          <p:nvPr/>
        </p:nvSpPr>
        <p:spPr>
          <a:xfrm>
            <a:off x="9062076" y="4111222"/>
            <a:ext cx="406400" cy="406400"/>
          </a:xfrm>
          <a:prstGeom prst="ellipse">
            <a:avLst/>
          </a:prstGeom>
          <a:solidFill>
            <a:srgbClr val="A9BDB8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51799" y="4200427"/>
            <a:ext cx="2269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0" name="Oval 49"/>
          <p:cNvSpPr/>
          <p:nvPr/>
        </p:nvSpPr>
        <p:spPr>
          <a:xfrm>
            <a:off x="7094470" y="4622800"/>
            <a:ext cx="406400" cy="406400"/>
          </a:xfrm>
          <a:prstGeom prst="ellipse">
            <a:avLst/>
          </a:prstGeom>
          <a:solidFill>
            <a:srgbClr val="A9BDB8"/>
          </a:solidFill>
          <a:ln w="1524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92743" y="4712004"/>
            <a:ext cx="209854" cy="2331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6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25380" y="1749552"/>
            <a:ext cx="3962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候选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7880" y="1749552"/>
            <a:ext cx="548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亲和度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94900" y="2006600"/>
            <a:ext cx="1752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944100" y="2032000"/>
            <a:ext cx="1892300" cy="330200"/>
          </a:xfrm>
          <a:prstGeom prst="roundRect">
            <a:avLst>
              <a:gd name="adj" fmla="val 15384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024110" y="2079244"/>
            <a:ext cx="54033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AB–C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6610" y="20792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4110" y="2434844"/>
            <a:ext cx="429031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6610" y="24348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24110" y="2790444"/>
            <a:ext cx="43774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6610" y="27904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24110" y="3146044"/>
            <a:ext cx="420141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C–E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6610" y="3146044"/>
            <a:ext cx="20535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61528" y="5880100"/>
            <a:ext cx="1021943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107248" y="5940298"/>
            <a:ext cx="930503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cut 13 →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720234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完整轨迹：18 → 13 → 8 →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01:18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3 步：D–E = 5，cut 8 → 3，簇数到 2，停止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结果 ABC | DE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剩余 cut：C–D 2 + C–E 1 = 3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 = 3 时在第 2 步后停：ABC | D | E，cut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2840" y="1697736"/>
            <a:ext cx="325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1340" y="1697736"/>
            <a:ext cx="528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合并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6340" y="1697736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亲和度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9340" y="1697736"/>
            <a:ext cx="443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4900" y="2006600"/>
            <a:ext cx="4673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1570" y="22179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0070" y="2217928"/>
            <a:ext cx="34152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5070" y="2217928"/>
            <a:ext cx="34152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8070" y="22179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570" y="27640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0070" y="2764028"/>
            <a:ext cx="655624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 +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5070" y="27640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8070" y="27640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570" y="33101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0070" y="3310128"/>
            <a:ext cx="801471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AB +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5070" y="33101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8070" y="33101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34100" y="3810000"/>
            <a:ext cx="4813300" cy="520700"/>
          </a:xfrm>
          <a:prstGeom prst="roundRect">
            <a:avLst>
              <a:gd name="adj" fmla="val 9756"/>
            </a:avLst>
          </a:prstGeom>
          <a:solidFill>
            <a:srgbClr val="77CDB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570" y="38562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0070" y="3856228"/>
            <a:ext cx="65836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D + 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5070" y="38562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8070" y="38562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5191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原网页的比较器错误（已修正）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01:36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原 JS：if (!best || cand &lt; best)，cand 是数组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JavaScript 比较数组前先转成字符串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"-1,A,C" &lt; "-5,A,B"：亲和度 1 被当成更好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四个配置 9/16/12/16，正确为 3/8/8/3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修正：逐字段比较；回归测试 10 vs 2、2.5 vs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4570" y="1862327"/>
            <a:ext cx="2770174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[−5, "A", "B"]  →  "-5,A,B"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4570" y="2306828"/>
            <a:ext cx="276148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[−1, "A", "C"]  →  "-1,A,C"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475" y="2853690"/>
            <a:ext cx="3504819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B7B72"/>
                </a:solidFill>
                <a:latin typeface="Noto Sans SC"/>
                <a:ea typeface="Noto Sans SC"/>
              </a:rPr>
              <a:t>字符 1 &lt; 5：亲和度 1 的 A–C 被当成更好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4110" y="3565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109" y="3565144"/>
            <a:ext cx="640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原网页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110" y="3565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正确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84900" y="3848100"/>
            <a:ext cx="422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2840" y="3958336"/>
            <a:ext cx="47873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K=2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7840" y="3958336"/>
            <a:ext cx="2346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0840" y="3958336"/>
            <a:ext cx="2346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2840" y="4377436"/>
            <a:ext cx="47873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K=3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7840" y="4377436"/>
            <a:ext cx="3474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0840" y="4377436"/>
            <a:ext cx="2346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2840" y="4796536"/>
            <a:ext cx="10434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K=2 容量2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7840" y="4796536"/>
            <a:ext cx="3474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0840" y="4796536"/>
            <a:ext cx="2346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2840" y="5215636"/>
            <a:ext cx="10434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K=2 容量3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7840" y="5215636"/>
            <a:ext cx="3474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0840" y="5215636"/>
            <a:ext cx="2346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容量预览与停止状态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02:06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 C = 2：AB + C 的大小 3 &gt; 2，被阻止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转选 D–E；之后 AB+C、C+DE 都超容量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停止：AB | C | DE，3 簇，cut 8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合法（每簇 ≤ 2）但未达到 K = 2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容量 3：轨迹与不限容量相同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0975" y="1155700"/>
            <a:ext cx="1051725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44945" y="1152398"/>
            <a:ext cx="102378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AB · 大小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5554" y="1422400"/>
            <a:ext cx="3002566" cy="985770"/>
          </a:xfrm>
          <a:prstGeom prst="roundRect">
            <a:avLst>
              <a:gd name="adj" fmla="val 42514"/>
            </a:avLst>
          </a:prstGeom>
          <a:noFill/>
          <a:ln w="19050">
            <a:solidFill>
              <a:srgbClr val="77CD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460811" y="5816600"/>
            <a:ext cx="1051560" cy="228600"/>
          </a:xfrm>
          <a:prstGeom prst="roundRect">
            <a:avLst>
              <a:gd name="adj" fmla="val 22222"/>
            </a:avLst>
          </a:prstGeom>
          <a:solidFill>
            <a:srgbClr val="071C22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74781" y="5813298"/>
            <a:ext cx="102361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FB1E6"/>
                </a:solidFill>
                <a:latin typeface="Noto Sans SC"/>
                <a:ea typeface="Noto Sans SC"/>
              </a:rPr>
              <a:t>DE · 大小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7738" y="4275428"/>
            <a:ext cx="3297707" cy="1477671"/>
          </a:xfrm>
          <a:prstGeom prst="roundRect">
            <a:avLst>
              <a:gd name="adj" fmla="val 28362"/>
            </a:avLst>
          </a:prstGeom>
          <a:noFill/>
          <a:ln w="19050">
            <a:solidFill>
              <a:srgbClr val="8FB1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 flipV="1">
            <a:off x="6674654" y="1841500"/>
            <a:ext cx="2164367" cy="14757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00167" y="15478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25567" y="1555974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4654" y="1989070"/>
            <a:ext cx="1328134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311763" y="25151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37163" y="2523263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002788" y="1841500"/>
            <a:ext cx="836233" cy="182003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3083" y="25997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38483" y="2607880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02788" y="3661535"/>
            <a:ext cx="2213557" cy="103299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027710" y="38245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3110" y="3832665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756838" y="3661535"/>
            <a:ext cx="245950" cy="167246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884287" y="43045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09687" y="431267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7756838" y="4694528"/>
            <a:ext cx="2459507" cy="639472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878636" y="49463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904036" y="495449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6420654" y="173507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39825" y="1846576"/>
            <a:ext cx="26965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6" name="Oval 45"/>
          <p:cNvSpPr/>
          <p:nvPr/>
        </p:nvSpPr>
        <p:spPr>
          <a:xfrm>
            <a:off x="8585021" y="158750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700737" y="1699006"/>
            <a:ext cx="276567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8" name="Oval 47"/>
          <p:cNvSpPr/>
          <p:nvPr/>
        </p:nvSpPr>
        <p:spPr>
          <a:xfrm>
            <a:off x="7748788" y="3407535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867203" y="3519041"/>
            <a:ext cx="27117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50" name="Oval 49"/>
          <p:cNvSpPr/>
          <p:nvPr/>
        </p:nvSpPr>
        <p:spPr>
          <a:xfrm>
            <a:off x="9962345" y="4440528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074498" y="4552034"/>
            <a:ext cx="283692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2" name="Oval 51"/>
          <p:cNvSpPr/>
          <p:nvPr/>
        </p:nvSpPr>
        <p:spPr>
          <a:xfrm>
            <a:off x="7502838" y="50800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625678" y="5191506"/>
            <a:ext cx="262318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78275" y="5880100"/>
            <a:ext cx="2988449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123995" y="5940298"/>
            <a:ext cx="28970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容量 2：AB | C | DE，cut 8，未达到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02:35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2 行：簇数达到 K 就停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3–4 行：列出正亲和度候选，过滤超容量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5 行：没有合法候选就停，如实报告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6 行：逐字段比较选择键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7 行：收缩，cut 下降该亲和度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53100" y="1574800"/>
            <a:ext cx="5715000" cy="3530600"/>
          </a:xfrm>
          <a:prstGeom prst="roundRect">
            <a:avLst>
              <a:gd name="adj" fmla="val 2158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98832" y="1768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9027" y="1730120"/>
            <a:ext cx="768096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clusters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4253" y="1730120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5703" y="1730120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4108" y="1730120"/>
            <a:ext cx="16459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每个节点一个单点簇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8832" y="2175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9027" y="2136521"/>
            <a:ext cx="57367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while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9829" y="21365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簇数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2729" y="2136521"/>
            <a:ext cx="43325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&gt; 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8832" y="2581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9027" y="2542921"/>
            <a:ext cx="76998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cands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6139" y="25429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7589" y="25429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5994" y="2542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亲和度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0344" y="2542921"/>
            <a:ext cx="408393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&gt; 0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5868" y="25429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的簇对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3100" y="29146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753100" y="29146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98832" y="29881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9027" y="2949321"/>
            <a:ext cx="680485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legal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642" y="29493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8092" y="29493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497" y="29493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合并后大小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3747" y="29493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152" y="29493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3602" y="2949321"/>
            <a:ext cx="28906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C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796" y="2949321"/>
            <a:ext cx="6172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的候选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53100" y="33210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753100" y="33210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898832" y="33945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9027" y="3355721"/>
            <a:ext cx="82175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if legal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7917" y="33557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为空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0817" y="3355721"/>
            <a:ext cx="188937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: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6885" y="3355721"/>
            <a:ext cx="1474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停止（如实报告）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53100" y="372745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753100" y="372745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898832" y="38009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89027" y="3762121"/>
            <a:ext cx="25648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2646" y="37621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4096" y="3762121"/>
            <a:ext cx="19922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(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0451" y="3762121"/>
            <a:ext cx="7123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−亲和度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19956" y="3762121"/>
            <a:ext cx="60710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, P, Q)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4190" y="37621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最小的一对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8832" y="42073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89027" y="4168521"/>
            <a:ext cx="25648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42646" y="41685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收缩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85546" y="4168521"/>
            <a:ext cx="288207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P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0884" y="41685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∪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2334" y="4168521"/>
            <a:ext cx="26849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07954" y="41685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9404" y="4168521"/>
            <a:ext cx="39742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cut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73955" y="4168521"/>
            <a:ext cx="11315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下降该亲和度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8832" y="4613783"/>
            <a:ext cx="154019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89027" y="45749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返回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1927" y="4574921"/>
            <a:ext cx="141274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70332" y="4574921"/>
            <a:ext cx="445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簇、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13232" y="4574921"/>
            <a:ext cx="359016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cut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9378" y="45749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、是否达到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6628" y="4574921"/>
            <a:ext cx="252031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75790" y="4574921"/>
            <a:ext cx="9601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、停止原因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把候选数组当字符串比较：第一步错选 A–C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为了凑 K 强行做超容量合并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收缩后忘记平行边相加：AB–C 误算成 4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看到 cut 3 就认为贪心总是最优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局限与工程含义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02:59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不回撤：早期合并错了，后面无法纠正（反例见 Module 04）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依赖评分与平票规则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朴素实现每步检查所有簇对；实际工具用优先队列与局部更新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芯片设计中常用于把大量单元粗化成较少的簇，并限制簇面积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960626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03 · 贪心成对合并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每次合并最亲近的合法一对；数值优先，平票看名字。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cut 每步下降该次亲和度；达到 K 或无合法对就停，如实报告。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下一模块：容量成为主角——装不下，还是走错了路？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贪心成对合并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