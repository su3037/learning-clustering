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这一模块从单点出发，每次把最亲近的两个簇合在一起。我们会手算 G01 的完整轨迹，解释平票规则，看清原网页比较器的错误，并预览容量约束。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输入是图、目标簇数 K 和可选的容量。每一步合并最亲近的合法一对。停止有两种情况：簇数达到 K，或者已经没有合法的正亲和度对。后一种情况要如实报告没有达到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开始时每个节点自己是一个簇，所有边都被切断，cut 等于 18。两个簇的亲和度是它们之间所有边权的和。合并以后这些边成为内部边，所以每次合并，cut 恰好减少这一次的亲和度。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每一步用选择键比较候选：先比亲和度，大的优先；并列时比较成员名字。第一步 A–B 和 D–E 都是 5，A 排在 D 前，所以合并 A–B，cut 从 18 降到 13。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和 B 收缩成超节点之后，A–C 和 B–C 是两条连到 C 的平行边，加起来是 5，又和 D–E 并列。比较成员 [A, B] 与 [D]，选 AB–C，cut 从 13 降到 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第三步合并 D–E，cut 从 8 降到 3，簇数达到 2，停止。结果是 ABC 对 DE，剩下被切断的是 C–D 和 C–E。如果 K 等于 3，就在第二步之后停下，cut 是 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原网页的 JavaScript 用小于号比较数组。JavaScript 会先把数组转成字符串，再逐个字符比较，于是负 1 开头的字符串排在负 5 前面，亲和度 1 的 A–C 被当成更好的一对。四个配置都因此出错。原作的 Python 参考是对的。本课程改成逐字段比较，并加了多位数和小数的回归测试。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容量为 2 时，第二步想把 C 加入 AB，大小变成 3，超过容量，被阻止，于是转选 D–E。之后再也没有合法的合并，停在三个簇，cut 8。这个结果是合法的，但没有达到 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伪代码中，第二行检查是否达到 K；第三、四行列出候选并过滤超容量的；第五行在没有合法候选时停止；第六行逐字段比较选择键；第七行收缩，cut 下降这一次的亲和度。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常见错误：把数组当字符串比较；为了凑够 K 强行做超容量的合并；收缩后忘了把平行边相加；以及看到这张图得到 cut 3，就以为贪心总能找到最优。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贪心合并不回撤，早期的错误无法纠正，下一模块会给出反例。它依赖评分与平票规则。朴素实现每一步都要检查所有簇对。在芯片设计中，这类合并常用来先把大量单元粗化成较少的簇，同时限制簇的面积。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小结：每次合并最亲近的合法一对，数值优先、平票看名字。每次合并 cut 下降这一次的亲和度。达到 K 或者没有合法的正亲和度对时停止，并如实报告。下一模块讨论容量：到底是装不下，还是贪心走错了路。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679" y="2310892"/>
            <a:ext cx="4358640" cy="891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200" b="0">
                <a:solidFill>
                  <a:srgbClr val="D8BB78"/>
                </a:solidFill>
                <a:latin typeface="Noto Sans SC"/>
                <a:ea typeface="Noto Sans SC"/>
              </a:rPr>
              <a:t>合并，再合并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5630" y="3335782"/>
            <a:ext cx="33807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Greedy pair merge · 凝聚式聚类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3835" y="4136644"/>
            <a:ext cx="416432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F8F8F"/>
                </a:solidFill>
                <a:latin typeface="Noto Sans SC"/>
                <a:ea typeface="Noto Sans SC"/>
              </a:rPr>
              <a:t>Learning Clustering · 原作者 thy031（Issue #2）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问题定义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p2/12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输入：带权无向图、目标簇数 K、可选容量 C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每一步：合并亲和度 &gt; 0 且合法的“最亲近”一对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停止：簇数达到 K，或没有合法的正亲和度对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039236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输出：簇、cut、是否达到 K、停止原因、每步记录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89280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784091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绝不为凑 K 强行合并，也不撤销已做的合并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6674654" y="1841500"/>
            <a:ext cx="2164367" cy="147570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600167" y="1547846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25186" y="1555974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74654" y="1989070"/>
            <a:ext cx="1328134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311763" y="251513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36782" y="2523263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8002788" y="1841500"/>
            <a:ext cx="836233" cy="182003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413083" y="25997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38102" y="2607880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02788" y="3661535"/>
            <a:ext cx="2213557" cy="1032993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027710" y="382453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52729" y="3832665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7756838" y="3661535"/>
            <a:ext cx="245950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884287" y="430454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09306" y="431267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756838" y="4694528"/>
            <a:ext cx="2459507" cy="639472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878636" y="494636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903655" y="495449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7" name="Oval 36"/>
          <p:cNvSpPr/>
          <p:nvPr/>
        </p:nvSpPr>
        <p:spPr>
          <a:xfrm>
            <a:off x="6420654" y="173507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540034" y="1846576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8585021" y="158750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701226" y="1699006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1" name="Oval 40"/>
          <p:cNvSpPr/>
          <p:nvPr/>
        </p:nvSpPr>
        <p:spPr>
          <a:xfrm>
            <a:off x="7748788" y="3407535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68168" y="3519041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3" name="Oval 42"/>
          <p:cNvSpPr/>
          <p:nvPr/>
        </p:nvSpPr>
        <p:spPr>
          <a:xfrm>
            <a:off x="9962345" y="4440528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75375" y="4552034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5" name="Oval 44"/>
          <p:cNvSpPr/>
          <p:nvPr/>
        </p:nvSpPr>
        <p:spPr>
          <a:xfrm>
            <a:off x="7502838" y="508000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25393" y="5191506"/>
            <a:ext cx="2628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32725" y="5880100"/>
            <a:ext cx="147955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8445" y="5940298"/>
            <a:ext cx="13881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B7B72"/>
                </a:solidFill>
                <a:latin typeface="Noto Sans SC"/>
                <a:ea typeface="Noto Sans SC"/>
              </a:rPr>
              <a:t>单点簇：cut =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08051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单点簇、K 与簇间亲和度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p3/12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单点簇：开始时每个节点自成一簇，cut = 全部边权 18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簇间亲和度：两个簇之间所有边权之和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收缩：两簇之间的边变成内部边，平行边相加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77CDBB"/>
                </a:solidFill>
                <a:latin typeface="Noto Sans SC"/>
                <a:ea typeface="Noto Sans SC"/>
              </a:rPr>
              <a:t>每次合并，cut 恰好下降这一次的亲和度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674654" y="1841500"/>
            <a:ext cx="2164367" cy="147570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600167" y="1547846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5186" y="1555974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74654" y="1989070"/>
            <a:ext cx="1328134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311763" y="251513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36782" y="2523263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8002788" y="1841500"/>
            <a:ext cx="836233" cy="182003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413083" y="25997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38102" y="2607880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02788" y="3661535"/>
            <a:ext cx="2213557" cy="1032993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9027710" y="382453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052729" y="3832665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7756838" y="3661535"/>
            <a:ext cx="245950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884287" y="430454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09306" y="431267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756838" y="4694528"/>
            <a:ext cx="2459507" cy="639472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878636" y="494636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903655" y="495449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6420654" y="173507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40034" y="1846576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7" name="Oval 36"/>
          <p:cNvSpPr/>
          <p:nvPr/>
        </p:nvSpPr>
        <p:spPr>
          <a:xfrm>
            <a:off x="8585021" y="158750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701226" y="1699006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9" name="Oval 38"/>
          <p:cNvSpPr/>
          <p:nvPr/>
        </p:nvSpPr>
        <p:spPr>
          <a:xfrm>
            <a:off x="7748788" y="3407535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868168" y="3519041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1" name="Oval 40"/>
          <p:cNvSpPr/>
          <p:nvPr/>
        </p:nvSpPr>
        <p:spPr>
          <a:xfrm>
            <a:off x="9962345" y="4440528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0075375" y="4552034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3" name="Oval 42"/>
          <p:cNvSpPr/>
          <p:nvPr/>
        </p:nvSpPr>
        <p:spPr>
          <a:xfrm>
            <a:off x="7502838" y="508000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625393" y="5191506"/>
            <a:ext cx="2628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32725" y="5880100"/>
            <a:ext cx="147955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8445" y="5940298"/>
            <a:ext cx="13881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B7B72"/>
                </a:solidFill>
                <a:latin typeface="Noto Sans SC"/>
                <a:ea typeface="Noto Sans SC"/>
              </a:rPr>
              <a:t>单点簇：cut =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0581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选择键与平票规则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p4/12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选择键 (−亲和度, 簇 A 成员, 簇 B 成员)，逐字段比较取最小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第一字段取负：亲和度大的排前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第一步 A–B 与 D–E 都是 5：比较 A 与 D，选 A–B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cut 18 → 13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76030" y="1483360"/>
            <a:ext cx="843280" cy="18288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87206" y="1480718"/>
            <a:ext cx="820928" cy="1783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77CDBB"/>
                </a:solidFill>
                <a:latin typeface="Noto Sans SC"/>
                <a:ea typeface="Noto Sans SC"/>
              </a:rPr>
              <a:t>AB · 大小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6643" y="1696720"/>
            <a:ext cx="2402052" cy="788616"/>
          </a:xfrm>
          <a:prstGeom prst="roundRect">
            <a:avLst>
              <a:gd name="adj" fmla="val 42514"/>
            </a:avLst>
          </a:prstGeom>
          <a:noFill/>
          <a:ln w="15240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 flipV="1">
            <a:off x="6431923" y="2032000"/>
            <a:ext cx="1731493" cy="118056"/>
          </a:xfrm>
          <a:prstGeom prst="line">
            <a:avLst/>
          </a:prstGeom>
          <a:ln w="2540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172333" y="1797076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92348" y="1803579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31923" y="2150056"/>
            <a:ext cx="1062507" cy="1337972"/>
          </a:xfrm>
          <a:prstGeom prst="line">
            <a:avLst/>
          </a:prstGeom>
          <a:ln w="2032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41611" y="2570908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61626" y="2577411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494430" y="2032000"/>
            <a:ext cx="668986" cy="1456028"/>
          </a:xfrm>
          <a:prstGeom prst="line">
            <a:avLst/>
          </a:prstGeom>
          <a:ln w="2032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822666" y="2638602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42681" y="2645104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4430" y="3488028"/>
            <a:ext cx="1770846" cy="826394"/>
          </a:xfrm>
          <a:prstGeom prst="line">
            <a:avLst/>
          </a:prstGeom>
          <a:ln w="2032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314368" y="3618429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34383" y="3624932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297670" y="3488028"/>
            <a:ext cx="196760" cy="1337972"/>
          </a:xfrm>
          <a:prstGeom prst="line">
            <a:avLst/>
          </a:prstGeom>
          <a:ln w="2032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399630" y="4002439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19645" y="4008941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297670" y="4314422"/>
            <a:ext cx="1967606" cy="511578"/>
          </a:xfrm>
          <a:prstGeom prst="line">
            <a:avLst/>
          </a:prstGeom>
          <a:ln w="2032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195109" y="4515894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15124" y="4522396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6177923" y="1896056"/>
            <a:ext cx="508000" cy="508000"/>
          </a:xfrm>
          <a:prstGeom prst="ellipse">
            <a:avLst/>
          </a:prstGeom>
          <a:noFill/>
          <a:ln w="254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6228723" y="1946856"/>
            <a:ext cx="406400" cy="406400"/>
          </a:xfrm>
          <a:prstGeom prst="ellipse">
            <a:avLst/>
          </a:prstGeom>
          <a:solidFill>
            <a:srgbClr val="77CDBB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24227" y="2036061"/>
            <a:ext cx="215392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7909416" y="1778000"/>
            <a:ext cx="508000" cy="508000"/>
          </a:xfrm>
          <a:prstGeom prst="ellipse">
            <a:avLst/>
          </a:prstGeom>
          <a:noFill/>
          <a:ln w="254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960216" y="1828800"/>
            <a:ext cx="406400" cy="406400"/>
          </a:xfrm>
          <a:prstGeom prst="ellipse">
            <a:avLst/>
          </a:prstGeom>
          <a:solidFill>
            <a:srgbClr val="77CDBB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053180" y="1918004"/>
            <a:ext cx="220472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4" name="Oval 43"/>
          <p:cNvSpPr/>
          <p:nvPr/>
        </p:nvSpPr>
        <p:spPr>
          <a:xfrm>
            <a:off x="7291230" y="3284828"/>
            <a:ext cx="406400" cy="406400"/>
          </a:xfrm>
          <a:prstGeom prst="ellipse">
            <a:avLst/>
          </a:prstGeom>
          <a:solidFill>
            <a:srgbClr val="A9BDB8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386734" y="3374032"/>
            <a:ext cx="215392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6" name="Oval 45"/>
          <p:cNvSpPr/>
          <p:nvPr/>
        </p:nvSpPr>
        <p:spPr>
          <a:xfrm>
            <a:off x="9062076" y="4111222"/>
            <a:ext cx="406400" cy="406400"/>
          </a:xfrm>
          <a:prstGeom prst="ellipse">
            <a:avLst/>
          </a:prstGeom>
          <a:solidFill>
            <a:srgbClr val="A9BDB8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152500" y="4200427"/>
            <a:ext cx="225551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8" name="Oval 47"/>
          <p:cNvSpPr/>
          <p:nvPr/>
        </p:nvSpPr>
        <p:spPr>
          <a:xfrm>
            <a:off x="7094470" y="4622800"/>
            <a:ext cx="406400" cy="406400"/>
          </a:xfrm>
          <a:prstGeom prst="ellipse">
            <a:avLst/>
          </a:prstGeom>
          <a:solidFill>
            <a:srgbClr val="A9BDB8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92514" y="4712004"/>
            <a:ext cx="210312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25380" y="1749552"/>
            <a:ext cx="396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候选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7880" y="1749552"/>
            <a:ext cx="5486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亲和度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994900" y="2006600"/>
            <a:ext cx="17526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9944100" y="2032000"/>
            <a:ext cx="1892300" cy="330200"/>
          </a:xfrm>
          <a:prstGeom prst="roundRect">
            <a:avLst>
              <a:gd name="adj" fmla="val 15384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0024110" y="2079244"/>
            <a:ext cx="4241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A–B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6610" y="20792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24110" y="2434844"/>
            <a:ext cx="4241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D–E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6610" y="24348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24110" y="2790444"/>
            <a:ext cx="4305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B–C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6610" y="27904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24110" y="3146044"/>
            <a:ext cx="4368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C–D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76610" y="31460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3700" y="5880100"/>
            <a:ext cx="111760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059420" y="5940298"/>
            <a:ext cx="1026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cut 18 →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0581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收缩：平行边相加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p5/12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A、B 收缩为超节点 AB（原作者 thy031 的核心示意）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AB–C = A–C 1 + B–C 4 = 5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与 D–E 再次并列 5：[A, B] &lt; [D]，选 AB–C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cut 13 →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98437" y="1483360"/>
            <a:ext cx="929640" cy="18288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09613" y="1480718"/>
            <a:ext cx="907288" cy="1783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40" b="1">
                <a:solidFill>
                  <a:srgbClr val="77CDBB"/>
                </a:solidFill>
                <a:latin typeface="Noto Sans SC"/>
                <a:ea typeface="Noto Sans SC"/>
              </a:rPr>
              <a:t>ABC · 大小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6643" y="1696720"/>
            <a:ext cx="2402052" cy="2126588"/>
          </a:xfrm>
          <a:prstGeom prst="roundRect">
            <a:avLst>
              <a:gd name="adj" fmla="val 15766"/>
            </a:avLst>
          </a:prstGeom>
          <a:noFill/>
          <a:ln w="15240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 flipV="1">
            <a:off x="6431923" y="2032000"/>
            <a:ext cx="1731493" cy="118056"/>
          </a:xfrm>
          <a:prstGeom prst="line">
            <a:avLst/>
          </a:prstGeom>
          <a:ln w="2540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172333" y="1797076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92348" y="1803579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31923" y="2150056"/>
            <a:ext cx="1062507" cy="1337972"/>
          </a:xfrm>
          <a:prstGeom prst="line">
            <a:avLst/>
          </a:prstGeom>
          <a:ln w="2540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41611" y="2570908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61626" y="2577411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494430" y="2032000"/>
            <a:ext cx="668986" cy="1456028"/>
          </a:xfrm>
          <a:prstGeom prst="line">
            <a:avLst/>
          </a:prstGeom>
          <a:ln w="2540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822666" y="2638602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42681" y="2645104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4430" y="3488028"/>
            <a:ext cx="1770846" cy="826394"/>
          </a:xfrm>
          <a:prstGeom prst="line">
            <a:avLst/>
          </a:prstGeom>
          <a:ln w="2032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314368" y="3618429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34383" y="3624932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297670" y="3488028"/>
            <a:ext cx="196760" cy="1337972"/>
          </a:xfrm>
          <a:prstGeom prst="line">
            <a:avLst/>
          </a:prstGeom>
          <a:ln w="2032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399630" y="4002439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19645" y="4008941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297670" y="4314422"/>
            <a:ext cx="1967606" cy="511578"/>
          </a:xfrm>
          <a:prstGeom prst="line">
            <a:avLst/>
          </a:prstGeom>
          <a:ln w="2032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195109" y="4515894"/>
            <a:ext cx="234086" cy="23408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15124" y="4522396"/>
            <a:ext cx="1940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8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6177923" y="1896056"/>
            <a:ext cx="508000" cy="508000"/>
          </a:xfrm>
          <a:prstGeom prst="ellipse">
            <a:avLst/>
          </a:prstGeom>
          <a:noFill/>
          <a:ln w="254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6228723" y="1946856"/>
            <a:ext cx="406400" cy="406400"/>
          </a:xfrm>
          <a:prstGeom prst="ellipse">
            <a:avLst/>
          </a:prstGeom>
          <a:solidFill>
            <a:srgbClr val="77CDBB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24227" y="2036061"/>
            <a:ext cx="215392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7909416" y="1778000"/>
            <a:ext cx="508000" cy="508000"/>
          </a:xfrm>
          <a:prstGeom prst="ellipse">
            <a:avLst/>
          </a:prstGeom>
          <a:noFill/>
          <a:ln w="254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960216" y="1828800"/>
            <a:ext cx="406400" cy="406400"/>
          </a:xfrm>
          <a:prstGeom prst="ellipse">
            <a:avLst/>
          </a:prstGeom>
          <a:solidFill>
            <a:srgbClr val="77CDBB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053180" y="1918004"/>
            <a:ext cx="220472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4" name="Oval 43"/>
          <p:cNvSpPr/>
          <p:nvPr/>
        </p:nvSpPr>
        <p:spPr>
          <a:xfrm>
            <a:off x="7240430" y="3234028"/>
            <a:ext cx="508000" cy="508000"/>
          </a:xfrm>
          <a:prstGeom prst="ellipse">
            <a:avLst/>
          </a:prstGeom>
          <a:noFill/>
          <a:ln w="254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7291230" y="3284828"/>
            <a:ext cx="406400" cy="406400"/>
          </a:xfrm>
          <a:prstGeom prst="ellipse">
            <a:avLst/>
          </a:prstGeom>
          <a:solidFill>
            <a:srgbClr val="77CDBB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86734" y="3374032"/>
            <a:ext cx="215392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7" name="Oval 46"/>
          <p:cNvSpPr/>
          <p:nvPr/>
        </p:nvSpPr>
        <p:spPr>
          <a:xfrm>
            <a:off x="9062076" y="4111222"/>
            <a:ext cx="406400" cy="406400"/>
          </a:xfrm>
          <a:prstGeom prst="ellipse">
            <a:avLst/>
          </a:prstGeom>
          <a:solidFill>
            <a:srgbClr val="A9BDB8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152500" y="4200427"/>
            <a:ext cx="225551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9" name="Oval 48"/>
          <p:cNvSpPr/>
          <p:nvPr/>
        </p:nvSpPr>
        <p:spPr>
          <a:xfrm>
            <a:off x="7094470" y="4622800"/>
            <a:ext cx="406400" cy="406400"/>
          </a:xfrm>
          <a:prstGeom prst="ellipse">
            <a:avLst/>
          </a:prstGeom>
          <a:solidFill>
            <a:srgbClr val="A9BDB8"/>
          </a:solidFill>
          <a:ln w="1524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192514" y="4712004"/>
            <a:ext cx="210312" cy="2331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6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25380" y="1749552"/>
            <a:ext cx="396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候选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7880" y="1749552"/>
            <a:ext cx="5486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亲和度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994900" y="2006600"/>
            <a:ext cx="17526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9944100" y="2032000"/>
            <a:ext cx="1892300" cy="330200"/>
          </a:xfrm>
          <a:prstGeom prst="roundRect">
            <a:avLst>
              <a:gd name="adj" fmla="val 15384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024110" y="2079244"/>
            <a:ext cx="5384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AB–C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6610" y="20792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24110" y="2434844"/>
            <a:ext cx="4241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D–E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6610" y="24348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24110" y="2790444"/>
            <a:ext cx="4368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C–D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6610" y="27904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24110" y="3146044"/>
            <a:ext cx="41783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C–E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6610" y="3146044"/>
            <a:ext cx="20827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61325" y="5880100"/>
            <a:ext cx="102235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107045" y="5940298"/>
            <a:ext cx="9309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cut 13 →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734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完整轨迹：18 → 13 → 8 →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p6/12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3 步：D–E = 5，cut 8 → 3，簇数到 2，停止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结果 ABC | DE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剩余 cut：C–D 2 + C–E 1 = 3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K = 3 时在第 2 步后停：ABC | D | E，cut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2840" y="16977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1340" y="16977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合并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6340" y="1697736"/>
            <a:ext cx="731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亲和度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9340" y="1697736"/>
            <a:ext cx="4394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cut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84900" y="2006600"/>
            <a:ext cx="46736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1570" y="22179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0070" y="2217928"/>
            <a:ext cx="3403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5070" y="2217928"/>
            <a:ext cx="3403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58070" y="2217928"/>
            <a:ext cx="391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1570" y="27640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0070" y="2764028"/>
            <a:ext cx="65786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A + 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5070" y="27640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58070" y="2764028"/>
            <a:ext cx="391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1570" y="33101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10070" y="3310128"/>
            <a:ext cx="80391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AB + 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15070" y="33101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58070" y="33101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34100" y="3810000"/>
            <a:ext cx="4813300" cy="520700"/>
          </a:xfrm>
          <a:prstGeom prst="roundRect">
            <a:avLst>
              <a:gd name="adj" fmla="val 9756"/>
            </a:avLst>
          </a:prstGeom>
          <a:solidFill>
            <a:srgbClr val="77CDBB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11570" y="38562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10070" y="3856228"/>
            <a:ext cx="65786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D +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5070" y="38562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070" y="3856228"/>
            <a:ext cx="264159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5191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原网页的比较器错误（已修正）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p7/12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原 JS：if (!best || cand &lt; best)，cand 是数组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JavaScript 比较数组前先转成字符串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"-1,A,C" &lt; "-5,A,B"：亲和度 1 被当成更好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四个配置 9/16/12/16，正确为 3/8/8/3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77CDBB"/>
                </a:solidFill>
                <a:latin typeface="Noto Sans SC"/>
                <a:ea typeface="Noto Sans SC"/>
              </a:rPr>
              <a:t>修正：逐字段比较；回归测试 10 vs 2、2.5 vs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4570" y="1862327"/>
            <a:ext cx="276606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[−5, "A", "B"]  →  "-5,A,B"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4570" y="2306828"/>
            <a:ext cx="275336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[−1, "A", "C"]  →  "-1,A,C"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6475" y="2853690"/>
            <a:ext cx="35179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DB7B72"/>
                </a:solidFill>
                <a:latin typeface="Noto Sans SC"/>
                <a:ea typeface="Noto Sans SC"/>
              </a:rPr>
              <a:t>字符 1 &lt; 5：亲和度 1 的 A–C 被当成更好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4110" y="35651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109" y="3565144"/>
            <a:ext cx="6400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原网页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110" y="35651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正确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84900" y="3848100"/>
            <a:ext cx="4229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212840" y="3958336"/>
            <a:ext cx="4838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K=2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7840" y="3958336"/>
            <a:ext cx="236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0840" y="3958336"/>
            <a:ext cx="236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2840" y="4377436"/>
            <a:ext cx="4838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K=3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7840" y="4377436"/>
            <a:ext cx="350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0840" y="4377436"/>
            <a:ext cx="236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2840" y="4796536"/>
            <a:ext cx="10490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K=2 容量2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7840" y="4796536"/>
            <a:ext cx="350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0840" y="4796536"/>
            <a:ext cx="236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2840" y="5215636"/>
            <a:ext cx="10490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K=2 容量3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7840" y="5215636"/>
            <a:ext cx="350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0840" y="5215636"/>
            <a:ext cx="2362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413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容量预览与停止状态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p8/12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容量 C = 2：AB + C 的大小 3 &gt; 2，被阻止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转选 D–E；之后 AB+C、C+DE 都超容量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停止：AB | C | DE，3 簇，cut 8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合法（每簇 ≤ 2）但未达到 K = 2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容量 3：轨迹与不限容量相同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9788" y="1155700"/>
            <a:ext cx="105410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243758" y="1152398"/>
            <a:ext cx="1026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AB · 大小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554" y="1422400"/>
            <a:ext cx="3002566" cy="985770"/>
          </a:xfrm>
          <a:prstGeom prst="roundRect">
            <a:avLst>
              <a:gd name="adj" fmla="val 42514"/>
            </a:avLst>
          </a:prstGeom>
          <a:noFill/>
          <a:ln w="19050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459541" y="5816600"/>
            <a:ext cx="1054100" cy="228600"/>
          </a:xfrm>
          <a:prstGeom prst="roundRect">
            <a:avLst>
              <a:gd name="adj" fmla="val 22222"/>
            </a:avLst>
          </a:prstGeom>
          <a:solidFill>
            <a:srgbClr val="071C22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473511" y="5813298"/>
            <a:ext cx="1026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FB1E6"/>
                </a:solidFill>
                <a:latin typeface="Noto Sans SC"/>
                <a:ea typeface="Noto Sans SC"/>
              </a:rPr>
              <a:t>DE · 大小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37738" y="4275428"/>
            <a:ext cx="3297707" cy="1477671"/>
          </a:xfrm>
          <a:prstGeom prst="roundRect">
            <a:avLst>
              <a:gd name="adj" fmla="val 28362"/>
            </a:avLst>
          </a:prstGeom>
          <a:noFill/>
          <a:ln w="19050">
            <a:solidFill>
              <a:srgbClr val="8FB1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 flipV="1">
            <a:off x="6674654" y="1841500"/>
            <a:ext cx="2164367" cy="147570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600167" y="1547846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625186" y="1555974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74654" y="1989070"/>
            <a:ext cx="1328134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311763" y="251513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36782" y="2523263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8002788" y="1841500"/>
            <a:ext cx="836233" cy="182003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8413083" y="25997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38102" y="2607880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02788" y="3661535"/>
            <a:ext cx="2213557" cy="1032993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9027710" y="382453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052729" y="3832665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7756838" y="3661535"/>
            <a:ext cx="245950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7884287" y="430454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909306" y="431267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7756838" y="4694528"/>
            <a:ext cx="2459507" cy="639472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8878636" y="494636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903655" y="4954496"/>
            <a:ext cx="2425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420654" y="1735070"/>
            <a:ext cx="508000" cy="5080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540034" y="1846576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8585021" y="1587500"/>
            <a:ext cx="508000" cy="5080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701226" y="1699006"/>
            <a:ext cx="2755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7748788" y="3407535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68168" y="3519041"/>
            <a:ext cx="269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9" name="Oval 48"/>
          <p:cNvSpPr/>
          <p:nvPr/>
        </p:nvSpPr>
        <p:spPr>
          <a:xfrm>
            <a:off x="9962345" y="4440528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075375" y="4552034"/>
            <a:ext cx="28193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1" name="Oval 50"/>
          <p:cNvSpPr/>
          <p:nvPr/>
        </p:nvSpPr>
        <p:spPr>
          <a:xfrm>
            <a:off x="7502838" y="5080000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625393" y="5191506"/>
            <a:ext cx="26289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70725" y="5880100"/>
            <a:ext cx="3003550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116445" y="5940298"/>
            <a:ext cx="29121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容量 2：AB | C | DE，cut 8，未达到 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伪代码逐行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3770" y="6499098"/>
            <a:ext cx="5562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p9/12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2 行：簇数达到 K 就停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3–4 行：列出正亲和度候选，过滤超容量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5 行：没有合法候选就停，如实报告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6 行：逐字段比较选择键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7 行：收缩，cut 下降该亲和度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53100" y="1574800"/>
            <a:ext cx="5715000" cy="3530600"/>
          </a:xfrm>
          <a:prstGeom prst="roundRect">
            <a:avLst>
              <a:gd name="adj" fmla="val 2158"/>
            </a:avLst>
          </a:prstGeom>
          <a:solidFill>
            <a:srgbClr val="0A1C1F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898832" y="17689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9027" y="1730120"/>
            <a:ext cx="7696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clusters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5777" y="1730120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7227" y="1730120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5327" y="1730120"/>
            <a:ext cx="16459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每个节点一个单点簇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8832" y="21753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9027" y="2136521"/>
            <a:ext cx="572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while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8927" y="21365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簇数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1827" y="2136521"/>
            <a:ext cx="4330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&gt; K: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8832" y="25817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027" y="2542921"/>
            <a:ext cx="7696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  cands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5777" y="25429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27227" y="25429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5327" y="25429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亲和度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9677" y="2542921"/>
            <a:ext cx="4076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&gt; 0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4477" y="25429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的簇对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53100" y="2914650"/>
            <a:ext cx="5715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753100" y="291465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98832" y="29881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9027" y="2949321"/>
            <a:ext cx="6807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   legal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877" y="29493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38327" y="29493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76427" y="2949321"/>
            <a:ext cx="9601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合并后大小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3677" y="29493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71777" y="29493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3227" y="2949321"/>
            <a:ext cx="2870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C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7377" y="2949321"/>
            <a:ext cx="6172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的候选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53100" y="3321050"/>
            <a:ext cx="5715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753100" y="332105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898832" y="33945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89027" y="3355721"/>
            <a:ext cx="8204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   if legal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6577" y="33557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为空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9477" y="3355721"/>
            <a:ext cx="191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: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38377" y="3355721"/>
            <a:ext cx="14744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停止（如实报告）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53100" y="3727450"/>
            <a:ext cx="5715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753100" y="372745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898832" y="38009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89027" y="3762121"/>
            <a:ext cx="2552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  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1427" y="37621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2877" y="3762121"/>
            <a:ext cx="1981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(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8127" y="3762121"/>
            <a:ext cx="7124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−亲和度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17727" y="3762121"/>
            <a:ext cx="6108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, P, Q)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25727" y="3762121"/>
            <a:ext cx="9601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最小的一对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98832" y="42073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89027" y="4168521"/>
            <a:ext cx="2552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 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1427" y="41685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收缩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84327" y="4168521"/>
            <a:ext cx="2870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P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68477" y="41685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∪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39927" y="4168521"/>
            <a:ext cx="267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05027" y="41685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：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76477" y="4168521"/>
            <a:ext cx="394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cut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68577" y="4168521"/>
            <a:ext cx="11315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下降该亲和度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98832" y="4613783"/>
            <a:ext cx="156210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89027" y="45749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返回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31927" y="4574921"/>
            <a:ext cx="1409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70027" y="45749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簇、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12927" y="4574921"/>
            <a:ext cx="3568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cut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66927" y="4574921"/>
            <a:ext cx="9601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、是否达到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24177" y="4574921"/>
            <a:ext cx="2489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70227" y="4574921"/>
            <a:ext cx="9601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、停止原因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常见错误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p10/12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把候选数组当字符串比较：第一步错选 A–C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为了凑 K 强行做超容量合并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收缩后忘记平行边相加：AB–C 误算成 4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看到 cut 3 就认为贪心总是最优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2702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局限与工程含义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p11/12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不回撤：早期合并错了，后面无法纠正（反例见 Module 04）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依赖评分与平票规则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朴素实现每步检查所有簇对；实际工具用优先队列与局部更新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芯片设计中常用于把大量单元粗化成较少的簇，并限制簇面积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924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951989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03 · 贪心成对合并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9098"/>
            <a:ext cx="65151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897380"/>
            <a:ext cx="10350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3000" b="0">
                <a:solidFill>
                  <a:srgbClr val="D8BB78"/>
                </a:solidFill>
                <a:latin typeface="Noto Sans SC"/>
                <a:ea typeface="Noto Sans SC"/>
              </a:rPr>
              <a:t>每次合并最亲近的合法一对；数值优先，平票看名字。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2782824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cut 每步下降该次亲和度；达到 K 或无合法对就停，如实报告。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23209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下一模块：容量成为主角——装不下，还是走错了路？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03 贪心成对合并</dc:title>
  <dc:subject/>
  <dc:creator>Learning Clustering（统一课程）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