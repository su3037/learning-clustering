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starts from single nodes and each time puts the two closest clusters together. We trace G01’s full path by hand, explain the tie rule, look closely at the original page’s comparator bug, and preview the capacity constraint.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 is a graph, a target number of clusters K and an optional capacity. Each step merges the closest legal pair. It stops in one of two cases: the count reaches K, or no legal pair with positive affinity remains. In the second case, report honestly that K is not reached.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start every node is a cluster of its own, every wire is cut, and the cut is 18. The affinity of two clusters is the total weight of the wires between them. After a merge those wires are inside, so every merge lowers the cut by exactly that merge’s affinity.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step compares candidates by the selection key: affinity first, higher is better; on a tie, compare member names. At step one, A–B and D–E are both 5, A comes before D, so A–B merges and the cut drops from 18 to 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and B contract into a supernode, A–C and B–C are two parallel wires to C that add up to 5, tying D–E again. Comparing members [A, B] with [D], AB–C merges, and the cut drops from 13 to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merges D–E, the cut drops from 8 to 3, the count reaches 2, and it stops. The result is ABC against DE, and what remains cut is C–D and C–E. With K equal to 3, it stops after step two, at cut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page’s JavaScript compared arrays with a less-than sign. JavaScript first turns the arrays into strings and compares them character by character, so the string starting with minus 1 sorts before minus 5, and A–C, with affinity 1, looks like the better pair. All four settings came out wrong. The original Python reference is correct. This course compares field by field and adds regression tests for multi-digit and decimal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capacity 2, step two would add C to AB, making size 3, over the capacity, so it is blocked and D–E merges instead. After that no legal merge remains, and it stops at three clusters, cut 8. The result is legal, but K is not reached.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pseudocode, line two checks whether K is reached; lines three and four list the candidates and drop those over capacity; line five stops when no legal candidate remains; line six compares selection keys field by field; line seven contracts, and the cut drops by that affinity.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comparing arrays as strings; forcing an over-capacity merge to reach K; forgetting to add parallel wires after a contraction; and seeing this graph reach cut 3 and concluding that greedy always finds the optimum.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Greedy merging never backtracks, so early mistakes cannot be corrected; the next module gives a counterexample. It depends on the score and the tie rule. A naive implementation checks every cluster pair at every step. In chip design, this kind of merging often coarsens a great many cells into fewer clusters first, while limiting each cluster’s area.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each step merges the closest legal pair, value first, names on a tie. Every merge lowers the cut by that merge’s affinity. Stop when K is reached or no legal positive pair remains, and report it honestly. The next module is about capacity: does it simply not fit, or did greedy take a wrong turn?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6" name="TextBox 5"/>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p1/12</a:t>
            </a:r>
          </a:p>
        </p:txBody>
      </p:sp>
      <p:sp>
        <p:nvSpPr>
          <p:cNvPr id="7" name="TextBox 6"/>
          <p:cNvSpPr txBox="1"/>
          <p:nvPr/>
        </p:nvSpPr>
        <p:spPr>
          <a:xfrm>
            <a:off x="2205354" y="2310892"/>
            <a:ext cx="7781290" cy="891540"/>
          </a:xfrm>
          <a:prstGeom prst="rect">
            <a:avLst/>
          </a:prstGeom>
          <a:noFill/>
        </p:spPr>
        <p:txBody>
          <a:bodyPr wrap="none" lIns="0" rIns="0" tIns="0" bIns="0">
            <a:spAutoFit/>
          </a:bodyPr>
          <a:lstStyle/>
          <a:p>
            <a:pPr algn="ctr"/>
            <a:r>
              <a:rPr sz="5200" b="0">
                <a:solidFill>
                  <a:srgbClr val="D8BB78"/>
                </a:solidFill>
                <a:latin typeface="Noto Sans SC"/>
                <a:ea typeface="Noto Sans SC"/>
              </a:rPr>
              <a:t>Merge, and merge again</a:t>
            </a:r>
          </a:p>
        </p:txBody>
      </p:sp>
      <p:sp>
        <p:nvSpPr>
          <p:cNvPr id="8" name="TextBox 7"/>
          <p:cNvSpPr txBox="1"/>
          <p:nvPr/>
        </p:nvSpPr>
        <p:spPr>
          <a:xfrm>
            <a:off x="3691254" y="3335782"/>
            <a:ext cx="4809490" cy="291465"/>
          </a:xfrm>
          <a:prstGeom prst="rect">
            <a:avLst/>
          </a:prstGeom>
          <a:noFill/>
        </p:spPr>
        <p:txBody>
          <a:bodyPr wrap="none" lIns="0" rIns="0" tIns="0" bIns="0">
            <a:spAutoFit/>
          </a:bodyPr>
          <a:lstStyle/>
          <a:p>
            <a:pPr algn="ctr"/>
            <a:r>
              <a:rPr sz="1700" b="0">
                <a:solidFill>
                  <a:srgbClr val="BCD2D0"/>
                </a:solidFill>
                <a:latin typeface="Noto Sans SC"/>
                <a:ea typeface="Noto Sans SC"/>
              </a:rPr>
              <a:t>Greedy pair merge · agglomerative clustering</a:t>
            </a:r>
          </a:p>
        </p:txBody>
      </p:sp>
      <p:sp>
        <p:nvSpPr>
          <p:cNvPr id="9" name="TextBox 8"/>
          <p:cNvSpPr txBox="1"/>
          <p:nvPr/>
        </p:nvSpPr>
        <p:spPr>
          <a:xfrm>
            <a:off x="3759835" y="4136644"/>
            <a:ext cx="4672330" cy="240030"/>
          </a:xfrm>
          <a:prstGeom prst="rect">
            <a:avLst/>
          </a:prstGeom>
          <a:noFill/>
        </p:spPr>
        <p:txBody>
          <a:bodyPr wrap="none" lIns="0" rIns="0" tIns="0" bIns="0">
            <a:spAutoFit/>
          </a:bodyPr>
          <a:lstStyle/>
          <a:p>
            <a:pPr algn="ctr"/>
            <a:r>
              <a:rPr sz="1400" b="0">
                <a:solidFill>
                  <a:srgbClr val="6F8F8F"/>
                </a:solidFill>
                <a:latin typeface="Noto Sans SC"/>
                <a:ea typeface="Noto Sans SC"/>
              </a:rPr>
              <a:t>Learning Clustering · original author thy031 (Issue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5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problem</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p2/12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Input: a weighted undirected graph, a target K, an optional capacity C</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Each step: merge the closest legal pair with affinity &gt; 0</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Stop: the count reaches K, or no legal positive pair remains</a:t>
            </a:r>
          </a:p>
        </p:txBody>
      </p:sp>
      <p:sp>
        <p:nvSpPr>
          <p:cNvPr id="15" name="Oval 14"/>
          <p:cNvSpPr/>
          <p:nvPr/>
        </p:nvSpPr>
        <p:spPr>
          <a:xfrm>
            <a:off x="711200" y="37740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66534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Output: clusters, cut, whether K is reached, stop reason, a record of each step</a:t>
            </a:r>
          </a:p>
        </p:txBody>
      </p:sp>
      <p:sp>
        <p:nvSpPr>
          <p:cNvPr id="17" name="Oval 16"/>
          <p:cNvSpPr/>
          <p:nvPr/>
        </p:nvSpPr>
        <p:spPr>
          <a:xfrm>
            <a:off x="711200" y="451891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410202"/>
            <a:ext cx="4718050" cy="626110"/>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Never force a merge to reach K, and never undo a merge</a:t>
            </a:r>
          </a:p>
        </p:txBody>
      </p:sp>
      <p:cxnSp>
        <p:nvCxnSpPr>
          <p:cNvPr id="19" name="Connector 18"/>
          <p:cNvCxnSpPr/>
          <p:nvPr/>
        </p:nvCxnSpPr>
        <p:spPr>
          <a:xfrm flipV="1">
            <a:off x="6674654" y="1841500"/>
            <a:ext cx="2164367" cy="14757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600167" y="154784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25186" y="155597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2" name="Connector 21"/>
          <p:cNvCxnSpPr/>
          <p:nvPr/>
        </p:nvCxnSpPr>
        <p:spPr>
          <a:xfrm>
            <a:off x="6674654" y="1989070"/>
            <a:ext cx="1328134"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311763" y="25151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36782" y="25232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5" name="Connector 24"/>
          <p:cNvCxnSpPr/>
          <p:nvPr/>
        </p:nvCxnSpPr>
        <p:spPr>
          <a:xfrm flipH="1">
            <a:off x="8002788" y="1841500"/>
            <a:ext cx="836233" cy="182003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413083" y="25997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38102" y="26078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8" name="Connector 27"/>
          <p:cNvCxnSpPr/>
          <p:nvPr/>
        </p:nvCxnSpPr>
        <p:spPr>
          <a:xfrm>
            <a:off x="8002788" y="3661535"/>
            <a:ext cx="2213557" cy="103299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27710" y="382453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052729" y="383266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1" name="Connector 30"/>
          <p:cNvCxnSpPr/>
          <p:nvPr/>
        </p:nvCxnSpPr>
        <p:spPr>
          <a:xfrm flipH="1">
            <a:off x="7756838" y="3661535"/>
            <a:ext cx="245950"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884287" y="43045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09306" y="43126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4" name="Connector 33"/>
          <p:cNvCxnSpPr/>
          <p:nvPr/>
        </p:nvCxnSpPr>
        <p:spPr>
          <a:xfrm flipH="1">
            <a:off x="7756838" y="4694528"/>
            <a:ext cx="2459507" cy="639472"/>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878636" y="49463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03655" y="49544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7" name="Oval 36"/>
          <p:cNvSpPr/>
          <p:nvPr/>
        </p:nvSpPr>
        <p:spPr>
          <a:xfrm>
            <a:off x="6420654" y="173507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40034" y="184657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9" name="Oval 38"/>
          <p:cNvSpPr/>
          <p:nvPr/>
        </p:nvSpPr>
        <p:spPr>
          <a:xfrm>
            <a:off x="8585021" y="15875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701226" y="16990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1" name="Oval 40"/>
          <p:cNvSpPr/>
          <p:nvPr/>
        </p:nvSpPr>
        <p:spPr>
          <a:xfrm>
            <a:off x="7748788" y="3407535"/>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68168" y="351904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3" name="Oval 42"/>
          <p:cNvSpPr/>
          <p:nvPr/>
        </p:nvSpPr>
        <p:spPr>
          <a:xfrm>
            <a:off x="9962345" y="4440528"/>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75375" y="4552034"/>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5" name="Oval 44"/>
          <p:cNvSpPr/>
          <p:nvPr/>
        </p:nvSpPr>
        <p:spPr>
          <a:xfrm>
            <a:off x="7502838" y="50800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625393" y="5191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47" name="Rounded Rectangle 46"/>
          <p:cNvSpPr/>
          <p:nvPr/>
        </p:nvSpPr>
        <p:spPr>
          <a:xfrm>
            <a:off x="7683500" y="5880100"/>
            <a:ext cx="1778000" cy="292100"/>
          </a:xfrm>
          <a:prstGeom prst="roundRect">
            <a:avLst>
              <a:gd name="adj" fmla="val 5000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29220" y="5940298"/>
            <a:ext cx="1686560" cy="222885"/>
          </a:xfrm>
          <a:prstGeom prst="rect">
            <a:avLst/>
          </a:prstGeom>
          <a:noFill/>
        </p:spPr>
        <p:txBody>
          <a:bodyPr wrap="none" lIns="0" rIns="0" tIns="0" bIns="0">
            <a:spAutoFit/>
          </a:bodyPr>
          <a:lstStyle/>
          <a:p>
            <a:pPr algn="ctr"/>
            <a:r>
              <a:rPr sz="1300" b="1">
                <a:solidFill>
                  <a:srgbClr val="DB7B72"/>
                </a:solidFill>
                <a:latin typeface="Noto Sans SC"/>
                <a:ea typeface="Noto Sans SC"/>
              </a:rPr>
              <a:t>Singletons: cut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7884159" cy="480060"/>
          </a:xfrm>
          <a:prstGeom prst="rect">
            <a:avLst/>
          </a:prstGeom>
          <a:noFill/>
        </p:spPr>
        <p:txBody>
          <a:bodyPr wrap="none" lIns="0" rIns="0" tIns="0" bIns="0">
            <a:spAutoFit/>
          </a:bodyPr>
          <a:lstStyle/>
          <a:p>
            <a:pPr algn="l"/>
            <a:r>
              <a:rPr sz="2800" b="0">
                <a:solidFill>
                  <a:srgbClr val="F2F3E9"/>
                </a:solidFill>
                <a:latin typeface="Noto Sans SC"/>
                <a:ea typeface="Noto Sans SC"/>
              </a:rPr>
              <a:t>Singletons, K and the affinity between clusters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p3/12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Singletons: at the start every node is its own cluster, and cut = all 18 of the weight</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Inter-cluster affinity: the total weight of every wire between two clusters</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Contraction: wires between the two become inside wires, and parallel wires add up</a:t>
            </a:r>
          </a:p>
        </p:txBody>
      </p:sp>
      <p:sp>
        <p:nvSpPr>
          <p:cNvPr id="15" name="Oval 14"/>
          <p:cNvSpPr/>
          <p:nvPr/>
        </p:nvSpPr>
        <p:spPr>
          <a:xfrm>
            <a:off x="711200" y="37740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665347"/>
            <a:ext cx="4718050" cy="626110"/>
          </a:xfrm>
          <a:prstGeom prst="rect">
            <a:avLst/>
          </a:prstGeom>
          <a:noFill/>
        </p:spPr>
        <p:txBody>
          <a:bodyPr wrap="square" lIns="0" rIns="0" tIns="0" bIns="0">
            <a:spAutoFit/>
          </a:bodyPr>
          <a:lstStyle/>
          <a:p>
            <a:pPr algn="l">
              <a:lnSpc>
                <a:spcPct val="121800"/>
              </a:lnSpc>
            </a:pPr>
            <a:r>
              <a:rPr sz="1700" b="0">
                <a:solidFill>
                  <a:srgbClr val="77CDBB"/>
                </a:solidFill>
                <a:latin typeface="Noto Sans SC"/>
                <a:ea typeface="Noto Sans SC"/>
              </a:rPr>
              <a:t>Every merge lowers the cut by exactly that merge's affinity</a:t>
            </a:r>
          </a:p>
        </p:txBody>
      </p:sp>
      <p:cxnSp>
        <p:nvCxnSpPr>
          <p:cNvPr id="17" name="Connector 16"/>
          <p:cNvCxnSpPr/>
          <p:nvPr/>
        </p:nvCxnSpPr>
        <p:spPr>
          <a:xfrm flipV="1">
            <a:off x="6674654" y="1841500"/>
            <a:ext cx="2164367" cy="14757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600167" y="154784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25186" y="155597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0" name="Connector 19"/>
          <p:cNvCxnSpPr/>
          <p:nvPr/>
        </p:nvCxnSpPr>
        <p:spPr>
          <a:xfrm>
            <a:off x="6674654" y="1989070"/>
            <a:ext cx="1328134"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311763" y="25151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36782" y="25232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3" name="Connector 22"/>
          <p:cNvCxnSpPr/>
          <p:nvPr/>
        </p:nvCxnSpPr>
        <p:spPr>
          <a:xfrm flipH="1">
            <a:off x="8002788" y="1841500"/>
            <a:ext cx="836233" cy="182003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413083" y="25997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38102" y="26078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6" name="Connector 25"/>
          <p:cNvCxnSpPr/>
          <p:nvPr/>
        </p:nvCxnSpPr>
        <p:spPr>
          <a:xfrm>
            <a:off x="8002788" y="3661535"/>
            <a:ext cx="2213557" cy="103299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027710" y="382453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052729" y="383266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29" name="Connector 28"/>
          <p:cNvCxnSpPr/>
          <p:nvPr/>
        </p:nvCxnSpPr>
        <p:spPr>
          <a:xfrm flipH="1">
            <a:off x="7756838" y="3661535"/>
            <a:ext cx="245950"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884287" y="43045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09306" y="43126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2" name="Connector 31"/>
          <p:cNvCxnSpPr/>
          <p:nvPr/>
        </p:nvCxnSpPr>
        <p:spPr>
          <a:xfrm flipH="1">
            <a:off x="7756838" y="4694528"/>
            <a:ext cx="2459507" cy="639472"/>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878636" y="49463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03655" y="49544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35" name="Oval 34"/>
          <p:cNvSpPr/>
          <p:nvPr/>
        </p:nvSpPr>
        <p:spPr>
          <a:xfrm>
            <a:off x="6420654" y="173507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40034" y="184657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7" name="Oval 36"/>
          <p:cNvSpPr/>
          <p:nvPr/>
        </p:nvSpPr>
        <p:spPr>
          <a:xfrm>
            <a:off x="8585021" y="15875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701226" y="16990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39" name="Oval 38"/>
          <p:cNvSpPr/>
          <p:nvPr/>
        </p:nvSpPr>
        <p:spPr>
          <a:xfrm>
            <a:off x="7748788" y="3407535"/>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868168" y="351904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1" name="Oval 40"/>
          <p:cNvSpPr/>
          <p:nvPr/>
        </p:nvSpPr>
        <p:spPr>
          <a:xfrm>
            <a:off x="9962345" y="4440528"/>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075375" y="4552034"/>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3" name="Oval 42"/>
          <p:cNvSpPr/>
          <p:nvPr/>
        </p:nvSpPr>
        <p:spPr>
          <a:xfrm>
            <a:off x="7502838" y="5080000"/>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625393" y="5191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45" name="Rounded Rectangle 44"/>
          <p:cNvSpPr/>
          <p:nvPr/>
        </p:nvSpPr>
        <p:spPr>
          <a:xfrm>
            <a:off x="7683500" y="5880100"/>
            <a:ext cx="1778000" cy="292100"/>
          </a:xfrm>
          <a:prstGeom prst="roundRect">
            <a:avLst>
              <a:gd name="adj" fmla="val 5000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729220" y="5940298"/>
            <a:ext cx="1686560" cy="222885"/>
          </a:xfrm>
          <a:prstGeom prst="rect">
            <a:avLst/>
          </a:prstGeom>
          <a:noFill/>
        </p:spPr>
        <p:txBody>
          <a:bodyPr wrap="none" lIns="0" rIns="0" tIns="0" bIns="0">
            <a:spAutoFit/>
          </a:bodyPr>
          <a:lstStyle/>
          <a:p>
            <a:pPr algn="ctr"/>
            <a:r>
              <a:rPr sz="1300" b="1">
                <a:solidFill>
                  <a:srgbClr val="DB7B72"/>
                </a:solidFill>
                <a:latin typeface="Noto Sans SC"/>
                <a:ea typeface="Noto Sans SC"/>
              </a:rPr>
              <a:t>Singletons: cut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6870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selection key and the tie rule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p4/12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93916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Selection key (−affinity, members of A, members of B): compare field by field, take the smallest</a:t>
            </a:r>
          </a:p>
        </p:txBody>
      </p:sp>
      <p:sp>
        <p:nvSpPr>
          <p:cNvPr id="11" name="Oval 10"/>
          <p:cNvSpPr/>
          <p:nvPr/>
        </p:nvSpPr>
        <p:spPr>
          <a:xfrm>
            <a:off x="711200" y="25974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4886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first field is negated: higher affinity comes first</a:t>
            </a:r>
          </a:p>
        </p:txBody>
      </p:sp>
      <p:sp>
        <p:nvSpPr>
          <p:cNvPr id="13" name="Oval 12"/>
          <p:cNvSpPr/>
          <p:nvPr/>
        </p:nvSpPr>
        <p:spPr>
          <a:xfrm>
            <a:off x="711200" y="33422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23354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Step 1: A–B and D–E are both 5; compare A with D, so A–B</a:t>
            </a:r>
          </a:p>
        </p:txBody>
      </p:sp>
      <p:sp>
        <p:nvSpPr>
          <p:cNvPr id="15" name="Oval 14"/>
          <p:cNvSpPr/>
          <p:nvPr/>
        </p:nvSpPr>
        <p:spPr>
          <a:xfrm>
            <a:off x="711200" y="408711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97840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cut 18 → 13</a:t>
            </a:r>
          </a:p>
        </p:txBody>
      </p:sp>
      <p:sp>
        <p:nvSpPr>
          <p:cNvPr id="17" name="Rounded Rectangle 16"/>
          <p:cNvSpPr/>
          <p:nvPr/>
        </p:nvSpPr>
        <p:spPr>
          <a:xfrm>
            <a:off x="6883650" y="1483360"/>
            <a:ext cx="828040" cy="18288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94826" y="1480718"/>
            <a:ext cx="805688" cy="178308"/>
          </a:xfrm>
          <a:prstGeom prst="rect">
            <a:avLst/>
          </a:prstGeom>
          <a:noFill/>
        </p:spPr>
        <p:txBody>
          <a:bodyPr wrap="none" lIns="0" rIns="0" tIns="0" bIns="0">
            <a:spAutoFit/>
          </a:bodyPr>
          <a:lstStyle/>
          <a:p>
            <a:pPr algn="ctr"/>
            <a:r>
              <a:rPr sz="1040" b="1">
                <a:solidFill>
                  <a:srgbClr val="77CDBB"/>
                </a:solidFill>
                <a:latin typeface="Noto Sans SC"/>
                <a:ea typeface="Noto Sans SC"/>
              </a:rPr>
              <a:t>AB · size 2</a:t>
            </a:r>
          </a:p>
        </p:txBody>
      </p:sp>
      <p:sp>
        <p:nvSpPr>
          <p:cNvPr id="19" name="Rounded Rectangle 18"/>
          <p:cNvSpPr/>
          <p:nvPr/>
        </p:nvSpPr>
        <p:spPr>
          <a:xfrm>
            <a:off x="6096643" y="1696720"/>
            <a:ext cx="2402052" cy="788616"/>
          </a:xfrm>
          <a:prstGeom prst="roundRect">
            <a:avLst>
              <a:gd name="adj" fmla="val 42514"/>
            </a:avLst>
          </a:prstGeom>
          <a:noFill/>
          <a:ln w="1524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6431923" y="2032000"/>
            <a:ext cx="1731493" cy="118056"/>
          </a:xfrm>
          <a:prstGeom prst="line">
            <a:avLst/>
          </a:prstGeom>
          <a:ln w="25400">
            <a:solidFill>
              <a:srgbClr val="9FC9BF"/>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172333" y="1797076"/>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192348" y="1803579"/>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5</a:t>
            </a:r>
          </a:p>
        </p:txBody>
      </p:sp>
      <p:cxnSp>
        <p:nvCxnSpPr>
          <p:cNvPr id="23" name="Connector 22"/>
          <p:cNvCxnSpPr/>
          <p:nvPr/>
        </p:nvCxnSpPr>
        <p:spPr>
          <a:xfrm>
            <a:off x="6431923" y="2150056"/>
            <a:ext cx="1062507" cy="1337972"/>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941611" y="2570908"/>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61626" y="2577411"/>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1</a:t>
            </a:r>
          </a:p>
        </p:txBody>
      </p:sp>
      <p:cxnSp>
        <p:nvCxnSpPr>
          <p:cNvPr id="26" name="Connector 25"/>
          <p:cNvCxnSpPr/>
          <p:nvPr/>
        </p:nvCxnSpPr>
        <p:spPr>
          <a:xfrm flipH="1">
            <a:off x="7494430" y="2032000"/>
            <a:ext cx="668986" cy="1456028"/>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822666" y="2638602"/>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42681" y="2645104"/>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4</a:t>
            </a:r>
          </a:p>
        </p:txBody>
      </p:sp>
      <p:cxnSp>
        <p:nvCxnSpPr>
          <p:cNvPr id="29" name="Connector 28"/>
          <p:cNvCxnSpPr/>
          <p:nvPr/>
        </p:nvCxnSpPr>
        <p:spPr>
          <a:xfrm>
            <a:off x="7494430" y="3488028"/>
            <a:ext cx="1770846" cy="826394"/>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314368" y="3618429"/>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334383" y="3624932"/>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2</a:t>
            </a:r>
          </a:p>
        </p:txBody>
      </p:sp>
      <p:cxnSp>
        <p:nvCxnSpPr>
          <p:cNvPr id="32" name="Connector 31"/>
          <p:cNvCxnSpPr/>
          <p:nvPr/>
        </p:nvCxnSpPr>
        <p:spPr>
          <a:xfrm flipH="1">
            <a:off x="7297670" y="3488028"/>
            <a:ext cx="196760" cy="1337972"/>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399630" y="4002439"/>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19645" y="4008941"/>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1</a:t>
            </a:r>
          </a:p>
        </p:txBody>
      </p:sp>
      <p:cxnSp>
        <p:nvCxnSpPr>
          <p:cNvPr id="35" name="Connector 34"/>
          <p:cNvCxnSpPr/>
          <p:nvPr/>
        </p:nvCxnSpPr>
        <p:spPr>
          <a:xfrm flipH="1">
            <a:off x="7297670" y="4314422"/>
            <a:ext cx="1967606" cy="511578"/>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195109" y="4515894"/>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5124" y="4522396"/>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5</a:t>
            </a:r>
          </a:p>
        </p:txBody>
      </p:sp>
      <p:sp>
        <p:nvSpPr>
          <p:cNvPr id="38" name="Oval 37"/>
          <p:cNvSpPr/>
          <p:nvPr/>
        </p:nvSpPr>
        <p:spPr>
          <a:xfrm>
            <a:off x="6177923" y="1896056"/>
            <a:ext cx="508000" cy="508000"/>
          </a:xfrm>
          <a:prstGeom prst="ellipse">
            <a:avLst/>
          </a:prstGeom>
          <a:noFill/>
          <a:ln w="254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228723" y="1946856"/>
            <a:ext cx="406400" cy="406400"/>
          </a:xfrm>
          <a:prstGeom prst="ellipse">
            <a:avLst/>
          </a:prstGeom>
          <a:solidFill>
            <a:srgbClr val="77CDBB"/>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24227" y="2036061"/>
            <a:ext cx="21539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A</a:t>
            </a:r>
          </a:p>
        </p:txBody>
      </p:sp>
      <p:sp>
        <p:nvSpPr>
          <p:cNvPr id="41" name="Oval 40"/>
          <p:cNvSpPr/>
          <p:nvPr/>
        </p:nvSpPr>
        <p:spPr>
          <a:xfrm>
            <a:off x="7909416" y="1778000"/>
            <a:ext cx="508000" cy="508000"/>
          </a:xfrm>
          <a:prstGeom prst="ellipse">
            <a:avLst/>
          </a:prstGeom>
          <a:noFill/>
          <a:ln w="254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7960216" y="1828800"/>
            <a:ext cx="406400" cy="406400"/>
          </a:xfrm>
          <a:prstGeom prst="ellipse">
            <a:avLst/>
          </a:prstGeom>
          <a:solidFill>
            <a:srgbClr val="77CDBB"/>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053180" y="1918004"/>
            <a:ext cx="22047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B</a:t>
            </a:r>
          </a:p>
        </p:txBody>
      </p:sp>
      <p:sp>
        <p:nvSpPr>
          <p:cNvPr id="44" name="Oval 43"/>
          <p:cNvSpPr/>
          <p:nvPr/>
        </p:nvSpPr>
        <p:spPr>
          <a:xfrm>
            <a:off x="7291230" y="3284828"/>
            <a:ext cx="406400" cy="406400"/>
          </a:xfrm>
          <a:prstGeom prst="ellipse">
            <a:avLst/>
          </a:prstGeom>
          <a:solidFill>
            <a:srgbClr val="A9BDB8"/>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386734" y="3374032"/>
            <a:ext cx="21539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C</a:t>
            </a:r>
          </a:p>
        </p:txBody>
      </p:sp>
      <p:sp>
        <p:nvSpPr>
          <p:cNvPr id="46" name="Oval 45"/>
          <p:cNvSpPr/>
          <p:nvPr/>
        </p:nvSpPr>
        <p:spPr>
          <a:xfrm>
            <a:off x="9062076" y="4111222"/>
            <a:ext cx="406400" cy="406400"/>
          </a:xfrm>
          <a:prstGeom prst="ellipse">
            <a:avLst/>
          </a:prstGeom>
          <a:solidFill>
            <a:srgbClr val="A9BDB8"/>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52500" y="4200427"/>
            <a:ext cx="225551" cy="233172"/>
          </a:xfrm>
          <a:prstGeom prst="rect">
            <a:avLst/>
          </a:prstGeom>
          <a:noFill/>
        </p:spPr>
        <p:txBody>
          <a:bodyPr wrap="none" lIns="0" rIns="0" tIns="0" bIns="0">
            <a:spAutoFit/>
          </a:bodyPr>
          <a:lstStyle/>
          <a:p>
            <a:pPr algn="ctr"/>
            <a:r>
              <a:rPr sz="1360" b="1">
                <a:solidFill>
                  <a:srgbClr val="0B1B1F"/>
                </a:solidFill>
                <a:latin typeface="Noto Sans SC"/>
                <a:ea typeface="Noto Sans SC"/>
              </a:rPr>
              <a:t>D</a:t>
            </a:r>
          </a:p>
        </p:txBody>
      </p:sp>
      <p:sp>
        <p:nvSpPr>
          <p:cNvPr id="48" name="Oval 47"/>
          <p:cNvSpPr/>
          <p:nvPr/>
        </p:nvSpPr>
        <p:spPr>
          <a:xfrm>
            <a:off x="7094470" y="4622800"/>
            <a:ext cx="406400" cy="406400"/>
          </a:xfrm>
          <a:prstGeom prst="ellipse">
            <a:avLst/>
          </a:prstGeom>
          <a:solidFill>
            <a:srgbClr val="A9BDB8"/>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192514" y="4712004"/>
            <a:ext cx="21031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E</a:t>
            </a:r>
          </a:p>
        </p:txBody>
      </p:sp>
      <p:sp>
        <p:nvSpPr>
          <p:cNvPr id="50" name="TextBox 49"/>
          <p:cNvSpPr txBox="1"/>
          <p:nvPr/>
        </p:nvSpPr>
        <p:spPr>
          <a:xfrm>
            <a:off x="10025380" y="1749552"/>
            <a:ext cx="389890" cy="205740"/>
          </a:xfrm>
          <a:prstGeom prst="rect">
            <a:avLst/>
          </a:prstGeom>
          <a:noFill/>
        </p:spPr>
        <p:txBody>
          <a:bodyPr wrap="none" lIns="0" rIns="0" tIns="0" bIns="0">
            <a:spAutoFit/>
          </a:bodyPr>
          <a:lstStyle/>
          <a:p>
            <a:pPr algn="l"/>
            <a:r>
              <a:rPr sz="1200" b="1">
                <a:solidFill>
                  <a:srgbClr val="BCD2D0"/>
                </a:solidFill>
                <a:latin typeface="Noto Sans SC"/>
                <a:ea typeface="Noto Sans SC"/>
              </a:rPr>
              <a:t>Pair</a:t>
            </a:r>
          </a:p>
        </p:txBody>
      </p:sp>
      <p:sp>
        <p:nvSpPr>
          <p:cNvPr id="51" name="TextBox 50"/>
          <p:cNvSpPr txBox="1"/>
          <p:nvPr/>
        </p:nvSpPr>
        <p:spPr>
          <a:xfrm>
            <a:off x="10977880" y="1749552"/>
            <a:ext cx="637540" cy="205740"/>
          </a:xfrm>
          <a:prstGeom prst="rect">
            <a:avLst/>
          </a:prstGeom>
          <a:noFill/>
        </p:spPr>
        <p:txBody>
          <a:bodyPr wrap="none" lIns="0" rIns="0" tIns="0" bIns="0">
            <a:spAutoFit/>
          </a:bodyPr>
          <a:lstStyle/>
          <a:p>
            <a:pPr algn="l"/>
            <a:r>
              <a:rPr sz="1200" b="1">
                <a:solidFill>
                  <a:srgbClr val="BCD2D0"/>
                </a:solidFill>
                <a:latin typeface="Noto Sans SC"/>
                <a:ea typeface="Noto Sans SC"/>
              </a:rPr>
              <a:t>Affinity</a:t>
            </a:r>
          </a:p>
        </p:txBody>
      </p:sp>
      <p:cxnSp>
        <p:nvCxnSpPr>
          <p:cNvPr id="52" name="Connector 51"/>
          <p:cNvCxnSpPr/>
          <p:nvPr/>
        </p:nvCxnSpPr>
        <p:spPr>
          <a:xfrm>
            <a:off x="9994900" y="2006600"/>
            <a:ext cx="17526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9944100" y="2032000"/>
            <a:ext cx="1892300" cy="330200"/>
          </a:xfrm>
          <a:prstGeom prst="roundRect">
            <a:avLst>
              <a:gd name="adj" fmla="val 15384"/>
            </a:avLst>
          </a:prstGeom>
          <a:solidFill>
            <a:srgbClr val="D8BB7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024110" y="2079244"/>
            <a:ext cx="424180" cy="240030"/>
          </a:xfrm>
          <a:prstGeom prst="rect">
            <a:avLst/>
          </a:prstGeom>
          <a:noFill/>
        </p:spPr>
        <p:txBody>
          <a:bodyPr wrap="none" lIns="0" rIns="0" tIns="0" bIns="0">
            <a:spAutoFit/>
          </a:bodyPr>
          <a:lstStyle/>
          <a:p>
            <a:pPr algn="l"/>
            <a:r>
              <a:rPr sz="1400" b="0">
                <a:solidFill>
                  <a:srgbClr val="F2F3E9"/>
                </a:solidFill>
                <a:latin typeface="Noto Sans SC"/>
                <a:ea typeface="Noto Sans SC"/>
              </a:rPr>
              <a:t>A–B</a:t>
            </a:r>
          </a:p>
        </p:txBody>
      </p:sp>
      <p:sp>
        <p:nvSpPr>
          <p:cNvPr id="55" name="TextBox 54"/>
          <p:cNvSpPr txBox="1"/>
          <p:nvPr/>
        </p:nvSpPr>
        <p:spPr>
          <a:xfrm>
            <a:off x="10976610" y="20792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5</a:t>
            </a:r>
          </a:p>
        </p:txBody>
      </p:sp>
      <p:sp>
        <p:nvSpPr>
          <p:cNvPr id="56" name="TextBox 55"/>
          <p:cNvSpPr txBox="1"/>
          <p:nvPr/>
        </p:nvSpPr>
        <p:spPr>
          <a:xfrm>
            <a:off x="10024110" y="2434844"/>
            <a:ext cx="424180" cy="240030"/>
          </a:xfrm>
          <a:prstGeom prst="rect">
            <a:avLst/>
          </a:prstGeom>
          <a:noFill/>
        </p:spPr>
        <p:txBody>
          <a:bodyPr wrap="none" lIns="0" rIns="0" tIns="0" bIns="0">
            <a:spAutoFit/>
          </a:bodyPr>
          <a:lstStyle/>
          <a:p>
            <a:pPr algn="l"/>
            <a:r>
              <a:rPr sz="1400" b="0">
                <a:solidFill>
                  <a:srgbClr val="F2F3E9"/>
                </a:solidFill>
                <a:latin typeface="Noto Sans SC"/>
                <a:ea typeface="Noto Sans SC"/>
              </a:rPr>
              <a:t>D–E</a:t>
            </a:r>
          </a:p>
        </p:txBody>
      </p:sp>
      <p:sp>
        <p:nvSpPr>
          <p:cNvPr id="57" name="TextBox 56"/>
          <p:cNvSpPr txBox="1"/>
          <p:nvPr/>
        </p:nvSpPr>
        <p:spPr>
          <a:xfrm>
            <a:off x="10976610" y="24348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5</a:t>
            </a:r>
          </a:p>
        </p:txBody>
      </p:sp>
      <p:sp>
        <p:nvSpPr>
          <p:cNvPr id="58" name="TextBox 57"/>
          <p:cNvSpPr txBox="1"/>
          <p:nvPr/>
        </p:nvSpPr>
        <p:spPr>
          <a:xfrm>
            <a:off x="10024110" y="2790444"/>
            <a:ext cx="430530" cy="240030"/>
          </a:xfrm>
          <a:prstGeom prst="rect">
            <a:avLst/>
          </a:prstGeom>
          <a:noFill/>
        </p:spPr>
        <p:txBody>
          <a:bodyPr wrap="none" lIns="0" rIns="0" tIns="0" bIns="0">
            <a:spAutoFit/>
          </a:bodyPr>
          <a:lstStyle/>
          <a:p>
            <a:pPr algn="l"/>
            <a:r>
              <a:rPr sz="1400" b="0">
                <a:solidFill>
                  <a:srgbClr val="F2F3E9"/>
                </a:solidFill>
                <a:latin typeface="Noto Sans SC"/>
                <a:ea typeface="Noto Sans SC"/>
              </a:rPr>
              <a:t>B–C</a:t>
            </a:r>
          </a:p>
        </p:txBody>
      </p:sp>
      <p:sp>
        <p:nvSpPr>
          <p:cNvPr id="59" name="TextBox 58"/>
          <p:cNvSpPr txBox="1"/>
          <p:nvPr/>
        </p:nvSpPr>
        <p:spPr>
          <a:xfrm>
            <a:off x="10976610" y="27904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4</a:t>
            </a:r>
          </a:p>
        </p:txBody>
      </p:sp>
      <p:sp>
        <p:nvSpPr>
          <p:cNvPr id="60" name="TextBox 59"/>
          <p:cNvSpPr txBox="1"/>
          <p:nvPr/>
        </p:nvSpPr>
        <p:spPr>
          <a:xfrm>
            <a:off x="10024110" y="3146044"/>
            <a:ext cx="436880" cy="240030"/>
          </a:xfrm>
          <a:prstGeom prst="rect">
            <a:avLst/>
          </a:prstGeom>
          <a:noFill/>
        </p:spPr>
        <p:txBody>
          <a:bodyPr wrap="none" lIns="0" rIns="0" tIns="0" bIns="0">
            <a:spAutoFit/>
          </a:bodyPr>
          <a:lstStyle/>
          <a:p>
            <a:pPr algn="l"/>
            <a:r>
              <a:rPr sz="1400" b="0">
                <a:solidFill>
                  <a:srgbClr val="F2F3E9"/>
                </a:solidFill>
                <a:latin typeface="Noto Sans SC"/>
                <a:ea typeface="Noto Sans SC"/>
              </a:rPr>
              <a:t>C–D</a:t>
            </a:r>
          </a:p>
        </p:txBody>
      </p:sp>
      <p:sp>
        <p:nvSpPr>
          <p:cNvPr id="61" name="TextBox 60"/>
          <p:cNvSpPr txBox="1"/>
          <p:nvPr/>
        </p:nvSpPr>
        <p:spPr>
          <a:xfrm>
            <a:off x="10976610" y="31460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2</a:t>
            </a:r>
          </a:p>
        </p:txBody>
      </p:sp>
      <p:sp>
        <p:nvSpPr>
          <p:cNvPr id="62" name="Rounded Rectangle 61"/>
          <p:cNvSpPr/>
          <p:nvPr/>
        </p:nvSpPr>
        <p:spPr>
          <a:xfrm>
            <a:off x="8013700" y="5880100"/>
            <a:ext cx="11176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059420" y="5940298"/>
            <a:ext cx="10261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cut 18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864860" cy="480060"/>
          </a:xfrm>
          <a:prstGeom prst="rect">
            <a:avLst/>
          </a:prstGeom>
          <a:noFill/>
        </p:spPr>
        <p:txBody>
          <a:bodyPr wrap="none" lIns="0" rIns="0" tIns="0" bIns="0">
            <a:spAutoFit/>
          </a:bodyPr>
          <a:lstStyle/>
          <a:p>
            <a:pPr algn="l"/>
            <a:r>
              <a:rPr sz="2800" b="0">
                <a:solidFill>
                  <a:srgbClr val="F2F3E9"/>
                </a:solidFill>
                <a:latin typeface="Noto Sans SC"/>
                <a:ea typeface="Noto Sans SC"/>
              </a:rPr>
              <a:t>Contraction: parallel wires add up</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p5/12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93916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and B contract into the supernode AB (the core illustration by the original author, thy031)</a:t>
            </a:r>
          </a:p>
        </p:txBody>
      </p:sp>
      <p:sp>
        <p:nvSpPr>
          <p:cNvPr id="11" name="Oval 10"/>
          <p:cNvSpPr/>
          <p:nvPr/>
        </p:nvSpPr>
        <p:spPr>
          <a:xfrm>
            <a:off x="711200" y="25974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4886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AB–C = A–C 1 + B–C 4 = 5</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Another tie at 5 with D–E: [A, B] &lt; [D], so AB–C</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cut 13 → 8</a:t>
            </a:r>
          </a:p>
        </p:txBody>
      </p:sp>
      <p:sp>
        <p:nvSpPr>
          <p:cNvPr id="17" name="Rounded Rectangle 16"/>
          <p:cNvSpPr/>
          <p:nvPr/>
        </p:nvSpPr>
        <p:spPr>
          <a:xfrm>
            <a:off x="6906057" y="1483360"/>
            <a:ext cx="914400" cy="18288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17233" y="1480718"/>
            <a:ext cx="892047" cy="178308"/>
          </a:xfrm>
          <a:prstGeom prst="rect">
            <a:avLst/>
          </a:prstGeom>
          <a:noFill/>
        </p:spPr>
        <p:txBody>
          <a:bodyPr wrap="none" lIns="0" rIns="0" tIns="0" bIns="0">
            <a:spAutoFit/>
          </a:bodyPr>
          <a:lstStyle/>
          <a:p>
            <a:pPr algn="ctr"/>
            <a:r>
              <a:rPr sz="1040" b="1">
                <a:solidFill>
                  <a:srgbClr val="77CDBB"/>
                </a:solidFill>
                <a:latin typeface="Noto Sans SC"/>
                <a:ea typeface="Noto Sans SC"/>
              </a:rPr>
              <a:t>ABC · size 3</a:t>
            </a:r>
          </a:p>
        </p:txBody>
      </p:sp>
      <p:sp>
        <p:nvSpPr>
          <p:cNvPr id="19" name="Rounded Rectangle 18"/>
          <p:cNvSpPr/>
          <p:nvPr/>
        </p:nvSpPr>
        <p:spPr>
          <a:xfrm>
            <a:off x="6096643" y="1696720"/>
            <a:ext cx="2402052" cy="2126588"/>
          </a:xfrm>
          <a:prstGeom prst="roundRect">
            <a:avLst>
              <a:gd name="adj" fmla="val 15766"/>
            </a:avLst>
          </a:prstGeom>
          <a:noFill/>
          <a:ln w="1524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6431923" y="2032000"/>
            <a:ext cx="1731493" cy="118056"/>
          </a:xfrm>
          <a:prstGeom prst="line">
            <a:avLst/>
          </a:prstGeom>
          <a:ln w="25400">
            <a:solidFill>
              <a:srgbClr val="9FC9BF"/>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172333" y="1797076"/>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192348" y="1803579"/>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5</a:t>
            </a:r>
          </a:p>
        </p:txBody>
      </p:sp>
      <p:cxnSp>
        <p:nvCxnSpPr>
          <p:cNvPr id="23" name="Connector 22"/>
          <p:cNvCxnSpPr/>
          <p:nvPr/>
        </p:nvCxnSpPr>
        <p:spPr>
          <a:xfrm>
            <a:off x="6431923" y="2150056"/>
            <a:ext cx="1062507" cy="1337972"/>
          </a:xfrm>
          <a:prstGeom prst="line">
            <a:avLst/>
          </a:prstGeom>
          <a:ln w="25400">
            <a:solidFill>
              <a:srgbClr val="9FC9B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941611" y="2570908"/>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61626" y="2577411"/>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1</a:t>
            </a:r>
          </a:p>
        </p:txBody>
      </p:sp>
      <p:cxnSp>
        <p:nvCxnSpPr>
          <p:cNvPr id="26" name="Connector 25"/>
          <p:cNvCxnSpPr/>
          <p:nvPr/>
        </p:nvCxnSpPr>
        <p:spPr>
          <a:xfrm flipH="1">
            <a:off x="7494430" y="2032000"/>
            <a:ext cx="668986" cy="1456028"/>
          </a:xfrm>
          <a:prstGeom prst="line">
            <a:avLst/>
          </a:prstGeom>
          <a:ln w="25400">
            <a:solidFill>
              <a:srgbClr val="9FC9B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822666" y="2638602"/>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42681" y="2645104"/>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4</a:t>
            </a:r>
          </a:p>
        </p:txBody>
      </p:sp>
      <p:cxnSp>
        <p:nvCxnSpPr>
          <p:cNvPr id="29" name="Connector 28"/>
          <p:cNvCxnSpPr/>
          <p:nvPr/>
        </p:nvCxnSpPr>
        <p:spPr>
          <a:xfrm>
            <a:off x="7494430" y="3488028"/>
            <a:ext cx="1770846" cy="826394"/>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314368" y="3618429"/>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334383" y="3624932"/>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2</a:t>
            </a:r>
          </a:p>
        </p:txBody>
      </p:sp>
      <p:cxnSp>
        <p:nvCxnSpPr>
          <p:cNvPr id="32" name="Connector 31"/>
          <p:cNvCxnSpPr/>
          <p:nvPr/>
        </p:nvCxnSpPr>
        <p:spPr>
          <a:xfrm flipH="1">
            <a:off x="7297670" y="3488028"/>
            <a:ext cx="196760" cy="1337972"/>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399630" y="4002439"/>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19645" y="4008941"/>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1</a:t>
            </a:r>
          </a:p>
        </p:txBody>
      </p:sp>
      <p:cxnSp>
        <p:nvCxnSpPr>
          <p:cNvPr id="35" name="Connector 34"/>
          <p:cNvCxnSpPr/>
          <p:nvPr/>
        </p:nvCxnSpPr>
        <p:spPr>
          <a:xfrm flipH="1">
            <a:off x="7297670" y="4314422"/>
            <a:ext cx="1967606" cy="511578"/>
          </a:xfrm>
          <a:prstGeom prst="line">
            <a:avLst/>
          </a:prstGeom>
          <a:ln w="2032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195109" y="4515894"/>
            <a:ext cx="234086" cy="234086"/>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5124" y="4522396"/>
            <a:ext cx="194056" cy="219456"/>
          </a:xfrm>
          <a:prstGeom prst="rect">
            <a:avLst/>
          </a:prstGeom>
          <a:noFill/>
        </p:spPr>
        <p:txBody>
          <a:bodyPr wrap="none" lIns="0" rIns="0" tIns="0" bIns="0">
            <a:spAutoFit/>
          </a:bodyPr>
          <a:lstStyle/>
          <a:p>
            <a:pPr algn="ctr"/>
            <a:r>
              <a:rPr sz="1280" b="1">
                <a:solidFill>
                  <a:srgbClr val="D9E4E1"/>
                </a:solidFill>
                <a:latin typeface="Noto Sans SC"/>
                <a:ea typeface="Noto Sans SC"/>
              </a:rPr>
              <a:t>5</a:t>
            </a:r>
          </a:p>
        </p:txBody>
      </p:sp>
      <p:sp>
        <p:nvSpPr>
          <p:cNvPr id="38" name="Oval 37"/>
          <p:cNvSpPr/>
          <p:nvPr/>
        </p:nvSpPr>
        <p:spPr>
          <a:xfrm>
            <a:off x="6177923" y="1896056"/>
            <a:ext cx="508000" cy="508000"/>
          </a:xfrm>
          <a:prstGeom prst="ellipse">
            <a:avLst/>
          </a:prstGeom>
          <a:noFill/>
          <a:ln w="254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228723" y="1946856"/>
            <a:ext cx="406400" cy="406400"/>
          </a:xfrm>
          <a:prstGeom prst="ellipse">
            <a:avLst/>
          </a:prstGeom>
          <a:solidFill>
            <a:srgbClr val="77CDBB"/>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24227" y="2036061"/>
            <a:ext cx="21539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A</a:t>
            </a:r>
          </a:p>
        </p:txBody>
      </p:sp>
      <p:sp>
        <p:nvSpPr>
          <p:cNvPr id="41" name="Oval 40"/>
          <p:cNvSpPr/>
          <p:nvPr/>
        </p:nvSpPr>
        <p:spPr>
          <a:xfrm>
            <a:off x="7909416" y="1778000"/>
            <a:ext cx="508000" cy="508000"/>
          </a:xfrm>
          <a:prstGeom prst="ellipse">
            <a:avLst/>
          </a:prstGeom>
          <a:noFill/>
          <a:ln w="254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7960216" y="1828800"/>
            <a:ext cx="406400" cy="406400"/>
          </a:xfrm>
          <a:prstGeom prst="ellipse">
            <a:avLst/>
          </a:prstGeom>
          <a:solidFill>
            <a:srgbClr val="77CDBB"/>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053180" y="1918004"/>
            <a:ext cx="22047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B</a:t>
            </a:r>
          </a:p>
        </p:txBody>
      </p:sp>
      <p:sp>
        <p:nvSpPr>
          <p:cNvPr id="44" name="Oval 43"/>
          <p:cNvSpPr/>
          <p:nvPr/>
        </p:nvSpPr>
        <p:spPr>
          <a:xfrm>
            <a:off x="7240430" y="3234028"/>
            <a:ext cx="508000" cy="508000"/>
          </a:xfrm>
          <a:prstGeom prst="ellipse">
            <a:avLst/>
          </a:prstGeom>
          <a:noFill/>
          <a:ln w="254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7291230" y="3284828"/>
            <a:ext cx="406400" cy="406400"/>
          </a:xfrm>
          <a:prstGeom prst="ellipse">
            <a:avLst/>
          </a:prstGeom>
          <a:solidFill>
            <a:srgbClr val="77CDBB"/>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386734" y="3374032"/>
            <a:ext cx="21539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C</a:t>
            </a:r>
          </a:p>
        </p:txBody>
      </p:sp>
      <p:sp>
        <p:nvSpPr>
          <p:cNvPr id="47" name="Oval 46"/>
          <p:cNvSpPr/>
          <p:nvPr/>
        </p:nvSpPr>
        <p:spPr>
          <a:xfrm>
            <a:off x="9062076" y="4111222"/>
            <a:ext cx="406400" cy="406400"/>
          </a:xfrm>
          <a:prstGeom prst="ellipse">
            <a:avLst/>
          </a:prstGeom>
          <a:solidFill>
            <a:srgbClr val="A9BDB8"/>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152500" y="4200427"/>
            <a:ext cx="225551" cy="233172"/>
          </a:xfrm>
          <a:prstGeom prst="rect">
            <a:avLst/>
          </a:prstGeom>
          <a:noFill/>
        </p:spPr>
        <p:txBody>
          <a:bodyPr wrap="none" lIns="0" rIns="0" tIns="0" bIns="0">
            <a:spAutoFit/>
          </a:bodyPr>
          <a:lstStyle/>
          <a:p>
            <a:pPr algn="ctr"/>
            <a:r>
              <a:rPr sz="1360" b="1">
                <a:solidFill>
                  <a:srgbClr val="0B1B1F"/>
                </a:solidFill>
                <a:latin typeface="Noto Sans SC"/>
                <a:ea typeface="Noto Sans SC"/>
              </a:rPr>
              <a:t>D</a:t>
            </a:r>
          </a:p>
        </p:txBody>
      </p:sp>
      <p:sp>
        <p:nvSpPr>
          <p:cNvPr id="49" name="Oval 48"/>
          <p:cNvSpPr/>
          <p:nvPr/>
        </p:nvSpPr>
        <p:spPr>
          <a:xfrm>
            <a:off x="7094470" y="4622800"/>
            <a:ext cx="406400" cy="406400"/>
          </a:xfrm>
          <a:prstGeom prst="ellipse">
            <a:avLst/>
          </a:prstGeom>
          <a:solidFill>
            <a:srgbClr val="A9BDB8"/>
          </a:solidFill>
          <a:ln w="1524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192514" y="4712004"/>
            <a:ext cx="210312" cy="233172"/>
          </a:xfrm>
          <a:prstGeom prst="rect">
            <a:avLst/>
          </a:prstGeom>
          <a:noFill/>
        </p:spPr>
        <p:txBody>
          <a:bodyPr wrap="none" lIns="0" rIns="0" tIns="0" bIns="0">
            <a:spAutoFit/>
          </a:bodyPr>
          <a:lstStyle/>
          <a:p>
            <a:pPr algn="ctr"/>
            <a:r>
              <a:rPr sz="1360" b="1">
                <a:solidFill>
                  <a:srgbClr val="0B1B1F"/>
                </a:solidFill>
                <a:latin typeface="Noto Sans SC"/>
                <a:ea typeface="Noto Sans SC"/>
              </a:rPr>
              <a:t>E</a:t>
            </a:r>
          </a:p>
        </p:txBody>
      </p:sp>
      <p:sp>
        <p:nvSpPr>
          <p:cNvPr id="51" name="TextBox 50"/>
          <p:cNvSpPr txBox="1"/>
          <p:nvPr/>
        </p:nvSpPr>
        <p:spPr>
          <a:xfrm>
            <a:off x="10025380" y="1749552"/>
            <a:ext cx="389890" cy="205740"/>
          </a:xfrm>
          <a:prstGeom prst="rect">
            <a:avLst/>
          </a:prstGeom>
          <a:noFill/>
        </p:spPr>
        <p:txBody>
          <a:bodyPr wrap="none" lIns="0" rIns="0" tIns="0" bIns="0">
            <a:spAutoFit/>
          </a:bodyPr>
          <a:lstStyle/>
          <a:p>
            <a:pPr algn="l"/>
            <a:r>
              <a:rPr sz="1200" b="1">
                <a:solidFill>
                  <a:srgbClr val="BCD2D0"/>
                </a:solidFill>
                <a:latin typeface="Noto Sans SC"/>
                <a:ea typeface="Noto Sans SC"/>
              </a:rPr>
              <a:t>Pair</a:t>
            </a:r>
          </a:p>
        </p:txBody>
      </p:sp>
      <p:sp>
        <p:nvSpPr>
          <p:cNvPr id="52" name="TextBox 51"/>
          <p:cNvSpPr txBox="1"/>
          <p:nvPr/>
        </p:nvSpPr>
        <p:spPr>
          <a:xfrm>
            <a:off x="10977880" y="1749552"/>
            <a:ext cx="637540" cy="205740"/>
          </a:xfrm>
          <a:prstGeom prst="rect">
            <a:avLst/>
          </a:prstGeom>
          <a:noFill/>
        </p:spPr>
        <p:txBody>
          <a:bodyPr wrap="none" lIns="0" rIns="0" tIns="0" bIns="0">
            <a:spAutoFit/>
          </a:bodyPr>
          <a:lstStyle/>
          <a:p>
            <a:pPr algn="l"/>
            <a:r>
              <a:rPr sz="1200" b="1">
                <a:solidFill>
                  <a:srgbClr val="BCD2D0"/>
                </a:solidFill>
                <a:latin typeface="Noto Sans SC"/>
                <a:ea typeface="Noto Sans SC"/>
              </a:rPr>
              <a:t>Affinity</a:t>
            </a:r>
          </a:p>
        </p:txBody>
      </p:sp>
      <p:cxnSp>
        <p:nvCxnSpPr>
          <p:cNvPr id="53" name="Connector 52"/>
          <p:cNvCxnSpPr/>
          <p:nvPr/>
        </p:nvCxnSpPr>
        <p:spPr>
          <a:xfrm>
            <a:off x="9994900" y="2006600"/>
            <a:ext cx="17526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9944100" y="2032000"/>
            <a:ext cx="1892300" cy="330200"/>
          </a:xfrm>
          <a:prstGeom prst="roundRect">
            <a:avLst>
              <a:gd name="adj" fmla="val 15384"/>
            </a:avLst>
          </a:prstGeom>
          <a:solidFill>
            <a:srgbClr val="D8BB7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024110" y="2079244"/>
            <a:ext cx="538480" cy="240030"/>
          </a:xfrm>
          <a:prstGeom prst="rect">
            <a:avLst/>
          </a:prstGeom>
          <a:noFill/>
        </p:spPr>
        <p:txBody>
          <a:bodyPr wrap="none" lIns="0" rIns="0" tIns="0" bIns="0">
            <a:spAutoFit/>
          </a:bodyPr>
          <a:lstStyle/>
          <a:p>
            <a:pPr algn="l"/>
            <a:r>
              <a:rPr sz="1400" b="0">
                <a:solidFill>
                  <a:srgbClr val="F2F3E9"/>
                </a:solidFill>
                <a:latin typeface="Noto Sans SC"/>
                <a:ea typeface="Noto Sans SC"/>
              </a:rPr>
              <a:t>AB–C</a:t>
            </a:r>
          </a:p>
        </p:txBody>
      </p:sp>
      <p:sp>
        <p:nvSpPr>
          <p:cNvPr id="56" name="TextBox 55"/>
          <p:cNvSpPr txBox="1"/>
          <p:nvPr/>
        </p:nvSpPr>
        <p:spPr>
          <a:xfrm>
            <a:off x="10976610" y="20792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5</a:t>
            </a:r>
          </a:p>
        </p:txBody>
      </p:sp>
      <p:sp>
        <p:nvSpPr>
          <p:cNvPr id="57" name="TextBox 56"/>
          <p:cNvSpPr txBox="1"/>
          <p:nvPr/>
        </p:nvSpPr>
        <p:spPr>
          <a:xfrm>
            <a:off x="10024110" y="2434844"/>
            <a:ext cx="424180" cy="240030"/>
          </a:xfrm>
          <a:prstGeom prst="rect">
            <a:avLst/>
          </a:prstGeom>
          <a:noFill/>
        </p:spPr>
        <p:txBody>
          <a:bodyPr wrap="none" lIns="0" rIns="0" tIns="0" bIns="0">
            <a:spAutoFit/>
          </a:bodyPr>
          <a:lstStyle/>
          <a:p>
            <a:pPr algn="l"/>
            <a:r>
              <a:rPr sz="1400" b="0">
                <a:solidFill>
                  <a:srgbClr val="F2F3E9"/>
                </a:solidFill>
                <a:latin typeface="Noto Sans SC"/>
                <a:ea typeface="Noto Sans SC"/>
              </a:rPr>
              <a:t>D–E</a:t>
            </a:r>
          </a:p>
        </p:txBody>
      </p:sp>
      <p:sp>
        <p:nvSpPr>
          <p:cNvPr id="58" name="TextBox 57"/>
          <p:cNvSpPr txBox="1"/>
          <p:nvPr/>
        </p:nvSpPr>
        <p:spPr>
          <a:xfrm>
            <a:off x="10976610" y="24348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5</a:t>
            </a:r>
          </a:p>
        </p:txBody>
      </p:sp>
      <p:sp>
        <p:nvSpPr>
          <p:cNvPr id="59" name="TextBox 58"/>
          <p:cNvSpPr txBox="1"/>
          <p:nvPr/>
        </p:nvSpPr>
        <p:spPr>
          <a:xfrm>
            <a:off x="10024110" y="2790444"/>
            <a:ext cx="436880" cy="240030"/>
          </a:xfrm>
          <a:prstGeom prst="rect">
            <a:avLst/>
          </a:prstGeom>
          <a:noFill/>
        </p:spPr>
        <p:txBody>
          <a:bodyPr wrap="none" lIns="0" rIns="0" tIns="0" bIns="0">
            <a:spAutoFit/>
          </a:bodyPr>
          <a:lstStyle/>
          <a:p>
            <a:pPr algn="l"/>
            <a:r>
              <a:rPr sz="1400" b="0">
                <a:solidFill>
                  <a:srgbClr val="F2F3E9"/>
                </a:solidFill>
                <a:latin typeface="Noto Sans SC"/>
                <a:ea typeface="Noto Sans SC"/>
              </a:rPr>
              <a:t>C–D</a:t>
            </a:r>
          </a:p>
        </p:txBody>
      </p:sp>
      <p:sp>
        <p:nvSpPr>
          <p:cNvPr id="60" name="TextBox 59"/>
          <p:cNvSpPr txBox="1"/>
          <p:nvPr/>
        </p:nvSpPr>
        <p:spPr>
          <a:xfrm>
            <a:off x="10976610" y="27904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2</a:t>
            </a:r>
          </a:p>
        </p:txBody>
      </p:sp>
      <p:sp>
        <p:nvSpPr>
          <p:cNvPr id="61" name="TextBox 60"/>
          <p:cNvSpPr txBox="1"/>
          <p:nvPr/>
        </p:nvSpPr>
        <p:spPr>
          <a:xfrm>
            <a:off x="10024110" y="3146044"/>
            <a:ext cx="417830" cy="240030"/>
          </a:xfrm>
          <a:prstGeom prst="rect">
            <a:avLst/>
          </a:prstGeom>
          <a:noFill/>
        </p:spPr>
        <p:txBody>
          <a:bodyPr wrap="none" lIns="0" rIns="0" tIns="0" bIns="0">
            <a:spAutoFit/>
          </a:bodyPr>
          <a:lstStyle/>
          <a:p>
            <a:pPr algn="l"/>
            <a:r>
              <a:rPr sz="1400" b="0">
                <a:solidFill>
                  <a:srgbClr val="F2F3E9"/>
                </a:solidFill>
                <a:latin typeface="Noto Sans SC"/>
                <a:ea typeface="Noto Sans SC"/>
              </a:rPr>
              <a:t>C–E</a:t>
            </a:r>
          </a:p>
        </p:txBody>
      </p:sp>
      <p:sp>
        <p:nvSpPr>
          <p:cNvPr id="62" name="TextBox 61"/>
          <p:cNvSpPr txBox="1"/>
          <p:nvPr/>
        </p:nvSpPr>
        <p:spPr>
          <a:xfrm>
            <a:off x="10976610" y="3146044"/>
            <a:ext cx="208279" cy="240030"/>
          </a:xfrm>
          <a:prstGeom prst="rect">
            <a:avLst/>
          </a:prstGeom>
          <a:noFill/>
        </p:spPr>
        <p:txBody>
          <a:bodyPr wrap="none" lIns="0" rIns="0" tIns="0" bIns="0">
            <a:spAutoFit/>
          </a:bodyPr>
          <a:lstStyle/>
          <a:p>
            <a:pPr algn="l"/>
            <a:r>
              <a:rPr sz="1400" b="0">
                <a:solidFill>
                  <a:srgbClr val="F2F3E9"/>
                </a:solidFill>
                <a:latin typeface="Noto Sans SC"/>
                <a:ea typeface="Noto Sans SC"/>
              </a:rPr>
              <a:t>1</a:t>
            </a:r>
          </a:p>
        </p:txBody>
      </p:sp>
      <p:sp>
        <p:nvSpPr>
          <p:cNvPr id="63" name="Rounded Rectangle 62"/>
          <p:cNvSpPr/>
          <p:nvPr/>
        </p:nvSpPr>
        <p:spPr>
          <a:xfrm>
            <a:off x="8061325" y="5880100"/>
            <a:ext cx="102235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107045" y="5940298"/>
            <a:ext cx="9309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cut 13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2425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full path: 18 → 13 → 8 → 3</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p6/12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Step 3: D–E = 5, cut 8 → 3, the count reaches 2: stop</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Result: ABC | DE</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Remaining cut: C–D 2 + C–E 1 = 3</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With K = 3 it stops after step 2: ABC | D | E, cut 8</a:t>
            </a:r>
          </a:p>
        </p:txBody>
      </p:sp>
      <p:sp>
        <p:nvSpPr>
          <p:cNvPr id="17" name="TextBox 16"/>
          <p:cNvSpPr txBox="1"/>
          <p:nvPr/>
        </p:nvSpPr>
        <p:spPr>
          <a:xfrm>
            <a:off x="6212840" y="1697736"/>
            <a:ext cx="585470" cy="274320"/>
          </a:xfrm>
          <a:prstGeom prst="rect">
            <a:avLst/>
          </a:prstGeom>
          <a:noFill/>
        </p:spPr>
        <p:txBody>
          <a:bodyPr wrap="none" lIns="0" rIns="0" tIns="0" bIns="0">
            <a:spAutoFit/>
          </a:bodyPr>
          <a:lstStyle/>
          <a:p>
            <a:pPr algn="l"/>
            <a:r>
              <a:rPr sz="1600" b="1">
                <a:solidFill>
                  <a:srgbClr val="BCD2D0"/>
                </a:solidFill>
                <a:latin typeface="Noto Sans SC"/>
                <a:ea typeface="Noto Sans SC"/>
              </a:rPr>
              <a:t>Step</a:t>
            </a:r>
          </a:p>
        </p:txBody>
      </p:sp>
      <p:sp>
        <p:nvSpPr>
          <p:cNvPr id="18" name="TextBox 17"/>
          <p:cNvSpPr txBox="1"/>
          <p:nvPr/>
        </p:nvSpPr>
        <p:spPr>
          <a:xfrm>
            <a:off x="6911340" y="1697736"/>
            <a:ext cx="744220" cy="274320"/>
          </a:xfrm>
          <a:prstGeom prst="rect">
            <a:avLst/>
          </a:prstGeom>
          <a:noFill/>
        </p:spPr>
        <p:txBody>
          <a:bodyPr wrap="none" lIns="0" rIns="0" tIns="0" bIns="0">
            <a:spAutoFit/>
          </a:bodyPr>
          <a:lstStyle/>
          <a:p>
            <a:pPr algn="l"/>
            <a:r>
              <a:rPr sz="1600" b="1">
                <a:solidFill>
                  <a:srgbClr val="BCD2D0"/>
                </a:solidFill>
                <a:latin typeface="Noto Sans SC"/>
                <a:ea typeface="Noto Sans SC"/>
              </a:rPr>
              <a:t>Merge</a:t>
            </a:r>
          </a:p>
        </p:txBody>
      </p:sp>
      <p:sp>
        <p:nvSpPr>
          <p:cNvPr id="19" name="TextBox 18"/>
          <p:cNvSpPr txBox="1"/>
          <p:nvPr/>
        </p:nvSpPr>
        <p:spPr>
          <a:xfrm>
            <a:off x="8816340" y="1697736"/>
            <a:ext cx="864869" cy="274320"/>
          </a:xfrm>
          <a:prstGeom prst="rect">
            <a:avLst/>
          </a:prstGeom>
          <a:noFill/>
        </p:spPr>
        <p:txBody>
          <a:bodyPr wrap="none" lIns="0" rIns="0" tIns="0" bIns="0">
            <a:spAutoFit/>
          </a:bodyPr>
          <a:lstStyle/>
          <a:p>
            <a:pPr algn="l"/>
            <a:r>
              <a:rPr sz="1600" b="1">
                <a:solidFill>
                  <a:srgbClr val="BCD2D0"/>
                </a:solidFill>
                <a:latin typeface="Noto Sans SC"/>
                <a:ea typeface="Noto Sans SC"/>
              </a:rPr>
              <a:t>Affinity</a:t>
            </a:r>
          </a:p>
        </p:txBody>
      </p:sp>
      <p:sp>
        <p:nvSpPr>
          <p:cNvPr id="20" name="TextBox 19"/>
          <p:cNvSpPr txBox="1"/>
          <p:nvPr/>
        </p:nvSpPr>
        <p:spPr>
          <a:xfrm>
            <a:off x="9959340" y="1697736"/>
            <a:ext cx="439420" cy="274320"/>
          </a:xfrm>
          <a:prstGeom prst="rect">
            <a:avLst/>
          </a:prstGeom>
          <a:noFill/>
        </p:spPr>
        <p:txBody>
          <a:bodyPr wrap="none" lIns="0" rIns="0" tIns="0" bIns="0">
            <a:spAutoFit/>
          </a:bodyPr>
          <a:lstStyle/>
          <a:p>
            <a:pPr algn="l"/>
            <a:r>
              <a:rPr sz="1600" b="1">
                <a:solidFill>
                  <a:srgbClr val="BCD2D0"/>
                </a:solidFill>
                <a:latin typeface="Noto Sans SC"/>
                <a:ea typeface="Noto Sans SC"/>
              </a:rPr>
              <a:t>cut</a:t>
            </a:r>
          </a:p>
        </p:txBody>
      </p:sp>
      <p:cxnSp>
        <p:nvCxnSpPr>
          <p:cNvPr id="21" name="Connector 20"/>
          <p:cNvCxnSpPr/>
          <p:nvPr/>
        </p:nvCxnSpPr>
        <p:spPr>
          <a:xfrm>
            <a:off x="6184900" y="2006600"/>
            <a:ext cx="46736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11570" y="22179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0</a:t>
            </a:r>
          </a:p>
        </p:txBody>
      </p:sp>
      <p:sp>
        <p:nvSpPr>
          <p:cNvPr id="23" name="TextBox 22"/>
          <p:cNvSpPr txBox="1"/>
          <p:nvPr/>
        </p:nvSpPr>
        <p:spPr>
          <a:xfrm>
            <a:off x="6910070" y="22179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a:t>
            </a:r>
          </a:p>
        </p:txBody>
      </p:sp>
      <p:sp>
        <p:nvSpPr>
          <p:cNvPr id="24" name="TextBox 23"/>
          <p:cNvSpPr txBox="1"/>
          <p:nvPr/>
        </p:nvSpPr>
        <p:spPr>
          <a:xfrm>
            <a:off x="8815070" y="22179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a:t>
            </a:r>
          </a:p>
        </p:txBody>
      </p:sp>
      <p:sp>
        <p:nvSpPr>
          <p:cNvPr id="25" name="TextBox 24"/>
          <p:cNvSpPr txBox="1"/>
          <p:nvPr/>
        </p:nvSpPr>
        <p:spPr>
          <a:xfrm>
            <a:off x="9958070" y="2217928"/>
            <a:ext cx="391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18</a:t>
            </a:r>
          </a:p>
        </p:txBody>
      </p:sp>
      <p:sp>
        <p:nvSpPr>
          <p:cNvPr id="26" name="TextBox 25"/>
          <p:cNvSpPr txBox="1"/>
          <p:nvPr/>
        </p:nvSpPr>
        <p:spPr>
          <a:xfrm>
            <a:off x="6211570" y="27640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a:t>
            </a:r>
          </a:p>
        </p:txBody>
      </p:sp>
      <p:sp>
        <p:nvSpPr>
          <p:cNvPr id="27" name="TextBox 26"/>
          <p:cNvSpPr txBox="1"/>
          <p:nvPr/>
        </p:nvSpPr>
        <p:spPr>
          <a:xfrm>
            <a:off x="6910070" y="2764028"/>
            <a:ext cx="657860" cy="308610"/>
          </a:xfrm>
          <a:prstGeom prst="rect">
            <a:avLst/>
          </a:prstGeom>
          <a:noFill/>
        </p:spPr>
        <p:txBody>
          <a:bodyPr wrap="none" lIns="0" rIns="0" tIns="0" bIns="0">
            <a:spAutoFit/>
          </a:bodyPr>
          <a:lstStyle/>
          <a:p>
            <a:pPr algn="l"/>
            <a:r>
              <a:rPr sz="1800" b="0">
                <a:solidFill>
                  <a:srgbClr val="F2F3E9"/>
                </a:solidFill>
                <a:latin typeface="Noto Sans SC"/>
                <a:ea typeface="Noto Sans SC"/>
              </a:rPr>
              <a:t>A + B</a:t>
            </a:r>
          </a:p>
        </p:txBody>
      </p:sp>
      <p:sp>
        <p:nvSpPr>
          <p:cNvPr id="28" name="TextBox 27"/>
          <p:cNvSpPr txBox="1"/>
          <p:nvPr/>
        </p:nvSpPr>
        <p:spPr>
          <a:xfrm>
            <a:off x="8815070" y="27640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5</a:t>
            </a:r>
          </a:p>
        </p:txBody>
      </p:sp>
      <p:sp>
        <p:nvSpPr>
          <p:cNvPr id="29" name="TextBox 28"/>
          <p:cNvSpPr txBox="1"/>
          <p:nvPr/>
        </p:nvSpPr>
        <p:spPr>
          <a:xfrm>
            <a:off x="9958070" y="2764028"/>
            <a:ext cx="391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13</a:t>
            </a:r>
          </a:p>
        </p:txBody>
      </p:sp>
      <p:sp>
        <p:nvSpPr>
          <p:cNvPr id="30" name="TextBox 29"/>
          <p:cNvSpPr txBox="1"/>
          <p:nvPr/>
        </p:nvSpPr>
        <p:spPr>
          <a:xfrm>
            <a:off x="6211570" y="33101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2</a:t>
            </a:r>
          </a:p>
        </p:txBody>
      </p:sp>
      <p:sp>
        <p:nvSpPr>
          <p:cNvPr id="31" name="TextBox 30"/>
          <p:cNvSpPr txBox="1"/>
          <p:nvPr/>
        </p:nvSpPr>
        <p:spPr>
          <a:xfrm>
            <a:off x="6910070" y="3310128"/>
            <a:ext cx="803910" cy="308610"/>
          </a:xfrm>
          <a:prstGeom prst="rect">
            <a:avLst/>
          </a:prstGeom>
          <a:noFill/>
        </p:spPr>
        <p:txBody>
          <a:bodyPr wrap="none" lIns="0" rIns="0" tIns="0" bIns="0">
            <a:spAutoFit/>
          </a:bodyPr>
          <a:lstStyle/>
          <a:p>
            <a:pPr algn="l"/>
            <a:r>
              <a:rPr sz="1800" b="0">
                <a:solidFill>
                  <a:srgbClr val="F2F3E9"/>
                </a:solidFill>
                <a:latin typeface="Noto Sans SC"/>
                <a:ea typeface="Noto Sans SC"/>
              </a:rPr>
              <a:t>AB + C</a:t>
            </a:r>
          </a:p>
        </p:txBody>
      </p:sp>
      <p:sp>
        <p:nvSpPr>
          <p:cNvPr id="32" name="TextBox 31"/>
          <p:cNvSpPr txBox="1"/>
          <p:nvPr/>
        </p:nvSpPr>
        <p:spPr>
          <a:xfrm>
            <a:off x="8815070" y="33101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5</a:t>
            </a:r>
          </a:p>
        </p:txBody>
      </p:sp>
      <p:sp>
        <p:nvSpPr>
          <p:cNvPr id="33" name="TextBox 32"/>
          <p:cNvSpPr txBox="1"/>
          <p:nvPr/>
        </p:nvSpPr>
        <p:spPr>
          <a:xfrm>
            <a:off x="9958070" y="33101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8</a:t>
            </a:r>
          </a:p>
        </p:txBody>
      </p:sp>
      <p:sp>
        <p:nvSpPr>
          <p:cNvPr id="34" name="Rounded Rectangle 33"/>
          <p:cNvSpPr/>
          <p:nvPr/>
        </p:nvSpPr>
        <p:spPr>
          <a:xfrm>
            <a:off x="6134100" y="3810000"/>
            <a:ext cx="4813300" cy="520700"/>
          </a:xfrm>
          <a:prstGeom prst="roundRect">
            <a:avLst>
              <a:gd name="adj" fmla="val 9756"/>
            </a:avLst>
          </a:prstGeom>
          <a:solidFill>
            <a:srgbClr val="77CDB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1570" y="38562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3</a:t>
            </a:r>
          </a:p>
        </p:txBody>
      </p:sp>
      <p:sp>
        <p:nvSpPr>
          <p:cNvPr id="36" name="TextBox 35"/>
          <p:cNvSpPr txBox="1"/>
          <p:nvPr/>
        </p:nvSpPr>
        <p:spPr>
          <a:xfrm>
            <a:off x="6910070" y="3856228"/>
            <a:ext cx="657860" cy="308610"/>
          </a:xfrm>
          <a:prstGeom prst="rect">
            <a:avLst/>
          </a:prstGeom>
          <a:noFill/>
        </p:spPr>
        <p:txBody>
          <a:bodyPr wrap="none" lIns="0" rIns="0" tIns="0" bIns="0">
            <a:spAutoFit/>
          </a:bodyPr>
          <a:lstStyle/>
          <a:p>
            <a:pPr algn="l"/>
            <a:r>
              <a:rPr sz="1800" b="0">
                <a:solidFill>
                  <a:srgbClr val="F2F3E9"/>
                </a:solidFill>
                <a:latin typeface="Noto Sans SC"/>
                <a:ea typeface="Noto Sans SC"/>
              </a:rPr>
              <a:t>D + E</a:t>
            </a:r>
          </a:p>
        </p:txBody>
      </p:sp>
      <p:sp>
        <p:nvSpPr>
          <p:cNvPr id="37" name="TextBox 36"/>
          <p:cNvSpPr txBox="1"/>
          <p:nvPr/>
        </p:nvSpPr>
        <p:spPr>
          <a:xfrm>
            <a:off x="8815070" y="38562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5</a:t>
            </a:r>
          </a:p>
        </p:txBody>
      </p:sp>
      <p:sp>
        <p:nvSpPr>
          <p:cNvPr id="38" name="TextBox 37"/>
          <p:cNvSpPr txBox="1"/>
          <p:nvPr/>
        </p:nvSpPr>
        <p:spPr>
          <a:xfrm>
            <a:off x="9958070" y="38562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7293609"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original page's comparator bug (fixed)</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p7/12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Original JS: if (!best || cand &lt; best), where cand is an array</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JavaScript turns arrays into strings before comparing</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"-1,A,C" &lt; "-5,A,B": affinity 1 counts as better</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Four settings give 9/16/12/16; correct is 3/8/8/3</a:t>
            </a:r>
          </a:p>
        </p:txBody>
      </p:sp>
      <p:sp>
        <p:nvSpPr>
          <p:cNvPr id="17" name="Oval 16"/>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097147"/>
            <a:ext cx="4718050" cy="626110"/>
          </a:xfrm>
          <a:prstGeom prst="rect">
            <a:avLst/>
          </a:prstGeom>
          <a:noFill/>
        </p:spPr>
        <p:txBody>
          <a:bodyPr wrap="square" lIns="0" rIns="0" tIns="0" bIns="0">
            <a:spAutoFit/>
          </a:bodyPr>
          <a:lstStyle/>
          <a:p>
            <a:pPr algn="l">
              <a:lnSpc>
                <a:spcPct val="121800"/>
              </a:lnSpc>
            </a:pPr>
            <a:r>
              <a:rPr sz="1700" b="0">
                <a:solidFill>
                  <a:srgbClr val="77CDBB"/>
                </a:solidFill>
                <a:latin typeface="Noto Sans SC"/>
                <a:ea typeface="Noto Sans SC"/>
              </a:rPr>
              <a:t>Fix: compare field by field; regression tests 10 vs 2, 2.5 vs 2</a:t>
            </a:r>
          </a:p>
        </p:txBody>
      </p:sp>
      <p:sp>
        <p:nvSpPr>
          <p:cNvPr id="19" name="TextBox 18"/>
          <p:cNvSpPr txBox="1"/>
          <p:nvPr/>
        </p:nvSpPr>
        <p:spPr>
          <a:xfrm>
            <a:off x="6084570" y="1862327"/>
            <a:ext cx="2766060" cy="308610"/>
          </a:xfrm>
          <a:prstGeom prst="rect">
            <a:avLst/>
          </a:prstGeom>
          <a:noFill/>
        </p:spPr>
        <p:txBody>
          <a:bodyPr wrap="none" lIns="0" rIns="0" tIns="0" bIns="0">
            <a:spAutoFit/>
          </a:bodyPr>
          <a:lstStyle/>
          <a:p>
            <a:pPr algn="l"/>
            <a:r>
              <a:rPr sz="1800" b="0">
                <a:solidFill>
                  <a:srgbClr val="F2F3E9"/>
                </a:solidFill>
                <a:latin typeface="Noto Sans SC"/>
                <a:ea typeface="Noto Sans SC"/>
              </a:rPr>
              <a:t>[−5, "A", "B"]  →  "-5,A,B"</a:t>
            </a:r>
          </a:p>
        </p:txBody>
      </p:sp>
      <p:sp>
        <p:nvSpPr>
          <p:cNvPr id="20" name="TextBox 19"/>
          <p:cNvSpPr txBox="1"/>
          <p:nvPr/>
        </p:nvSpPr>
        <p:spPr>
          <a:xfrm>
            <a:off x="6084570" y="2306828"/>
            <a:ext cx="2753360" cy="308610"/>
          </a:xfrm>
          <a:prstGeom prst="rect">
            <a:avLst/>
          </a:prstGeom>
          <a:noFill/>
        </p:spPr>
        <p:txBody>
          <a:bodyPr wrap="none" lIns="0" rIns="0" tIns="0" bIns="0">
            <a:spAutoFit/>
          </a:bodyPr>
          <a:lstStyle/>
          <a:p>
            <a:pPr algn="l"/>
            <a:r>
              <a:rPr sz="1800" b="0">
                <a:solidFill>
                  <a:srgbClr val="F2F3E9"/>
                </a:solidFill>
                <a:latin typeface="Noto Sans SC"/>
                <a:ea typeface="Noto Sans SC"/>
              </a:rPr>
              <a:t>[−1, "A", "C"]  →  "-1,A,C"</a:t>
            </a:r>
          </a:p>
        </p:txBody>
      </p:sp>
      <p:sp>
        <p:nvSpPr>
          <p:cNvPr id="21" name="TextBox 20"/>
          <p:cNvSpPr txBox="1"/>
          <p:nvPr/>
        </p:nvSpPr>
        <p:spPr>
          <a:xfrm>
            <a:off x="6086475" y="2853690"/>
            <a:ext cx="4171950" cy="257175"/>
          </a:xfrm>
          <a:prstGeom prst="rect">
            <a:avLst/>
          </a:prstGeom>
          <a:noFill/>
        </p:spPr>
        <p:txBody>
          <a:bodyPr wrap="none" lIns="0" rIns="0" tIns="0" bIns="0">
            <a:spAutoFit/>
          </a:bodyPr>
          <a:lstStyle/>
          <a:p>
            <a:pPr algn="l"/>
            <a:r>
              <a:rPr sz="1500" b="1">
                <a:solidFill>
                  <a:srgbClr val="DB7B72"/>
                </a:solidFill>
                <a:latin typeface="Noto Sans SC"/>
                <a:ea typeface="Noto Sans SC"/>
              </a:rPr>
              <a:t>Character 1 &lt; 5: A–C, affinity 1, looks better</a:t>
            </a:r>
          </a:p>
        </p:txBody>
      </p:sp>
      <p:sp>
        <p:nvSpPr>
          <p:cNvPr id="22" name="TextBox 21"/>
          <p:cNvSpPr txBox="1"/>
          <p:nvPr/>
        </p:nvSpPr>
        <p:spPr>
          <a:xfrm>
            <a:off x="6214110" y="3565144"/>
            <a:ext cx="748030" cy="240030"/>
          </a:xfrm>
          <a:prstGeom prst="rect">
            <a:avLst/>
          </a:prstGeom>
          <a:noFill/>
        </p:spPr>
        <p:txBody>
          <a:bodyPr wrap="none" lIns="0" rIns="0" tIns="0" bIns="0">
            <a:spAutoFit/>
          </a:bodyPr>
          <a:lstStyle/>
          <a:p>
            <a:pPr algn="l"/>
            <a:r>
              <a:rPr sz="1400" b="1">
                <a:solidFill>
                  <a:srgbClr val="BCD2D0"/>
                </a:solidFill>
                <a:latin typeface="Noto Sans SC"/>
                <a:ea typeface="Noto Sans SC"/>
              </a:rPr>
              <a:t>Setting</a:t>
            </a:r>
          </a:p>
        </p:txBody>
      </p:sp>
      <p:sp>
        <p:nvSpPr>
          <p:cNvPr id="23" name="TextBox 22"/>
          <p:cNvSpPr txBox="1"/>
          <p:nvPr/>
        </p:nvSpPr>
        <p:spPr>
          <a:xfrm>
            <a:off x="8119109" y="3565144"/>
            <a:ext cx="824230" cy="240030"/>
          </a:xfrm>
          <a:prstGeom prst="rect">
            <a:avLst/>
          </a:prstGeom>
          <a:noFill/>
        </p:spPr>
        <p:txBody>
          <a:bodyPr wrap="none" lIns="0" rIns="0" tIns="0" bIns="0">
            <a:spAutoFit/>
          </a:bodyPr>
          <a:lstStyle/>
          <a:p>
            <a:pPr algn="l"/>
            <a:r>
              <a:rPr sz="1400" b="1">
                <a:solidFill>
                  <a:srgbClr val="BCD2D0"/>
                </a:solidFill>
                <a:latin typeface="Noto Sans SC"/>
                <a:ea typeface="Noto Sans SC"/>
              </a:rPr>
              <a:t>Original</a:t>
            </a:r>
          </a:p>
        </p:txBody>
      </p:sp>
      <p:sp>
        <p:nvSpPr>
          <p:cNvPr id="24" name="TextBox 23"/>
          <p:cNvSpPr txBox="1"/>
          <p:nvPr/>
        </p:nvSpPr>
        <p:spPr>
          <a:xfrm>
            <a:off x="9262110" y="3565144"/>
            <a:ext cx="760730" cy="240030"/>
          </a:xfrm>
          <a:prstGeom prst="rect">
            <a:avLst/>
          </a:prstGeom>
          <a:noFill/>
        </p:spPr>
        <p:txBody>
          <a:bodyPr wrap="none" lIns="0" rIns="0" tIns="0" bIns="0">
            <a:spAutoFit/>
          </a:bodyPr>
          <a:lstStyle/>
          <a:p>
            <a:pPr algn="l"/>
            <a:r>
              <a:rPr sz="1400" b="1">
                <a:solidFill>
                  <a:srgbClr val="BCD2D0"/>
                </a:solidFill>
                <a:latin typeface="Noto Sans SC"/>
                <a:ea typeface="Noto Sans SC"/>
              </a:rPr>
              <a:t>Correct</a:t>
            </a:r>
          </a:p>
        </p:txBody>
      </p:sp>
      <p:cxnSp>
        <p:nvCxnSpPr>
          <p:cNvPr id="25" name="Connector 24"/>
          <p:cNvCxnSpPr/>
          <p:nvPr/>
        </p:nvCxnSpPr>
        <p:spPr>
          <a:xfrm>
            <a:off x="6184900" y="3848100"/>
            <a:ext cx="4229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212840" y="3958336"/>
            <a:ext cx="483870" cy="274320"/>
          </a:xfrm>
          <a:prstGeom prst="rect">
            <a:avLst/>
          </a:prstGeom>
          <a:noFill/>
        </p:spPr>
        <p:txBody>
          <a:bodyPr wrap="none" lIns="0" rIns="0" tIns="0" bIns="0">
            <a:spAutoFit/>
          </a:bodyPr>
          <a:lstStyle/>
          <a:p>
            <a:pPr algn="l"/>
            <a:r>
              <a:rPr sz="1600" b="0">
                <a:solidFill>
                  <a:srgbClr val="F2F3E9"/>
                </a:solidFill>
                <a:latin typeface="Noto Sans SC"/>
                <a:ea typeface="Noto Sans SC"/>
              </a:rPr>
              <a:t>K=2</a:t>
            </a:r>
          </a:p>
        </p:txBody>
      </p:sp>
      <p:sp>
        <p:nvSpPr>
          <p:cNvPr id="27" name="TextBox 26"/>
          <p:cNvSpPr txBox="1"/>
          <p:nvPr/>
        </p:nvSpPr>
        <p:spPr>
          <a:xfrm>
            <a:off x="8117840" y="39583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9</a:t>
            </a:r>
          </a:p>
        </p:txBody>
      </p:sp>
      <p:sp>
        <p:nvSpPr>
          <p:cNvPr id="28" name="TextBox 27"/>
          <p:cNvSpPr txBox="1"/>
          <p:nvPr/>
        </p:nvSpPr>
        <p:spPr>
          <a:xfrm>
            <a:off x="9260840" y="39583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3</a:t>
            </a:r>
          </a:p>
        </p:txBody>
      </p:sp>
      <p:sp>
        <p:nvSpPr>
          <p:cNvPr id="29" name="TextBox 28"/>
          <p:cNvSpPr txBox="1"/>
          <p:nvPr/>
        </p:nvSpPr>
        <p:spPr>
          <a:xfrm>
            <a:off x="6212840" y="4377436"/>
            <a:ext cx="483870" cy="274320"/>
          </a:xfrm>
          <a:prstGeom prst="rect">
            <a:avLst/>
          </a:prstGeom>
          <a:noFill/>
        </p:spPr>
        <p:txBody>
          <a:bodyPr wrap="none" lIns="0" rIns="0" tIns="0" bIns="0">
            <a:spAutoFit/>
          </a:bodyPr>
          <a:lstStyle/>
          <a:p>
            <a:pPr algn="l"/>
            <a:r>
              <a:rPr sz="1600" b="0">
                <a:solidFill>
                  <a:srgbClr val="F2F3E9"/>
                </a:solidFill>
                <a:latin typeface="Noto Sans SC"/>
                <a:ea typeface="Noto Sans SC"/>
              </a:rPr>
              <a:t>K=3</a:t>
            </a:r>
          </a:p>
        </p:txBody>
      </p:sp>
      <p:sp>
        <p:nvSpPr>
          <p:cNvPr id="30" name="TextBox 29"/>
          <p:cNvSpPr txBox="1"/>
          <p:nvPr/>
        </p:nvSpPr>
        <p:spPr>
          <a:xfrm>
            <a:off x="8117840" y="4377436"/>
            <a:ext cx="350520" cy="274320"/>
          </a:xfrm>
          <a:prstGeom prst="rect">
            <a:avLst/>
          </a:prstGeom>
          <a:noFill/>
        </p:spPr>
        <p:txBody>
          <a:bodyPr wrap="none" lIns="0" rIns="0" tIns="0" bIns="0">
            <a:spAutoFit/>
          </a:bodyPr>
          <a:lstStyle/>
          <a:p>
            <a:pPr algn="l"/>
            <a:r>
              <a:rPr sz="1600" b="0">
                <a:solidFill>
                  <a:srgbClr val="F2F3E9"/>
                </a:solidFill>
                <a:latin typeface="Noto Sans SC"/>
                <a:ea typeface="Noto Sans SC"/>
              </a:rPr>
              <a:t>16</a:t>
            </a:r>
          </a:p>
        </p:txBody>
      </p:sp>
      <p:sp>
        <p:nvSpPr>
          <p:cNvPr id="31" name="TextBox 30"/>
          <p:cNvSpPr txBox="1"/>
          <p:nvPr/>
        </p:nvSpPr>
        <p:spPr>
          <a:xfrm>
            <a:off x="9260840" y="43774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8</a:t>
            </a:r>
          </a:p>
        </p:txBody>
      </p:sp>
      <p:sp>
        <p:nvSpPr>
          <p:cNvPr id="32" name="TextBox 31"/>
          <p:cNvSpPr txBox="1"/>
          <p:nvPr/>
        </p:nvSpPr>
        <p:spPr>
          <a:xfrm>
            <a:off x="6212840" y="4796536"/>
            <a:ext cx="1029969" cy="274320"/>
          </a:xfrm>
          <a:prstGeom prst="rect">
            <a:avLst/>
          </a:prstGeom>
          <a:noFill/>
        </p:spPr>
        <p:txBody>
          <a:bodyPr wrap="none" lIns="0" rIns="0" tIns="0" bIns="0">
            <a:spAutoFit/>
          </a:bodyPr>
          <a:lstStyle/>
          <a:p>
            <a:pPr algn="l"/>
            <a:r>
              <a:rPr sz="1600" b="0">
                <a:solidFill>
                  <a:srgbClr val="F2F3E9"/>
                </a:solidFill>
                <a:latin typeface="Noto Sans SC"/>
                <a:ea typeface="Noto Sans SC"/>
              </a:rPr>
              <a:t>K=2 cap 2</a:t>
            </a:r>
          </a:p>
        </p:txBody>
      </p:sp>
      <p:sp>
        <p:nvSpPr>
          <p:cNvPr id="33" name="TextBox 32"/>
          <p:cNvSpPr txBox="1"/>
          <p:nvPr/>
        </p:nvSpPr>
        <p:spPr>
          <a:xfrm>
            <a:off x="8117840" y="4796536"/>
            <a:ext cx="350520" cy="274320"/>
          </a:xfrm>
          <a:prstGeom prst="rect">
            <a:avLst/>
          </a:prstGeom>
          <a:noFill/>
        </p:spPr>
        <p:txBody>
          <a:bodyPr wrap="none" lIns="0" rIns="0" tIns="0" bIns="0">
            <a:spAutoFit/>
          </a:bodyPr>
          <a:lstStyle/>
          <a:p>
            <a:pPr algn="l"/>
            <a:r>
              <a:rPr sz="1600" b="0">
                <a:solidFill>
                  <a:srgbClr val="F2F3E9"/>
                </a:solidFill>
                <a:latin typeface="Noto Sans SC"/>
                <a:ea typeface="Noto Sans SC"/>
              </a:rPr>
              <a:t>12</a:t>
            </a:r>
          </a:p>
        </p:txBody>
      </p:sp>
      <p:sp>
        <p:nvSpPr>
          <p:cNvPr id="34" name="TextBox 33"/>
          <p:cNvSpPr txBox="1"/>
          <p:nvPr/>
        </p:nvSpPr>
        <p:spPr>
          <a:xfrm>
            <a:off x="9260840" y="47965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8</a:t>
            </a:r>
          </a:p>
        </p:txBody>
      </p:sp>
      <p:sp>
        <p:nvSpPr>
          <p:cNvPr id="35" name="TextBox 34"/>
          <p:cNvSpPr txBox="1"/>
          <p:nvPr/>
        </p:nvSpPr>
        <p:spPr>
          <a:xfrm>
            <a:off x="6212840" y="5215636"/>
            <a:ext cx="1029969" cy="274320"/>
          </a:xfrm>
          <a:prstGeom prst="rect">
            <a:avLst/>
          </a:prstGeom>
          <a:noFill/>
        </p:spPr>
        <p:txBody>
          <a:bodyPr wrap="none" lIns="0" rIns="0" tIns="0" bIns="0">
            <a:spAutoFit/>
          </a:bodyPr>
          <a:lstStyle/>
          <a:p>
            <a:pPr algn="l"/>
            <a:r>
              <a:rPr sz="1600" b="0">
                <a:solidFill>
                  <a:srgbClr val="F2F3E9"/>
                </a:solidFill>
                <a:latin typeface="Noto Sans SC"/>
                <a:ea typeface="Noto Sans SC"/>
              </a:rPr>
              <a:t>K=2 cap 3</a:t>
            </a:r>
          </a:p>
        </p:txBody>
      </p:sp>
      <p:sp>
        <p:nvSpPr>
          <p:cNvPr id="36" name="TextBox 35"/>
          <p:cNvSpPr txBox="1"/>
          <p:nvPr/>
        </p:nvSpPr>
        <p:spPr>
          <a:xfrm>
            <a:off x="8117840" y="5215636"/>
            <a:ext cx="350520" cy="274320"/>
          </a:xfrm>
          <a:prstGeom prst="rect">
            <a:avLst/>
          </a:prstGeom>
          <a:noFill/>
        </p:spPr>
        <p:txBody>
          <a:bodyPr wrap="none" lIns="0" rIns="0" tIns="0" bIns="0">
            <a:spAutoFit/>
          </a:bodyPr>
          <a:lstStyle/>
          <a:p>
            <a:pPr algn="l"/>
            <a:r>
              <a:rPr sz="1600" b="0">
                <a:solidFill>
                  <a:srgbClr val="F2F3E9"/>
                </a:solidFill>
                <a:latin typeface="Noto Sans SC"/>
                <a:ea typeface="Noto Sans SC"/>
              </a:rPr>
              <a:t>16</a:t>
            </a:r>
          </a:p>
        </p:txBody>
      </p:sp>
      <p:sp>
        <p:nvSpPr>
          <p:cNvPr id="37" name="TextBox 36"/>
          <p:cNvSpPr txBox="1"/>
          <p:nvPr/>
        </p:nvSpPr>
        <p:spPr>
          <a:xfrm>
            <a:off x="9260840" y="5215636"/>
            <a:ext cx="236220" cy="274320"/>
          </a:xfrm>
          <a:prstGeom prst="rect">
            <a:avLst/>
          </a:prstGeom>
          <a:noFill/>
        </p:spPr>
        <p:txBody>
          <a:bodyPr wrap="none" lIns="0" rIns="0" tIns="0" bIns="0">
            <a:spAutoFit/>
          </a:bodyPr>
          <a:lstStyle/>
          <a:p>
            <a:pPr algn="l"/>
            <a:r>
              <a:rPr sz="1600" b="0">
                <a:solidFill>
                  <a:srgbClr val="F2F3E9"/>
                </a:solidFill>
                <a:latin typeface="Noto Sans SC"/>
                <a:ea typeface="Noto Sans SC"/>
              </a:rPr>
              <a:t>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7147559" cy="480060"/>
          </a:xfrm>
          <a:prstGeom prst="rect">
            <a:avLst/>
          </a:prstGeom>
          <a:noFill/>
        </p:spPr>
        <p:txBody>
          <a:bodyPr wrap="none" lIns="0" rIns="0" tIns="0" bIns="0">
            <a:spAutoFit/>
          </a:bodyPr>
          <a:lstStyle/>
          <a:p>
            <a:pPr algn="l"/>
            <a:r>
              <a:rPr sz="2800" b="0">
                <a:solidFill>
                  <a:srgbClr val="F2F3E9"/>
                </a:solidFill>
                <a:latin typeface="Noto Sans SC"/>
                <a:ea typeface="Noto Sans SC"/>
              </a:rPr>
              <a:t>A capacity preview and the stopping state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p8/12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C = 2: AB + C has size 3 &gt; 2, blocked</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D–E merges instead; after that AB+C and C+DE are both over capacity</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Stop: AB | C | DE, 3 clusters, cut 8</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Legal (every cluster ≤ 2) but K = 2 not reached</a:t>
            </a:r>
          </a:p>
        </p:txBody>
      </p:sp>
      <p:sp>
        <p:nvSpPr>
          <p:cNvPr id="17" name="Oval 16"/>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784091"/>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3: the same path as with no capacity</a:t>
            </a:r>
          </a:p>
        </p:txBody>
      </p:sp>
      <p:sp>
        <p:nvSpPr>
          <p:cNvPr id="19" name="Rounded Rectangle 18"/>
          <p:cNvSpPr/>
          <p:nvPr/>
        </p:nvSpPr>
        <p:spPr>
          <a:xfrm>
            <a:off x="7239313" y="1155700"/>
            <a:ext cx="10350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53283" y="1152398"/>
            <a:ext cx="10071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 · size 2</a:t>
            </a:r>
          </a:p>
        </p:txBody>
      </p:sp>
      <p:sp>
        <p:nvSpPr>
          <p:cNvPr id="21" name="Rounded Rectangle 20"/>
          <p:cNvSpPr/>
          <p:nvPr/>
        </p:nvSpPr>
        <p:spPr>
          <a:xfrm>
            <a:off x="6255554" y="1422400"/>
            <a:ext cx="3002566" cy="985770"/>
          </a:xfrm>
          <a:prstGeom prst="roundRect">
            <a:avLst>
              <a:gd name="adj" fmla="val 42514"/>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469066" y="5816600"/>
            <a:ext cx="10350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83036" y="5813298"/>
            <a:ext cx="100711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DE · size 2</a:t>
            </a:r>
          </a:p>
        </p:txBody>
      </p:sp>
      <p:sp>
        <p:nvSpPr>
          <p:cNvPr id="24" name="Rounded Rectangle 23"/>
          <p:cNvSpPr/>
          <p:nvPr/>
        </p:nvSpPr>
        <p:spPr>
          <a:xfrm>
            <a:off x="7337738" y="4275428"/>
            <a:ext cx="3297707" cy="1477671"/>
          </a:xfrm>
          <a:prstGeom prst="roundRect">
            <a:avLst>
              <a:gd name="adj" fmla="val 28362"/>
            </a:avLst>
          </a:prstGeom>
          <a:noFill/>
          <a:ln w="19050">
            <a:solidFill>
              <a:srgbClr val="8FB1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flipV="1">
            <a:off x="6674654" y="1841500"/>
            <a:ext cx="2164367" cy="147570"/>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600167" y="154784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25186" y="1555974"/>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8" name="Connector 27"/>
          <p:cNvCxnSpPr/>
          <p:nvPr/>
        </p:nvCxnSpPr>
        <p:spPr>
          <a:xfrm>
            <a:off x="6674654" y="1989070"/>
            <a:ext cx="1328134"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311763" y="251513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336782" y="252326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1" name="Connector 30"/>
          <p:cNvCxnSpPr/>
          <p:nvPr/>
        </p:nvCxnSpPr>
        <p:spPr>
          <a:xfrm flipH="1">
            <a:off x="8002788" y="1841500"/>
            <a:ext cx="836233" cy="182003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413083" y="259975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38102" y="260788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34" name="Connector 33"/>
          <p:cNvCxnSpPr/>
          <p:nvPr/>
        </p:nvCxnSpPr>
        <p:spPr>
          <a:xfrm>
            <a:off x="8002788" y="3661535"/>
            <a:ext cx="2213557" cy="103299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9027710" y="382453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52729" y="383266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7" name="Connector 36"/>
          <p:cNvCxnSpPr/>
          <p:nvPr/>
        </p:nvCxnSpPr>
        <p:spPr>
          <a:xfrm flipH="1">
            <a:off x="7756838" y="3661535"/>
            <a:ext cx="245950" cy="1672465"/>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884287" y="430454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909306" y="431267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40" name="Connector 39"/>
          <p:cNvCxnSpPr/>
          <p:nvPr/>
        </p:nvCxnSpPr>
        <p:spPr>
          <a:xfrm flipH="1">
            <a:off x="7756838" y="4694528"/>
            <a:ext cx="2459507" cy="639472"/>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878636" y="49463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903655" y="49544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43" name="Oval 42"/>
          <p:cNvSpPr/>
          <p:nvPr/>
        </p:nvSpPr>
        <p:spPr>
          <a:xfrm>
            <a:off x="6420654" y="1735070"/>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40034" y="184657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45" name="Oval 44"/>
          <p:cNvSpPr/>
          <p:nvPr/>
        </p:nvSpPr>
        <p:spPr>
          <a:xfrm>
            <a:off x="8585021" y="1587500"/>
            <a:ext cx="508000" cy="5080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701226" y="16990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7" name="Oval 46"/>
          <p:cNvSpPr/>
          <p:nvPr/>
        </p:nvSpPr>
        <p:spPr>
          <a:xfrm>
            <a:off x="7748788" y="3407535"/>
            <a:ext cx="508000" cy="5080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868168" y="3519041"/>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9" name="Oval 48"/>
          <p:cNvSpPr/>
          <p:nvPr/>
        </p:nvSpPr>
        <p:spPr>
          <a:xfrm>
            <a:off x="9962345" y="4440528"/>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075375" y="4552034"/>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51" name="Oval 50"/>
          <p:cNvSpPr/>
          <p:nvPr/>
        </p:nvSpPr>
        <p:spPr>
          <a:xfrm>
            <a:off x="7502838" y="5080000"/>
            <a:ext cx="508000" cy="5080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625393" y="5191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53" name="Rounded Rectangle 52"/>
          <p:cNvSpPr/>
          <p:nvPr/>
        </p:nvSpPr>
        <p:spPr>
          <a:xfrm>
            <a:off x="6753225" y="5880100"/>
            <a:ext cx="363855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798945" y="5940298"/>
            <a:ext cx="354711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Capacity 2: AB | C | DE, cut 8, K not reached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9568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pseudocode, line by line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p9/12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2: stop once the count reaches K</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3–4: list positive candidates, drop those over capacity</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5: with no legal candidate, stop and say so</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6: compare selection keys field by field</a:t>
            </a:r>
          </a:p>
        </p:txBody>
      </p:sp>
      <p:sp>
        <p:nvSpPr>
          <p:cNvPr id="17" name="Oval 16"/>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7840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7: contract; the cut drops by that affinity</a:t>
            </a:r>
          </a:p>
        </p:txBody>
      </p:sp>
      <p:sp>
        <p:nvSpPr>
          <p:cNvPr id="19" name="Rounded Rectangle 18"/>
          <p:cNvSpPr/>
          <p:nvPr/>
        </p:nvSpPr>
        <p:spPr>
          <a:xfrm>
            <a:off x="5753100" y="1574800"/>
            <a:ext cx="5715000" cy="3530600"/>
          </a:xfrm>
          <a:prstGeom prst="roundRect">
            <a:avLst>
              <a:gd name="adj" fmla="val 2158"/>
            </a:avLst>
          </a:prstGeom>
          <a:solidFill>
            <a:srgbClr val="0A1C1F"/>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98832" y="1768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1</a:t>
            </a:r>
          </a:p>
        </p:txBody>
      </p:sp>
      <p:sp>
        <p:nvSpPr>
          <p:cNvPr id="21" name="TextBox 20"/>
          <p:cNvSpPr txBox="1"/>
          <p:nvPr/>
        </p:nvSpPr>
        <p:spPr>
          <a:xfrm>
            <a:off x="6189027" y="1730120"/>
            <a:ext cx="769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clusters </a:t>
            </a:r>
          </a:p>
        </p:txBody>
      </p:sp>
      <p:sp>
        <p:nvSpPr>
          <p:cNvPr id="22" name="TextBox 21"/>
          <p:cNvSpPr txBox="1"/>
          <p:nvPr/>
        </p:nvSpPr>
        <p:spPr>
          <a:xfrm>
            <a:off x="6855777" y="1730120"/>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3" name="TextBox 22"/>
          <p:cNvSpPr txBox="1"/>
          <p:nvPr/>
        </p:nvSpPr>
        <p:spPr>
          <a:xfrm>
            <a:off x="7027227" y="1730120"/>
            <a:ext cx="19634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one singleton per node</a:t>
            </a:r>
          </a:p>
        </p:txBody>
      </p:sp>
      <p:sp>
        <p:nvSpPr>
          <p:cNvPr id="24" name="TextBox 23"/>
          <p:cNvSpPr txBox="1"/>
          <p:nvPr/>
        </p:nvSpPr>
        <p:spPr>
          <a:xfrm>
            <a:off x="5898832" y="2175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2</a:t>
            </a:r>
          </a:p>
        </p:txBody>
      </p:sp>
      <p:sp>
        <p:nvSpPr>
          <p:cNvPr id="25" name="TextBox 24"/>
          <p:cNvSpPr txBox="1"/>
          <p:nvPr/>
        </p:nvSpPr>
        <p:spPr>
          <a:xfrm>
            <a:off x="6189027" y="2136521"/>
            <a:ext cx="1626870" cy="231457"/>
          </a:xfrm>
          <a:prstGeom prst="rect">
            <a:avLst/>
          </a:prstGeom>
          <a:noFill/>
        </p:spPr>
        <p:txBody>
          <a:bodyPr wrap="none" lIns="0" rIns="0" tIns="0" bIns="0">
            <a:spAutoFit/>
          </a:bodyPr>
          <a:lstStyle/>
          <a:p>
            <a:pPr algn="l"/>
            <a:r>
              <a:rPr sz="1350" b="0">
                <a:solidFill>
                  <a:srgbClr val="DFEADF"/>
                </a:solidFill>
                <a:latin typeface="Noto Sans SC"/>
                <a:ea typeface="Noto Sans SC"/>
              </a:rPr>
              <a:t>while #clusters &gt; K:</a:t>
            </a:r>
          </a:p>
        </p:txBody>
      </p:sp>
      <p:sp>
        <p:nvSpPr>
          <p:cNvPr id="26" name="TextBox 25"/>
          <p:cNvSpPr txBox="1"/>
          <p:nvPr/>
        </p:nvSpPr>
        <p:spPr>
          <a:xfrm>
            <a:off x="5898832" y="2581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3</a:t>
            </a:r>
          </a:p>
        </p:txBody>
      </p:sp>
      <p:sp>
        <p:nvSpPr>
          <p:cNvPr id="27" name="TextBox 26"/>
          <p:cNvSpPr txBox="1"/>
          <p:nvPr/>
        </p:nvSpPr>
        <p:spPr>
          <a:xfrm>
            <a:off x="6189027" y="2542921"/>
            <a:ext cx="769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cands </a:t>
            </a:r>
          </a:p>
        </p:txBody>
      </p:sp>
      <p:sp>
        <p:nvSpPr>
          <p:cNvPr id="28" name="TextBox 27"/>
          <p:cNvSpPr txBox="1"/>
          <p:nvPr/>
        </p:nvSpPr>
        <p:spPr>
          <a:xfrm>
            <a:off x="6855777" y="25429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9" name="TextBox 28"/>
          <p:cNvSpPr txBox="1"/>
          <p:nvPr/>
        </p:nvSpPr>
        <p:spPr>
          <a:xfrm>
            <a:off x="7027227" y="2542921"/>
            <a:ext cx="17792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pairs with affinity &gt; 0</a:t>
            </a:r>
          </a:p>
        </p:txBody>
      </p:sp>
      <p:sp>
        <p:nvSpPr>
          <p:cNvPr id="30" name="Rectangle 29"/>
          <p:cNvSpPr/>
          <p:nvPr/>
        </p:nvSpPr>
        <p:spPr>
          <a:xfrm>
            <a:off x="5753100" y="29146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753100" y="29146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898832" y="29881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4</a:t>
            </a:r>
          </a:p>
        </p:txBody>
      </p:sp>
      <p:sp>
        <p:nvSpPr>
          <p:cNvPr id="33" name="TextBox 32"/>
          <p:cNvSpPr txBox="1"/>
          <p:nvPr/>
        </p:nvSpPr>
        <p:spPr>
          <a:xfrm>
            <a:off x="6189027" y="2949321"/>
            <a:ext cx="6807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legal </a:t>
            </a:r>
          </a:p>
        </p:txBody>
      </p:sp>
      <p:sp>
        <p:nvSpPr>
          <p:cNvPr id="34" name="TextBox 33"/>
          <p:cNvSpPr txBox="1"/>
          <p:nvPr/>
        </p:nvSpPr>
        <p:spPr>
          <a:xfrm>
            <a:off x="6766877" y="29493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5" name="TextBox 34"/>
          <p:cNvSpPr txBox="1"/>
          <p:nvPr/>
        </p:nvSpPr>
        <p:spPr>
          <a:xfrm>
            <a:off x="6938327" y="2949321"/>
            <a:ext cx="20396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cands with merged size </a:t>
            </a:r>
          </a:p>
        </p:txBody>
      </p:sp>
      <p:sp>
        <p:nvSpPr>
          <p:cNvPr id="36" name="TextBox 35"/>
          <p:cNvSpPr txBox="1"/>
          <p:nvPr/>
        </p:nvSpPr>
        <p:spPr>
          <a:xfrm>
            <a:off x="8875077" y="29493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7" name="TextBox 36"/>
          <p:cNvSpPr txBox="1"/>
          <p:nvPr/>
        </p:nvSpPr>
        <p:spPr>
          <a:xfrm>
            <a:off x="9046527" y="2949321"/>
            <a:ext cx="248919" cy="231457"/>
          </a:xfrm>
          <a:prstGeom prst="rect">
            <a:avLst/>
          </a:prstGeom>
          <a:noFill/>
        </p:spPr>
        <p:txBody>
          <a:bodyPr wrap="none" lIns="0" rIns="0" tIns="0" bIns="0">
            <a:spAutoFit/>
          </a:bodyPr>
          <a:lstStyle/>
          <a:p>
            <a:pPr algn="l"/>
            <a:r>
              <a:rPr sz="1350" b="0">
                <a:solidFill>
                  <a:srgbClr val="D8BB78"/>
                </a:solidFill>
                <a:latin typeface="Noto Sans SC"/>
                <a:ea typeface="Noto Sans SC"/>
              </a:rPr>
              <a:t> C</a:t>
            </a:r>
          </a:p>
        </p:txBody>
      </p:sp>
      <p:sp>
        <p:nvSpPr>
          <p:cNvPr id="38" name="Rectangle 37"/>
          <p:cNvSpPr/>
          <p:nvPr/>
        </p:nvSpPr>
        <p:spPr>
          <a:xfrm>
            <a:off x="5753100" y="33210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753100" y="33210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98832" y="33945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5</a:t>
            </a:r>
          </a:p>
        </p:txBody>
      </p:sp>
      <p:sp>
        <p:nvSpPr>
          <p:cNvPr id="41" name="TextBox 40"/>
          <p:cNvSpPr txBox="1"/>
          <p:nvPr/>
        </p:nvSpPr>
        <p:spPr>
          <a:xfrm>
            <a:off x="6189027" y="3355721"/>
            <a:ext cx="25857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if legal is empty: stop (say so)</a:t>
            </a:r>
          </a:p>
        </p:txBody>
      </p:sp>
      <p:sp>
        <p:nvSpPr>
          <p:cNvPr id="42" name="Rectangle 41"/>
          <p:cNvSpPr/>
          <p:nvPr/>
        </p:nvSpPr>
        <p:spPr>
          <a:xfrm>
            <a:off x="5753100" y="37274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753100" y="37274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898832" y="3800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6</a:t>
            </a:r>
          </a:p>
        </p:txBody>
      </p:sp>
      <p:sp>
        <p:nvSpPr>
          <p:cNvPr id="45" name="TextBox 44"/>
          <p:cNvSpPr txBox="1"/>
          <p:nvPr/>
        </p:nvSpPr>
        <p:spPr>
          <a:xfrm>
            <a:off x="6189027" y="3762121"/>
            <a:ext cx="24460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pick the pair with the least (</a:t>
            </a:r>
          </a:p>
        </p:txBody>
      </p:sp>
      <p:sp>
        <p:nvSpPr>
          <p:cNvPr id="46" name="TextBox 45"/>
          <p:cNvSpPr txBox="1"/>
          <p:nvPr/>
        </p:nvSpPr>
        <p:spPr>
          <a:xfrm>
            <a:off x="8532177" y="3762121"/>
            <a:ext cx="1981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47" name="TextBox 46"/>
          <p:cNvSpPr txBox="1"/>
          <p:nvPr/>
        </p:nvSpPr>
        <p:spPr>
          <a:xfrm>
            <a:off x="8627427" y="3762121"/>
            <a:ext cx="782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aff, P, Q)</a:t>
            </a:r>
          </a:p>
        </p:txBody>
      </p:sp>
      <p:sp>
        <p:nvSpPr>
          <p:cNvPr id="48" name="TextBox 47"/>
          <p:cNvSpPr txBox="1"/>
          <p:nvPr/>
        </p:nvSpPr>
        <p:spPr>
          <a:xfrm>
            <a:off x="5898832" y="4207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7</a:t>
            </a:r>
          </a:p>
        </p:txBody>
      </p:sp>
      <p:sp>
        <p:nvSpPr>
          <p:cNvPr id="49" name="TextBox 48"/>
          <p:cNvSpPr txBox="1"/>
          <p:nvPr/>
        </p:nvSpPr>
        <p:spPr>
          <a:xfrm>
            <a:off x="6189027" y="4168521"/>
            <a:ext cx="11061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contract P </a:t>
            </a:r>
          </a:p>
        </p:txBody>
      </p:sp>
      <p:sp>
        <p:nvSpPr>
          <p:cNvPr id="50" name="TextBox 49"/>
          <p:cNvSpPr txBox="1"/>
          <p:nvPr/>
        </p:nvSpPr>
        <p:spPr>
          <a:xfrm>
            <a:off x="7192327" y="41685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51" name="TextBox 50"/>
          <p:cNvSpPr txBox="1"/>
          <p:nvPr/>
        </p:nvSpPr>
        <p:spPr>
          <a:xfrm>
            <a:off x="7363777" y="4168521"/>
            <a:ext cx="2166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Q: cut drops by its affinity</a:t>
            </a:r>
          </a:p>
        </p:txBody>
      </p:sp>
      <p:sp>
        <p:nvSpPr>
          <p:cNvPr id="52" name="TextBox 51"/>
          <p:cNvSpPr txBox="1"/>
          <p:nvPr/>
        </p:nvSpPr>
        <p:spPr>
          <a:xfrm>
            <a:off x="5898832" y="4613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8</a:t>
            </a:r>
          </a:p>
        </p:txBody>
      </p:sp>
      <p:sp>
        <p:nvSpPr>
          <p:cNvPr id="53" name="TextBox 52"/>
          <p:cNvSpPr txBox="1"/>
          <p:nvPr/>
        </p:nvSpPr>
        <p:spPr>
          <a:xfrm>
            <a:off x="6189027" y="4574921"/>
            <a:ext cx="3506470" cy="231457"/>
          </a:xfrm>
          <a:prstGeom prst="rect">
            <a:avLst/>
          </a:prstGeom>
          <a:noFill/>
        </p:spPr>
        <p:txBody>
          <a:bodyPr wrap="none" lIns="0" rIns="0" tIns="0" bIns="0">
            <a:spAutoFit/>
          </a:bodyPr>
          <a:lstStyle/>
          <a:p>
            <a:pPr algn="l"/>
            <a:r>
              <a:rPr sz="1350" b="0">
                <a:solidFill>
                  <a:srgbClr val="DFEADF"/>
                </a:solidFill>
                <a:latin typeface="Noto Sans SC"/>
                <a:ea typeface="Noto Sans SC"/>
              </a:rPr>
              <a:t>return clusters, cut, K reached, stop reason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318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Common mistakes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p10/12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Comparing candidate arrays as strings: step 1 wrongly picks A–C</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Forcing an over-capacity merge to reach K</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Forgetting to add parallel wires after a contraction: AB–C taken as 4</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Seeing cut 3 and assuming greedy is always optimal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039360" cy="480060"/>
          </a:xfrm>
          <a:prstGeom prst="rect">
            <a:avLst/>
          </a:prstGeom>
          <a:noFill/>
        </p:spPr>
        <p:txBody>
          <a:bodyPr wrap="none" lIns="0" rIns="0" tIns="0" bIns="0">
            <a:spAutoFit/>
          </a:bodyPr>
          <a:lstStyle/>
          <a:p>
            <a:pPr algn="l"/>
            <a:r>
              <a:rPr sz="2800" b="0">
                <a:solidFill>
                  <a:srgbClr val="F2F3E9"/>
                </a:solidFill>
                <a:latin typeface="Noto Sans SC"/>
                <a:ea typeface="Noto Sans SC"/>
              </a:rPr>
              <a:t>Limits and practical meaning</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p11/12</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No backtracking: a wrong early merge cannot be corrected (counterexample in Module 04)</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Depends on the score and the tie rule</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naive version checks every cluster pair each step; real tools use a priority queue and local updates</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 chip design it often coarsens many cells into fewer clusters, with a limit on cluster area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826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Summary</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3266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03 · Greedy Pair Merge</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p12/12</a:t>
            </a:r>
          </a:p>
        </p:txBody>
      </p:sp>
      <p:sp>
        <p:nvSpPr>
          <p:cNvPr id="9" name="TextBox 8"/>
          <p:cNvSpPr txBox="1"/>
          <p:nvPr/>
        </p:nvSpPr>
        <p:spPr>
          <a:xfrm>
            <a:off x="1016000" y="1897380"/>
            <a:ext cx="10350500" cy="110490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Each step merges the closest legal pair; value first, names break ties.</a:t>
            </a:r>
          </a:p>
        </p:txBody>
      </p:sp>
      <p:sp>
        <p:nvSpPr>
          <p:cNvPr id="10" name="TextBox 9"/>
          <p:cNvSpPr txBox="1"/>
          <p:nvPr/>
        </p:nvSpPr>
        <p:spPr>
          <a:xfrm>
            <a:off x="1016000" y="3335274"/>
            <a:ext cx="10280650" cy="349885"/>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The cut drops by each merge's affinity; stop at K or when no legal pair remains, and say so.</a:t>
            </a:r>
          </a:p>
        </p:txBody>
      </p:sp>
      <p:sp>
        <p:nvSpPr>
          <p:cNvPr id="11" name="TextBox 10"/>
          <p:cNvSpPr txBox="1"/>
          <p:nvPr/>
        </p:nvSpPr>
        <p:spPr>
          <a:xfrm>
            <a:off x="1016000" y="3875659"/>
            <a:ext cx="10280650" cy="349885"/>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Next module: capacity takes centre stage. Does it not fit, or did greedy take a wrong turn?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03 Greedy Pair Merge</dc:title>
  <dc:subject/>
  <dc:creator>Learning Clustering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