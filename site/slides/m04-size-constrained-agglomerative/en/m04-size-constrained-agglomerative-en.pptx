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adds one hard constraint to greedy merging: a cluster’s total size may not exceed the capacity. We tell apart three endings: impossible in principle, feasible but greedy is stuck, and legal but not optimal.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Besides the graph and K, the input has a size for each node and a capacity C. The rule filters out over-capacity candidates first, then takes the highest affinity among the legal ones. The target K never overrides the capacity. The result’s four report items are written separately.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same graph, at capacity 3 step two’s AB plus C is legal, ending with ABC against DE. At capacity 2 that step is blocked, D–E merges instead, and after that no legal merge remains: it stops at three clusters, cut 8, without reaching 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compute the lower bound: the total size divided by the capacity, rounded up. G01’s 5 units at capacity 2 need at least 3 clusters, so K equal to 2 was never possible. But a bound can only prove impossibility, not possibility.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original author’s greedy_trap graph, the bound allows two clusters. Greedy’s first step takes the biggest, C–D, after which neither A nor B fits, and it stops at three clusters. Yet exhaustive search finds AC against BD, two clusters of size 3, legal. That is feasible, but greedy is stuck.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original author’s suboptimal graph, greedy merges A–B first, then C–D, cutting both 9s: cut 18. The best legal grouping is AC against BD, cutting only 10 and 1: cut 11. Both are legal, and both reach 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Node sizes also change the ending. Set A’s size to 2: after A–B merges it is already full and C does not fit, so D–E merges first, then C joins it, giving AB against CDE, cut 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one of the pseudocode checks whether a single node exceeds the capacity. Line four filters out over-capacity candidates before comparing. Line five stops when no legal candidate remains and tells the two reasons apart. Line seven reports the four items separately, and line eight uses the bound and exhaustive search to diagnose which ending it 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mistakes: taking legal as done; breaking the capacity to make K; mistaking greedy being stuck for the problem having no solution; assuming legal means optimal; and ignoring differences in cell area.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chip design, the capacity is the area one region can hold. A bound only proves impossibility. Exhaustive search only suits very small teaching graphs. Greedy never backtracks; improving on it needs methods that allow swaps or moving back, the subject of Modules 07 and 08.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filter for legality, then take the largest, and report the four results separately. Impossible in principle, feasible but greedy stuck, and legal but not optimal are three different endings, each told apart by different evidence. The next module switches mechanism: nodes don’t merge, they change labels.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 name="Connector 3"/>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6" name="TextBox 5"/>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p1/11</a:t>
            </a:r>
          </a:p>
        </p:txBody>
      </p:sp>
      <p:sp>
        <p:nvSpPr>
          <p:cNvPr id="7" name="TextBox 6"/>
          <p:cNvSpPr txBox="1"/>
          <p:nvPr/>
        </p:nvSpPr>
        <p:spPr>
          <a:xfrm>
            <a:off x="4288155" y="2310892"/>
            <a:ext cx="3615690" cy="891540"/>
          </a:xfrm>
          <a:prstGeom prst="rect">
            <a:avLst/>
          </a:prstGeom>
          <a:noFill/>
        </p:spPr>
        <p:txBody>
          <a:bodyPr wrap="none" lIns="0" rIns="0" tIns="0" bIns="0">
            <a:spAutoFit/>
          </a:bodyPr>
          <a:lstStyle/>
          <a:p>
            <a:pPr algn="ctr"/>
            <a:r>
              <a:rPr sz="5200" b="0">
                <a:solidFill>
                  <a:srgbClr val="D8BB78"/>
                </a:solidFill>
                <a:latin typeface="Noto Sans SC"/>
                <a:ea typeface="Noto Sans SC"/>
              </a:rPr>
              <a:t>Does it fit?</a:t>
            </a:r>
          </a:p>
        </p:txBody>
      </p:sp>
      <p:sp>
        <p:nvSpPr>
          <p:cNvPr id="8" name="TextBox 7"/>
          <p:cNvSpPr txBox="1"/>
          <p:nvPr/>
        </p:nvSpPr>
        <p:spPr>
          <a:xfrm>
            <a:off x="1884679" y="3335782"/>
            <a:ext cx="8422640" cy="291465"/>
          </a:xfrm>
          <a:prstGeom prst="rect">
            <a:avLst/>
          </a:prstGeom>
          <a:noFill/>
        </p:spPr>
        <p:txBody>
          <a:bodyPr wrap="none" lIns="0" rIns="0" tIns="0" bIns="0">
            <a:spAutoFit/>
          </a:bodyPr>
          <a:lstStyle/>
          <a:p>
            <a:pPr algn="ctr"/>
            <a:r>
              <a:rPr sz="1700" b="0">
                <a:solidFill>
                  <a:srgbClr val="BCD2D0"/>
                </a:solidFill>
                <a:latin typeface="Noto Sans SC"/>
                <a:ea typeface="Noto Sans SC"/>
              </a:rPr>
              <a:t>Size-constrained agglomerative clustering · legality, the target and three endings</a:t>
            </a:r>
          </a:p>
        </p:txBody>
      </p:sp>
      <p:sp>
        <p:nvSpPr>
          <p:cNvPr id="9" name="TextBox 8"/>
          <p:cNvSpPr txBox="1"/>
          <p:nvPr/>
        </p:nvSpPr>
        <p:spPr>
          <a:xfrm>
            <a:off x="3642360" y="4136644"/>
            <a:ext cx="4907280" cy="240030"/>
          </a:xfrm>
          <a:prstGeom prst="rect">
            <a:avLst/>
          </a:prstGeom>
          <a:noFill/>
        </p:spPr>
        <p:txBody>
          <a:bodyPr wrap="none" lIns="0" rIns="0" tIns="0" bIns="0">
            <a:spAutoFit/>
          </a:bodyPr>
          <a:lstStyle/>
          <a:p>
            <a:pPr algn="ctr"/>
            <a:r>
              <a:rPr sz="1400" b="0">
                <a:solidFill>
                  <a:srgbClr val="6F8F8F"/>
                </a:solidFill>
                <a:latin typeface="Noto Sans SC"/>
                <a:ea typeface="Noto Sans SC"/>
              </a:rPr>
              <a:t>Learning Clustering · original author GateUltra (Issue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2353310"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problem</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p2/11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Input: a graph, node sizes s(v), a capacity C, a target K</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Rule: filter for legality (merged size ≤ C), then take the highest affinity</a:t>
            </a:r>
          </a:p>
        </p:txBody>
      </p:sp>
      <p:sp>
        <p:nvSpPr>
          <p:cNvPr id="13" name="Oval 12"/>
          <p:cNvSpPr/>
          <p:nvPr/>
        </p:nvSpPr>
        <p:spPr>
          <a:xfrm>
            <a:off x="711200" y="30292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9204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K never overrides the capacity: no over-capacity merges</a:t>
            </a:r>
          </a:p>
        </p:txBody>
      </p:sp>
      <p:sp>
        <p:nvSpPr>
          <p:cNvPr id="15" name="Oval 14"/>
          <p:cNvSpPr/>
          <p:nvPr/>
        </p:nvSpPr>
        <p:spPr>
          <a:xfrm>
            <a:off x="711200" y="37740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66534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 single node over capacity: the input is invalid</a:t>
            </a:r>
          </a:p>
        </p:txBody>
      </p:sp>
      <p:sp>
        <p:nvSpPr>
          <p:cNvPr id="17" name="Oval 16"/>
          <p:cNvSpPr/>
          <p:nvPr/>
        </p:nvSpPr>
        <p:spPr>
          <a:xfrm>
            <a:off x="711200" y="451891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441020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Output four separate items: count, legal, K reached, stop reason</a:t>
            </a:r>
          </a:p>
        </p:txBody>
      </p:sp>
      <p:sp>
        <p:nvSpPr>
          <p:cNvPr id="19" name="TextBox 18"/>
          <p:cNvSpPr txBox="1"/>
          <p:nvPr/>
        </p:nvSpPr>
        <p:spPr>
          <a:xfrm>
            <a:off x="6212840" y="1824736"/>
            <a:ext cx="1322070" cy="274320"/>
          </a:xfrm>
          <a:prstGeom prst="rect">
            <a:avLst/>
          </a:prstGeom>
          <a:noFill/>
        </p:spPr>
        <p:txBody>
          <a:bodyPr wrap="none" lIns="0" rIns="0" tIns="0" bIns="0">
            <a:spAutoFit/>
          </a:bodyPr>
          <a:lstStyle/>
          <a:p>
            <a:pPr algn="l"/>
            <a:r>
              <a:rPr sz="1600" b="1">
                <a:solidFill>
                  <a:srgbClr val="BCD2D0"/>
                </a:solidFill>
                <a:latin typeface="Noto Sans SC"/>
                <a:ea typeface="Noto Sans SC"/>
              </a:rPr>
              <a:t>Report item</a:t>
            </a:r>
          </a:p>
        </p:txBody>
      </p:sp>
      <p:sp>
        <p:nvSpPr>
          <p:cNvPr id="20" name="TextBox 19"/>
          <p:cNvSpPr txBox="1"/>
          <p:nvPr/>
        </p:nvSpPr>
        <p:spPr>
          <a:xfrm>
            <a:off x="8879840" y="1824736"/>
            <a:ext cx="1741170" cy="274320"/>
          </a:xfrm>
          <a:prstGeom prst="rect">
            <a:avLst/>
          </a:prstGeom>
          <a:noFill/>
        </p:spPr>
        <p:txBody>
          <a:bodyPr wrap="none" lIns="0" rIns="0" tIns="0" bIns="0">
            <a:spAutoFit/>
          </a:bodyPr>
          <a:lstStyle/>
          <a:p>
            <a:pPr algn="l"/>
            <a:r>
              <a:rPr sz="1600" b="1">
                <a:solidFill>
                  <a:srgbClr val="BCD2D0"/>
                </a:solidFill>
                <a:latin typeface="Noto Sans SC"/>
                <a:ea typeface="Noto Sans SC"/>
              </a:rPr>
              <a:t>Capacity 2, K = 2</a:t>
            </a:r>
          </a:p>
        </p:txBody>
      </p:sp>
      <p:cxnSp>
        <p:nvCxnSpPr>
          <p:cNvPr id="21" name="Connector 20"/>
          <p:cNvCxnSpPr/>
          <p:nvPr/>
        </p:nvCxnSpPr>
        <p:spPr>
          <a:xfrm>
            <a:off x="6184900" y="2133600"/>
            <a:ext cx="4991100" cy="0"/>
          </a:xfrm>
          <a:prstGeom prst="line">
            <a:avLst/>
          </a:prstGeom>
          <a:ln w="12700">
            <a:solidFill>
              <a:srgbClr val="2D4A4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11570" y="2357628"/>
            <a:ext cx="759460" cy="308610"/>
          </a:xfrm>
          <a:prstGeom prst="rect">
            <a:avLst/>
          </a:prstGeom>
          <a:noFill/>
        </p:spPr>
        <p:txBody>
          <a:bodyPr wrap="none" lIns="0" rIns="0" tIns="0" bIns="0">
            <a:spAutoFit/>
          </a:bodyPr>
          <a:lstStyle/>
          <a:p>
            <a:pPr algn="l"/>
            <a:r>
              <a:rPr sz="1800" b="0">
                <a:solidFill>
                  <a:srgbClr val="F2F3E9"/>
                </a:solidFill>
                <a:latin typeface="Noto Sans SC"/>
                <a:ea typeface="Noto Sans SC"/>
              </a:rPr>
              <a:t>count</a:t>
            </a:r>
          </a:p>
        </p:txBody>
      </p:sp>
      <p:sp>
        <p:nvSpPr>
          <p:cNvPr id="23" name="TextBox 22"/>
          <p:cNvSpPr txBox="1"/>
          <p:nvPr/>
        </p:nvSpPr>
        <p:spPr>
          <a:xfrm>
            <a:off x="8878570" y="2357628"/>
            <a:ext cx="264159" cy="308610"/>
          </a:xfrm>
          <a:prstGeom prst="rect">
            <a:avLst/>
          </a:prstGeom>
          <a:noFill/>
        </p:spPr>
        <p:txBody>
          <a:bodyPr wrap="none" lIns="0" rIns="0" tIns="0" bIns="0">
            <a:spAutoFit/>
          </a:bodyPr>
          <a:lstStyle/>
          <a:p>
            <a:pPr algn="l"/>
            <a:r>
              <a:rPr sz="1800" b="0">
                <a:solidFill>
                  <a:srgbClr val="F2F3E9"/>
                </a:solidFill>
                <a:latin typeface="Noto Sans SC"/>
                <a:ea typeface="Noto Sans SC"/>
              </a:rPr>
              <a:t>3</a:t>
            </a:r>
          </a:p>
        </p:txBody>
      </p:sp>
      <p:sp>
        <p:nvSpPr>
          <p:cNvPr id="24" name="TextBox 23"/>
          <p:cNvSpPr txBox="1"/>
          <p:nvPr/>
        </p:nvSpPr>
        <p:spPr>
          <a:xfrm>
            <a:off x="6211570" y="2916428"/>
            <a:ext cx="2150110" cy="308610"/>
          </a:xfrm>
          <a:prstGeom prst="rect">
            <a:avLst/>
          </a:prstGeom>
          <a:noFill/>
        </p:spPr>
        <p:txBody>
          <a:bodyPr wrap="none" lIns="0" rIns="0" tIns="0" bIns="0">
            <a:spAutoFit/>
          </a:bodyPr>
          <a:lstStyle/>
          <a:p>
            <a:pPr algn="l"/>
            <a:r>
              <a:rPr sz="1800" b="0">
                <a:solidFill>
                  <a:srgbClr val="F2F3E9"/>
                </a:solidFill>
                <a:latin typeface="Noto Sans SC"/>
                <a:ea typeface="Noto Sans SC"/>
              </a:rPr>
              <a:t>capacityCompliant</a:t>
            </a:r>
          </a:p>
        </p:txBody>
      </p:sp>
      <p:sp>
        <p:nvSpPr>
          <p:cNvPr id="25" name="TextBox 24"/>
          <p:cNvSpPr txBox="1"/>
          <p:nvPr/>
        </p:nvSpPr>
        <p:spPr>
          <a:xfrm>
            <a:off x="8878570" y="2916428"/>
            <a:ext cx="492759" cy="308610"/>
          </a:xfrm>
          <a:prstGeom prst="rect">
            <a:avLst/>
          </a:prstGeom>
          <a:noFill/>
        </p:spPr>
        <p:txBody>
          <a:bodyPr wrap="none" lIns="0" rIns="0" tIns="0" bIns="0">
            <a:spAutoFit/>
          </a:bodyPr>
          <a:lstStyle/>
          <a:p>
            <a:pPr algn="l"/>
            <a:r>
              <a:rPr sz="1800" b="0">
                <a:solidFill>
                  <a:srgbClr val="F2F3E9"/>
                </a:solidFill>
                <a:latin typeface="Noto Sans SC"/>
                <a:ea typeface="Noto Sans SC"/>
              </a:rPr>
              <a:t>yes</a:t>
            </a:r>
          </a:p>
        </p:txBody>
      </p:sp>
      <p:sp>
        <p:nvSpPr>
          <p:cNvPr id="26" name="Rounded Rectangle 25"/>
          <p:cNvSpPr/>
          <p:nvPr/>
        </p:nvSpPr>
        <p:spPr>
          <a:xfrm>
            <a:off x="6134100" y="3429000"/>
            <a:ext cx="5130800" cy="533400"/>
          </a:xfrm>
          <a:prstGeom prst="roundRect">
            <a:avLst>
              <a:gd name="adj" fmla="val 9523"/>
            </a:avLst>
          </a:prstGeom>
          <a:solidFill>
            <a:srgbClr val="D8BB78">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11570" y="3475228"/>
            <a:ext cx="1705610" cy="308610"/>
          </a:xfrm>
          <a:prstGeom prst="rect">
            <a:avLst/>
          </a:prstGeom>
          <a:noFill/>
        </p:spPr>
        <p:txBody>
          <a:bodyPr wrap="none" lIns="0" rIns="0" tIns="0" bIns="0">
            <a:spAutoFit/>
          </a:bodyPr>
          <a:lstStyle/>
          <a:p>
            <a:pPr algn="l"/>
            <a:r>
              <a:rPr sz="1800" b="0">
                <a:solidFill>
                  <a:srgbClr val="F2F3E9"/>
                </a:solidFill>
                <a:latin typeface="Noto Sans SC"/>
                <a:ea typeface="Noto Sans SC"/>
              </a:rPr>
              <a:t>targetReached</a:t>
            </a:r>
          </a:p>
        </p:txBody>
      </p:sp>
      <p:sp>
        <p:nvSpPr>
          <p:cNvPr id="28" name="TextBox 27"/>
          <p:cNvSpPr txBox="1"/>
          <p:nvPr/>
        </p:nvSpPr>
        <p:spPr>
          <a:xfrm>
            <a:off x="8878570" y="3475228"/>
            <a:ext cx="416559" cy="308610"/>
          </a:xfrm>
          <a:prstGeom prst="rect">
            <a:avLst/>
          </a:prstGeom>
          <a:noFill/>
        </p:spPr>
        <p:txBody>
          <a:bodyPr wrap="none" lIns="0" rIns="0" tIns="0" bIns="0">
            <a:spAutoFit/>
          </a:bodyPr>
          <a:lstStyle/>
          <a:p>
            <a:pPr algn="l"/>
            <a:r>
              <a:rPr sz="1800" b="0">
                <a:solidFill>
                  <a:srgbClr val="F2F3E9"/>
                </a:solidFill>
                <a:latin typeface="Noto Sans SC"/>
                <a:ea typeface="Noto Sans SC"/>
              </a:rPr>
              <a:t>no</a:t>
            </a:r>
          </a:p>
        </p:txBody>
      </p:sp>
      <p:sp>
        <p:nvSpPr>
          <p:cNvPr id="29" name="TextBox 28"/>
          <p:cNvSpPr txBox="1"/>
          <p:nvPr/>
        </p:nvSpPr>
        <p:spPr>
          <a:xfrm>
            <a:off x="6211570" y="4034028"/>
            <a:ext cx="1400810" cy="308610"/>
          </a:xfrm>
          <a:prstGeom prst="rect">
            <a:avLst/>
          </a:prstGeom>
          <a:noFill/>
        </p:spPr>
        <p:txBody>
          <a:bodyPr wrap="none" lIns="0" rIns="0" tIns="0" bIns="0">
            <a:spAutoFit/>
          </a:bodyPr>
          <a:lstStyle/>
          <a:p>
            <a:pPr algn="l"/>
            <a:r>
              <a:rPr sz="1800" b="0">
                <a:solidFill>
                  <a:srgbClr val="F2F3E9"/>
                </a:solidFill>
                <a:latin typeface="Noto Sans SC"/>
                <a:ea typeface="Noto Sans SC"/>
              </a:rPr>
              <a:t>stopReason</a:t>
            </a:r>
          </a:p>
        </p:txBody>
      </p:sp>
      <p:sp>
        <p:nvSpPr>
          <p:cNvPr id="30" name="TextBox 29"/>
          <p:cNvSpPr txBox="1"/>
          <p:nvPr/>
        </p:nvSpPr>
        <p:spPr>
          <a:xfrm>
            <a:off x="8878570" y="4034028"/>
            <a:ext cx="1959610" cy="308610"/>
          </a:xfrm>
          <a:prstGeom prst="rect">
            <a:avLst/>
          </a:prstGeom>
          <a:noFill/>
        </p:spPr>
        <p:txBody>
          <a:bodyPr wrap="none" lIns="0" rIns="0" tIns="0" bIns="0">
            <a:spAutoFit/>
          </a:bodyPr>
          <a:lstStyle/>
          <a:p>
            <a:pPr algn="l"/>
            <a:r>
              <a:rPr sz="1800" b="0">
                <a:solidFill>
                  <a:srgbClr val="F2F3E9"/>
                </a:solidFill>
                <a:latin typeface="Noto Sans SC"/>
                <a:ea typeface="Noto Sans SC"/>
              </a:rPr>
              <a:t>capacity-blocked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544060" cy="480060"/>
          </a:xfrm>
          <a:prstGeom prst="rect">
            <a:avLst/>
          </a:prstGeom>
          <a:noFill/>
        </p:spPr>
        <p:txBody>
          <a:bodyPr wrap="none" lIns="0" rIns="0" tIns="0" bIns="0">
            <a:spAutoFit/>
          </a:bodyPr>
          <a:lstStyle/>
          <a:p>
            <a:pPr algn="l"/>
            <a:r>
              <a:rPr sz="2800" b="0">
                <a:solidFill>
                  <a:srgbClr val="F2F3E9"/>
                </a:solidFill>
                <a:latin typeface="Noto Sans SC"/>
                <a:ea typeface="Noto Sans SC"/>
              </a:rPr>
              <a:t>One graph, two capacities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p3/11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Capacity 3: AB+C has size 3, legal, giving ABC | DE, cut 3</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Capacity 2: AB+C is blocked, so D–E instead</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After that AB+C and C+DE are both 3: all blocked</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Capacity 2 result: AB | C | DE, cut 8, K not reached</a:t>
            </a:r>
          </a:p>
        </p:txBody>
      </p:sp>
      <p:sp>
        <p:nvSpPr>
          <p:cNvPr id="17" name="Rounded Rectangle 16"/>
          <p:cNvSpPr/>
          <p:nvPr/>
        </p:nvSpPr>
        <p:spPr>
          <a:xfrm>
            <a:off x="6308548" y="1792552"/>
            <a:ext cx="95250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22518" y="1789250"/>
            <a:ext cx="9245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ABC · 3/3</a:t>
            </a:r>
          </a:p>
        </p:txBody>
      </p:sp>
      <p:sp>
        <p:nvSpPr>
          <p:cNvPr id="19" name="Rounded Rectangle 18"/>
          <p:cNvSpPr/>
          <p:nvPr/>
        </p:nvSpPr>
        <p:spPr>
          <a:xfrm>
            <a:off x="5727700" y="2059252"/>
            <a:ext cx="2017183" cy="1813454"/>
          </a:xfrm>
          <a:prstGeom prst="roundRect">
            <a:avLst>
              <a:gd name="adj" fmla="val 20309"/>
            </a:avLst>
          </a:prstGeom>
          <a:noFill/>
          <a:ln w="1905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7041620" y="4925747"/>
            <a:ext cx="8445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5590" y="4922445"/>
            <a:ext cx="816610" cy="222885"/>
          </a:xfrm>
          <a:prstGeom prst="rect">
            <a:avLst/>
          </a:prstGeom>
          <a:noFill/>
        </p:spPr>
        <p:txBody>
          <a:bodyPr wrap="none" lIns="0" rIns="0" tIns="0" bIns="0">
            <a:spAutoFit/>
          </a:bodyPr>
          <a:lstStyle/>
          <a:p>
            <a:pPr algn="ctr"/>
            <a:r>
              <a:rPr sz="1300" b="1">
                <a:solidFill>
                  <a:srgbClr val="8FB1E6"/>
                </a:solidFill>
                <a:latin typeface="Noto Sans SC"/>
                <a:ea typeface="Noto Sans SC"/>
              </a:rPr>
              <a:t>DE · 2/3</a:t>
            </a:r>
          </a:p>
        </p:txBody>
      </p:sp>
      <p:sp>
        <p:nvSpPr>
          <p:cNvPr id="22" name="Rounded Rectangle 21"/>
          <p:cNvSpPr/>
          <p:nvPr/>
        </p:nvSpPr>
        <p:spPr>
          <a:xfrm>
            <a:off x="6367991" y="3747293"/>
            <a:ext cx="2191808" cy="1114954"/>
          </a:xfrm>
          <a:prstGeom prst="roundRect">
            <a:avLst>
              <a:gd name="adj" fmla="val 33032"/>
            </a:avLst>
          </a:prstGeom>
          <a:noFill/>
          <a:ln w="19050">
            <a:solidFill>
              <a:srgbClr val="8FB1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 name="Connector 22"/>
          <p:cNvCxnSpPr/>
          <p:nvPr/>
        </p:nvCxnSpPr>
        <p:spPr>
          <a:xfrm flipV="1">
            <a:off x="6096000" y="2427552"/>
            <a:ext cx="1280583" cy="87312"/>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6579620" y="2103769"/>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604639" y="2111897"/>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6" name="Connector 25"/>
          <p:cNvCxnSpPr/>
          <p:nvPr/>
        </p:nvCxnSpPr>
        <p:spPr>
          <a:xfrm>
            <a:off x="6096000" y="2514864"/>
            <a:ext cx="785812" cy="989542"/>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461948" y="269946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486967" y="270759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9" name="Connector 28"/>
          <p:cNvCxnSpPr/>
          <p:nvPr/>
        </p:nvCxnSpPr>
        <p:spPr>
          <a:xfrm flipH="1">
            <a:off x="6881812" y="2427552"/>
            <a:ext cx="494771" cy="1076854"/>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7121376" y="281421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146395" y="2822342"/>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32" name="Connector 31"/>
          <p:cNvCxnSpPr/>
          <p:nvPr/>
        </p:nvCxnSpPr>
        <p:spPr>
          <a:xfrm>
            <a:off x="6881812" y="3504406"/>
            <a:ext cx="1309688" cy="611187"/>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454799" y="345650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479818" y="346463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5" name="Connector 34"/>
          <p:cNvCxnSpPr/>
          <p:nvPr/>
        </p:nvCxnSpPr>
        <p:spPr>
          <a:xfrm flipH="1">
            <a:off x="6736291" y="3504406"/>
            <a:ext cx="145521" cy="989541"/>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6813526" y="380595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838545" y="381408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8" name="Connector 37"/>
          <p:cNvCxnSpPr/>
          <p:nvPr/>
        </p:nvCxnSpPr>
        <p:spPr>
          <a:xfrm flipH="1">
            <a:off x="6736291" y="4115593"/>
            <a:ext cx="1455209" cy="378354"/>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355940" y="423687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380959" y="4245002"/>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41" name="Oval 40"/>
          <p:cNvSpPr/>
          <p:nvPr/>
        </p:nvSpPr>
        <p:spPr>
          <a:xfrm>
            <a:off x="5892800" y="2311664"/>
            <a:ext cx="406400" cy="4064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961380" y="2372370"/>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43" name="Oval 42"/>
          <p:cNvSpPr/>
          <p:nvPr/>
        </p:nvSpPr>
        <p:spPr>
          <a:xfrm>
            <a:off x="7173383" y="2224352"/>
            <a:ext cx="406400" cy="4064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238788" y="2285058"/>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5" name="Oval 44"/>
          <p:cNvSpPr/>
          <p:nvPr/>
        </p:nvSpPr>
        <p:spPr>
          <a:xfrm>
            <a:off x="6678612" y="3301206"/>
            <a:ext cx="406400" cy="4064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6747192" y="3361912"/>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7" name="Oval 46"/>
          <p:cNvSpPr/>
          <p:nvPr/>
        </p:nvSpPr>
        <p:spPr>
          <a:xfrm>
            <a:off x="7988300" y="3912393"/>
            <a:ext cx="406400" cy="4064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8050530" y="3973099"/>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9" name="Oval 48"/>
          <p:cNvSpPr/>
          <p:nvPr/>
        </p:nvSpPr>
        <p:spPr>
          <a:xfrm>
            <a:off x="6533091" y="4290747"/>
            <a:ext cx="406400" cy="4064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6604846" y="4351453"/>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51" name="TextBox 50"/>
          <p:cNvSpPr txBox="1"/>
          <p:nvPr/>
        </p:nvSpPr>
        <p:spPr>
          <a:xfrm>
            <a:off x="6073775" y="1456690"/>
            <a:ext cx="2139950" cy="257175"/>
          </a:xfrm>
          <a:prstGeom prst="rect">
            <a:avLst/>
          </a:prstGeom>
          <a:noFill/>
        </p:spPr>
        <p:txBody>
          <a:bodyPr wrap="none" lIns="0" rIns="0" tIns="0" bIns="0">
            <a:spAutoFit/>
          </a:bodyPr>
          <a:lstStyle/>
          <a:p>
            <a:pPr algn="ctr"/>
            <a:r>
              <a:rPr sz="1500" b="1">
                <a:solidFill>
                  <a:srgbClr val="F2F3E9"/>
                </a:solidFill>
                <a:latin typeface="Noto Sans SC"/>
                <a:ea typeface="Noto Sans SC"/>
              </a:rPr>
              <a:t>Capacity 3: K reached</a:t>
            </a:r>
          </a:p>
        </p:txBody>
      </p:sp>
      <p:sp>
        <p:nvSpPr>
          <p:cNvPr id="52" name="Rounded Rectangle 51"/>
          <p:cNvSpPr/>
          <p:nvPr/>
        </p:nvSpPr>
        <p:spPr>
          <a:xfrm>
            <a:off x="6388100" y="5435600"/>
            <a:ext cx="151130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6433820" y="5495798"/>
            <a:ext cx="14198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ABC | DE · cut 3</a:t>
            </a:r>
          </a:p>
        </p:txBody>
      </p:sp>
      <p:sp>
        <p:nvSpPr>
          <p:cNvPr id="54" name="Rounded Rectangle 53"/>
          <p:cNvSpPr/>
          <p:nvPr/>
        </p:nvSpPr>
        <p:spPr>
          <a:xfrm>
            <a:off x="9362016" y="1792552"/>
            <a:ext cx="8445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375986" y="1789250"/>
            <a:ext cx="81661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AB · 2/2</a:t>
            </a:r>
          </a:p>
        </p:txBody>
      </p:sp>
      <p:sp>
        <p:nvSpPr>
          <p:cNvPr id="56" name="Rounded Rectangle 55"/>
          <p:cNvSpPr/>
          <p:nvPr/>
        </p:nvSpPr>
        <p:spPr>
          <a:xfrm>
            <a:off x="8775700" y="2059252"/>
            <a:ext cx="2017183" cy="823912"/>
          </a:xfrm>
          <a:prstGeom prst="roundRect">
            <a:avLst>
              <a:gd name="adj" fmla="val 44701"/>
            </a:avLst>
          </a:prstGeom>
          <a:noFill/>
          <a:ln w="1905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unded Rectangle 56"/>
          <p:cNvSpPr/>
          <p:nvPr/>
        </p:nvSpPr>
        <p:spPr>
          <a:xfrm>
            <a:off x="10089620" y="4925747"/>
            <a:ext cx="8445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10103590" y="4922445"/>
            <a:ext cx="816610" cy="222885"/>
          </a:xfrm>
          <a:prstGeom prst="rect">
            <a:avLst/>
          </a:prstGeom>
          <a:noFill/>
        </p:spPr>
        <p:txBody>
          <a:bodyPr wrap="none" lIns="0" rIns="0" tIns="0" bIns="0">
            <a:spAutoFit/>
          </a:bodyPr>
          <a:lstStyle/>
          <a:p>
            <a:pPr algn="ctr"/>
            <a:r>
              <a:rPr sz="1300" b="1">
                <a:solidFill>
                  <a:srgbClr val="8FB1E6"/>
                </a:solidFill>
                <a:latin typeface="Noto Sans SC"/>
                <a:ea typeface="Noto Sans SC"/>
              </a:rPr>
              <a:t>DE · 2/2</a:t>
            </a:r>
          </a:p>
        </p:txBody>
      </p:sp>
      <p:sp>
        <p:nvSpPr>
          <p:cNvPr id="59" name="Rounded Rectangle 58"/>
          <p:cNvSpPr/>
          <p:nvPr/>
        </p:nvSpPr>
        <p:spPr>
          <a:xfrm>
            <a:off x="9415991" y="3747293"/>
            <a:ext cx="2191808" cy="1114954"/>
          </a:xfrm>
          <a:prstGeom prst="roundRect">
            <a:avLst>
              <a:gd name="adj" fmla="val 33032"/>
            </a:avLst>
          </a:prstGeom>
          <a:noFill/>
          <a:ln w="19050">
            <a:solidFill>
              <a:srgbClr val="8FB1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0" name="Connector 59"/>
          <p:cNvCxnSpPr/>
          <p:nvPr/>
        </p:nvCxnSpPr>
        <p:spPr>
          <a:xfrm flipV="1">
            <a:off x="9144000" y="2427552"/>
            <a:ext cx="1280583" cy="87312"/>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9627620" y="2103769"/>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9652639" y="2111897"/>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63" name="Connector 62"/>
          <p:cNvCxnSpPr/>
          <p:nvPr/>
        </p:nvCxnSpPr>
        <p:spPr>
          <a:xfrm>
            <a:off x="9144000" y="2514864"/>
            <a:ext cx="785812" cy="989542"/>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9509948" y="269946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9534967" y="270759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66" name="Connector 65"/>
          <p:cNvCxnSpPr/>
          <p:nvPr/>
        </p:nvCxnSpPr>
        <p:spPr>
          <a:xfrm flipH="1">
            <a:off x="9929812" y="2427552"/>
            <a:ext cx="494771" cy="1076854"/>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10169376" y="281421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0194395" y="2822342"/>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69" name="Connector 68"/>
          <p:cNvCxnSpPr/>
          <p:nvPr/>
        </p:nvCxnSpPr>
        <p:spPr>
          <a:xfrm>
            <a:off x="9929812" y="3504406"/>
            <a:ext cx="1309688" cy="611187"/>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0502799" y="345650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10527818" y="346463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72" name="Connector 71"/>
          <p:cNvCxnSpPr/>
          <p:nvPr/>
        </p:nvCxnSpPr>
        <p:spPr>
          <a:xfrm flipH="1">
            <a:off x="9784291" y="3504406"/>
            <a:ext cx="145521" cy="989541"/>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9861526" y="380595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9886545" y="381408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75" name="Connector 74"/>
          <p:cNvCxnSpPr/>
          <p:nvPr/>
        </p:nvCxnSpPr>
        <p:spPr>
          <a:xfrm flipH="1">
            <a:off x="9784291" y="4115593"/>
            <a:ext cx="1455209" cy="378354"/>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10403940" y="423687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0428959" y="4245002"/>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78" name="Oval 77"/>
          <p:cNvSpPr/>
          <p:nvPr/>
        </p:nvSpPr>
        <p:spPr>
          <a:xfrm>
            <a:off x="8877300" y="2248164"/>
            <a:ext cx="533400" cy="533400"/>
          </a:xfrm>
          <a:prstGeom prst="ellipse">
            <a:avLst/>
          </a:prstGeom>
          <a:noFill/>
          <a:ln w="3175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Oval 78"/>
          <p:cNvSpPr/>
          <p:nvPr/>
        </p:nvSpPr>
        <p:spPr>
          <a:xfrm>
            <a:off x="8940800" y="2311664"/>
            <a:ext cx="406400" cy="4064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Box 79"/>
          <p:cNvSpPr txBox="1"/>
          <p:nvPr/>
        </p:nvSpPr>
        <p:spPr>
          <a:xfrm>
            <a:off x="9009380" y="2372370"/>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81" name="Oval 80"/>
          <p:cNvSpPr/>
          <p:nvPr/>
        </p:nvSpPr>
        <p:spPr>
          <a:xfrm>
            <a:off x="10157883" y="2160852"/>
            <a:ext cx="533400" cy="533400"/>
          </a:xfrm>
          <a:prstGeom prst="ellipse">
            <a:avLst/>
          </a:prstGeom>
          <a:noFill/>
          <a:ln w="3175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10221383" y="2224352"/>
            <a:ext cx="406400" cy="4064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0286788" y="2285058"/>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84" name="Oval 83"/>
          <p:cNvSpPr/>
          <p:nvPr/>
        </p:nvSpPr>
        <p:spPr>
          <a:xfrm>
            <a:off x="9663112" y="3237706"/>
            <a:ext cx="533400" cy="533400"/>
          </a:xfrm>
          <a:prstGeom prst="ellipse">
            <a:avLst/>
          </a:prstGeom>
          <a:noFill/>
          <a:ln w="3175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Oval 84"/>
          <p:cNvSpPr/>
          <p:nvPr/>
        </p:nvSpPr>
        <p:spPr>
          <a:xfrm>
            <a:off x="9726612" y="3301206"/>
            <a:ext cx="406400" cy="4064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Box 85"/>
          <p:cNvSpPr txBox="1"/>
          <p:nvPr/>
        </p:nvSpPr>
        <p:spPr>
          <a:xfrm>
            <a:off x="9795192" y="3361912"/>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87" name="Oval 86"/>
          <p:cNvSpPr/>
          <p:nvPr/>
        </p:nvSpPr>
        <p:spPr>
          <a:xfrm>
            <a:off x="10972800" y="3848893"/>
            <a:ext cx="533400" cy="533400"/>
          </a:xfrm>
          <a:prstGeom prst="ellipse">
            <a:avLst/>
          </a:prstGeom>
          <a:noFill/>
          <a:ln w="3175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Oval 87"/>
          <p:cNvSpPr/>
          <p:nvPr/>
        </p:nvSpPr>
        <p:spPr>
          <a:xfrm>
            <a:off x="11036300" y="3912393"/>
            <a:ext cx="406400" cy="4064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11098530" y="3973099"/>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90" name="Oval 89"/>
          <p:cNvSpPr/>
          <p:nvPr/>
        </p:nvSpPr>
        <p:spPr>
          <a:xfrm>
            <a:off x="9517591" y="4227247"/>
            <a:ext cx="533400" cy="533400"/>
          </a:xfrm>
          <a:prstGeom prst="ellipse">
            <a:avLst/>
          </a:prstGeom>
          <a:noFill/>
          <a:ln w="3175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Oval 90"/>
          <p:cNvSpPr/>
          <p:nvPr/>
        </p:nvSpPr>
        <p:spPr>
          <a:xfrm>
            <a:off x="9581091" y="4290747"/>
            <a:ext cx="406400" cy="4064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9652846" y="4351453"/>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93" name="TextBox 92"/>
          <p:cNvSpPr txBox="1"/>
          <p:nvPr/>
        </p:nvSpPr>
        <p:spPr>
          <a:xfrm>
            <a:off x="8937625" y="1456690"/>
            <a:ext cx="2508250" cy="257175"/>
          </a:xfrm>
          <a:prstGeom prst="rect">
            <a:avLst/>
          </a:prstGeom>
          <a:noFill/>
        </p:spPr>
        <p:txBody>
          <a:bodyPr wrap="none" lIns="0" rIns="0" tIns="0" bIns="0">
            <a:spAutoFit/>
          </a:bodyPr>
          <a:lstStyle/>
          <a:p>
            <a:pPr algn="ctr"/>
            <a:r>
              <a:rPr sz="1500" b="1">
                <a:solidFill>
                  <a:srgbClr val="F2F3E9"/>
                </a:solidFill>
                <a:latin typeface="Noto Sans SC"/>
                <a:ea typeface="Noto Sans SC"/>
              </a:rPr>
              <a:t>Capacity 2: K not reached</a:t>
            </a:r>
          </a:p>
        </p:txBody>
      </p:sp>
      <p:sp>
        <p:nvSpPr>
          <p:cNvPr id="94" name="Rounded Rectangle 93"/>
          <p:cNvSpPr/>
          <p:nvPr/>
        </p:nvSpPr>
        <p:spPr>
          <a:xfrm>
            <a:off x="9372600" y="5435600"/>
            <a:ext cx="1638300" cy="2921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9418320" y="5495798"/>
            <a:ext cx="154686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AB | C | DE · cut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642610" cy="480060"/>
          </a:xfrm>
          <a:prstGeom prst="rect">
            <a:avLst/>
          </a:prstGeom>
          <a:noFill/>
        </p:spPr>
        <p:txBody>
          <a:bodyPr wrap="none" lIns="0" rIns="0" tIns="0" bIns="0">
            <a:spAutoFit/>
          </a:bodyPr>
          <a:lstStyle/>
          <a:p>
            <a:pPr algn="l"/>
            <a:r>
              <a:rPr sz="2800" b="0">
                <a:solidFill>
                  <a:srgbClr val="F2F3E9"/>
                </a:solidFill>
                <a:latin typeface="Noto Sans SC"/>
                <a:ea typeface="Noto Sans SC"/>
              </a:rPr>
              <a:t>Impossible: a lower-bound proof</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p4/11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Lower bound: at least "total size ÷ C, rounded up" clusters</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G01: 5 ÷ 2 rounded up = 3 &gt; K = 2</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No algorithm can do it: greedy made no mistake by stopping</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A bound can only prove "impossible", never "possible"</a:t>
            </a:r>
          </a:p>
        </p:txBody>
      </p:sp>
      <p:sp>
        <p:nvSpPr>
          <p:cNvPr id="17" name="Oval 16"/>
          <p:cNvSpPr/>
          <p:nvPr/>
        </p:nvSpPr>
        <p:spPr>
          <a:xfrm>
            <a:off x="6146800" y="2082800"/>
            <a:ext cx="406400" cy="4064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15380" y="2143506"/>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19" name="Oval 18"/>
          <p:cNvSpPr/>
          <p:nvPr/>
        </p:nvSpPr>
        <p:spPr>
          <a:xfrm>
            <a:off x="6718300" y="2082800"/>
            <a:ext cx="406400" cy="4064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83705" y="21435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21" name="Oval 20"/>
          <p:cNvSpPr/>
          <p:nvPr/>
        </p:nvSpPr>
        <p:spPr>
          <a:xfrm>
            <a:off x="7289800" y="2082800"/>
            <a:ext cx="406400" cy="4064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358380" y="2143506"/>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23" name="Oval 22"/>
          <p:cNvSpPr/>
          <p:nvPr/>
        </p:nvSpPr>
        <p:spPr>
          <a:xfrm>
            <a:off x="7861300" y="2082800"/>
            <a:ext cx="406400" cy="4064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23530" y="2143506"/>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25" name="Oval 24"/>
          <p:cNvSpPr/>
          <p:nvPr/>
        </p:nvSpPr>
        <p:spPr>
          <a:xfrm>
            <a:off x="8432800" y="2082800"/>
            <a:ext cx="406400" cy="4064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04555" y="21435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27" name="TextBox 26"/>
          <p:cNvSpPr txBox="1"/>
          <p:nvPr/>
        </p:nvSpPr>
        <p:spPr>
          <a:xfrm>
            <a:off x="6963409" y="2676144"/>
            <a:ext cx="1059180" cy="240030"/>
          </a:xfrm>
          <a:prstGeom prst="rect">
            <a:avLst/>
          </a:prstGeom>
          <a:noFill/>
        </p:spPr>
        <p:txBody>
          <a:bodyPr wrap="none" lIns="0" rIns="0" tIns="0" bIns="0">
            <a:spAutoFit/>
          </a:bodyPr>
          <a:lstStyle/>
          <a:p>
            <a:pPr algn="ctr"/>
            <a:r>
              <a:rPr sz="1400" b="1">
                <a:solidFill>
                  <a:srgbClr val="BCD2D0"/>
                </a:solidFill>
                <a:latin typeface="Noto Sans SC"/>
                <a:ea typeface="Noto Sans SC"/>
              </a:rPr>
              <a:t>total size 5</a:t>
            </a:r>
          </a:p>
        </p:txBody>
      </p:sp>
      <p:sp>
        <p:nvSpPr>
          <p:cNvPr id="28" name="Rounded Rectangle 27"/>
          <p:cNvSpPr/>
          <p:nvPr/>
        </p:nvSpPr>
        <p:spPr>
          <a:xfrm>
            <a:off x="9245600" y="1905000"/>
            <a:ext cx="812800" cy="406400"/>
          </a:xfrm>
          <a:prstGeom prst="roundRect">
            <a:avLst>
              <a:gd name="adj" fmla="val 3125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412605" y="2003552"/>
            <a:ext cx="478790" cy="205740"/>
          </a:xfrm>
          <a:prstGeom prst="rect">
            <a:avLst/>
          </a:prstGeom>
          <a:noFill/>
        </p:spPr>
        <p:txBody>
          <a:bodyPr wrap="none" lIns="0" rIns="0" tIns="0" bIns="0">
            <a:spAutoFit/>
          </a:bodyPr>
          <a:lstStyle/>
          <a:p>
            <a:pPr algn="ctr"/>
            <a:r>
              <a:rPr sz="1200" b="1">
                <a:solidFill>
                  <a:srgbClr val="77CDBB"/>
                </a:solidFill>
                <a:latin typeface="Noto Sans SC"/>
                <a:ea typeface="Noto Sans SC"/>
              </a:rPr>
              <a:t>cap 2</a:t>
            </a:r>
          </a:p>
        </p:txBody>
      </p:sp>
      <p:sp>
        <p:nvSpPr>
          <p:cNvPr id="30" name="Rounded Rectangle 29"/>
          <p:cNvSpPr/>
          <p:nvPr/>
        </p:nvSpPr>
        <p:spPr>
          <a:xfrm>
            <a:off x="10261600" y="1905000"/>
            <a:ext cx="812800" cy="406400"/>
          </a:xfrm>
          <a:prstGeom prst="roundRect">
            <a:avLst>
              <a:gd name="adj" fmla="val 3125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428605" y="2003552"/>
            <a:ext cx="478790" cy="205740"/>
          </a:xfrm>
          <a:prstGeom prst="rect">
            <a:avLst/>
          </a:prstGeom>
          <a:noFill/>
        </p:spPr>
        <p:txBody>
          <a:bodyPr wrap="none" lIns="0" rIns="0" tIns="0" bIns="0">
            <a:spAutoFit/>
          </a:bodyPr>
          <a:lstStyle/>
          <a:p>
            <a:pPr algn="ctr"/>
            <a:r>
              <a:rPr sz="1200" b="1">
                <a:solidFill>
                  <a:srgbClr val="77CDBB"/>
                </a:solidFill>
                <a:latin typeface="Noto Sans SC"/>
                <a:ea typeface="Noto Sans SC"/>
              </a:rPr>
              <a:t>cap 2</a:t>
            </a:r>
          </a:p>
        </p:txBody>
      </p:sp>
      <p:sp>
        <p:nvSpPr>
          <p:cNvPr id="32" name="Rounded Rectangle 31"/>
          <p:cNvSpPr/>
          <p:nvPr/>
        </p:nvSpPr>
        <p:spPr>
          <a:xfrm>
            <a:off x="9245600" y="2603500"/>
            <a:ext cx="812800" cy="406400"/>
          </a:xfrm>
          <a:prstGeom prst="roundRect">
            <a:avLst>
              <a:gd name="adj" fmla="val 31250"/>
            </a:avLst>
          </a:prstGeom>
          <a:solidFill>
            <a:srgbClr val="0A2126"/>
          </a:solidFill>
          <a:ln w="1270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412605" y="2702052"/>
            <a:ext cx="478790" cy="205740"/>
          </a:xfrm>
          <a:prstGeom prst="rect">
            <a:avLst/>
          </a:prstGeom>
          <a:noFill/>
        </p:spPr>
        <p:txBody>
          <a:bodyPr wrap="none" lIns="0" rIns="0" tIns="0" bIns="0">
            <a:spAutoFit/>
          </a:bodyPr>
          <a:lstStyle/>
          <a:p>
            <a:pPr algn="ctr"/>
            <a:r>
              <a:rPr sz="1200" b="1">
                <a:solidFill>
                  <a:srgbClr val="DB7B72"/>
                </a:solidFill>
                <a:latin typeface="Noto Sans SC"/>
                <a:ea typeface="Noto Sans SC"/>
              </a:rPr>
              <a:t>cap 2</a:t>
            </a:r>
          </a:p>
        </p:txBody>
      </p:sp>
      <p:sp>
        <p:nvSpPr>
          <p:cNvPr id="34" name="TextBox 33"/>
          <p:cNvSpPr txBox="1"/>
          <p:nvPr/>
        </p:nvSpPr>
        <p:spPr>
          <a:xfrm>
            <a:off x="6971665" y="3790696"/>
            <a:ext cx="3328670" cy="445770"/>
          </a:xfrm>
          <a:prstGeom prst="rect">
            <a:avLst/>
          </a:prstGeom>
          <a:noFill/>
        </p:spPr>
        <p:txBody>
          <a:bodyPr wrap="none" lIns="0" rIns="0" tIns="0" bIns="0">
            <a:spAutoFit/>
          </a:bodyPr>
          <a:lstStyle/>
          <a:p>
            <a:pPr algn="ctr"/>
            <a:r>
              <a:rPr sz="2600" b="1">
                <a:solidFill>
                  <a:srgbClr val="D8BB78"/>
                </a:solidFill>
                <a:latin typeface="Menlo"/>
                <a:ea typeface="Menlo"/>
              </a:rPr>
              <a:t>⌈</a:t>
            </a:r>
            <a:r>
              <a:rPr sz="2600" b="1">
                <a:solidFill>
                  <a:srgbClr val="D8BB78"/>
                </a:solidFill>
                <a:latin typeface="Noto Sans SC"/>
                <a:ea typeface="Noto Sans SC"/>
              </a:rPr>
              <a:t> 5 ÷ 2 </a:t>
            </a:r>
            <a:r>
              <a:rPr sz="2600" b="1">
                <a:solidFill>
                  <a:srgbClr val="D8BB78"/>
                </a:solidFill>
                <a:latin typeface="Menlo"/>
                <a:ea typeface="Menlo"/>
              </a:rPr>
              <a:t>⌉</a:t>
            </a:r>
            <a:r>
              <a:rPr sz="2600" b="1">
                <a:solidFill>
                  <a:srgbClr val="D8BB78"/>
                </a:solidFill>
                <a:latin typeface="Noto Sans SC"/>
                <a:ea typeface="Noto Sans SC"/>
              </a:rPr>
              <a:t> = 3 &gt; K = 2</a:t>
            </a:r>
          </a:p>
        </p:txBody>
      </p:sp>
      <p:sp>
        <p:nvSpPr>
          <p:cNvPr id="35" name="TextBox 34"/>
          <p:cNvSpPr txBox="1"/>
          <p:nvPr/>
        </p:nvSpPr>
        <p:spPr>
          <a:xfrm>
            <a:off x="6940550" y="4441190"/>
            <a:ext cx="3390900" cy="257175"/>
          </a:xfrm>
          <a:prstGeom prst="rect">
            <a:avLst/>
          </a:prstGeom>
          <a:noFill/>
        </p:spPr>
        <p:txBody>
          <a:bodyPr wrap="none" lIns="0" rIns="0" tIns="0" bIns="0">
            <a:spAutoFit/>
          </a:bodyPr>
          <a:lstStyle/>
          <a:p>
            <a:pPr algn="ctr"/>
            <a:r>
              <a:rPr sz="1500" b="0">
                <a:solidFill>
                  <a:srgbClr val="F2F3E9"/>
                </a:solidFill>
                <a:latin typeface="Noto Sans SC"/>
                <a:ea typeface="Noto Sans SC"/>
              </a:rPr>
              <a:t>at least 3 clusters: K = 2 is impossible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4893310" cy="480060"/>
          </a:xfrm>
          <a:prstGeom prst="rect">
            <a:avLst/>
          </a:prstGeom>
          <a:noFill/>
        </p:spPr>
        <p:txBody>
          <a:bodyPr wrap="none" lIns="0" rIns="0" tIns="0" bIns="0">
            <a:spAutoFit/>
          </a:bodyPr>
          <a:lstStyle/>
          <a:p>
            <a:pPr algn="l"/>
            <a:r>
              <a:rPr sz="2800" b="0">
                <a:solidFill>
                  <a:srgbClr val="F2F3E9"/>
                </a:solidFill>
                <a:latin typeface="Noto Sans SC"/>
                <a:ea typeface="Noto Sans SC"/>
              </a:rPr>
              <a:t>Feasible, but greedy is stuck</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p5/11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greedy_trap (original author): A and B size 2; C and D size 1; capacity 3</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Bound 6 ÷ 3 = 2 does not rule out 2 clusters</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Greedy merges C–D (10) first; CD+A and CD+B are both 4 &gt; 3</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Stops at 3 clusters, yet exhaustive search finds AC | BD (3, 3), cut 10</a:t>
            </a:r>
          </a:p>
        </p:txBody>
      </p:sp>
      <p:sp>
        <p:nvSpPr>
          <p:cNvPr id="17" name="Oval 16"/>
          <p:cNvSpPr/>
          <p:nvPr/>
        </p:nvSpPr>
        <p:spPr>
          <a:xfrm>
            <a:off x="711200" y="420585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4097147"/>
            <a:ext cx="4718050" cy="313055"/>
          </a:xfrm>
          <a:prstGeom prst="rect">
            <a:avLst/>
          </a:prstGeom>
          <a:noFill/>
        </p:spPr>
        <p:txBody>
          <a:bodyPr wrap="square" lIns="0" rIns="0" tIns="0" bIns="0">
            <a:spAutoFit/>
          </a:bodyPr>
          <a:lstStyle/>
          <a:p>
            <a:pPr algn="l">
              <a:lnSpc>
                <a:spcPct val="121800"/>
              </a:lnSpc>
            </a:pPr>
            <a:r>
              <a:rPr sz="1700" b="0">
                <a:solidFill>
                  <a:srgbClr val="D8BB78"/>
                </a:solidFill>
                <a:latin typeface="Noto Sans SC"/>
                <a:ea typeface="Noto Sans SC"/>
              </a:rPr>
              <a:t>Stopped ≠ no solution</a:t>
            </a:r>
          </a:p>
        </p:txBody>
      </p:sp>
      <p:sp>
        <p:nvSpPr>
          <p:cNvPr id="19" name="Rounded Rectangle 18"/>
          <p:cNvSpPr/>
          <p:nvPr/>
        </p:nvSpPr>
        <p:spPr>
          <a:xfrm>
            <a:off x="8274050" y="3566626"/>
            <a:ext cx="85090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88020" y="3563324"/>
            <a:ext cx="82296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CD · 2/3</a:t>
            </a:r>
          </a:p>
        </p:txBody>
      </p:sp>
      <p:sp>
        <p:nvSpPr>
          <p:cNvPr id="21" name="Rounded Rectangle 20"/>
          <p:cNvSpPr/>
          <p:nvPr/>
        </p:nvSpPr>
        <p:spPr>
          <a:xfrm>
            <a:off x="7427944" y="2766526"/>
            <a:ext cx="2543110" cy="736600"/>
          </a:xfrm>
          <a:prstGeom prst="roundRect">
            <a:avLst>
              <a:gd name="adj" fmla="val 50000"/>
            </a:avLst>
          </a:prstGeom>
          <a:noFill/>
          <a:ln w="19050">
            <a:solidFill>
              <a:srgbClr val="D8BB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 name="Connector 21"/>
          <p:cNvCxnSpPr/>
          <p:nvPr/>
        </p:nvCxnSpPr>
        <p:spPr>
          <a:xfrm>
            <a:off x="7796244" y="3134826"/>
            <a:ext cx="1806511" cy="0"/>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8553196" y="276703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517890" y="2775162"/>
            <a:ext cx="36322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10</a:t>
            </a:r>
          </a:p>
        </p:txBody>
      </p:sp>
      <p:cxnSp>
        <p:nvCxnSpPr>
          <p:cNvPr id="25" name="Connector 24"/>
          <p:cNvCxnSpPr/>
          <p:nvPr/>
        </p:nvCxnSpPr>
        <p:spPr>
          <a:xfrm>
            <a:off x="6096000" y="2072173"/>
            <a:ext cx="1700244" cy="106265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6880590" y="2258873"/>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05609" y="2267001"/>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28" name="Connector 27"/>
          <p:cNvCxnSpPr/>
          <p:nvPr/>
        </p:nvCxnSpPr>
        <p:spPr>
          <a:xfrm flipH="1">
            <a:off x="9602755" y="2072173"/>
            <a:ext cx="1700245" cy="106265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10387345" y="251734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412364" y="252547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sp>
        <p:nvSpPr>
          <p:cNvPr id="31" name="Oval 30"/>
          <p:cNvSpPr/>
          <p:nvPr/>
        </p:nvSpPr>
        <p:spPr>
          <a:xfrm>
            <a:off x="5803900" y="1780073"/>
            <a:ext cx="584200" cy="584200"/>
          </a:xfrm>
          <a:prstGeom prst="ellipse">
            <a:avLst/>
          </a:prstGeom>
          <a:noFill/>
          <a:ln w="3175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5867400" y="1843573"/>
            <a:ext cx="457200" cy="4572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961380" y="1929679"/>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4" name="TextBox 33"/>
          <p:cNvSpPr txBox="1"/>
          <p:nvPr/>
        </p:nvSpPr>
        <p:spPr>
          <a:xfrm>
            <a:off x="5923280" y="2361225"/>
            <a:ext cx="345440" cy="205740"/>
          </a:xfrm>
          <a:prstGeom prst="rect">
            <a:avLst/>
          </a:prstGeom>
          <a:noFill/>
        </p:spPr>
        <p:txBody>
          <a:bodyPr wrap="none" lIns="0" rIns="0" tIns="0" bIns="0">
            <a:spAutoFit/>
          </a:bodyPr>
          <a:lstStyle/>
          <a:p>
            <a:pPr algn="ctr"/>
            <a:r>
              <a:rPr sz="1200" b="1">
                <a:solidFill>
                  <a:srgbClr val="D8BB78"/>
                </a:solidFill>
                <a:latin typeface="Noto Sans SC"/>
                <a:ea typeface="Noto Sans SC"/>
              </a:rPr>
              <a:t>s=2</a:t>
            </a:r>
          </a:p>
        </p:txBody>
      </p:sp>
      <p:sp>
        <p:nvSpPr>
          <p:cNvPr id="35" name="Oval 34"/>
          <p:cNvSpPr/>
          <p:nvPr/>
        </p:nvSpPr>
        <p:spPr>
          <a:xfrm>
            <a:off x="7567644" y="2906226"/>
            <a:ext cx="457200" cy="457200"/>
          </a:xfrm>
          <a:prstGeom prst="ellipse">
            <a:avLst/>
          </a:prstGeom>
          <a:solidFill>
            <a:srgbClr val="D8BB7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61624" y="2992332"/>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37" name="Oval 36"/>
          <p:cNvSpPr/>
          <p:nvPr/>
        </p:nvSpPr>
        <p:spPr>
          <a:xfrm>
            <a:off x="9374155" y="2906226"/>
            <a:ext cx="457200" cy="457200"/>
          </a:xfrm>
          <a:prstGeom prst="ellipse">
            <a:avLst/>
          </a:prstGeom>
          <a:solidFill>
            <a:srgbClr val="D8BB7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461785" y="2992332"/>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39" name="Oval 38"/>
          <p:cNvSpPr/>
          <p:nvPr/>
        </p:nvSpPr>
        <p:spPr>
          <a:xfrm>
            <a:off x="11010900" y="1780073"/>
            <a:ext cx="584200" cy="584200"/>
          </a:xfrm>
          <a:prstGeom prst="ellipse">
            <a:avLst/>
          </a:prstGeom>
          <a:noFill/>
          <a:ln w="3175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1074400" y="1843573"/>
            <a:ext cx="457200" cy="457200"/>
          </a:xfrm>
          <a:prstGeom prst="ellipse">
            <a:avLst/>
          </a:prstGeom>
          <a:solidFill>
            <a:srgbClr val="A9BDB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11165205" y="1929679"/>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2" name="TextBox 41"/>
          <p:cNvSpPr txBox="1"/>
          <p:nvPr/>
        </p:nvSpPr>
        <p:spPr>
          <a:xfrm>
            <a:off x="11130280" y="2361225"/>
            <a:ext cx="345440" cy="205740"/>
          </a:xfrm>
          <a:prstGeom prst="rect">
            <a:avLst/>
          </a:prstGeom>
          <a:noFill/>
        </p:spPr>
        <p:txBody>
          <a:bodyPr wrap="none" lIns="0" rIns="0" tIns="0" bIns="0">
            <a:spAutoFit/>
          </a:bodyPr>
          <a:lstStyle/>
          <a:p>
            <a:pPr algn="ctr"/>
            <a:r>
              <a:rPr sz="1200" b="1">
                <a:solidFill>
                  <a:srgbClr val="D8BB78"/>
                </a:solidFill>
                <a:latin typeface="Noto Sans SC"/>
                <a:ea typeface="Noto Sans SC"/>
              </a:rPr>
              <a:t>s=2</a:t>
            </a:r>
          </a:p>
        </p:txBody>
      </p:sp>
      <p:sp>
        <p:nvSpPr>
          <p:cNvPr id="43" name="Rounded Rectangle 42"/>
          <p:cNvSpPr/>
          <p:nvPr/>
        </p:nvSpPr>
        <p:spPr>
          <a:xfrm>
            <a:off x="7480300" y="4229100"/>
            <a:ext cx="2438400" cy="2921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7526020" y="4289298"/>
            <a:ext cx="234696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Greedy: A | B | CD, 3 clusters</a:t>
            </a:r>
          </a:p>
        </p:txBody>
      </p:sp>
      <p:sp>
        <p:nvSpPr>
          <p:cNvPr id="45" name="Rounded Rectangle 44"/>
          <p:cNvSpPr/>
          <p:nvPr/>
        </p:nvSpPr>
        <p:spPr>
          <a:xfrm>
            <a:off x="7092950" y="4864100"/>
            <a:ext cx="3213100" cy="2921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138670" y="4924298"/>
            <a:ext cx="31216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Exhaustive: AC | BD, 2 clusters, cut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896360" cy="480060"/>
          </a:xfrm>
          <a:prstGeom prst="rect">
            <a:avLst/>
          </a:prstGeom>
          <a:noFill/>
        </p:spPr>
        <p:txBody>
          <a:bodyPr wrap="none" lIns="0" rIns="0" tIns="0" bIns="0">
            <a:spAutoFit/>
          </a:bodyPr>
          <a:lstStyle/>
          <a:p>
            <a:pPr algn="l"/>
            <a:r>
              <a:rPr sz="2800" b="0">
                <a:solidFill>
                  <a:srgbClr val="F2F3E9"/>
                </a:solidFill>
                <a:latin typeface="Noto Sans SC"/>
                <a:ea typeface="Noto Sans SC"/>
              </a:rPr>
              <a:t>Legal, but not optimal</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p6/11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suboptimal (original author): A–B 10, A–C 9, B–D 9, C–D 1</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Greedy: AB | CD, both 9s cut, cut 18</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Exhaustive: AC | BD, cuts 10 and 1, cut 11</a:t>
            </a:r>
          </a:p>
        </p:txBody>
      </p:sp>
      <p:sp>
        <p:nvSpPr>
          <p:cNvPr id="15" name="Oval 14"/>
          <p:cNvSpPr/>
          <p:nvPr/>
        </p:nvSpPr>
        <p:spPr>
          <a:xfrm>
            <a:off x="711200" y="3147948"/>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039236"/>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Both are legal and both reach K; only the quality differs</a:t>
            </a:r>
          </a:p>
        </p:txBody>
      </p:sp>
      <p:sp>
        <p:nvSpPr>
          <p:cNvPr id="17" name="Rounded Rectangle 16"/>
          <p:cNvSpPr/>
          <p:nvPr/>
        </p:nvSpPr>
        <p:spPr>
          <a:xfrm>
            <a:off x="6816725" y="1826558"/>
            <a:ext cx="8445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30695" y="1823256"/>
            <a:ext cx="81661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AB · 2/2</a:t>
            </a:r>
          </a:p>
        </p:txBody>
      </p:sp>
      <p:sp>
        <p:nvSpPr>
          <p:cNvPr id="19" name="Rounded Rectangle 18"/>
          <p:cNvSpPr/>
          <p:nvPr/>
        </p:nvSpPr>
        <p:spPr>
          <a:xfrm>
            <a:off x="5854700" y="2093258"/>
            <a:ext cx="2768600" cy="736600"/>
          </a:xfrm>
          <a:prstGeom prst="roundRect">
            <a:avLst>
              <a:gd name="adj" fmla="val 50000"/>
            </a:avLst>
          </a:prstGeom>
          <a:noFill/>
          <a:ln w="1905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813550" y="4447241"/>
            <a:ext cx="85090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27520" y="4443939"/>
            <a:ext cx="822960" cy="222885"/>
          </a:xfrm>
          <a:prstGeom prst="rect">
            <a:avLst/>
          </a:prstGeom>
          <a:noFill/>
        </p:spPr>
        <p:txBody>
          <a:bodyPr wrap="none" lIns="0" rIns="0" tIns="0" bIns="0">
            <a:spAutoFit/>
          </a:bodyPr>
          <a:lstStyle/>
          <a:p>
            <a:pPr algn="ctr"/>
            <a:r>
              <a:rPr sz="1300" b="1">
                <a:solidFill>
                  <a:srgbClr val="D8BB78"/>
                </a:solidFill>
                <a:latin typeface="Noto Sans SC"/>
                <a:ea typeface="Noto Sans SC"/>
              </a:rPr>
              <a:t>CD · 2/2</a:t>
            </a:r>
          </a:p>
        </p:txBody>
      </p:sp>
      <p:sp>
        <p:nvSpPr>
          <p:cNvPr id="22" name="Rounded Rectangle 21"/>
          <p:cNvSpPr/>
          <p:nvPr/>
        </p:nvSpPr>
        <p:spPr>
          <a:xfrm>
            <a:off x="5854700" y="3647141"/>
            <a:ext cx="2768600" cy="736600"/>
          </a:xfrm>
          <a:prstGeom prst="roundRect">
            <a:avLst>
              <a:gd name="adj" fmla="val 50000"/>
            </a:avLst>
          </a:prstGeom>
          <a:noFill/>
          <a:ln w="19050">
            <a:solidFill>
              <a:srgbClr val="D8BB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 name="Connector 22"/>
          <p:cNvCxnSpPr/>
          <p:nvPr/>
        </p:nvCxnSpPr>
        <p:spPr>
          <a:xfrm>
            <a:off x="6223000" y="2461558"/>
            <a:ext cx="2032000" cy="0"/>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092696" y="209376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7390" y="2101894"/>
            <a:ext cx="36322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10</a:t>
            </a:r>
          </a:p>
        </p:txBody>
      </p:sp>
      <p:cxnSp>
        <p:nvCxnSpPr>
          <p:cNvPr id="26" name="Connector 25"/>
          <p:cNvCxnSpPr/>
          <p:nvPr/>
        </p:nvCxnSpPr>
        <p:spPr>
          <a:xfrm>
            <a:off x="6223000" y="2461558"/>
            <a:ext cx="0" cy="155388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229096" y="302310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254115" y="303123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9</a:t>
            </a:r>
          </a:p>
        </p:txBody>
      </p:sp>
      <p:cxnSp>
        <p:nvCxnSpPr>
          <p:cNvPr id="29" name="Connector 28"/>
          <p:cNvCxnSpPr/>
          <p:nvPr/>
        </p:nvCxnSpPr>
        <p:spPr>
          <a:xfrm>
            <a:off x="8255000" y="2461558"/>
            <a:ext cx="0" cy="1553883"/>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261096" y="302310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86115" y="303123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9</a:t>
            </a:r>
          </a:p>
        </p:txBody>
      </p:sp>
      <p:cxnSp>
        <p:nvCxnSpPr>
          <p:cNvPr id="32" name="Connector 31"/>
          <p:cNvCxnSpPr/>
          <p:nvPr/>
        </p:nvCxnSpPr>
        <p:spPr>
          <a:xfrm>
            <a:off x="6223000" y="4015441"/>
            <a:ext cx="2032000" cy="0"/>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092696" y="3647649"/>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117715" y="3655777"/>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sp>
        <p:nvSpPr>
          <p:cNvPr id="35" name="Oval 34"/>
          <p:cNvSpPr/>
          <p:nvPr/>
        </p:nvSpPr>
        <p:spPr>
          <a:xfrm>
            <a:off x="5994400" y="2232958"/>
            <a:ext cx="457200" cy="4572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088380" y="2319064"/>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37" name="Oval 36"/>
          <p:cNvSpPr/>
          <p:nvPr/>
        </p:nvSpPr>
        <p:spPr>
          <a:xfrm>
            <a:off x="8026400" y="2232958"/>
            <a:ext cx="457200" cy="4572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117205" y="2319064"/>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39" name="Oval 38"/>
          <p:cNvSpPr/>
          <p:nvPr/>
        </p:nvSpPr>
        <p:spPr>
          <a:xfrm>
            <a:off x="5994400" y="3786841"/>
            <a:ext cx="457200" cy="457200"/>
          </a:xfrm>
          <a:prstGeom prst="ellipse">
            <a:avLst/>
          </a:prstGeom>
          <a:solidFill>
            <a:srgbClr val="D8BB7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088380" y="3872947"/>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1" name="Oval 40"/>
          <p:cNvSpPr/>
          <p:nvPr/>
        </p:nvSpPr>
        <p:spPr>
          <a:xfrm>
            <a:off x="8026400" y="3786841"/>
            <a:ext cx="457200" cy="457200"/>
          </a:xfrm>
          <a:prstGeom prst="ellipse">
            <a:avLst/>
          </a:prstGeom>
          <a:solidFill>
            <a:srgbClr val="D8BB78"/>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114030" y="3872947"/>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43" name="Rounded Rectangle 42"/>
          <p:cNvSpPr/>
          <p:nvPr/>
        </p:nvSpPr>
        <p:spPr>
          <a:xfrm>
            <a:off x="9042400" y="1826558"/>
            <a:ext cx="83820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9056370" y="1823256"/>
            <a:ext cx="81026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AC · 2/2</a:t>
            </a:r>
          </a:p>
        </p:txBody>
      </p:sp>
      <p:sp>
        <p:nvSpPr>
          <p:cNvPr id="45" name="Rounded Rectangle 44"/>
          <p:cNvSpPr/>
          <p:nvPr/>
        </p:nvSpPr>
        <p:spPr>
          <a:xfrm>
            <a:off x="9093200" y="2093258"/>
            <a:ext cx="736600" cy="2290482"/>
          </a:xfrm>
          <a:prstGeom prst="roundRect">
            <a:avLst>
              <a:gd name="adj" fmla="val 50000"/>
            </a:avLst>
          </a:prstGeom>
          <a:noFill/>
          <a:ln w="1905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11064875" y="1826558"/>
            <a:ext cx="8572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11078845" y="1823256"/>
            <a:ext cx="829310" cy="222885"/>
          </a:xfrm>
          <a:prstGeom prst="rect">
            <a:avLst/>
          </a:prstGeom>
          <a:noFill/>
        </p:spPr>
        <p:txBody>
          <a:bodyPr wrap="none" lIns="0" rIns="0" tIns="0" bIns="0">
            <a:spAutoFit/>
          </a:bodyPr>
          <a:lstStyle/>
          <a:p>
            <a:pPr algn="ctr"/>
            <a:r>
              <a:rPr sz="1300" b="1">
                <a:solidFill>
                  <a:srgbClr val="8FB1E6"/>
                </a:solidFill>
                <a:latin typeface="Noto Sans SC"/>
                <a:ea typeface="Noto Sans SC"/>
              </a:rPr>
              <a:t>BD · 2/2</a:t>
            </a:r>
          </a:p>
        </p:txBody>
      </p:sp>
      <p:sp>
        <p:nvSpPr>
          <p:cNvPr id="48" name="Rounded Rectangle 47"/>
          <p:cNvSpPr/>
          <p:nvPr/>
        </p:nvSpPr>
        <p:spPr>
          <a:xfrm>
            <a:off x="11125200" y="2093258"/>
            <a:ext cx="736600" cy="2290482"/>
          </a:xfrm>
          <a:prstGeom prst="roundRect">
            <a:avLst>
              <a:gd name="adj" fmla="val 50000"/>
            </a:avLst>
          </a:prstGeom>
          <a:noFill/>
          <a:ln w="19050">
            <a:solidFill>
              <a:srgbClr val="8FB1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9" name="Connector 48"/>
          <p:cNvCxnSpPr/>
          <p:nvPr/>
        </p:nvCxnSpPr>
        <p:spPr>
          <a:xfrm>
            <a:off x="9461500" y="2461558"/>
            <a:ext cx="2032000" cy="0"/>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0331196" y="2093766"/>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295890" y="2101894"/>
            <a:ext cx="36322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10</a:t>
            </a:r>
          </a:p>
        </p:txBody>
      </p:sp>
      <p:cxnSp>
        <p:nvCxnSpPr>
          <p:cNvPr id="52" name="Connector 51"/>
          <p:cNvCxnSpPr/>
          <p:nvPr/>
        </p:nvCxnSpPr>
        <p:spPr>
          <a:xfrm>
            <a:off x="9461500" y="2461558"/>
            <a:ext cx="0" cy="1553883"/>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9467596" y="302310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9492615" y="303123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9</a:t>
            </a:r>
          </a:p>
        </p:txBody>
      </p:sp>
      <p:cxnSp>
        <p:nvCxnSpPr>
          <p:cNvPr id="55" name="Connector 54"/>
          <p:cNvCxnSpPr/>
          <p:nvPr/>
        </p:nvCxnSpPr>
        <p:spPr>
          <a:xfrm>
            <a:off x="11493500" y="2461558"/>
            <a:ext cx="0" cy="1553883"/>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11499596" y="3023107"/>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Box 56"/>
          <p:cNvSpPr txBox="1"/>
          <p:nvPr/>
        </p:nvSpPr>
        <p:spPr>
          <a:xfrm>
            <a:off x="11524615" y="3031235"/>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9</a:t>
            </a:r>
          </a:p>
        </p:txBody>
      </p:sp>
      <p:cxnSp>
        <p:nvCxnSpPr>
          <p:cNvPr id="58" name="Connector 57"/>
          <p:cNvCxnSpPr/>
          <p:nvPr/>
        </p:nvCxnSpPr>
        <p:spPr>
          <a:xfrm>
            <a:off x="9461500" y="4015441"/>
            <a:ext cx="2032000" cy="0"/>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10331196" y="3647649"/>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10356215" y="3655777"/>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sp>
        <p:nvSpPr>
          <p:cNvPr id="61" name="Oval 60"/>
          <p:cNvSpPr/>
          <p:nvPr/>
        </p:nvSpPr>
        <p:spPr>
          <a:xfrm>
            <a:off x="9232900" y="2232958"/>
            <a:ext cx="457200" cy="4572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9326880" y="2319064"/>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63" name="Oval 62"/>
          <p:cNvSpPr/>
          <p:nvPr/>
        </p:nvSpPr>
        <p:spPr>
          <a:xfrm>
            <a:off x="11264900" y="2232958"/>
            <a:ext cx="457200" cy="4572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11355705" y="2319064"/>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65" name="Oval 64"/>
          <p:cNvSpPr/>
          <p:nvPr/>
        </p:nvSpPr>
        <p:spPr>
          <a:xfrm>
            <a:off x="9232900" y="3786841"/>
            <a:ext cx="457200" cy="4572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9326880" y="3872947"/>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67" name="Oval 66"/>
          <p:cNvSpPr/>
          <p:nvPr/>
        </p:nvSpPr>
        <p:spPr>
          <a:xfrm>
            <a:off x="11264900" y="3786841"/>
            <a:ext cx="457200" cy="4572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11352530" y="3872947"/>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69" name="TextBox 68"/>
          <p:cNvSpPr txBox="1"/>
          <p:nvPr/>
        </p:nvSpPr>
        <p:spPr>
          <a:xfrm>
            <a:off x="6848475" y="1393190"/>
            <a:ext cx="781050" cy="257175"/>
          </a:xfrm>
          <a:prstGeom prst="rect">
            <a:avLst/>
          </a:prstGeom>
          <a:noFill/>
        </p:spPr>
        <p:txBody>
          <a:bodyPr wrap="none" lIns="0" rIns="0" tIns="0" bIns="0">
            <a:spAutoFit/>
          </a:bodyPr>
          <a:lstStyle/>
          <a:p>
            <a:pPr algn="ctr"/>
            <a:r>
              <a:rPr sz="1500" b="1">
                <a:solidFill>
                  <a:srgbClr val="F2F3E9"/>
                </a:solidFill>
                <a:latin typeface="Noto Sans SC"/>
                <a:ea typeface="Noto Sans SC"/>
              </a:rPr>
              <a:t>Greedy</a:t>
            </a:r>
          </a:p>
        </p:txBody>
      </p:sp>
      <p:sp>
        <p:nvSpPr>
          <p:cNvPr id="70" name="TextBox 69"/>
          <p:cNvSpPr txBox="1"/>
          <p:nvPr/>
        </p:nvSpPr>
        <p:spPr>
          <a:xfrm>
            <a:off x="9448800" y="1393190"/>
            <a:ext cx="2057400" cy="257175"/>
          </a:xfrm>
          <a:prstGeom prst="rect">
            <a:avLst/>
          </a:prstGeom>
          <a:noFill/>
        </p:spPr>
        <p:txBody>
          <a:bodyPr wrap="none" lIns="0" rIns="0" tIns="0" bIns="0">
            <a:spAutoFit/>
          </a:bodyPr>
          <a:lstStyle/>
          <a:p>
            <a:pPr algn="ctr"/>
            <a:r>
              <a:rPr sz="1500" b="1">
                <a:solidFill>
                  <a:srgbClr val="F2F3E9"/>
                </a:solidFill>
                <a:latin typeface="Noto Sans SC"/>
                <a:ea typeface="Noto Sans SC"/>
              </a:rPr>
              <a:t>Exhaustive optimum</a:t>
            </a:r>
          </a:p>
        </p:txBody>
      </p:sp>
      <p:sp>
        <p:nvSpPr>
          <p:cNvPr id="71" name="Rounded Rectangle 70"/>
          <p:cNvSpPr/>
          <p:nvPr/>
        </p:nvSpPr>
        <p:spPr>
          <a:xfrm>
            <a:off x="6873875" y="5232400"/>
            <a:ext cx="730250" cy="304800"/>
          </a:xfrm>
          <a:prstGeom prst="roundRect">
            <a:avLst>
              <a:gd name="adj" fmla="val 50000"/>
            </a:avLst>
          </a:prstGeom>
          <a:solidFill>
            <a:srgbClr val="0A2126"/>
          </a:solidFill>
          <a:ln w="12700">
            <a:solidFill>
              <a:srgbClr val="DB7B7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6915784" y="5292344"/>
            <a:ext cx="646430" cy="240030"/>
          </a:xfrm>
          <a:prstGeom prst="rect">
            <a:avLst/>
          </a:prstGeom>
          <a:noFill/>
        </p:spPr>
        <p:txBody>
          <a:bodyPr wrap="none" lIns="0" rIns="0" tIns="0" bIns="0">
            <a:spAutoFit/>
          </a:bodyPr>
          <a:lstStyle/>
          <a:p>
            <a:pPr algn="ctr"/>
            <a:r>
              <a:rPr sz="1400" b="1">
                <a:solidFill>
                  <a:srgbClr val="DB7B72"/>
                </a:solidFill>
                <a:latin typeface="Noto Sans SC"/>
                <a:ea typeface="Noto Sans SC"/>
              </a:rPr>
              <a:t>cut 18</a:t>
            </a:r>
          </a:p>
        </p:txBody>
      </p:sp>
      <p:sp>
        <p:nvSpPr>
          <p:cNvPr id="73" name="Rounded Rectangle 72"/>
          <p:cNvSpPr/>
          <p:nvPr/>
        </p:nvSpPr>
        <p:spPr>
          <a:xfrm>
            <a:off x="10112375" y="5232400"/>
            <a:ext cx="730250" cy="304800"/>
          </a:xfrm>
          <a:prstGeom prst="roundRect">
            <a:avLst>
              <a:gd name="adj" fmla="val 50000"/>
            </a:avLst>
          </a:prstGeom>
          <a:solidFill>
            <a:srgbClr val="0A2126"/>
          </a:solidFill>
          <a:ln w="12700">
            <a:solidFill>
              <a:srgbClr val="77CD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0154285" y="5292344"/>
            <a:ext cx="646430" cy="240030"/>
          </a:xfrm>
          <a:prstGeom prst="rect">
            <a:avLst/>
          </a:prstGeom>
          <a:noFill/>
        </p:spPr>
        <p:txBody>
          <a:bodyPr wrap="none" lIns="0" rIns="0" tIns="0" bIns="0">
            <a:spAutoFit/>
          </a:bodyPr>
          <a:lstStyle/>
          <a:p>
            <a:pPr algn="ctr"/>
            <a:r>
              <a:rPr sz="1400" b="1">
                <a:solidFill>
                  <a:srgbClr val="77CDBB"/>
                </a:solidFill>
                <a:latin typeface="Noto Sans SC"/>
                <a:ea typeface="Noto Sans SC"/>
              </a:rPr>
              <a:t>cut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5553710" cy="480060"/>
          </a:xfrm>
          <a:prstGeom prst="rect">
            <a:avLst/>
          </a:prstGeom>
          <a:noFill/>
        </p:spPr>
        <p:txBody>
          <a:bodyPr wrap="none" lIns="0" rIns="0" tIns="0" bIns="0">
            <a:spAutoFit/>
          </a:bodyPr>
          <a:lstStyle/>
          <a:p>
            <a:pPr algn="l"/>
            <a:r>
              <a:rPr sz="2800" b="0">
                <a:solidFill>
                  <a:srgbClr val="F2F3E9"/>
                </a:solidFill>
                <a:latin typeface="Noto Sans SC"/>
                <a:ea typeface="Noto Sans SC"/>
              </a:rPr>
              <a:t>Different sizes, different endings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p7/11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Set A's size in G01 to 2, capacity 3, K = 2</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After A–B the size is 3, full; AB+C is blocked</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D–E instead, then C goes into DE</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Result AB | CDE, cut 5 (was ABC | DE, cut 3)</a:t>
            </a:r>
          </a:p>
        </p:txBody>
      </p:sp>
      <p:sp>
        <p:nvSpPr>
          <p:cNvPr id="17" name="Rounded Rectangle 16"/>
          <p:cNvSpPr/>
          <p:nvPr/>
        </p:nvSpPr>
        <p:spPr>
          <a:xfrm>
            <a:off x="7549210" y="1143000"/>
            <a:ext cx="84455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563180" y="1139698"/>
            <a:ext cx="816610" cy="222885"/>
          </a:xfrm>
          <a:prstGeom prst="rect">
            <a:avLst/>
          </a:prstGeom>
          <a:noFill/>
        </p:spPr>
        <p:txBody>
          <a:bodyPr wrap="none" lIns="0" rIns="0" tIns="0" bIns="0">
            <a:spAutoFit/>
          </a:bodyPr>
          <a:lstStyle/>
          <a:p>
            <a:pPr algn="ctr"/>
            <a:r>
              <a:rPr sz="1300" b="1">
                <a:solidFill>
                  <a:srgbClr val="77CDBB"/>
                </a:solidFill>
                <a:latin typeface="Noto Sans SC"/>
                <a:ea typeface="Noto Sans SC"/>
              </a:rPr>
              <a:t>AB · 3/3</a:t>
            </a:r>
          </a:p>
        </p:txBody>
      </p:sp>
      <p:sp>
        <p:nvSpPr>
          <p:cNvPr id="19" name="Rounded Rectangle 18"/>
          <p:cNvSpPr/>
          <p:nvPr/>
        </p:nvSpPr>
        <p:spPr>
          <a:xfrm>
            <a:off x="6658735" y="1409700"/>
            <a:ext cx="2625501" cy="865388"/>
          </a:xfrm>
          <a:prstGeom prst="roundRect">
            <a:avLst>
              <a:gd name="adj" fmla="val 42558"/>
            </a:avLst>
          </a:prstGeom>
          <a:noFill/>
          <a:ln w="19050">
            <a:solidFill>
              <a:srgbClr val="77CDB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282278" y="5257800"/>
            <a:ext cx="952500" cy="228600"/>
          </a:xfrm>
          <a:prstGeom prst="roundRect">
            <a:avLst>
              <a:gd name="adj" fmla="val 22222"/>
            </a:avLst>
          </a:prstGeom>
          <a:solidFill>
            <a:srgbClr val="071C22">
              <a:alpha val="8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96248" y="5254498"/>
            <a:ext cx="924560" cy="222885"/>
          </a:xfrm>
          <a:prstGeom prst="rect">
            <a:avLst/>
          </a:prstGeom>
          <a:noFill/>
        </p:spPr>
        <p:txBody>
          <a:bodyPr wrap="none" lIns="0" rIns="0" tIns="0" bIns="0">
            <a:spAutoFit/>
          </a:bodyPr>
          <a:lstStyle/>
          <a:p>
            <a:pPr algn="ctr"/>
            <a:r>
              <a:rPr sz="1300" b="1">
                <a:solidFill>
                  <a:srgbClr val="8FB1E6"/>
                </a:solidFill>
                <a:latin typeface="Noto Sans SC"/>
                <a:ea typeface="Noto Sans SC"/>
              </a:rPr>
              <a:t>CDE · 3/3</a:t>
            </a:r>
          </a:p>
        </p:txBody>
      </p:sp>
      <p:sp>
        <p:nvSpPr>
          <p:cNvPr id="22" name="Rounded Rectangle 21"/>
          <p:cNvSpPr/>
          <p:nvPr/>
        </p:nvSpPr>
        <p:spPr>
          <a:xfrm>
            <a:off x="7603185" y="2998094"/>
            <a:ext cx="2883078" cy="2196205"/>
          </a:xfrm>
          <a:prstGeom prst="roundRect">
            <a:avLst>
              <a:gd name="adj" fmla="val 16769"/>
            </a:avLst>
          </a:prstGeom>
          <a:noFill/>
          <a:ln w="19050">
            <a:solidFill>
              <a:srgbClr val="8FB1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 name="Connector 22"/>
          <p:cNvCxnSpPr/>
          <p:nvPr/>
        </p:nvCxnSpPr>
        <p:spPr>
          <a:xfrm flipV="1">
            <a:off x="7027035" y="1778000"/>
            <a:ext cx="1888901" cy="128788"/>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814815" y="1474955"/>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839834" y="1483083"/>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cxnSp>
        <p:nvCxnSpPr>
          <p:cNvPr id="26" name="Connector 25"/>
          <p:cNvCxnSpPr/>
          <p:nvPr/>
        </p:nvCxnSpPr>
        <p:spPr>
          <a:xfrm>
            <a:off x="7027035" y="1906788"/>
            <a:ext cx="1159098" cy="1459606"/>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579626" y="2326424"/>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604645" y="2334552"/>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29" name="Connector 28"/>
          <p:cNvCxnSpPr/>
          <p:nvPr/>
        </p:nvCxnSpPr>
        <p:spPr>
          <a:xfrm flipH="1">
            <a:off x="8186133" y="1778000"/>
            <a:ext cx="729803" cy="1588394"/>
          </a:xfrm>
          <a:prstGeom prst="line">
            <a:avLst/>
          </a:prstGeom>
          <a:ln w="25400">
            <a:solidFill>
              <a:srgbClr val="DB7B72"/>
            </a:solidFill>
            <a:prstDash val="dash"/>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8543213" y="2420432"/>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568232" y="2428560"/>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4</a:t>
            </a:r>
          </a:p>
        </p:txBody>
      </p:sp>
      <p:cxnSp>
        <p:nvCxnSpPr>
          <p:cNvPr id="32" name="Connector 31"/>
          <p:cNvCxnSpPr/>
          <p:nvPr/>
        </p:nvCxnSpPr>
        <p:spPr>
          <a:xfrm>
            <a:off x="8186133" y="3366394"/>
            <a:ext cx="1931831" cy="901521"/>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070193" y="3463660"/>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095212" y="3471788"/>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2</a:t>
            </a:r>
          </a:p>
        </p:txBody>
      </p:sp>
      <p:cxnSp>
        <p:nvCxnSpPr>
          <p:cNvPr id="35" name="Connector 34"/>
          <p:cNvCxnSpPr/>
          <p:nvPr/>
        </p:nvCxnSpPr>
        <p:spPr>
          <a:xfrm flipH="1">
            <a:off x="7971485" y="3366394"/>
            <a:ext cx="214648" cy="1459606"/>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083284" y="3902978"/>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108303" y="3911106"/>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1</a:t>
            </a:r>
          </a:p>
        </p:txBody>
      </p:sp>
      <p:cxnSp>
        <p:nvCxnSpPr>
          <p:cNvPr id="38" name="Connector 37"/>
          <p:cNvCxnSpPr/>
          <p:nvPr/>
        </p:nvCxnSpPr>
        <p:spPr>
          <a:xfrm flipH="1">
            <a:off x="7971485" y="4267915"/>
            <a:ext cx="2146479" cy="558085"/>
          </a:xfrm>
          <a:prstGeom prst="line">
            <a:avLst/>
          </a:prstGeom>
          <a:ln w="31750">
            <a:solidFill>
              <a:srgbClr val="9FC9BF"/>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936770" y="4479061"/>
            <a:ext cx="292608" cy="292608"/>
          </a:xfrm>
          <a:prstGeom prst="ellipse">
            <a:avLst/>
          </a:prstGeom>
          <a:solidFill>
            <a:srgbClr val="071C22">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8961789" y="4487189"/>
            <a:ext cx="242570" cy="274320"/>
          </a:xfrm>
          <a:prstGeom prst="rect">
            <a:avLst/>
          </a:prstGeom>
          <a:noFill/>
        </p:spPr>
        <p:txBody>
          <a:bodyPr wrap="none" lIns="0" rIns="0" tIns="0" bIns="0">
            <a:spAutoFit/>
          </a:bodyPr>
          <a:lstStyle/>
          <a:p>
            <a:pPr algn="ctr"/>
            <a:r>
              <a:rPr sz="1600" b="1">
                <a:solidFill>
                  <a:srgbClr val="D9E4E1"/>
                </a:solidFill>
                <a:latin typeface="Noto Sans SC"/>
                <a:ea typeface="Noto Sans SC"/>
              </a:rPr>
              <a:t>5</a:t>
            </a:r>
          </a:p>
        </p:txBody>
      </p:sp>
      <p:sp>
        <p:nvSpPr>
          <p:cNvPr id="41" name="Oval 40"/>
          <p:cNvSpPr/>
          <p:nvPr/>
        </p:nvSpPr>
        <p:spPr>
          <a:xfrm>
            <a:off x="6798435" y="1678188"/>
            <a:ext cx="457200" cy="4572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892415" y="1764294"/>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A</a:t>
            </a:r>
          </a:p>
        </p:txBody>
      </p:sp>
      <p:sp>
        <p:nvSpPr>
          <p:cNvPr id="43" name="TextBox 42"/>
          <p:cNvSpPr txBox="1"/>
          <p:nvPr/>
        </p:nvSpPr>
        <p:spPr>
          <a:xfrm>
            <a:off x="6854315" y="2195840"/>
            <a:ext cx="345440" cy="205740"/>
          </a:xfrm>
          <a:prstGeom prst="rect">
            <a:avLst/>
          </a:prstGeom>
          <a:noFill/>
        </p:spPr>
        <p:txBody>
          <a:bodyPr wrap="none" lIns="0" rIns="0" tIns="0" bIns="0">
            <a:spAutoFit/>
          </a:bodyPr>
          <a:lstStyle/>
          <a:p>
            <a:pPr algn="ctr"/>
            <a:r>
              <a:rPr sz="1200" b="1">
                <a:solidFill>
                  <a:srgbClr val="D8BB78"/>
                </a:solidFill>
                <a:latin typeface="Noto Sans SC"/>
                <a:ea typeface="Noto Sans SC"/>
              </a:rPr>
              <a:t>s=2</a:t>
            </a:r>
          </a:p>
        </p:txBody>
      </p:sp>
      <p:sp>
        <p:nvSpPr>
          <p:cNvPr id="44" name="Oval 43"/>
          <p:cNvSpPr/>
          <p:nvPr/>
        </p:nvSpPr>
        <p:spPr>
          <a:xfrm>
            <a:off x="8687336" y="1549400"/>
            <a:ext cx="457200" cy="457200"/>
          </a:xfrm>
          <a:prstGeom prst="ellipse">
            <a:avLst/>
          </a:prstGeom>
          <a:solidFill>
            <a:srgbClr val="77CDBB"/>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8778141" y="1635506"/>
            <a:ext cx="2755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B</a:t>
            </a:r>
          </a:p>
        </p:txBody>
      </p:sp>
      <p:sp>
        <p:nvSpPr>
          <p:cNvPr id="46" name="Oval 45"/>
          <p:cNvSpPr/>
          <p:nvPr/>
        </p:nvSpPr>
        <p:spPr>
          <a:xfrm>
            <a:off x="7957533" y="3137794"/>
            <a:ext cx="457200" cy="4572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8051513" y="3223900"/>
            <a:ext cx="26924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C</a:t>
            </a:r>
          </a:p>
        </p:txBody>
      </p:sp>
      <p:sp>
        <p:nvSpPr>
          <p:cNvPr id="48" name="Oval 47"/>
          <p:cNvSpPr/>
          <p:nvPr/>
        </p:nvSpPr>
        <p:spPr>
          <a:xfrm>
            <a:off x="9889364" y="4039315"/>
            <a:ext cx="457200" cy="4572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976994" y="4125421"/>
            <a:ext cx="281939" cy="291465"/>
          </a:xfrm>
          <a:prstGeom prst="rect">
            <a:avLst/>
          </a:prstGeom>
          <a:noFill/>
        </p:spPr>
        <p:txBody>
          <a:bodyPr wrap="none" lIns="0" rIns="0" tIns="0" bIns="0">
            <a:spAutoFit/>
          </a:bodyPr>
          <a:lstStyle/>
          <a:p>
            <a:pPr algn="ctr"/>
            <a:r>
              <a:rPr sz="1700" b="1">
                <a:solidFill>
                  <a:srgbClr val="0B1B1F"/>
                </a:solidFill>
                <a:latin typeface="Noto Sans SC"/>
                <a:ea typeface="Noto Sans SC"/>
              </a:rPr>
              <a:t>D</a:t>
            </a:r>
          </a:p>
        </p:txBody>
      </p:sp>
      <p:sp>
        <p:nvSpPr>
          <p:cNvPr id="50" name="Oval 49"/>
          <p:cNvSpPr/>
          <p:nvPr/>
        </p:nvSpPr>
        <p:spPr>
          <a:xfrm>
            <a:off x="7742885" y="4597400"/>
            <a:ext cx="457200" cy="457200"/>
          </a:xfrm>
          <a:prstGeom prst="ellipse">
            <a:avLst/>
          </a:prstGeom>
          <a:solidFill>
            <a:srgbClr val="8FB1E6"/>
          </a:solidFill>
          <a:ln w="19050">
            <a:solidFill>
              <a:srgbClr val="0614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7840040" y="4683506"/>
            <a:ext cx="262890" cy="291465"/>
          </a:xfrm>
          <a:prstGeom prst="rect">
            <a:avLst/>
          </a:prstGeom>
          <a:noFill/>
        </p:spPr>
        <p:txBody>
          <a:bodyPr wrap="none" lIns="0" rIns="0" tIns="0" bIns="0">
            <a:spAutoFit/>
          </a:bodyPr>
          <a:lstStyle/>
          <a:p>
            <a:pPr algn="ctr"/>
            <a:r>
              <a:rPr sz="1700" b="1">
                <a:solidFill>
                  <a:srgbClr val="0B1B1F"/>
                </a:solidFill>
                <a:latin typeface="Noto Sans SC"/>
                <a:ea typeface="Noto Sans SC"/>
              </a:rPr>
              <a:t>E</a:t>
            </a:r>
          </a:p>
        </p:txBody>
      </p:sp>
      <p:sp>
        <p:nvSpPr>
          <p:cNvPr id="52" name="Rounded Rectangle 51"/>
          <p:cNvSpPr/>
          <p:nvPr/>
        </p:nvSpPr>
        <p:spPr>
          <a:xfrm>
            <a:off x="7858125" y="5613400"/>
            <a:ext cx="1428750" cy="304800"/>
          </a:xfrm>
          <a:prstGeom prst="roundRect">
            <a:avLst>
              <a:gd name="adj" fmla="val 50000"/>
            </a:avLst>
          </a:prstGeom>
          <a:solidFill>
            <a:srgbClr val="0A2126"/>
          </a:solidFill>
          <a:ln w="12700">
            <a:solidFill>
              <a:srgbClr val="D8BB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7900034" y="5673344"/>
            <a:ext cx="1344930" cy="240030"/>
          </a:xfrm>
          <a:prstGeom prst="rect">
            <a:avLst/>
          </a:prstGeom>
          <a:noFill/>
        </p:spPr>
        <p:txBody>
          <a:bodyPr wrap="none" lIns="0" rIns="0" tIns="0" bIns="0">
            <a:spAutoFit/>
          </a:bodyPr>
          <a:lstStyle/>
          <a:p>
            <a:pPr algn="ctr"/>
            <a:r>
              <a:rPr sz="1400" b="1">
                <a:solidFill>
                  <a:srgbClr val="D8BB78"/>
                </a:solidFill>
                <a:latin typeface="Noto Sans SC"/>
                <a:ea typeface="Noto Sans SC"/>
              </a:rPr>
              <a:t>AB | CDE, cut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7166609" cy="480060"/>
          </a:xfrm>
          <a:prstGeom prst="rect">
            <a:avLst/>
          </a:prstGeom>
          <a:noFill/>
        </p:spPr>
        <p:txBody>
          <a:bodyPr wrap="none" lIns="0" rIns="0" tIns="0" bIns="0">
            <a:spAutoFit/>
          </a:bodyPr>
          <a:lstStyle/>
          <a:p>
            <a:pPr algn="l"/>
            <a:r>
              <a:rPr sz="2800" b="0">
                <a:solidFill>
                  <a:srgbClr val="F2F3E9"/>
                </a:solidFill>
                <a:latin typeface="Noto Sans SC"/>
                <a:ea typeface="Noto Sans SC"/>
              </a:rPr>
              <a:t>The pseudocode: merge, report, diagnose</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p8/11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1: a single node over capacity means invalid input</a:t>
            </a:r>
          </a:p>
        </p:txBody>
      </p:sp>
      <p:sp>
        <p:nvSpPr>
          <p:cNvPr id="11" name="Oval 10"/>
          <p:cNvSpPr/>
          <p:nvPr/>
        </p:nvSpPr>
        <p:spPr>
          <a:xfrm>
            <a:off x="711200" y="22843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2175637"/>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4: filter for legality before comparing</a:t>
            </a:r>
          </a:p>
        </p:txBody>
      </p:sp>
      <p:sp>
        <p:nvSpPr>
          <p:cNvPr id="13" name="Oval 12"/>
          <p:cNvSpPr/>
          <p:nvPr/>
        </p:nvSpPr>
        <p:spPr>
          <a:xfrm>
            <a:off x="711200" y="2716149"/>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607437"/>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5: tell capacity-blocked from no-positive-affinity</a:t>
            </a:r>
          </a:p>
        </p:txBody>
      </p:sp>
      <p:sp>
        <p:nvSpPr>
          <p:cNvPr id="15" name="Oval 14"/>
          <p:cNvSpPr/>
          <p:nvPr/>
        </p:nvSpPr>
        <p:spPr>
          <a:xfrm>
            <a:off x="711200" y="34610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3352292"/>
            <a:ext cx="4718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7: report four items separately</a:t>
            </a:r>
          </a:p>
        </p:txBody>
      </p:sp>
      <p:sp>
        <p:nvSpPr>
          <p:cNvPr id="17" name="Oval 16"/>
          <p:cNvSpPr/>
          <p:nvPr/>
        </p:nvSpPr>
        <p:spPr>
          <a:xfrm>
            <a:off x="711200" y="389280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784092"/>
            <a:ext cx="4718050" cy="626110"/>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Line 8: diagnose with the lower bound plus small-graph search</a:t>
            </a:r>
          </a:p>
        </p:txBody>
      </p:sp>
      <p:sp>
        <p:nvSpPr>
          <p:cNvPr id="19" name="Rounded Rectangle 18"/>
          <p:cNvSpPr/>
          <p:nvPr/>
        </p:nvSpPr>
        <p:spPr>
          <a:xfrm>
            <a:off x="5753100" y="1574800"/>
            <a:ext cx="5715000" cy="3530600"/>
          </a:xfrm>
          <a:prstGeom prst="roundRect">
            <a:avLst>
              <a:gd name="adj" fmla="val 2158"/>
            </a:avLst>
          </a:prstGeom>
          <a:solidFill>
            <a:srgbClr val="0A1C1F"/>
          </a:solidFill>
          <a:ln w="12700">
            <a:solidFill>
              <a:srgbClr val="2447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898832" y="17689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1</a:t>
            </a:r>
          </a:p>
        </p:txBody>
      </p:sp>
      <p:sp>
        <p:nvSpPr>
          <p:cNvPr id="21" name="TextBox 20"/>
          <p:cNvSpPr txBox="1"/>
          <p:nvPr/>
        </p:nvSpPr>
        <p:spPr>
          <a:xfrm>
            <a:off x="6189027" y="1730120"/>
            <a:ext cx="769620" cy="231457"/>
          </a:xfrm>
          <a:prstGeom prst="rect">
            <a:avLst/>
          </a:prstGeom>
          <a:noFill/>
        </p:spPr>
        <p:txBody>
          <a:bodyPr wrap="none" lIns="0" rIns="0" tIns="0" bIns="0">
            <a:spAutoFit/>
          </a:bodyPr>
          <a:lstStyle/>
          <a:p>
            <a:pPr algn="l"/>
            <a:r>
              <a:rPr sz="1350" b="0">
                <a:solidFill>
                  <a:srgbClr val="DFEADF"/>
                </a:solidFill>
                <a:latin typeface="Noto Sans SC"/>
                <a:ea typeface="Noto Sans SC"/>
              </a:rPr>
              <a:t>clusters </a:t>
            </a:r>
          </a:p>
        </p:txBody>
      </p:sp>
      <p:sp>
        <p:nvSpPr>
          <p:cNvPr id="22" name="TextBox 21"/>
          <p:cNvSpPr txBox="1"/>
          <p:nvPr/>
        </p:nvSpPr>
        <p:spPr>
          <a:xfrm>
            <a:off x="6855777" y="1730120"/>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3" name="TextBox 22"/>
          <p:cNvSpPr txBox="1"/>
          <p:nvPr/>
        </p:nvSpPr>
        <p:spPr>
          <a:xfrm>
            <a:off x="7027227" y="1730120"/>
            <a:ext cx="26936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singletons; s(v) &gt; C: invalid input</a:t>
            </a:r>
          </a:p>
        </p:txBody>
      </p:sp>
      <p:sp>
        <p:nvSpPr>
          <p:cNvPr id="24" name="TextBox 23"/>
          <p:cNvSpPr txBox="1"/>
          <p:nvPr/>
        </p:nvSpPr>
        <p:spPr>
          <a:xfrm>
            <a:off x="5898832" y="21753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2</a:t>
            </a:r>
          </a:p>
        </p:txBody>
      </p:sp>
      <p:sp>
        <p:nvSpPr>
          <p:cNvPr id="25" name="TextBox 24"/>
          <p:cNvSpPr txBox="1"/>
          <p:nvPr/>
        </p:nvSpPr>
        <p:spPr>
          <a:xfrm>
            <a:off x="6189027" y="2136521"/>
            <a:ext cx="1626870" cy="231457"/>
          </a:xfrm>
          <a:prstGeom prst="rect">
            <a:avLst/>
          </a:prstGeom>
          <a:noFill/>
        </p:spPr>
        <p:txBody>
          <a:bodyPr wrap="none" lIns="0" rIns="0" tIns="0" bIns="0">
            <a:spAutoFit/>
          </a:bodyPr>
          <a:lstStyle/>
          <a:p>
            <a:pPr algn="l"/>
            <a:r>
              <a:rPr sz="1350" b="0">
                <a:solidFill>
                  <a:srgbClr val="DFEADF"/>
                </a:solidFill>
                <a:latin typeface="Noto Sans SC"/>
                <a:ea typeface="Noto Sans SC"/>
              </a:rPr>
              <a:t>while #clusters &gt; K:</a:t>
            </a:r>
          </a:p>
        </p:txBody>
      </p:sp>
      <p:sp>
        <p:nvSpPr>
          <p:cNvPr id="26" name="TextBox 25"/>
          <p:cNvSpPr txBox="1"/>
          <p:nvPr/>
        </p:nvSpPr>
        <p:spPr>
          <a:xfrm>
            <a:off x="5898832" y="25817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3</a:t>
            </a:r>
          </a:p>
        </p:txBody>
      </p:sp>
      <p:sp>
        <p:nvSpPr>
          <p:cNvPr id="27" name="TextBox 26"/>
          <p:cNvSpPr txBox="1"/>
          <p:nvPr/>
        </p:nvSpPr>
        <p:spPr>
          <a:xfrm>
            <a:off x="6189027" y="2542921"/>
            <a:ext cx="769620" cy="231457"/>
          </a:xfrm>
          <a:prstGeom prst="rect">
            <a:avLst/>
          </a:prstGeom>
          <a:noFill/>
        </p:spPr>
        <p:txBody>
          <a:bodyPr wrap="none" lIns="0" rIns="0" tIns="0" bIns="0">
            <a:spAutoFit/>
          </a:bodyPr>
          <a:lstStyle/>
          <a:p>
            <a:pPr algn="l"/>
            <a:r>
              <a:rPr sz="1350" b="0">
                <a:solidFill>
                  <a:srgbClr val="DFEADF"/>
                </a:solidFill>
                <a:latin typeface="Noto Sans SC"/>
                <a:ea typeface="Noto Sans SC"/>
              </a:rPr>
              <a:t>    cands </a:t>
            </a:r>
          </a:p>
        </p:txBody>
      </p:sp>
      <p:sp>
        <p:nvSpPr>
          <p:cNvPr id="28" name="TextBox 27"/>
          <p:cNvSpPr txBox="1"/>
          <p:nvPr/>
        </p:nvSpPr>
        <p:spPr>
          <a:xfrm>
            <a:off x="6855777" y="2542921"/>
            <a:ext cx="274320" cy="231457"/>
          </a:xfrm>
          <a:prstGeom prst="rect">
            <a:avLst/>
          </a:prstGeom>
          <a:noFill/>
        </p:spPr>
        <p:txBody>
          <a:bodyPr wrap="none" lIns="0" rIns="0" tIns="0" bIns="0">
            <a:spAutoFit/>
          </a:bodyPr>
          <a:lstStyle/>
          <a:p>
            <a:pPr algn="l"/>
            <a:r>
              <a:rPr sz="1350" b="0">
                <a:solidFill>
                  <a:srgbClr val="DFEADF"/>
                </a:solidFill>
                <a:latin typeface="Noto Sans SC"/>
                <a:ea typeface="Noto Sans SC"/>
              </a:rPr>
              <a:t>←</a:t>
            </a:r>
          </a:p>
        </p:txBody>
      </p:sp>
      <p:sp>
        <p:nvSpPr>
          <p:cNvPr id="29" name="TextBox 28"/>
          <p:cNvSpPr txBox="1"/>
          <p:nvPr/>
        </p:nvSpPr>
        <p:spPr>
          <a:xfrm>
            <a:off x="7027227" y="2542921"/>
            <a:ext cx="17792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pairs with affinity &gt; 0</a:t>
            </a:r>
          </a:p>
        </p:txBody>
      </p:sp>
      <p:sp>
        <p:nvSpPr>
          <p:cNvPr id="30" name="Rectangle 29"/>
          <p:cNvSpPr/>
          <p:nvPr/>
        </p:nvSpPr>
        <p:spPr>
          <a:xfrm>
            <a:off x="5753100" y="2914650"/>
            <a:ext cx="5715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753100" y="291465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898832" y="29881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4</a:t>
            </a:r>
          </a:p>
        </p:txBody>
      </p:sp>
      <p:sp>
        <p:nvSpPr>
          <p:cNvPr id="33" name="TextBox 32"/>
          <p:cNvSpPr txBox="1"/>
          <p:nvPr/>
        </p:nvSpPr>
        <p:spPr>
          <a:xfrm>
            <a:off x="6189027" y="2949321"/>
            <a:ext cx="680720" cy="231457"/>
          </a:xfrm>
          <a:prstGeom prst="rect">
            <a:avLst/>
          </a:prstGeom>
          <a:noFill/>
        </p:spPr>
        <p:txBody>
          <a:bodyPr wrap="none" lIns="0" rIns="0" tIns="0" bIns="0">
            <a:spAutoFit/>
          </a:bodyPr>
          <a:lstStyle/>
          <a:p>
            <a:pPr algn="l"/>
            <a:r>
              <a:rPr sz="1350" b="0">
                <a:solidFill>
                  <a:srgbClr val="D8BB78"/>
                </a:solidFill>
                <a:latin typeface="Noto Sans SC"/>
                <a:ea typeface="Noto Sans SC"/>
              </a:rPr>
              <a:t>    legal </a:t>
            </a:r>
          </a:p>
        </p:txBody>
      </p:sp>
      <p:sp>
        <p:nvSpPr>
          <p:cNvPr id="34" name="TextBox 33"/>
          <p:cNvSpPr txBox="1"/>
          <p:nvPr/>
        </p:nvSpPr>
        <p:spPr>
          <a:xfrm>
            <a:off x="6766877" y="29493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35" name="TextBox 34"/>
          <p:cNvSpPr txBox="1"/>
          <p:nvPr/>
        </p:nvSpPr>
        <p:spPr>
          <a:xfrm>
            <a:off x="6938327" y="2949321"/>
            <a:ext cx="1880870" cy="231457"/>
          </a:xfrm>
          <a:prstGeom prst="rect">
            <a:avLst/>
          </a:prstGeom>
          <a:noFill/>
        </p:spPr>
        <p:txBody>
          <a:bodyPr wrap="none" lIns="0" rIns="0" tIns="0" bIns="0">
            <a:spAutoFit/>
          </a:bodyPr>
          <a:lstStyle/>
          <a:p>
            <a:pPr algn="l"/>
            <a:r>
              <a:rPr sz="1350" b="0">
                <a:solidFill>
                  <a:srgbClr val="D8BB78"/>
                </a:solidFill>
                <a:latin typeface="Noto Sans SC"/>
                <a:ea typeface="Noto Sans SC"/>
              </a:rPr>
              <a:t> cands with s(P) + s(Q) </a:t>
            </a:r>
          </a:p>
        </p:txBody>
      </p:sp>
      <p:sp>
        <p:nvSpPr>
          <p:cNvPr id="36" name="TextBox 35"/>
          <p:cNvSpPr txBox="1"/>
          <p:nvPr/>
        </p:nvSpPr>
        <p:spPr>
          <a:xfrm>
            <a:off x="8716327" y="2949321"/>
            <a:ext cx="274320" cy="231457"/>
          </a:xfrm>
          <a:prstGeom prst="rect">
            <a:avLst/>
          </a:prstGeom>
          <a:noFill/>
        </p:spPr>
        <p:txBody>
          <a:bodyPr wrap="none" lIns="0" rIns="0" tIns="0" bIns="0">
            <a:spAutoFit/>
          </a:bodyPr>
          <a:lstStyle/>
          <a:p>
            <a:pPr algn="l"/>
            <a:r>
              <a:rPr sz="1350" b="0">
                <a:solidFill>
                  <a:srgbClr val="D8BB78"/>
                </a:solidFill>
                <a:latin typeface="Noto Sans SC"/>
                <a:ea typeface="Noto Sans SC"/>
              </a:rPr>
              <a:t>≤</a:t>
            </a:r>
          </a:p>
        </p:txBody>
      </p:sp>
      <p:sp>
        <p:nvSpPr>
          <p:cNvPr id="37" name="TextBox 36"/>
          <p:cNvSpPr txBox="1"/>
          <p:nvPr/>
        </p:nvSpPr>
        <p:spPr>
          <a:xfrm>
            <a:off x="8887777" y="2949321"/>
            <a:ext cx="248919" cy="231457"/>
          </a:xfrm>
          <a:prstGeom prst="rect">
            <a:avLst/>
          </a:prstGeom>
          <a:noFill/>
        </p:spPr>
        <p:txBody>
          <a:bodyPr wrap="none" lIns="0" rIns="0" tIns="0" bIns="0">
            <a:spAutoFit/>
          </a:bodyPr>
          <a:lstStyle/>
          <a:p>
            <a:pPr algn="l"/>
            <a:r>
              <a:rPr sz="1350" b="0">
                <a:solidFill>
                  <a:srgbClr val="D8BB78"/>
                </a:solidFill>
                <a:latin typeface="Noto Sans SC"/>
                <a:ea typeface="Noto Sans SC"/>
              </a:rPr>
              <a:t> C</a:t>
            </a:r>
          </a:p>
        </p:txBody>
      </p:sp>
      <p:sp>
        <p:nvSpPr>
          <p:cNvPr id="38" name="Rectangle 37"/>
          <p:cNvSpPr/>
          <p:nvPr/>
        </p:nvSpPr>
        <p:spPr>
          <a:xfrm>
            <a:off x="5753100" y="3321050"/>
            <a:ext cx="5715000" cy="393700"/>
          </a:xfrm>
          <a:prstGeom prst="rect">
            <a:avLst/>
          </a:prstGeom>
          <a:solidFill>
            <a:srgbClr val="2A3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753100" y="3321050"/>
            <a:ext cx="38100" cy="3937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898832" y="33945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5</a:t>
            </a:r>
          </a:p>
        </p:txBody>
      </p:sp>
      <p:sp>
        <p:nvSpPr>
          <p:cNvPr id="41" name="TextBox 40"/>
          <p:cNvSpPr txBox="1"/>
          <p:nvPr/>
        </p:nvSpPr>
        <p:spPr>
          <a:xfrm>
            <a:off x="6189027" y="3355721"/>
            <a:ext cx="3061970" cy="231457"/>
          </a:xfrm>
          <a:prstGeom prst="rect">
            <a:avLst/>
          </a:prstGeom>
          <a:noFill/>
        </p:spPr>
        <p:txBody>
          <a:bodyPr wrap="none" lIns="0" rIns="0" tIns="0" bIns="0">
            <a:spAutoFit/>
          </a:bodyPr>
          <a:lstStyle/>
          <a:p>
            <a:pPr algn="l"/>
            <a:r>
              <a:rPr sz="1350" b="0">
                <a:solidFill>
                  <a:srgbClr val="D8BB78"/>
                </a:solidFill>
                <a:latin typeface="Noto Sans SC"/>
                <a:ea typeface="Noto Sans SC"/>
              </a:rPr>
              <a:t>    if legal is empty: stop (two reasons)</a:t>
            </a:r>
          </a:p>
        </p:txBody>
      </p:sp>
      <p:sp>
        <p:nvSpPr>
          <p:cNvPr id="42" name="TextBox 41"/>
          <p:cNvSpPr txBox="1"/>
          <p:nvPr/>
        </p:nvSpPr>
        <p:spPr>
          <a:xfrm>
            <a:off x="5898832" y="38009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6</a:t>
            </a:r>
          </a:p>
        </p:txBody>
      </p:sp>
      <p:sp>
        <p:nvSpPr>
          <p:cNvPr id="43" name="TextBox 42"/>
          <p:cNvSpPr txBox="1"/>
          <p:nvPr/>
        </p:nvSpPr>
        <p:spPr>
          <a:xfrm>
            <a:off x="6189027" y="3762121"/>
            <a:ext cx="32651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merge the legal pair with the least key</a:t>
            </a:r>
          </a:p>
        </p:txBody>
      </p:sp>
      <p:sp>
        <p:nvSpPr>
          <p:cNvPr id="44" name="TextBox 43"/>
          <p:cNvSpPr txBox="1"/>
          <p:nvPr/>
        </p:nvSpPr>
        <p:spPr>
          <a:xfrm>
            <a:off x="5898832" y="42073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7</a:t>
            </a:r>
          </a:p>
        </p:txBody>
      </p:sp>
      <p:sp>
        <p:nvSpPr>
          <p:cNvPr id="45" name="TextBox 44"/>
          <p:cNvSpPr txBox="1"/>
          <p:nvPr/>
        </p:nvSpPr>
        <p:spPr>
          <a:xfrm>
            <a:off x="6189027" y="4168521"/>
            <a:ext cx="3474720" cy="231457"/>
          </a:xfrm>
          <a:prstGeom prst="rect">
            <a:avLst/>
          </a:prstGeom>
          <a:noFill/>
        </p:spPr>
        <p:txBody>
          <a:bodyPr wrap="none" lIns="0" rIns="0" tIns="0" bIns="0">
            <a:spAutoFit/>
          </a:bodyPr>
          <a:lstStyle/>
          <a:p>
            <a:pPr algn="l"/>
            <a:r>
              <a:rPr sz="1350" b="0">
                <a:solidFill>
                  <a:srgbClr val="DFEADF"/>
                </a:solidFill>
                <a:latin typeface="Noto Sans SC"/>
                <a:ea typeface="Noto Sans SC"/>
              </a:rPr>
              <a:t>report count, legal, K reached, stop reason</a:t>
            </a:r>
          </a:p>
        </p:txBody>
      </p:sp>
      <p:sp>
        <p:nvSpPr>
          <p:cNvPr id="46" name="TextBox 45"/>
          <p:cNvSpPr txBox="1"/>
          <p:nvPr/>
        </p:nvSpPr>
        <p:spPr>
          <a:xfrm>
            <a:off x="5898832" y="4613783"/>
            <a:ext cx="156210" cy="180022"/>
          </a:xfrm>
          <a:prstGeom prst="rect">
            <a:avLst/>
          </a:prstGeom>
          <a:noFill/>
        </p:spPr>
        <p:txBody>
          <a:bodyPr wrap="none" lIns="0" rIns="0" tIns="0" bIns="0">
            <a:spAutoFit/>
          </a:bodyPr>
          <a:lstStyle/>
          <a:p>
            <a:pPr algn="l"/>
            <a:r>
              <a:rPr sz="1050" b="0">
                <a:solidFill>
                  <a:srgbClr val="6F8F8F"/>
                </a:solidFill>
                <a:latin typeface="Noto Sans SC"/>
                <a:ea typeface="Noto Sans SC"/>
              </a:rPr>
              <a:t>8</a:t>
            </a:r>
          </a:p>
        </p:txBody>
      </p:sp>
      <p:sp>
        <p:nvSpPr>
          <p:cNvPr id="47" name="TextBox 46"/>
          <p:cNvSpPr txBox="1"/>
          <p:nvPr/>
        </p:nvSpPr>
        <p:spPr>
          <a:xfrm>
            <a:off x="6189027" y="4574921"/>
            <a:ext cx="1474470" cy="231457"/>
          </a:xfrm>
          <a:prstGeom prst="rect">
            <a:avLst/>
          </a:prstGeom>
          <a:noFill/>
        </p:spPr>
        <p:txBody>
          <a:bodyPr wrap="none" lIns="0" rIns="0" tIns="0" bIns="0">
            <a:spAutoFit/>
          </a:bodyPr>
          <a:lstStyle/>
          <a:p>
            <a:pPr algn="l"/>
            <a:r>
              <a:rPr sz="1350" b="0">
                <a:solidFill>
                  <a:srgbClr val="DFEADF"/>
                </a:solidFill>
                <a:latin typeface="Noto Sans SC"/>
                <a:ea typeface="Noto Sans SC"/>
              </a:rPr>
              <a:t>diagnose: bound </a:t>
            </a:r>
          </a:p>
        </p:txBody>
      </p:sp>
      <p:sp>
        <p:nvSpPr>
          <p:cNvPr id="48" name="TextBox 47"/>
          <p:cNvSpPr txBox="1"/>
          <p:nvPr/>
        </p:nvSpPr>
        <p:spPr>
          <a:xfrm>
            <a:off x="7560627" y="4574921"/>
            <a:ext cx="318770" cy="231457"/>
          </a:xfrm>
          <a:prstGeom prst="rect">
            <a:avLst/>
          </a:prstGeom>
          <a:noFill/>
        </p:spPr>
        <p:txBody>
          <a:bodyPr wrap="none" lIns="0" rIns="0" tIns="0" bIns="0">
            <a:spAutoFit/>
          </a:bodyPr>
          <a:lstStyle/>
          <a:p>
            <a:pPr algn="l"/>
            <a:r>
              <a:rPr sz="1350" b="0">
                <a:solidFill>
                  <a:srgbClr val="DFEADF"/>
                </a:solidFill>
                <a:latin typeface="Menlo"/>
                <a:ea typeface="Menlo"/>
              </a:rPr>
              <a:t>⌈</a:t>
            </a:r>
            <a:r>
              <a:rPr sz="1350" b="0">
                <a:solidFill>
                  <a:srgbClr val="DFEADF"/>
                </a:solidFill>
                <a:latin typeface="Noto Sans SC"/>
                <a:ea typeface="Noto Sans SC"/>
              </a:rPr>
              <a:t>Σ</a:t>
            </a:r>
          </a:p>
        </p:txBody>
      </p:sp>
      <p:sp>
        <p:nvSpPr>
          <p:cNvPr id="49" name="TextBox 48"/>
          <p:cNvSpPr txBox="1"/>
          <p:nvPr/>
        </p:nvSpPr>
        <p:spPr>
          <a:xfrm>
            <a:off x="7776527" y="4574921"/>
            <a:ext cx="439420" cy="231457"/>
          </a:xfrm>
          <a:prstGeom prst="rect">
            <a:avLst/>
          </a:prstGeom>
          <a:noFill/>
        </p:spPr>
        <p:txBody>
          <a:bodyPr wrap="none" lIns="0" rIns="0" tIns="0" bIns="0">
            <a:spAutoFit/>
          </a:bodyPr>
          <a:lstStyle/>
          <a:p>
            <a:pPr algn="l"/>
            <a:r>
              <a:rPr sz="1350" b="0">
                <a:solidFill>
                  <a:srgbClr val="DFEADF"/>
                </a:solidFill>
                <a:latin typeface="Noto Sans SC"/>
                <a:ea typeface="Noto Sans SC"/>
              </a:rPr>
              <a:t>s / C</a:t>
            </a:r>
          </a:p>
        </p:txBody>
      </p:sp>
      <p:sp>
        <p:nvSpPr>
          <p:cNvPr id="50" name="TextBox 49"/>
          <p:cNvSpPr txBox="1"/>
          <p:nvPr/>
        </p:nvSpPr>
        <p:spPr>
          <a:xfrm>
            <a:off x="8113077" y="4574921"/>
            <a:ext cx="217170" cy="231457"/>
          </a:xfrm>
          <a:prstGeom prst="rect">
            <a:avLst/>
          </a:prstGeom>
          <a:noFill/>
        </p:spPr>
        <p:txBody>
          <a:bodyPr wrap="none" lIns="0" rIns="0" tIns="0" bIns="0">
            <a:spAutoFit/>
          </a:bodyPr>
          <a:lstStyle/>
          <a:p>
            <a:pPr algn="l"/>
            <a:r>
              <a:rPr sz="1350" b="0">
                <a:solidFill>
                  <a:srgbClr val="DFEADF"/>
                </a:solidFill>
                <a:latin typeface="Menlo"/>
                <a:ea typeface="Menlo"/>
              </a:rPr>
              <a:t>⌉</a:t>
            </a:r>
          </a:p>
        </p:txBody>
      </p:sp>
      <p:sp>
        <p:nvSpPr>
          <p:cNvPr id="51" name="TextBox 50"/>
          <p:cNvSpPr txBox="1"/>
          <p:nvPr/>
        </p:nvSpPr>
        <p:spPr>
          <a:xfrm>
            <a:off x="8227377" y="4574921"/>
            <a:ext cx="1487170" cy="231457"/>
          </a:xfrm>
          <a:prstGeom prst="rect">
            <a:avLst/>
          </a:prstGeom>
          <a:noFill/>
        </p:spPr>
        <p:txBody>
          <a:bodyPr wrap="none" lIns="0" rIns="0" tIns="0" bIns="0">
            <a:spAutoFit/>
          </a:bodyPr>
          <a:lstStyle/>
          <a:p>
            <a:pPr algn="l"/>
            <a:r>
              <a:rPr sz="1350" b="0">
                <a:solidFill>
                  <a:srgbClr val="DFEADF"/>
                </a:solidFill>
                <a:latin typeface="Noto Sans SC"/>
                <a:ea typeface="Noto Sans SC"/>
              </a:rPr>
              <a:t> and small 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318510" cy="480060"/>
          </a:xfrm>
          <a:prstGeom prst="rect">
            <a:avLst/>
          </a:prstGeom>
          <a:noFill/>
        </p:spPr>
        <p:txBody>
          <a:bodyPr wrap="none" lIns="0" rIns="0" tIns="0" bIns="0">
            <a:spAutoFit/>
          </a:bodyPr>
          <a:lstStyle/>
          <a:p>
            <a:pPr algn="l"/>
            <a:r>
              <a:rPr sz="2800" b="0">
                <a:solidFill>
                  <a:srgbClr val="F2F3E9"/>
                </a:solidFill>
                <a:latin typeface="Noto Sans SC"/>
                <a:ea typeface="Noto Sans SC"/>
              </a:rPr>
              <a:t>Common mistakes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113770" y="6499098"/>
            <a:ext cx="556260" cy="222885"/>
          </a:xfrm>
          <a:prstGeom prst="rect">
            <a:avLst/>
          </a:prstGeom>
          <a:noFill/>
        </p:spPr>
        <p:txBody>
          <a:bodyPr wrap="none" lIns="0" rIns="0" tIns="0" bIns="0">
            <a:spAutoFit/>
          </a:bodyPr>
          <a:lstStyle/>
          <a:p>
            <a:pPr algn="r"/>
            <a:r>
              <a:rPr sz="1300" b="1">
                <a:solidFill>
                  <a:srgbClr val="BCD2D0"/>
                </a:solidFill>
                <a:latin typeface="Noto Sans SC"/>
                <a:ea typeface="Noto Sans SC"/>
              </a:rPr>
              <a:t>p9/11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Calling "legal" "done"</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Breaking the capacity to reach K</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Taking "greedy is stuck" for "impossible"</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Assuming a legal result is optimal</a:t>
            </a:r>
          </a:p>
        </p:txBody>
      </p:sp>
      <p:sp>
        <p:nvSpPr>
          <p:cNvPr id="17" name="Oval 16"/>
          <p:cNvSpPr/>
          <p:nvPr/>
        </p:nvSpPr>
        <p:spPr>
          <a:xfrm>
            <a:off x="711200" y="32666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31579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Treating node count as area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3299460" cy="480060"/>
          </a:xfrm>
          <a:prstGeom prst="rect">
            <a:avLst/>
          </a:prstGeom>
          <a:noFill/>
        </p:spPr>
        <p:txBody>
          <a:bodyPr wrap="none" lIns="0" rIns="0" tIns="0" bIns="0">
            <a:spAutoFit/>
          </a:bodyPr>
          <a:lstStyle/>
          <a:p>
            <a:pPr algn="l"/>
            <a:r>
              <a:rPr sz="2800" b="0">
                <a:solidFill>
                  <a:srgbClr val="F2F3E9"/>
                </a:solidFill>
                <a:latin typeface="Noto Sans SC"/>
                <a:ea typeface="Noto Sans SC"/>
              </a:rPr>
              <a:t>Practice and limits</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p10/11</a:t>
            </a:r>
          </a:p>
        </p:txBody>
      </p:sp>
      <p:sp>
        <p:nvSpPr>
          <p:cNvPr id="9" name="Oval 8"/>
          <p:cNvSpPr/>
          <p:nvPr/>
        </p:nvSpPr>
        <p:spPr>
          <a:xfrm>
            <a:off x="711200" y="15394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14307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Capacity is the area one region of the chip can hold</a:t>
            </a:r>
          </a:p>
        </p:txBody>
      </p:sp>
      <p:sp>
        <p:nvSpPr>
          <p:cNvPr id="11" name="Oval 10"/>
          <p:cNvSpPr/>
          <p:nvPr/>
        </p:nvSpPr>
        <p:spPr>
          <a:xfrm>
            <a:off x="711200" y="19712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14400" y="18625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A bound only proves impossible; possible needs a solution (as hard as bin packing)</a:t>
            </a:r>
          </a:p>
        </p:txBody>
      </p:sp>
      <p:sp>
        <p:nvSpPr>
          <p:cNvPr id="13" name="Oval 12"/>
          <p:cNvSpPr/>
          <p:nvPr/>
        </p:nvSpPr>
        <p:spPr>
          <a:xfrm>
            <a:off x="711200" y="24030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22943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Exhaustive search only suits teaching graphs of ≤ 10 nodes</a:t>
            </a:r>
          </a:p>
        </p:txBody>
      </p:sp>
      <p:sp>
        <p:nvSpPr>
          <p:cNvPr id="15" name="Oval 14"/>
          <p:cNvSpPr/>
          <p:nvPr/>
        </p:nvSpPr>
        <p:spPr>
          <a:xfrm>
            <a:off x="711200" y="2834894"/>
            <a:ext cx="76200" cy="76200"/>
          </a:xfrm>
          <a:prstGeom prst="ellipse">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2726182"/>
            <a:ext cx="10433050" cy="313055"/>
          </a:xfrm>
          <a:prstGeom prst="rect">
            <a:avLst/>
          </a:prstGeom>
          <a:noFill/>
        </p:spPr>
        <p:txBody>
          <a:bodyPr wrap="square" lIns="0" rIns="0" tIns="0" bIns="0">
            <a:spAutoFit/>
          </a:bodyPr>
          <a:lstStyle/>
          <a:p>
            <a:pPr algn="l">
              <a:lnSpc>
                <a:spcPct val="121800"/>
              </a:lnSpc>
            </a:pPr>
            <a:r>
              <a:rPr sz="1700" b="0">
                <a:solidFill>
                  <a:srgbClr val="F2F3E9"/>
                </a:solidFill>
                <a:latin typeface="Noto Sans SC"/>
                <a:ea typeface="Noto Sans SC"/>
              </a:rPr>
              <a:t>Greedy never backtracks: improving needs methods that swap or move back (Modules 07, 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1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2000" cy="38100"/>
          </a:xfrm>
          <a:prstGeom prst="rect">
            <a:avLst/>
          </a:prstGeom>
          <a:solidFill>
            <a:srgbClr val="77CDBB">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53720" y="450088"/>
            <a:ext cx="1826260" cy="480060"/>
          </a:xfrm>
          <a:prstGeom prst="rect">
            <a:avLst/>
          </a:prstGeom>
          <a:noFill/>
        </p:spPr>
        <p:txBody>
          <a:bodyPr wrap="none" lIns="0" rIns="0" tIns="0" bIns="0">
            <a:spAutoFit/>
          </a:bodyPr>
          <a:lstStyle/>
          <a:p>
            <a:pPr algn="l"/>
            <a:r>
              <a:rPr sz="2800" b="0">
                <a:solidFill>
                  <a:srgbClr val="F2F3E9"/>
                </a:solidFill>
                <a:latin typeface="Noto Sans SC"/>
                <a:ea typeface="Noto Sans SC"/>
              </a:rPr>
              <a:t>Summary</a:t>
            </a:r>
          </a:p>
        </p:txBody>
      </p:sp>
      <p:sp>
        <p:nvSpPr>
          <p:cNvPr id="5" name="Rectangle 4"/>
          <p:cNvSpPr/>
          <p:nvPr/>
        </p:nvSpPr>
        <p:spPr>
          <a:xfrm>
            <a:off x="571500" y="965200"/>
            <a:ext cx="571500" cy="25400"/>
          </a:xfrm>
          <a:prstGeom prst="rect">
            <a:avLst/>
          </a:prstGeom>
          <a:solidFill>
            <a:srgbClr val="D8B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a:off x="571500" y="6426200"/>
            <a:ext cx="11049000" cy="0"/>
          </a:xfrm>
          <a:prstGeom prst="line">
            <a:avLst/>
          </a:prstGeom>
          <a:ln w="12700">
            <a:solidFill>
              <a:srgbClr val="1D3D4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3880" y="6512052"/>
            <a:ext cx="4091940" cy="205740"/>
          </a:xfrm>
          <a:prstGeom prst="rect">
            <a:avLst/>
          </a:prstGeom>
          <a:noFill/>
        </p:spPr>
        <p:txBody>
          <a:bodyPr wrap="none" lIns="0" rIns="0" tIns="0" bIns="0">
            <a:spAutoFit/>
          </a:bodyPr>
          <a:lstStyle/>
          <a:p>
            <a:pPr algn="l"/>
            <a:r>
              <a:rPr sz="1200" b="0">
                <a:solidFill>
                  <a:srgbClr val="6F8F8F"/>
                </a:solidFill>
                <a:latin typeface="Noto Sans SC"/>
                <a:ea typeface="Noto Sans SC"/>
              </a:rPr>
              <a:t>Module 04 · Size-Constrained Agglomerative Clustering</a:t>
            </a:r>
          </a:p>
        </p:txBody>
      </p:sp>
      <p:sp>
        <p:nvSpPr>
          <p:cNvPr id="8" name="TextBox 7"/>
          <p:cNvSpPr txBox="1"/>
          <p:nvPr/>
        </p:nvSpPr>
        <p:spPr>
          <a:xfrm>
            <a:off x="11018520" y="6499098"/>
            <a:ext cx="651510" cy="222885"/>
          </a:xfrm>
          <a:prstGeom prst="rect">
            <a:avLst/>
          </a:prstGeom>
          <a:noFill/>
        </p:spPr>
        <p:txBody>
          <a:bodyPr wrap="none" lIns="0" rIns="0" tIns="0" bIns="0">
            <a:spAutoFit/>
          </a:bodyPr>
          <a:lstStyle/>
          <a:p>
            <a:pPr algn="r"/>
            <a:r>
              <a:rPr sz="1300" b="1">
                <a:solidFill>
                  <a:srgbClr val="BCD2D0"/>
                </a:solidFill>
                <a:latin typeface="Noto Sans SC"/>
                <a:ea typeface="Noto Sans SC"/>
              </a:rPr>
              <a:t>p11/11</a:t>
            </a:r>
          </a:p>
        </p:txBody>
      </p:sp>
      <p:sp>
        <p:nvSpPr>
          <p:cNvPr id="9" name="TextBox 8"/>
          <p:cNvSpPr txBox="1"/>
          <p:nvPr/>
        </p:nvSpPr>
        <p:spPr>
          <a:xfrm>
            <a:off x="1016000" y="1897380"/>
            <a:ext cx="10350500" cy="1104900"/>
          </a:xfrm>
          <a:prstGeom prst="rect">
            <a:avLst/>
          </a:prstGeom>
          <a:noFill/>
        </p:spPr>
        <p:txBody>
          <a:bodyPr wrap="square" lIns="0" rIns="0" tIns="0" bIns="0">
            <a:spAutoFit/>
          </a:bodyPr>
          <a:lstStyle/>
          <a:p>
            <a:pPr algn="l">
              <a:lnSpc>
                <a:spcPct val="121800"/>
              </a:lnSpc>
            </a:pPr>
            <a:r>
              <a:rPr sz="3000" b="0">
                <a:solidFill>
                  <a:srgbClr val="D8BB78"/>
                </a:solidFill>
                <a:latin typeface="Noto Sans SC"/>
                <a:ea typeface="Noto Sans SC"/>
              </a:rPr>
              <a:t>Filter for legality, then take the largest; report four items separately.</a:t>
            </a:r>
          </a:p>
        </p:txBody>
      </p:sp>
      <p:sp>
        <p:nvSpPr>
          <p:cNvPr id="10" name="TextBox 9"/>
          <p:cNvSpPr txBox="1"/>
          <p:nvPr/>
        </p:nvSpPr>
        <p:spPr>
          <a:xfrm>
            <a:off x="1016000" y="3335274"/>
            <a:ext cx="10280650" cy="699770"/>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Impossible (by the bound), stuck (feasible but unreachable) and not optimal (legal but worse) are three different endings.</a:t>
            </a:r>
          </a:p>
        </p:txBody>
      </p:sp>
      <p:sp>
        <p:nvSpPr>
          <p:cNvPr id="11" name="TextBox 10"/>
          <p:cNvSpPr txBox="1"/>
          <p:nvPr/>
        </p:nvSpPr>
        <p:spPr>
          <a:xfrm>
            <a:off x="1016000" y="4225544"/>
            <a:ext cx="10280650" cy="349885"/>
          </a:xfrm>
          <a:prstGeom prst="rect">
            <a:avLst/>
          </a:prstGeom>
          <a:noFill/>
        </p:spPr>
        <p:txBody>
          <a:bodyPr wrap="square" lIns="0" rIns="0" tIns="0" bIns="0">
            <a:spAutoFit/>
          </a:bodyPr>
          <a:lstStyle/>
          <a:p>
            <a:pPr algn="l">
              <a:lnSpc>
                <a:spcPct val="121800"/>
              </a:lnSpc>
            </a:pPr>
            <a:r>
              <a:rPr sz="1900" b="0">
                <a:solidFill>
                  <a:srgbClr val="F2F3E9"/>
                </a:solidFill>
                <a:latin typeface="Noto Sans SC"/>
                <a:ea typeface="Noto Sans SC"/>
              </a:rPr>
              <a:t>Next module: nodes don't merge; they change "labels".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04 Size-Constrained Agglomerative Clustering</dc:title>
  <dc:subject/>
  <dc:creator>Learning Clustering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