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这一模块在贪心合并上加一条硬约束：每个簇的大小之和不能超过容量。我们要分清三种结局：理论上不可能、可行但贪心卡住、合法但不是最优。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输入除了图和 K，还有每个节点的大小和容量 C。规则是先筛掉超容量的候选，再在合法候选里选亲和度最大的。目标 K 不能凌驾于容量之上。结果的四个报告项要分开写。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同一张图，容量 3 时第二步 AB 加 C 合法，最终得到 ABC 对 DE。容量 2 时这一步被阻止，改选 D–E，之后再也没有合法的合并，停在三个簇，cut 8，没有达到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先算下界：总大小除以容量再向上取整。G01 的 5 个单位、容量 2，至少需要 3 个簇，所以 K 等于 2 本来就不可能。但下界只能证明不可能，不能证明可能。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原作者的 greedy_trap 图：下界允许两个簇。贪心第一步拿走最大的 C–D，之后 A 和 B 都放不进去，停在三个簇。但穷举找到了 AC 对 BD，两个簇的大小都是 3，合法。这就是可行、但贪心卡住。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原作者的 suboptimal 图里，贪心先合并 A–B，再合并 C–D，切断两条 9，cut 18。合法的最优分组是 AC 对 BD，只切断 10 和 1，cut 11。两者都合法，也都达到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单元大小也会改变结局。把 A 的大小改成 2，A–B 合并后已经满了，C 放不进去，于是先合并 D–E，再把 C 放进去，得到 AB 对 CDE，cut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伪代码第一行检查单点是否超容量。第四行在比较之前先筛掉超容量的候选。第五行在没有合法候选时停止，并区分两种原因。第七行分开报告四项，第八行用下界和穷举诊断属于哪种结局。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常见错误：把合法当成完成；为了凑 K 违反容量；把贪心卡住误认为问题无解；以为合法就是最优；以及忽略单元面积的差异。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在芯片设计中，容量对应一块区域能放的面积。下界只能证明不可能。穷举只适合很小的教学图。贪心不回撤，要改进就需要允许交换或回退的方法，这是 Module 07 和 08 的主题。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小结：先筛合法，再选最大，四项结果分开报告。理论上不可能、可行但贪心卡住、合法但非最优，是三种不同的结局，要用不同的证据来区分。下一模块换一种机制：节点不合并，而是改标签。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3880" y="6512052"/>
            <a:ext cx="22654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04 · 容量约束凝聚聚类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7080" y="2310892"/>
            <a:ext cx="303784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0" b="0">
                <a:solidFill>
                  <a:srgbClr val="D8BB78"/>
                </a:solidFill>
                <a:latin typeface="Noto Sans SC"/>
                <a:ea typeface="Noto Sans SC"/>
              </a:rPr>
              <a:t>装得下吗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3984" y="3335782"/>
            <a:ext cx="684403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Size-constrained agglomerative clustering · 合法、目标与三种结局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8348" y="4136644"/>
            <a:ext cx="4375302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F8F"/>
                </a:solidFill>
                <a:latin typeface="Noto Sans SC"/>
                <a:ea typeface="Noto Sans SC"/>
              </a:rPr>
              <a:t>Learning Clustering · 原作者 GateUltra（Issue #3）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问题定义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2654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04 · 容量约束凝聚聚类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p2/11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00:03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输入：图、节点大小 s(v)、容量 C、目标 K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规则：先筛合法（合并后 ≤ C），再选亲和度最大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K 不能凌驾于容量：不做超容量合并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单点已超容量：输入不合法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4710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输出四项分开：count、合法、达到 K、停止原因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2840" y="1824736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报告项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9840" y="1824736"/>
            <a:ext cx="136895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容量 2，K = 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84900" y="2133600"/>
            <a:ext cx="4991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1570" y="2357628"/>
            <a:ext cx="75666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570" y="23576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570" y="2916428"/>
            <a:ext cx="215752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capacityCompliant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570" y="2916428"/>
            <a:ext cx="3657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4100" y="3429000"/>
            <a:ext cx="5130800" cy="533400"/>
          </a:xfrm>
          <a:prstGeom prst="roundRect">
            <a:avLst>
              <a:gd name="adj" fmla="val 952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570" y="3475228"/>
            <a:ext cx="1706727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targetReached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570" y="3475228"/>
            <a:ext cx="3657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570" y="4034028"/>
            <a:ext cx="139606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stopReason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570" y="4034028"/>
            <a:ext cx="1972818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capacity-blocked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413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同一张图，两种容量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2654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04 · 容量约束凝聚聚类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p3/11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00:35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容量 3：AB+C 大小 3 合法，得 ABC | DE，cut 3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容量 2：AB+C 被阻止，改选 D–E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之后 AB+C、C+DE 都是 3，全部被阻止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容量 2 结果：AB | C | DE，cut 8，未达到 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7970" y="1792552"/>
            <a:ext cx="953655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21940" y="1789250"/>
            <a:ext cx="92571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ABC · 3/3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27700" y="2059252"/>
            <a:ext cx="2017183" cy="1813454"/>
          </a:xfrm>
          <a:prstGeom prst="roundRect">
            <a:avLst>
              <a:gd name="adj" fmla="val 20309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41303" y="3480593"/>
            <a:ext cx="845185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55273" y="3477291"/>
            <a:ext cx="81724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FB1E6"/>
                </a:solidFill>
                <a:latin typeface="Noto Sans SC"/>
                <a:ea typeface="Noto Sans SC"/>
              </a:rPr>
              <a:t>DE · 2/3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7991" y="3747293"/>
            <a:ext cx="2191808" cy="1114954"/>
          </a:xfrm>
          <a:prstGeom prst="roundRect">
            <a:avLst>
              <a:gd name="adj" fmla="val 33032"/>
            </a:avLst>
          </a:prstGeom>
          <a:noFill/>
          <a:ln w="19050">
            <a:solidFill>
              <a:srgbClr val="8FB1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 flipV="1">
            <a:off x="6096000" y="2427552"/>
            <a:ext cx="1280583" cy="87312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579620" y="2103769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05020" y="2111897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6000" y="2514864"/>
            <a:ext cx="785812" cy="989542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461948" y="269946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87348" y="270759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6881812" y="2427552"/>
            <a:ext cx="494771" cy="1076854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121376" y="281421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46776" y="2822342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81812" y="3504406"/>
            <a:ext cx="1309688" cy="611187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454799" y="345650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80199" y="3464633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6736291" y="3504406"/>
            <a:ext cx="145521" cy="989541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813526" y="380595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38926" y="381408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736291" y="4115593"/>
            <a:ext cx="1455209" cy="378354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355940" y="423687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81340" y="4245002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2" name="Oval 41"/>
          <p:cNvSpPr/>
          <p:nvPr/>
        </p:nvSpPr>
        <p:spPr>
          <a:xfrm>
            <a:off x="5880100" y="2298964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961170" y="2372370"/>
            <a:ext cx="26965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2645" y="2791216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45" name="Oval 44"/>
          <p:cNvSpPr/>
          <p:nvPr/>
        </p:nvSpPr>
        <p:spPr>
          <a:xfrm>
            <a:off x="7160683" y="2211652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238299" y="2285058"/>
            <a:ext cx="276567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3228" y="2703904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48" name="Oval 47"/>
          <p:cNvSpPr/>
          <p:nvPr/>
        </p:nvSpPr>
        <p:spPr>
          <a:xfrm>
            <a:off x="6665912" y="3288506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746227" y="3361912"/>
            <a:ext cx="27117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8457" y="3780758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51" name="Oval 50"/>
          <p:cNvSpPr/>
          <p:nvPr/>
        </p:nvSpPr>
        <p:spPr>
          <a:xfrm>
            <a:off x="7975600" y="3899693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049653" y="3973099"/>
            <a:ext cx="283692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18145" y="4391945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54" name="Oval 53"/>
          <p:cNvSpPr/>
          <p:nvPr/>
        </p:nvSpPr>
        <p:spPr>
          <a:xfrm>
            <a:off x="6520391" y="4278047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605132" y="4351453"/>
            <a:ext cx="262318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2936" y="4770299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94621" y="5562600"/>
            <a:ext cx="1498257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40341" y="5622798"/>
            <a:ext cx="1406817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ABC | DE · cut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5567" y="1456690"/>
            <a:ext cx="1396365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F3E9"/>
                </a:solidFill>
                <a:latin typeface="Noto Sans SC"/>
                <a:ea typeface="Noto Sans SC"/>
              </a:rPr>
              <a:t>容量 3：达到 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61616" y="1792552"/>
            <a:ext cx="845350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375586" y="1789250"/>
            <a:ext cx="8174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AB · 2/2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75700" y="2059252"/>
            <a:ext cx="2017183" cy="823912"/>
          </a:xfrm>
          <a:prstGeom prst="roundRect">
            <a:avLst>
              <a:gd name="adj" fmla="val 44701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10089303" y="3480593"/>
            <a:ext cx="845185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103273" y="3477291"/>
            <a:ext cx="81724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DE · 2/2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415991" y="3747293"/>
            <a:ext cx="2191808" cy="1114954"/>
          </a:xfrm>
          <a:prstGeom prst="roundRect">
            <a:avLst>
              <a:gd name="adj" fmla="val 33032"/>
            </a:avLst>
          </a:prstGeom>
          <a:noFill/>
          <a:ln w="19050">
            <a:solidFill>
              <a:srgbClr val="D8B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6" name="Connector 65"/>
          <p:cNvCxnSpPr/>
          <p:nvPr/>
        </p:nvCxnSpPr>
        <p:spPr>
          <a:xfrm flipV="1">
            <a:off x="9144000" y="2427552"/>
            <a:ext cx="1280583" cy="87312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9627620" y="2103769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653020" y="2111897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144000" y="2514864"/>
            <a:ext cx="785812" cy="989542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9509948" y="269946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535348" y="270759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72" name="Connector 71"/>
          <p:cNvCxnSpPr/>
          <p:nvPr/>
        </p:nvCxnSpPr>
        <p:spPr>
          <a:xfrm flipH="1">
            <a:off x="9929812" y="2427552"/>
            <a:ext cx="494771" cy="1076854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10169376" y="281421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0194776" y="2822342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929812" y="3504406"/>
            <a:ext cx="1309688" cy="611187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0502799" y="345650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0528199" y="3464633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78" name="Connector 77"/>
          <p:cNvCxnSpPr/>
          <p:nvPr/>
        </p:nvCxnSpPr>
        <p:spPr>
          <a:xfrm flipH="1">
            <a:off x="9784291" y="3504406"/>
            <a:ext cx="145521" cy="989541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9861526" y="380595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886926" y="381408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81" name="Connector 80"/>
          <p:cNvCxnSpPr/>
          <p:nvPr/>
        </p:nvCxnSpPr>
        <p:spPr>
          <a:xfrm flipH="1">
            <a:off x="9784291" y="4115593"/>
            <a:ext cx="1455209" cy="378354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0403940" y="423687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0429340" y="4245002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84" name="Oval 83"/>
          <p:cNvSpPr/>
          <p:nvPr/>
        </p:nvSpPr>
        <p:spPr>
          <a:xfrm>
            <a:off x="8864600" y="2235464"/>
            <a:ext cx="558800" cy="558800"/>
          </a:xfrm>
          <a:prstGeom prst="ellipse">
            <a:avLst/>
          </a:prstGeom>
          <a:noFill/>
          <a:ln w="3175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8928100" y="2298964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009170" y="2372370"/>
            <a:ext cx="26965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70645" y="2791216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88" name="Oval 87"/>
          <p:cNvSpPr/>
          <p:nvPr/>
        </p:nvSpPr>
        <p:spPr>
          <a:xfrm>
            <a:off x="10145183" y="2148152"/>
            <a:ext cx="558800" cy="558800"/>
          </a:xfrm>
          <a:prstGeom prst="ellipse">
            <a:avLst/>
          </a:prstGeom>
          <a:noFill/>
          <a:ln w="3175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10208683" y="2211652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0286299" y="2285058"/>
            <a:ext cx="276567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51228" y="2703904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92" name="Oval 91"/>
          <p:cNvSpPr/>
          <p:nvPr/>
        </p:nvSpPr>
        <p:spPr>
          <a:xfrm>
            <a:off x="9650412" y="3225006"/>
            <a:ext cx="558800" cy="558800"/>
          </a:xfrm>
          <a:prstGeom prst="ellipse">
            <a:avLst/>
          </a:prstGeom>
          <a:noFill/>
          <a:ln w="3175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9713912" y="3288506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9794227" y="3361912"/>
            <a:ext cx="27117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56457" y="3780758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96" name="Oval 95"/>
          <p:cNvSpPr/>
          <p:nvPr/>
        </p:nvSpPr>
        <p:spPr>
          <a:xfrm>
            <a:off x="10960100" y="3836193"/>
            <a:ext cx="558800" cy="558800"/>
          </a:xfrm>
          <a:prstGeom prst="ellipse">
            <a:avLst/>
          </a:prstGeom>
          <a:noFill/>
          <a:ln w="3175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11023600" y="3899693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1097653" y="3973099"/>
            <a:ext cx="283692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66145" y="4391945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100" name="Oval 99"/>
          <p:cNvSpPr/>
          <p:nvPr/>
        </p:nvSpPr>
        <p:spPr>
          <a:xfrm>
            <a:off x="9504891" y="4214547"/>
            <a:ext cx="558800" cy="558800"/>
          </a:xfrm>
          <a:prstGeom prst="ellipse">
            <a:avLst/>
          </a:prstGeom>
          <a:noFill/>
          <a:ln w="3175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9568391" y="4278047"/>
            <a:ext cx="431800" cy="431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9653132" y="4351453"/>
            <a:ext cx="262318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10936" y="4770299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380708" y="5562600"/>
            <a:ext cx="1622082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9426428" y="5622798"/>
            <a:ext cx="1530642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AB | C | DE · cut 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98317" y="1456690"/>
            <a:ext cx="1586865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F3E9"/>
                </a:solidFill>
                <a:latin typeface="Noto Sans SC"/>
                <a:ea typeface="Noto Sans SC"/>
              </a:rPr>
              <a:t>容量 2：未达到 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0581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不可能：下界证明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2654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04 · 容量约束凝聚聚类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p4/11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00:56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下界：至少需要“总大小 ÷ C 向上取整”个簇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G01：5 ÷ 2 向上取整 = 3 &gt; K = 2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任何算法都做不到——贪心停下没有犯错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下界只能证明“不可能”，不能证明“可能”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9920" y="1431290"/>
            <a:ext cx="6299200" cy="2519680"/>
          </a:xfrm>
          <a:prstGeom prst="roundRect">
            <a:avLst>
              <a:gd name="adj" fmla="val 2187"/>
            </a:avLst>
          </a:prstGeom>
          <a:solidFill>
            <a:srgbClr val="0D272D">
              <a:alpha val="96000"/>
            </a:srgbClr>
          </a:solidFill>
          <a:ln w="7874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806770" y="1499951"/>
            <a:ext cx="1168501" cy="148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8" b="1">
                <a:solidFill>
                  <a:srgbClr val="D8BB78"/>
                </a:solidFill>
                <a:latin typeface="Noto Sans SC"/>
                <a:ea typeface="Noto Sans SC"/>
              </a:rPr>
              <a:t>下界：至少需要几个簇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3620" y="2021839"/>
            <a:ext cx="393700" cy="393700"/>
          </a:xfrm>
          <a:prstGeom prst="roundRect">
            <a:avLst>
              <a:gd name="adj" fmla="val 1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07041" y="2121209"/>
            <a:ext cx="186857" cy="201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78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15430" y="2021839"/>
            <a:ext cx="393700" cy="393700"/>
          </a:xfrm>
          <a:prstGeom prst="roundRect">
            <a:avLst>
              <a:gd name="adj" fmla="val 1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16457" y="2121209"/>
            <a:ext cx="191645" cy="201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78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27240" y="2021839"/>
            <a:ext cx="393700" cy="393700"/>
          </a:xfrm>
          <a:prstGeom prst="roundRect">
            <a:avLst>
              <a:gd name="adj" fmla="val 1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30137" y="2121209"/>
            <a:ext cx="187905" cy="201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78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9050" y="2021839"/>
            <a:ext cx="393700" cy="393700"/>
          </a:xfrm>
          <a:prstGeom prst="roundRect">
            <a:avLst>
              <a:gd name="adj" fmla="val 1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37608" y="2121209"/>
            <a:ext cx="196582" cy="201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78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0859" y="2021839"/>
            <a:ext cx="393700" cy="393700"/>
          </a:xfrm>
          <a:prstGeom prst="roundRect">
            <a:avLst>
              <a:gd name="adj" fmla="val 1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56824" y="2121209"/>
            <a:ext cx="181771" cy="201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78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03620" y="2809240"/>
            <a:ext cx="1299210" cy="629920"/>
          </a:xfrm>
          <a:prstGeom prst="roundRect">
            <a:avLst>
              <a:gd name="adj" fmla="val 10000"/>
            </a:avLst>
          </a:prstGeom>
          <a:noFill/>
          <a:ln w="15748">
            <a:solidFill>
              <a:srgbClr val="D8B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38052" y="3492230"/>
            <a:ext cx="630345" cy="13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6" b="0">
                <a:solidFill>
                  <a:srgbClr val="D8BB78"/>
                </a:solidFill>
                <a:latin typeface="Noto Sans SC"/>
                <a:ea typeface="Noto Sans SC"/>
              </a:rPr>
              <a:t>簇 1：最多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99680" y="2809240"/>
            <a:ext cx="1299210" cy="629920"/>
          </a:xfrm>
          <a:prstGeom prst="roundRect">
            <a:avLst>
              <a:gd name="adj" fmla="val 10000"/>
            </a:avLst>
          </a:prstGeom>
          <a:noFill/>
          <a:ln w="15748">
            <a:solidFill>
              <a:srgbClr val="D8B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934112" y="3492230"/>
            <a:ext cx="630345" cy="13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6" b="0">
                <a:solidFill>
                  <a:srgbClr val="D8BB78"/>
                </a:solidFill>
                <a:latin typeface="Noto Sans SC"/>
                <a:ea typeface="Noto Sans SC"/>
              </a:rPr>
              <a:t>簇 2：最多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5740" y="2809240"/>
            <a:ext cx="1299210" cy="629920"/>
          </a:xfrm>
          <a:prstGeom prst="roundRect">
            <a:avLst>
              <a:gd name="adj" fmla="val 10000"/>
            </a:avLst>
          </a:prstGeom>
          <a:noFill/>
          <a:ln w="15748">
            <a:solidFill>
              <a:srgbClr val="D8B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430172" y="3492230"/>
            <a:ext cx="630345" cy="13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6" b="0">
                <a:solidFill>
                  <a:srgbClr val="D8BB78"/>
                </a:solidFill>
                <a:latin typeface="Noto Sans SC"/>
                <a:ea typeface="Noto Sans SC"/>
              </a:rPr>
              <a:t>簇 3：最多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2045" y="2927350"/>
            <a:ext cx="511809" cy="393700"/>
          </a:xfrm>
          <a:prstGeom prst="roundRect">
            <a:avLst>
              <a:gd name="adj" fmla="val 1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69438" y="3034751"/>
            <a:ext cx="177023" cy="1913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16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92595" y="2927350"/>
            <a:ext cx="511809" cy="393700"/>
          </a:xfrm>
          <a:prstGeom prst="roundRect">
            <a:avLst>
              <a:gd name="adj" fmla="val 1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957720" y="3034751"/>
            <a:ext cx="181558" cy="1913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16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98105" y="2927350"/>
            <a:ext cx="511809" cy="393700"/>
          </a:xfrm>
          <a:prstGeom prst="roundRect">
            <a:avLst>
              <a:gd name="adj" fmla="val 1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865002" y="3034751"/>
            <a:ext cx="178015" cy="1913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16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8655" y="2927350"/>
            <a:ext cx="511809" cy="393700"/>
          </a:xfrm>
          <a:prstGeom prst="roundRect">
            <a:avLst>
              <a:gd name="adj" fmla="val 1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451442" y="3034751"/>
            <a:ext cx="186235" cy="1913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16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94165" y="2927350"/>
            <a:ext cx="511809" cy="393700"/>
          </a:xfrm>
          <a:prstGeom prst="roundRect">
            <a:avLst>
              <a:gd name="adj" fmla="val 10000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363967" y="3034751"/>
            <a:ext cx="172204" cy="1913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16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27690" y="2081367"/>
            <a:ext cx="1788059" cy="2338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64" b="1">
                <a:solidFill>
                  <a:srgbClr val="D8BB78"/>
                </a:solidFill>
                <a:latin typeface="Noto Sans SC"/>
                <a:ea typeface="Noto Sans SC"/>
              </a:rPr>
              <a:t>5 ÷ 2 → 向上取整 =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91800" y="2483886"/>
            <a:ext cx="1401572" cy="585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200"/>
              </a:lnSpc>
            </a:pPr>
            <a:r>
              <a:rPr sz="992" b="0">
                <a:solidFill>
                  <a:srgbClr val="F2F3E9"/>
                </a:solidFill>
                <a:latin typeface="Noto Sans SC"/>
                <a:ea typeface="Noto Sans SC"/>
              </a:rPr>
              <a:t>K = 2 不存在合法解。贪心停在 3 簇，不是它的错。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0581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可行，但贪心卡住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2654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04 · 容量约束凝聚聚类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p5/11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01:15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greedy_trap（原作者）：A、B 大小 2；C、D 大小 1；容量 3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下界 6 ÷ 3 = 2，没有排除 2 簇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贪心先合并 C–D（10）；CD+A、CD+B 都是 4 &gt; 3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3522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停在 3 簇；穷举却有 AC | BD（3、3），cut 10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8928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7840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停下 ≠ 无解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3522" y="2487126"/>
            <a:ext cx="851954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87492" y="2483824"/>
            <a:ext cx="8240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CD · 2/3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244" y="2753826"/>
            <a:ext cx="2568510" cy="762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D8B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7796244" y="3134826"/>
            <a:ext cx="1806511" cy="0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553196" y="276703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518652" y="2775162"/>
            <a:ext cx="3616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6000" y="2072173"/>
            <a:ext cx="1700244" cy="1062653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880590" y="2258873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905990" y="2267001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9602755" y="2072173"/>
            <a:ext cx="1700245" cy="1062653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387345" y="251734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412745" y="2525470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2" name="Oval 31"/>
          <p:cNvSpPr/>
          <p:nvPr/>
        </p:nvSpPr>
        <p:spPr>
          <a:xfrm>
            <a:off x="5803900" y="1780073"/>
            <a:ext cx="584200" cy="584200"/>
          </a:xfrm>
          <a:prstGeom prst="ellipse">
            <a:avLst/>
          </a:prstGeom>
          <a:noFill/>
          <a:ln w="3175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867400" y="1843573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961170" y="1929679"/>
            <a:ext cx="26965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2645" y="2361225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s=2</a:t>
            </a:r>
          </a:p>
        </p:txBody>
      </p:sp>
      <p:sp>
        <p:nvSpPr>
          <p:cNvPr id="36" name="Oval 35"/>
          <p:cNvSpPr/>
          <p:nvPr/>
        </p:nvSpPr>
        <p:spPr>
          <a:xfrm>
            <a:off x="7567644" y="2906226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660659" y="2992332"/>
            <a:ext cx="27117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2889" y="3423878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39" name="Oval 38"/>
          <p:cNvSpPr/>
          <p:nvPr/>
        </p:nvSpPr>
        <p:spPr>
          <a:xfrm>
            <a:off x="9374155" y="2906226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460908" y="2992332"/>
            <a:ext cx="283692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9400" y="3423878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42" name="Oval 41"/>
          <p:cNvSpPr/>
          <p:nvPr/>
        </p:nvSpPr>
        <p:spPr>
          <a:xfrm>
            <a:off x="11010900" y="1780073"/>
            <a:ext cx="584200" cy="584200"/>
          </a:xfrm>
          <a:prstGeom prst="ellipse">
            <a:avLst/>
          </a:prstGeom>
          <a:noFill/>
          <a:ln w="3175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1074400" y="1843573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1164716" y="1929679"/>
            <a:ext cx="276567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29645" y="2361225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7346" y="4165600"/>
            <a:ext cx="1844306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823066" y="4225798"/>
            <a:ext cx="1752866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贪心：A | B | CD，3 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09719" y="4800600"/>
            <a:ext cx="237956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555439" y="4860798"/>
            <a:ext cx="228812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穷举：AC | BD，2 簇，cut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0581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合法，但不是最优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2654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04 · 容量约束凝聚聚类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p6/11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01:51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suboptimal（原作者）：A–B 10、A–C 9、B–D 9、C–D 1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贪心：AB | CD，切断两条 9，cut 18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穷举：AC | BD，切断 10 与 1，cut 11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两者都合法、都达到 K，只是质量不同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2824" y="1733550"/>
            <a:ext cx="845350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66794" y="1730248"/>
            <a:ext cx="8174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AB · 2/2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000250"/>
            <a:ext cx="2921000" cy="762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749522" y="3384550"/>
            <a:ext cx="851954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3492" y="3381248"/>
            <a:ext cx="8240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FB1E6"/>
                </a:solidFill>
                <a:latin typeface="Noto Sans SC"/>
                <a:ea typeface="Noto Sans SC"/>
              </a:rPr>
              <a:t>CD · 2/2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3651250"/>
            <a:ext cx="2921000" cy="762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FB1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6096000" y="2381250"/>
            <a:ext cx="2159000" cy="0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029196" y="201345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94652" y="2021586"/>
            <a:ext cx="3616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6000" y="2381250"/>
            <a:ext cx="0" cy="165100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102096" y="299135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27496" y="299948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55000" y="2381250"/>
            <a:ext cx="0" cy="165100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261096" y="299135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86496" y="299948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9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6000" y="4032250"/>
            <a:ext cx="2159000" cy="0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029196" y="366445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367258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36" name="Oval 35"/>
          <p:cNvSpPr/>
          <p:nvPr/>
        </p:nvSpPr>
        <p:spPr>
          <a:xfrm>
            <a:off x="5867400" y="215265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61170" y="2238756"/>
            <a:ext cx="26965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2645" y="2670302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39" name="Oval 38"/>
          <p:cNvSpPr/>
          <p:nvPr/>
        </p:nvSpPr>
        <p:spPr>
          <a:xfrm>
            <a:off x="8026400" y="215265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16716" y="2238756"/>
            <a:ext cx="276567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1645" y="2670302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42" name="Oval 41"/>
          <p:cNvSpPr/>
          <p:nvPr/>
        </p:nvSpPr>
        <p:spPr>
          <a:xfrm>
            <a:off x="5867400" y="380365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960414" y="3889756"/>
            <a:ext cx="27117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2645" y="4321302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45" name="Oval 44"/>
          <p:cNvSpPr/>
          <p:nvPr/>
        </p:nvSpPr>
        <p:spPr>
          <a:xfrm>
            <a:off x="8026400" y="380365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13153" y="3889756"/>
            <a:ext cx="283692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1645" y="4321302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3888" y="1733550"/>
            <a:ext cx="841222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927858" y="1730248"/>
            <a:ext cx="813282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AC · 2/2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53500" y="2000250"/>
            <a:ext cx="762000" cy="2413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11065459" y="1733550"/>
            <a:ext cx="856081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1079429" y="1730248"/>
            <a:ext cx="828141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FB1E6"/>
                </a:solidFill>
                <a:latin typeface="Noto Sans SC"/>
                <a:ea typeface="Noto Sans SC"/>
              </a:rPr>
              <a:t>BD · 2/2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112500" y="2000250"/>
            <a:ext cx="762000" cy="2413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FB1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Connector 53"/>
          <p:cNvCxnSpPr/>
          <p:nvPr/>
        </p:nvCxnSpPr>
        <p:spPr>
          <a:xfrm>
            <a:off x="9334500" y="2381250"/>
            <a:ext cx="2159000" cy="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0267696" y="201345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0233152" y="2021586"/>
            <a:ext cx="3616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334500" y="2381250"/>
            <a:ext cx="0" cy="1651000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9340596" y="299135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365996" y="299948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9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1493500" y="2381250"/>
            <a:ext cx="0" cy="1651000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1499596" y="299135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1524996" y="299948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9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334500" y="4032250"/>
            <a:ext cx="2159000" cy="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0267696" y="366445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0293096" y="367258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6" name="Oval 65"/>
          <p:cNvSpPr/>
          <p:nvPr/>
        </p:nvSpPr>
        <p:spPr>
          <a:xfrm>
            <a:off x="9105900" y="215265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199670" y="2238756"/>
            <a:ext cx="26965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61145" y="2670302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69" name="Oval 68"/>
          <p:cNvSpPr/>
          <p:nvPr/>
        </p:nvSpPr>
        <p:spPr>
          <a:xfrm>
            <a:off x="11264900" y="215265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1355216" y="2238756"/>
            <a:ext cx="276567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20145" y="2670302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72" name="Oval 71"/>
          <p:cNvSpPr/>
          <p:nvPr/>
        </p:nvSpPr>
        <p:spPr>
          <a:xfrm>
            <a:off x="9105900" y="380365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198914" y="3889756"/>
            <a:ext cx="27117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61145" y="4321302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75" name="Oval 74"/>
          <p:cNvSpPr/>
          <p:nvPr/>
        </p:nvSpPr>
        <p:spPr>
          <a:xfrm>
            <a:off x="11264900" y="380365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1351653" y="3889756"/>
            <a:ext cx="283692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20145" y="4321302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27850" y="1520190"/>
            <a:ext cx="4953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F3E9"/>
                </a:solidFill>
                <a:latin typeface="Noto Sans SC"/>
                <a:ea typeface="Noto Sans SC"/>
              </a:rPr>
              <a:t>贪心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75850" y="1520190"/>
            <a:ext cx="8763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F3E9"/>
                </a:solidFill>
                <a:latin typeface="Noto Sans SC"/>
                <a:ea typeface="Noto Sans SC"/>
              </a:rPr>
              <a:t>穷举最优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814261" y="5168900"/>
            <a:ext cx="722477" cy="3048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856171" y="5228844"/>
            <a:ext cx="638657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B7B72"/>
                </a:solidFill>
                <a:latin typeface="Noto Sans SC"/>
                <a:ea typeface="Noto Sans SC"/>
              </a:rPr>
              <a:t>cut 18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052761" y="5168900"/>
            <a:ext cx="722477" cy="3048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0094671" y="5228844"/>
            <a:ext cx="638657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7CDBB"/>
                </a:solidFill>
                <a:latin typeface="Noto Sans SC"/>
                <a:ea typeface="Noto Sans SC"/>
              </a:rPr>
              <a:t>cut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413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大小不同，结局不同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2654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04 · 容量约束凝聚聚类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p7/11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02:15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G01 中 A 的大小改为 2，容量 3，K = 2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A–B 合并后大小 3，已满；AB+C 被阻止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改为 D–E，再把 C 放进 DE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结果 AB | CDE，cut 5（原为 ABC | DE，cut 3）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23768" y="1003300"/>
            <a:ext cx="845350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37738" y="999997"/>
            <a:ext cx="8174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AB · 3/3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1640" y="1270000"/>
            <a:ext cx="2729605" cy="896154"/>
          </a:xfrm>
          <a:prstGeom prst="roundRect">
            <a:avLst>
              <a:gd name="adj" fmla="val 42514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289534" y="2657877"/>
            <a:ext cx="953490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03504" y="2654575"/>
            <a:ext cx="92555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FB1E6"/>
                </a:solidFill>
                <a:latin typeface="Noto Sans SC"/>
                <a:ea typeface="Noto Sans SC"/>
              </a:rPr>
              <a:t>CDE · 3/3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65443" y="2924577"/>
            <a:ext cx="2997915" cy="2282422"/>
          </a:xfrm>
          <a:prstGeom prst="roundRect">
            <a:avLst>
              <a:gd name="adj" fmla="val 16692"/>
            </a:avLst>
          </a:prstGeom>
          <a:noFill/>
          <a:ln w="19050">
            <a:solidFill>
              <a:srgbClr val="8FB1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 flipV="1">
            <a:off x="6962640" y="1651000"/>
            <a:ext cx="1967606" cy="134154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789772" y="135063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15172" y="135876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62640" y="1785154"/>
            <a:ext cx="1207395" cy="1520423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539380" y="2235199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64780" y="2243327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8170035" y="1651000"/>
            <a:ext cx="760211" cy="1654577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542319" y="2326523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567719" y="2334651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70035" y="3305577"/>
            <a:ext cx="2012324" cy="939084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094340" y="342162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119740" y="3429753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46443" y="3305577"/>
            <a:ext cx="223592" cy="1520423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062713" y="3872570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088113" y="3880698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7946443" y="4244661"/>
            <a:ext cx="2235916" cy="581339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956446" y="446743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981846" y="4475563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2" name="Oval 41"/>
          <p:cNvSpPr/>
          <p:nvPr/>
        </p:nvSpPr>
        <p:spPr>
          <a:xfrm>
            <a:off x="6734040" y="1556554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827811" y="1642660"/>
            <a:ext cx="26965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9285" y="2074206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s=2</a:t>
            </a:r>
          </a:p>
        </p:txBody>
      </p:sp>
      <p:sp>
        <p:nvSpPr>
          <p:cNvPr id="45" name="Oval 44"/>
          <p:cNvSpPr/>
          <p:nvPr/>
        </p:nvSpPr>
        <p:spPr>
          <a:xfrm>
            <a:off x="8701646" y="142240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791962" y="1508506"/>
            <a:ext cx="276567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6891" y="1940052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48" name="Oval 47"/>
          <p:cNvSpPr/>
          <p:nvPr/>
        </p:nvSpPr>
        <p:spPr>
          <a:xfrm>
            <a:off x="7941435" y="3076977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034450" y="3163083"/>
            <a:ext cx="27117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96680" y="3594629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51" name="Oval 50"/>
          <p:cNvSpPr/>
          <p:nvPr/>
        </p:nvSpPr>
        <p:spPr>
          <a:xfrm>
            <a:off x="9953759" y="4016061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040512" y="4102167"/>
            <a:ext cx="283692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09004" y="4533713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54" name="Oval 53"/>
          <p:cNvSpPr/>
          <p:nvPr/>
        </p:nvSpPr>
        <p:spPr>
          <a:xfrm>
            <a:off x="7717843" y="459740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815284" y="4683506"/>
            <a:ext cx="262318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3088" y="5115052"/>
            <a:ext cx="34671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s=1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13433" y="5613400"/>
            <a:ext cx="1518132" cy="3048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855343" y="5673344"/>
            <a:ext cx="1434312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8BB78"/>
                </a:solidFill>
                <a:latin typeface="Noto Sans SC"/>
                <a:ea typeface="Noto Sans SC"/>
              </a:rPr>
              <a:t>AB | CDE，cut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480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伪代码：合并、报告、诊断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2654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04 · 容量约束凝聚聚类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p8/11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02:36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1 行：单点超容量即输入不合法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4 行：先筛合法，再比较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5 行：区分 capacity-blocked 与 no-positive-affinity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7 行：四项分开报告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4710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8 行：下界 + 小图穷举诊断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53100" y="1574800"/>
            <a:ext cx="5715000" cy="3530600"/>
          </a:xfrm>
          <a:prstGeom prst="roundRect">
            <a:avLst>
              <a:gd name="adj" fmla="val 2158"/>
            </a:avLst>
          </a:prstGeom>
          <a:solidFill>
            <a:srgbClr val="0A1C1F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98832" y="17689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9027" y="1730120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若某个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3377" y="1730120"/>
            <a:ext cx="708088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s(v) &gt;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8596" y="1730120"/>
            <a:ext cx="14744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：报告输入不合法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8832" y="21753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9027" y="2136521"/>
            <a:ext cx="573671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while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9829" y="2136521"/>
            <a:ext cx="445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簇数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2729" y="2136521"/>
            <a:ext cx="43325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&gt; K: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8832" y="25817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9027" y="2542921"/>
            <a:ext cx="769981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  cands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6139" y="25429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7589" y="2542921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5994" y="2542921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亲和度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0344" y="2542921"/>
            <a:ext cx="408393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&gt; 0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5868" y="2542921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的簇对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53100" y="2914650"/>
            <a:ext cx="5715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753100" y="291465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898832" y="29881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9027" y="2949321"/>
            <a:ext cx="680485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   legal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642" y="29493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8092" y="2949321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6497" y="2949321"/>
            <a:ext cx="96011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合并后大小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3747" y="2949321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72152" y="29493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3602" y="2949321"/>
            <a:ext cx="28906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C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796" y="2949321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的候选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53100" y="3321050"/>
            <a:ext cx="5715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753100" y="332105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898832" y="33945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89027" y="3355721"/>
            <a:ext cx="82175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   if legal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7917" y="3355721"/>
            <a:ext cx="445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为空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50817" y="3355721"/>
            <a:ext cx="188937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: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6885" y="3355721"/>
            <a:ext cx="14744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停止（说明原因）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8832" y="38009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89027" y="3762121"/>
            <a:ext cx="25648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 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42646" y="3762121"/>
            <a:ext cx="445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合并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85546" y="3762121"/>
            <a:ext cx="5652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legal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47947" y="3762121"/>
            <a:ext cx="16459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中选择键最小的一对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98832" y="42073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89027" y="4168521"/>
            <a:ext cx="19888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报告：簇数、合法、达到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74977" y="4168521"/>
            <a:ext cx="252031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4139" y="4168521"/>
            <a:ext cx="96011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、停止原因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98832" y="46137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89027" y="4574921"/>
            <a:ext cx="18173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诊断：下界与小图穷举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常见错误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2654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04 · 容量约束凝聚聚类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p9/11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把“合法”说成“完成”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为了达到 K 违反容量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把“贪心卡住”当成“不可能”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以为合法结果就是最优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把节点个数当面积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91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应用与局限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2654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04 · 容量约束凝聚聚类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p10/11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02:54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容量对应芯片上一块区域能放的面积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下界只能证不可能；可能性要靠找到解（与装箱同难）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穷举只适合 ≤ 10 个节点的教学图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贪心不回撤：改进需要允许交换或回退的方法（Module 07、08）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924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2654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04 · 容量约束凝聚聚类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p11/11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先筛合法，再选最大；四项分开报告。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2782824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不可能（下界）、卡住（可行但走不到）、非最优（合法但更差），是三种不同的结局。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23209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下一模块：节点不合并，而是改“标签”。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04 容量约束凝聚聚类</dc:title>
  <dc:subject/>
  <dc:creator>Learning Clustering（统一课程）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