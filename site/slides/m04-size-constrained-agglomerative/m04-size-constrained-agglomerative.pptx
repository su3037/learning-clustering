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这一模块在贪心合并上加一条硬约束：每个簇的大小之和不能超过容量。我们要分清三种结局：理论上不可能、可行但贪心卡住、合法但不是最优。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输入除了图和 K，还有每个节点的大小和容量 C。规则是先筛掉超容量的候选，再在合法候选里选亲和度最大的。目标 K 不能凌驾于容量之上。结果的四个报告项要分开写。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同一张图，容量 3 时第二步 AB 加 C 合法，最终得到 ABC 对 DE。容量 2 时这一步被阻止，改选 D–E，之后再也没有合法的合并，停在三个簇，cut 8，没有达到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先算下界：总大小除以容量再向上取整。G01 的 5 个单位、容量 2，至少需要 3 个簇，所以 K 等于 2 本来就不可能。但下界只能证明不可能，不能证明可能。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原作者的 greedy_trap 图：下界允许两个簇。贪心第一步拿走最大的 C–D，之后 A 和 B 都放不进去，停在三个簇。但穷举找到了 AC 对 BD，两个簇的大小都是 3，合法。这就是可行、但贪心卡住。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原作者的 suboptimal 图里，贪心先合并 A–B，再合并 C–D，切断两条 9，cut 18。合法的最优分组是 AC 对 BD，只切断 10 和 1，cut 11。两者都合法，也都达到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单元大小也会改变结局。把 A 的大小改成 2，A–B 合并后已经满了，C 放不进去，于是先合并 D–E，再把 C 放进去，得到 AB 对 CDE，cut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伪代码第一行检查单点是否超容量。第四行在比较之前先筛掉超容量的候选。第五行在没有合法候选时停止，并区分两种原因。第七行分开报告四项，第八行用下界和穷举诊断属于哪种结局。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常见错误：把合法当成完成；为了凑 K 违反容量；把贪心卡住误认为问题无解；以为合法就是最优；以及忽略单元面积的差异。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在芯片设计中，容量对应一块区域能放的面积。下界只能证明不可能。穷举只适合很小的教学图。贪心不回撤，要改进就需要允许交换或回退的方法，这是 Module 07 和 08 的主题。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小结：先筛合法，再选最大，四项结果分开报告。理论上不可能、可行但贪心卡住、合法但非最优，是三种不同的结局，要用不同的证据来区分。下一模块换一种机制：节点不合并，而是改标签。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7080" y="2310892"/>
            <a:ext cx="30378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装得下吗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8904" y="3335782"/>
            <a:ext cx="68541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Size-constrained agglomerative clustering · 合法、目标与三种结局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6360" y="4136644"/>
            <a:ext cx="4399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GateUltra（Issue #3）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输入：图、节点大小 s(v)、容量 C、目标 K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规则：先筛合法（合并后 ≤ C），再选亲和度最大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 不能凌驾于容量：不做超容量合并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单点已超容量：输入不合法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4710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输出四项分开：count、合法、达到 K、停止原因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2840" y="1824736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报告项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9840" y="1824736"/>
            <a:ext cx="1366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容量 2，K = 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84900" y="2133600"/>
            <a:ext cx="4991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1570" y="2357628"/>
            <a:ext cx="75946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570" y="23576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1570" y="2916428"/>
            <a:ext cx="215011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capacityCompliant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8570" y="2916428"/>
            <a:ext cx="3657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34100" y="3429000"/>
            <a:ext cx="5130800" cy="533400"/>
          </a:xfrm>
          <a:prstGeom prst="roundRect">
            <a:avLst>
              <a:gd name="adj" fmla="val 9523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11570" y="3475228"/>
            <a:ext cx="170561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targetReached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78570" y="3475228"/>
            <a:ext cx="3657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1570" y="4034028"/>
            <a:ext cx="140081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stopReason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8570" y="4034028"/>
            <a:ext cx="195961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capacity-blocked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同一张图，两种容量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容量 3：AB+C 大小 3 合法，得 ABC | DE，cut 3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容量 2：AB+C 被阻止，改选 D–E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之后 AB+C、C+DE 都是 3，全部被阻止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容量 2 结果：AB | C | DE，cut 8，未达到 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8548" y="1792552"/>
            <a:ext cx="9525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22518" y="1789250"/>
            <a:ext cx="9245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ABC · 3/3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7700" y="2059252"/>
            <a:ext cx="2017183" cy="1813454"/>
          </a:xfrm>
          <a:prstGeom prst="roundRect">
            <a:avLst>
              <a:gd name="adj" fmla="val 20309"/>
            </a:avLst>
          </a:prstGeom>
          <a:noFill/>
          <a:ln w="1905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041620" y="4925747"/>
            <a:ext cx="84455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55590" y="4922445"/>
            <a:ext cx="8166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FB1E6"/>
                </a:solidFill>
                <a:latin typeface="Noto Sans SC"/>
                <a:ea typeface="Noto Sans SC"/>
              </a:rPr>
              <a:t>DE · 2/3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67991" y="3747293"/>
            <a:ext cx="2191808" cy="1114954"/>
          </a:xfrm>
          <a:prstGeom prst="roundRect">
            <a:avLst>
              <a:gd name="adj" fmla="val 33032"/>
            </a:avLst>
          </a:prstGeom>
          <a:noFill/>
          <a:ln w="19050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 flipV="1">
            <a:off x="6096000" y="2427552"/>
            <a:ext cx="1280583" cy="87312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579620" y="210376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04639" y="2111897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2514864"/>
            <a:ext cx="785812" cy="989542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461948" y="26994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86967" y="27075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881812" y="2427552"/>
            <a:ext cx="494771" cy="1076854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121376" y="281421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46395" y="2822342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81812" y="3504406"/>
            <a:ext cx="1309688" cy="611187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454799" y="345650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79818" y="346463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736291" y="3504406"/>
            <a:ext cx="145521" cy="989541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813526" y="380595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38545" y="381408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6736291" y="4115593"/>
            <a:ext cx="1455209" cy="378354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7355940" y="423687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80959" y="4245002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5892800" y="2311664"/>
            <a:ext cx="406400" cy="4064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61380" y="2372370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7173383" y="2224352"/>
            <a:ext cx="406400" cy="4064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238788" y="2285058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6678612" y="3301206"/>
            <a:ext cx="406400" cy="4064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747192" y="3361912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7" name="Oval 46"/>
          <p:cNvSpPr/>
          <p:nvPr/>
        </p:nvSpPr>
        <p:spPr>
          <a:xfrm>
            <a:off x="7988300" y="3912393"/>
            <a:ext cx="406400" cy="4064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050530" y="3973099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9" name="Oval 48"/>
          <p:cNvSpPr/>
          <p:nvPr/>
        </p:nvSpPr>
        <p:spPr>
          <a:xfrm>
            <a:off x="6533091" y="4290747"/>
            <a:ext cx="406400" cy="4064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604846" y="4351453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2075" y="1456690"/>
            <a:ext cx="140335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2F3E9"/>
                </a:solidFill>
                <a:latin typeface="Noto Sans SC"/>
                <a:ea typeface="Noto Sans SC"/>
              </a:rPr>
              <a:t>容量 3：达到 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88100" y="5435600"/>
            <a:ext cx="15113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33820" y="5495798"/>
            <a:ext cx="14198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ABC | DE · cut 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362016" y="1792552"/>
            <a:ext cx="84455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375986" y="1789250"/>
            <a:ext cx="8166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AB · 2/2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775700" y="2059252"/>
            <a:ext cx="2017183" cy="823912"/>
          </a:xfrm>
          <a:prstGeom prst="roundRect">
            <a:avLst>
              <a:gd name="adj" fmla="val 44701"/>
            </a:avLst>
          </a:prstGeom>
          <a:noFill/>
          <a:ln w="1905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10089620" y="4925747"/>
            <a:ext cx="84455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103590" y="4922445"/>
            <a:ext cx="8166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FB1E6"/>
                </a:solidFill>
                <a:latin typeface="Noto Sans SC"/>
                <a:ea typeface="Noto Sans SC"/>
              </a:rPr>
              <a:t>DE · 2/2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415991" y="3747293"/>
            <a:ext cx="2191808" cy="1114954"/>
          </a:xfrm>
          <a:prstGeom prst="roundRect">
            <a:avLst>
              <a:gd name="adj" fmla="val 33032"/>
            </a:avLst>
          </a:prstGeom>
          <a:noFill/>
          <a:ln w="19050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0" name="Connector 59"/>
          <p:cNvCxnSpPr/>
          <p:nvPr/>
        </p:nvCxnSpPr>
        <p:spPr>
          <a:xfrm flipV="1">
            <a:off x="9144000" y="2427552"/>
            <a:ext cx="1280583" cy="87312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9627620" y="210376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652639" y="2111897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144000" y="2514864"/>
            <a:ext cx="785812" cy="989542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9509948" y="26994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534967" y="27075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9929812" y="2427552"/>
            <a:ext cx="494771" cy="1076854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10169376" y="281421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94395" y="2822342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929812" y="3504406"/>
            <a:ext cx="1309688" cy="611187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502799" y="345650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527818" y="346463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72" name="Connector 71"/>
          <p:cNvCxnSpPr/>
          <p:nvPr/>
        </p:nvCxnSpPr>
        <p:spPr>
          <a:xfrm flipH="1">
            <a:off x="9784291" y="3504406"/>
            <a:ext cx="145521" cy="989541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861526" y="380595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886545" y="381408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9784291" y="4115593"/>
            <a:ext cx="1455209" cy="378354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403940" y="423687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10428959" y="4245002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78" name="Oval 77"/>
          <p:cNvSpPr/>
          <p:nvPr/>
        </p:nvSpPr>
        <p:spPr>
          <a:xfrm>
            <a:off x="8877300" y="2248164"/>
            <a:ext cx="533400" cy="5334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8940800" y="2311664"/>
            <a:ext cx="406400" cy="4064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9009380" y="2372370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81" name="Oval 80"/>
          <p:cNvSpPr/>
          <p:nvPr/>
        </p:nvSpPr>
        <p:spPr>
          <a:xfrm>
            <a:off x="10157883" y="2160852"/>
            <a:ext cx="533400" cy="5334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221383" y="2224352"/>
            <a:ext cx="406400" cy="4064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286788" y="2285058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84" name="Oval 83"/>
          <p:cNvSpPr/>
          <p:nvPr/>
        </p:nvSpPr>
        <p:spPr>
          <a:xfrm>
            <a:off x="9663112" y="3237706"/>
            <a:ext cx="533400" cy="5334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9726612" y="3301206"/>
            <a:ext cx="406400" cy="4064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9795192" y="3361912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87" name="Oval 86"/>
          <p:cNvSpPr/>
          <p:nvPr/>
        </p:nvSpPr>
        <p:spPr>
          <a:xfrm>
            <a:off x="10972800" y="3848893"/>
            <a:ext cx="533400" cy="5334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1036300" y="3912393"/>
            <a:ext cx="406400" cy="4064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1098530" y="3973099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90" name="Oval 89"/>
          <p:cNvSpPr/>
          <p:nvPr/>
        </p:nvSpPr>
        <p:spPr>
          <a:xfrm>
            <a:off x="9517591" y="4227247"/>
            <a:ext cx="533400" cy="5334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9581091" y="4290747"/>
            <a:ext cx="406400" cy="4064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652846" y="4351453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94825" y="1456690"/>
            <a:ext cx="159385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2F3E9"/>
                </a:solidFill>
                <a:latin typeface="Noto Sans SC"/>
                <a:ea typeface="Noto Sans SC"/>
              </a:rPr>
              <a:t>容量 2：未达到 K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372600" y="5435600"/>
            <a:ext cx="16383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9418320" y="5495798"/>
            <a:ext cx="15468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AB | C | DE · cut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不可能：下界证明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下界：至少需要“总大小 ÷ C 向上取整”个簇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G01：5 ÷ 2 向上取整 = 3 &gt; K = 2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任何算法都做不到——贪心停下没有犯错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下界只能证明“不可能”，不能证明“可能”</a:t>
            </a:r>
          </a:p>
        </p:txBody>
      </p:sp>
      <p:sp>
        <p:nvSpPr>
          <p:cNvPr id="17" name="Oval 16"/>
          <p:cNvSpPr/>
          <p:nvPr/>
        </p:nvSpPr>
        <p:spPr>
          <a:xfrm>
            <a:off x="6146800" y="2082800"/>
            <a:ext cx="406400" cy="4064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15380" y="214350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6718300" y="2082800"/>
            <a:ext cx="406400" cy="4064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783705" y="21435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7289800" y="2082800"/>
            <a:ext cx="406400" cy="4064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8380" y="214350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7861300" y="2082800"/>
            <a:ext cx="406400" cy="4064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3530" y="2143506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8432800" y="2082800"/>
            <a:ext cx="406400" cy="4064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504555" y="21435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9934" y="2676144"/>
            <a:ext cx="7861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总大小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45600" y="1905000"/>
            <a:ext cx="812800" cy="406400"/>
          </a:xfrm>
          <a:prstGeom prst="roundRect">
            <a:avLst>
              <a:gd name="adj" fmla="val 3125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93555" y="2003552"/>
            <a:ext cx="5168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7CDBB"/>
                </a:solidFill>
                <a:latin typeface="Noto Sans SC"/>
                <a:ea typeface="Noto Sans SC"/>
              </a:rPr>
              <a:t>容量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61600" y="1905000"/>
            <a:ext cx="812800" cy="406400"/>
          </a:xfrm>
          <a:prstGeom prst="roundRect">
            <a:avLst>
              <a:gd name="adj" fmla="val 3125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409555" y="2003552"/>
            <a:ext cx="5168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7CDBB"/>
                </a:solidFill>
                <a:latin typeface="Noto Sans SC"/>
                <a:ea typeface="Noto Sans SC"/>
              </a:rPr>
              <a:t>容量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45600" y="2603500"/>
            <a:ext cx="812800" cy="406400"/>
          </a:xfrm>
          <a:prstGeom prst="roundRect">
            <a:avLst>
              <a:gd name="adj" fmla="val 31250"/>
            </a:avLst>
          </a:prstGeom>
          <a:solidFill>
            <a:srgbClr val="0A2126"/>
          </a:solidFill>
          <a:ln w="1270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93555" y="2702052"/>
            <a:ext cx="5168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B7B72"/>
                </a:solidFill>
                <a:latin typeface="Noto Sans SC"/>
                <a:ea typeface="Noto Sans SC"/>
              </a:rPr>
              <a:t>容量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1665" y="3790696"/>
            <a:ext cx="3328670" cy="4457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D8BB78"/>
                </a:solidFill>
                <a:latin typeface="Menlo"/>
                <a:ea typeface="Menlo"/>
              </a:rPr>
              <a:t>⌈</a:t>
            </a:r>
            <a:r>
              <a:rPr sz="2600" b="1">
                <a:solidFill>
                  <a:srgbClr val="D8BB78"/>
                </a:solidFill>
                <a:latin typeface="Noto Sans SC"/>
                <a:ea typeface="Noto Sans SC"/>
              </a:rPr>
              <a:t> 5 ÷ 2 </a:t>
            </a:r>
            <a:r>
              <a:rPr sz="2600" b="1">
                <a:solidFill>
                  <a:srgbClr val="D8BB78"/>
                </a:solidFill>
                <a:latin typeface="Menlo"/>
                <a:ea typeface="Menlo"/>
              </a:rPr>
              <a:t>⌉</a:t>
            </a:r>
            <a:r>
              <a:rPr sz="2600" b="1">
                <a:solidFill>
                  <a:srgbClr val="D8BB78"/>
                </a:solidFill>
                <a:latin typeface="Noto Sans SC"/>
                <a:ea typeface="Noto Sans SC"/>
              </a:rPr>
              <a:t> = 3 &gt; K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3475" y="4441190"/>
            <a:ext cx="230505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至少 3 个簇：K = 2 不可能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可行，但贪心卡住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greedy_trap（原作者）：A、B 大小 2；C、D 大小 1；容量 3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下界 6 ÷ 3 = 2，没有排除 2 簇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贪心先合并 C–D（10）；CD+A、CD+B 都是 4 &gt; 3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4610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35229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停在 3 簇；穷举却有 AC | BD（3、3），cut 10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8928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78409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停下 ≠ 无解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4050" y="3566626"/>
            <a:ext cx="8509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88020" y="3563324"/>
            <a:ext cx="8229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CD · 2/3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7944" y="2766526"/>
            <a:ext cx="2543110" cy="7366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D8B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>
            <a:off x="7796244" y="3134826"/>
            <a:ext cx="1806511" cy="0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8553196" y="276703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517890" y="2775162"/>
            <a:ext cx="363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2072173"/>
            <a:ext cx="1700244" cy="106265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880590" y="2258873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905609" y="2267001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9602755" y="2072173"/>
            <a:ext cx="1700245" cy="106265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0387345" y="251734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12364" y="252547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1" name="Oval 30"/>
          <p:cNvSpPr/>
          <p:nvPr/>
        </p:nvSpPr>
        <p:spPr>
          <a:xfrm>
            <a:off x="5803900" y="1780073"/>
            <a:ext cx="584200" cy="5842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5867400" y="1843573"/>
            <a:ext cx="457200" cy="4572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61380" y="1929679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23280" y="2361225"/>
            <a:ext cx="3454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8BB78"/>
                </a:solidFill>
                <a:latin typeface="Noto Sans SC"/>
                <a:ea typeface="Noto Sans SC"/>
              </a:rPr>
              <a:t>s=2</a:t>
            </a:r>
          </a:p>
        </p:txBody>
      </p:sp>
      <p:sp>
        <p:nvSpPr>
          <p:cNvPr id="35" name="Oval 34"/>
          <p:cNvSpPr/>
          <p:nvPr/>
        </p:nvSpPr>
        <p:spPr>
          <a:xfrm>
            <a:off x="7567644" y="2906226"/>
            <a:ext cx="457200" cy="457200"/>
          </a:xfrm>
          <a:prstGeom prst="ellipse">
            <a:avLst/>
          </a:prstGeom>
          <a:solidFill>
            <a:srgbClr val="D8BB7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61624" y="2992332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7" name="Oval 36"/>
          <p:cNvSpPr/>
          <p:nvPr/>
        </p:nvSpPr>
        <p:spPr>
          <a:xfrm>
            <a:off x="9374155" y="2906226"/>
            <a:ext cx="457200" cy="457200"/>
          </a:xfrm>
          <a:prstGeom prst="ellipse">
            <a:avLst/>
          </a:prstGeom>
          <a:solidFill>
            <a:srgbClr val="D8BB7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461785" y="2992332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39" name="Oval 38"/>
          <p:cNvSpPr/>
          <p:nvPr/>
        </p:nvSpPr>
        <p:spPr>
          <a:xfrm>
            <a:off x="11010900" y="1780073"/>
            <a:ext cx="584200" cy="584200"/>
          </a:xfrm>
          <a:prstGeom prst="ellipse">
            <a:avLst/>
          </a:prstGeom>
          <a:noFill/>
          <a:ln w="3175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1074400" y="1843573"/>
            <a:ext cx="457200" cy="4572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1165205" y="1929679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30280" y="2361225"/>
            <a:ext cx="3454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8BB78"/>
                </a:solidFill>
                <a:latin typeface="Noto Sans SC"/>
                <a:ea typeface="Noto Sans SC"/>
              </a:rPr>
              <a:t>s=2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4229100"/>
            <a:ext cx="18542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18120" y="4289298"/>
            <a:ext cx="17627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贪心：A | B | CD，3 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05700" y="4864100"/>
            <a:ext cx="23876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551420" y="4924298"/>
            <a:ext cx="2296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穷举：AC | BD，2 簇，cut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合法，但不是最优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suboptimal（原作者）：A–B 10、A–C 9、B–D 9、C–D 1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贪心：AB | CD，切断两条 9，cut 18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穷举：AC | BD，切断 10 与 1，cut 11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两者都合法、都达到 K，只是质量不同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6725" y="1826558"/>
            <a:ext cx="84455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30695" y="1823256"/>
            <a:ext cx="8166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AB · 2/2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4700" y="2093258"/>
            <a:ext cx="2768600" cy="7366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813550" y="4447241"/>
            <a:ext cx="8509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27520" y="4443939"/>
            <a:ext cx="8229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CD · 2/2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4700" y="3647141"/>
            <a:ext cx="2768600" cy="7366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D8B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6223000" y="2461558"/>
            <a:ext cx="2032000" cy="0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092696" y="209376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57390" y="2101894"/>
            <a:ext cx="363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23000" y="2461558"/>
            <a:ext cx="0" cy="155388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229096" y="302310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54115" y="303123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9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55000" y="2461558"/>
            <a:ext cx="0" cy="155388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261096" y="302310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86115" y="303123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9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23000" y="4015441"/>
            <a:ext cx="2032000" cy="0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092696" y="364764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7715" y="3655777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35" name="Oval 34"/>
          <p:cNvSpPr/>
          <p:nvPr/>
        </p:nvSpPr>
        <p:spPr>
          <a:xfrm>
            <a:off x="5994400" y="2232958"/>
            <a:ext cx="457200" cy="457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088380" y="2319064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7" name="Oval 36"/>
          <p:cNvSpPr/>
          <p:nvPr/>
        </p:nvSpPr>
        <p:spPr>
          <a:xfrm>
            <a:off x="8026400" y="2232958"/>
            <a:ext cx="457200" cy="457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17205" y="2319064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9" name="Oval 38"/>
          <p:cNvSpPr/>
          <p:nvPr/>
        </p:nvSpPr>
        <p:spPr>
          <a:xfrm>
            <a:off x="5994400" y="3786841"/>
            <a:ext cx="457200" cy="457200"/>
          </a:xfrm>
          <a:prstGeom prst="ellipse">
            <a:avLst/>
          </a:prstGeom>
          <a:solidFill>
            <a:srgbClr val="D8BB7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88380" y="3872947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1" name="Oval 40"/>
          <p:cNvSpPr/>
          <p:nvPr/>
        </p:nvSpPr>
        <p:spPr>
          <a:xfrm>
            <a:off x="8026400" y="3786841"/>
            <a:ext cx="457200" cy="457200"/>
          </a:xfrm>
          <a:prstGeom prst="ellipse">
            <a:avLst/>
          </a:prstGeom>
          <a:solidFill>
            <a:srgbClr val="D8BB7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14030" y="3872947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42400" y="1826558"/>
            <a:ext cx="8382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056370" y="1823256"/>
            <a:ext cx="810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AC · 2/2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93200" y="2093258"/>
            <a:ext cx="736600" cy="2290482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11064875" y="1826558"/>
            <a:ext cx="85725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1078845" y="1823256"/>
            <a:ext cx="8293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FB1E6"/>
                </a:solidFill>
                <a:latin typeface="Noto Sans SC"/>
                <a:ea typeface="Noto Sans SC"/>
              </a:rPr>
              <a:t>BD · 2/2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125200" y="2093258"/>
            <a:ext cx="736600" cy="2290482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9461500" y="2461558"/>
            <a:ext cx="2032000" cy="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331196" y="209376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295890" y="2101894"/>
            <a:ext cx="363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461500" y="2461558"/>
            <a:ext cx="0" cy="1553883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9467596" y="302310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492615" y="303123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9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493500" y="2461558"/>
            <a:ext cx="0" cy="1553883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1499596" y="302310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1524615" y="303123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9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461500" y="4015441"/>
            <a:ext cx="2032000" cy="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10331196" y="364764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356215" y="3655777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1" name="Oval 60"/>
          <p:cNvSpPr/>
          <p:nvPr/>
        </p:nvSpPr>
        <p:spPr>
          <a:xfrm>
            <a:off x="9232900" y="2232958"/>
            <a:ext cx="457200" cy="457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326880" y="2319064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63" name="Oval 62"/>
          <p:cNvSpPr/>
          <p:nvPr/>
        </p:nvSpPr>
        <p:spPr>
          <a:xfrm>
            <a:off x="11264900" y="2232958"/>
            <a:ext cx="457200" cy="4572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1355705" y="2319064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65" name="Oval 64"/>
          <p:cNvSpPr/>
          <p:nvPr/>
        </p:nvSpPr>
        <p:spPr>
          <a:xfrm>
            <a:off x="9232900" y="3786841"/>
            <a:ext cx="457200" cy="457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326880" y="3872947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67" name="Oval 66"/>
          <p:cNvSpPr/>
          <p:nvPr/>
        </p:nvSpPr>
        <p:spPr>
          <a:xfrm>
            <a:off x="11264900" y="3786841"/>
            <a:ext cx="457200" cy="4572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352530" y="3872947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1350" y="1393190"/>
            <a:ext cx="495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2F3E9"/>
                </a:solidFill>
                <a:latin typeface="Noto Sans SC"/>
                <a:ea typeface="Noto Sans SC"/>
              </a:rPr>
              <a:t>贪心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39350" y="1393190"/>
            <a:ext cx="876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2F3E9"/>
                </a:solidFill>
                <a:latin typeface="Noto Sans SC"/>
                <a:ea typeface="Noto Sans SC"/>
              </a:rPr>
              <a:t>穷举最优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73875" y="5232400"/>
            <a:ext cx="730250" cy="3048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915784" y="5292344"/>
            <a:ext cx="6464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B7B72"/>
                </a:solidFill>
                <a:latin typeface="Noto Sans SC"/>
                <a:ea typeface="Noto Sans SC"/>
              </a:rPr>
              <a:t>cut 18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112375" y="5232400"/>
            <a:ext cx="730250" cy="3048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154285" y="5292344"/>
            <a:ext cx="6464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77CDBB"/>
                </a:solidFill>
                <a:latin typeface="Noto Sans SC"/>
                <a:ea typeface="Noto Sans SC"/>
              </a:rPr>
              <a:t>cut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大小不同，结局不同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G01 中 A 的大小改为 2，容量 3，K = 2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A–B 合并后大小 3，已满；AB+C 被阻止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改为 D–E，再把 C 放进 DE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结果 AB | CDE，cut 5（原为 ABC | DE，cut 3）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9210" y="1143000"/>
            <a:ext cx="84455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63180" y="1139698"/>
            <a:ext cx="8166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AB · 3/3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8735" y="1409700"/>
            <a:ext cx="2625501" cy="865388"/>
          </a:xfrm>
          <a:prstGeom prst="roundRect">
            <a:avLst>
              <a:gd name="adj" fmla="val 42558"/>
            </a:avLst>
          </a:prstGeom>
          <a:noFill/>
          <a:ln w="1905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282278" y="5257800"/>
            <a:ext cx="9525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96248" y="5254498"/>
            <a:ext cx="9245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FB1E6"/>
                </a:solidFill>
                <a:latin typeface="Noto Sans SC"/>
                <a:ea typeface="Noto Sans SC"/>
              </a:rPr>
              <a:t>CDE · 3/3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03185" y="2998094"/>
            <a:ext cx="2883078" cy="2196205"/>
          </a:xfrm>
          <a:prstGeom prst="roundRect">
            <a:avLst>
              <a:gd name="adj" fmla="val 16769"/>
            </a:avLst>
          </a:prstGeom>
          <a:noFill/>
          <a:ln w="19050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 flipV="1">
            <a:off x="7027035" y="1778000"/>
            <a:ext cx="1888901" cy="128788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814815" y="147495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39834" y="148308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27035" y="1906788"/>
            <a:ext cx="1159098" cy="1459606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579626" y="232642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604645" y="2334552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8186133" y="1778000"/>
            <a:ext cx="729803" cy="1588394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543213" y="242043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568232" y="242856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86133" y="3366394"/>
            <a:ext cx="1931831" cy="901521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070193" y="3463660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5212" y="3471788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971485" y="3366394"/>
            <a:ext cx="214648" cy="1459606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083284" y="390297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108303" y="391110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7971485" y="4267915"/>
            <a:ext cx="2146479" cy="558085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8936770" y="4479061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961789" y="4487189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6798435" y="1678188"/>
            <a:ext cx="457200" cy="457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92415" y="1764294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4315" y="2195840"/>
            <a:ext cx="3454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8BB78"/>
                </a:solidFill>
                <a:latin typeface="Noto Sans SC"/>
                <a:ea typeface="Noto Sans SC"/>
              </a:rPr>
              <a:t>s=2</a:t>
            </a:r>
          </a:p>
        </p:txBody>
      </p:sp>
      <p:sp>
        <p:nvSpPr>
          <p:cNvPr id="44" name="Oval 43"/>
          <p:cNvSpPr/>
          <p:nvPr/>
        </p:nvSpPr>
        <p:spPr>
          <a:xfrm>
            <a:off x="8687336" y="1549400"/>
            <a:ext cx="457200" cy="457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778141" y="16355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6" name="Oval 45"/>
          <p:cNvSpPr/>
          <p:nvPr/>
        </p:nvSpPr>
        <p:spPr>
          <a:xfrm>
            <a:off x="7957533" y="3137794"/>
            <a:ext cx="457200" cy="4572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51513" y="3223900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8" name="Oval 47"/>
          <p:cNvSpPr/>
          <p:nvPr/>
        </p:nvSpPr>
        <p:spPr>
          <a:xfrm>
            <a:off x="9889364" y="4039315"/>
            <a:ext cx="457200" cy="4572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976994" y="4125421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0" name="Oval 49"/>
          <p:cNvSpPr/>
          <p:nvPr/>
        </p:nvSpPr>
        <p:spPr>
          <a:xfrm>
            <a:off x="7742885" y="4597400"/>
            <a:ext cx="457200" cy="4572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840040" y="46835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6850" y="5613400"/>
            <a:ext cx="1511300" cy="3048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858759" y="5673344"/>
            <a:ext cx="1427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AB | CDE，cut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480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伪代码：合并、报告、诊断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1 行：单点超容量即输入不合法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4 行：先筛合法，再比较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5 行：区分 capacity-blocked 与 no-positive-affinity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7 行：四项分开报告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4710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8 行：下界 + 小图穷举诊断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53100" y="1574800"/>
            <a:ext cx="5715000" cy="3530600"/>
          </a:xfrm>
          <a:prstGeom prst="roundRect">
            <a:avLst>
              <a:gd name="adj" fmla="val 2158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898832" y="17689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9027" y="1730120"/>
            <a:ext cx="7696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clusters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5777" y="1730120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7227" y="1730120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5327" y="1730120"/>
            <a:ext cx="788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单点簇；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1127" y="1730120"/>
            <a:ext cx="7061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s(v) &gt; C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4377" y="1730120"/>
            <a:ext cx="11315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则输入不合法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8832" y="21753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9027" y="2136521"/>
            <a:ext cx="572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while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8927" y="21365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簇数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1827" y="2136521"/>
            <a:ext cx="4330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&gt; K: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832" y="25817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9027" y="2542921"/>
            <a:ext cx="7696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cands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5777" y="25429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7227" y="2542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5327" y="25429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亲和度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9677" y="2542921"/>
            <a:ext cx="407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&gt; 0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4477" y="25429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的簇对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53100" y="29146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753100" y="29146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898832" y="29881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9027" y="2949321"/>
            <a:ext cx="6807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legal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877" y="29493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8327" y="2949321"/>
            <a:ext cx="97916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s(P) + s(Q)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4627" y="29493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86077" y="2949321"/>
            <a:ext cx="2870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C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70227" y="29493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的候选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53100" y="33210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53100" y="33210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898832" y="33945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9027" y="3355721"/>
            <a:ext cx="8204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if legal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6577" y="33557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为空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9477" y="3355721"/>
            <a:ext cx="191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: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8377" y="3355721"/>
            <a:ext cx="14744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停止（两种原因）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98832" y="38009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89027" y="3762121"/>
            <a:ext cx="2552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1427" y="3762121"/>
            <a:ext cx="21602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合并选择键最小的合法一对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8832" y="42073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89027" y="41685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报告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31927" y="4168521"/>
            <a:ext cx="5981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count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27227" y="4168521"/>
            <a:ext cx="11315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、合法、达到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55927" y="4168521"/>
            <a:ext cx="2489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01977" y="41685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、停止原因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98832" y="46137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89027" y="45749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诊断：下界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6277" y="4574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84377" y="4574921"/>
            <a:ext cx="318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Menlo"/>
                <a:ea typeface="Menlo"/>
              </a:rPr>
              <a:t>⌈</a:t>
            </a:r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00277" y="4574921"/>
            <a:ext cx="4394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s / 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36827" y="4574921"/>
            <a:ext cx="2171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Menlo"/>
                <a:ea typeface="Menlo"/>
              </a:rPr>
              <a:t>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51127" y="4574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89227" y="45749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与小图穷举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常见错误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把“合法”说成“完成”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为了达到 K 违反容量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把“贪心卡住”当成“不可能”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以为合法结果就是最优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把节点个数当面积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应用与局限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p10/11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容量对应芯片上一块区域能放的面积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下界只能证不可能；可能性要靠找到解（与装箱同难）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穷举只适合 ≤ 10 个节点的教学图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贪心不回撤：改进需要允许交换或回退的方法（Module 07、08）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2567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04 · 容量约束凝聚聚类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先筛合法，再选最大；四项分开报告。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不可能（下界）、卡住（可行但走不到）、非最优（合法但更差），是三种不同的结局。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下一模块：节点不合并，而是改“标签”。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04 容量约束凝聚聚类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