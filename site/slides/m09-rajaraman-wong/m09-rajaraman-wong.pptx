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这一模块把目标从 cut 换成延迟：组合电路的最长路径延迟。跨簇一次，路径就多一个固定延迟 D；允许把同一个逻辑节点复制到多个簇里。注意：这份提交是 Lesson 9，而教师目录的 Lab 09 是 Multilevel，对应关系待确认。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先看一条链。两种分法都满足容量，但第一种只跨一次边界，延迟 7；第二种跨两次，延迟 10。延迟只看最长路径跨了几次边界，而不是总共切断了多少连线。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RW 的模型是一张有向无环图。每个节点有延迟，簇内连线不加延迟，跨簇连线固定加 D，每个簇有容量上限，而且允许复制节点。目标是最小化从输入到输出的最大延迟。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复制把同一个逻辑节点放进多个簇，每一份叫一个实例。它让多个簇都能在簇内拿到同一个信号，但每个副本都占面积。数据结构上要把逻辑节点和实例分开记录。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原作的 12 节点算例由影片画面复原。Δ 是从 x 到 v 的最长节点延迟，计 v 不计 x，例如 b 到 k 是 4。这张图是候选数据，原始边表待原作者确认。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标记阶段按拓扑序处理每个节点。对每个祖先算得分，把得分最高的放进候选簇，直到容量。l1 是簇内 PI 的最大得分，l2 是簇外最大得分加 D。节点 i 的 l1 是 4，l2 是 7，所以标签是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全部标签：输入是 1；d、e、f、h 是 2，g 是 3；i 和 j 是 7；两个输出都是 8。RW 的标签是时间，和标签传播里的群体标签完全不同。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恢复阶段从输出端倒推：取 k 和 l 的候选簇，簇外的输入节点成为新的簇根，直到不再需要新的簇。一共 8 个簇、20 个实例，每个实例的输入都完整，两个输出都在时间 8 到达。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允许复制时最大延迟是 8，用了 20 个实例。如果禁止复制，穷举所有容量合法的分组，最好也只能做到 10。复制用面积换来了速度，而论文的最优性结论正是以允许复制为前提。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伪代码分两段：标记阶段按拓扑序计算得分、候选簇和标签；恢复阶段从输出倒推，为每个选中的簇生成实例并连接实例边，簇内加 0，跨簇加 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最后说清边界：最优性来自论文，只在它的模型内成立。12 节点例子是候选复原，平票规则是假设。本课程的测试只检查实现一致与实例合法，不证明最优。这份提交与教师目录的 Lab 09 不一致，对应关系待教师确认。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小结：目标换成延迟，跨界一次路径就多 D。标记阶段给出每个节点的最早时间，恢复阶段从输出倒推出簇与实例；逻辑节点与实例要分开表示，复制有面积代价。最后可以回到首页，对比八个模块的不同操作。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6479" y="2310892"/>
            <a:ext cx="50190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关键路径的代价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8129" y="3335782"/>
            <a:ext cx="65557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Rajaraman–Wong delay-oriented clustering · 延迟、复制与实例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3260" y="4136644"/>
            <a:ext cx="82854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muranfei（Issue #8）· 与教师目录 Lab 09（Multilevel）的对应待确认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1122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目标变了：从 cut 到延迟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链 P→X→Y→O：δ = 1，跨簇 D = 3，容量 2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{P,X} | {Y,O}：跨界 1 次，延迟 7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{P} | {X,Y} | {O}：跨界 2 次，延迟 10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延迟看关键路径跨了几次边界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9000" y="1612900"/>
            <a:ext cx="2032000" cy="838200"/>
          </a:xfrm>
          <a:prstGeom prst="roundRect">
            <a:avLst>
              <a:gd name="adj" fmla="val 22727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509000" y="1612900"/>
            <a:ext cx="2032000" cy="838200"/>
          </a:xfrm>
          <a:prstGeom prst="roundRect">
            <a:avLst>
              <a:gd name="adj" fmla="val 22727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14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6335" y="1914652"/>
            <a:ext cx="2273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65900" y="2032000"/>
            <a:ext cx="784859" cy="0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7322926" y="1995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0380" y="1749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25" name="Oval 24"/>
          <p:cNvSpPr/>
          <p:nvPr/>
        </p:nvSpPr>
        <p:spPr>
          <a:xfrm>
            <a:off x="741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09509" y="1914652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35900" y="2032000"/>
            <a:ext cx="784860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8592926" y="1995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DB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0380" y="1749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B7B72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85860" y="1914652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05900" y="2032000"/>
            <a:ext cx="784860" cy="0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9862926" y="1995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380" y="1749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37" name="Oval 36"/>
          <p:cNvSpPr/>
          <p:nvPr/>
        </p:nvSpPr>
        <p:spPr>
          <a:xfrm>
            <a:off x="995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036810" y="1914652"/>
            <a:ext cx="2463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5375" y="2599690"/>
            <a:ext cx="16192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跨界 1 次：延迟 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69000" y="3644900"/>
            <a:ext cx="762000" cy="8382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7239000" y="3644900"/>
            <a:ext cx="2032000" cy="838200"/>
          </a:xfrm>
          <a:prstGeom prst="roundRect">
            <a:avLst>
              <a:gd name="adj" fmla="val 22727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9779000" y="3644900"/>
            <a:ext cx="762000" cy="8382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614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36335" y="3946652"/>
            <a:ext cx="2273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9830" y="4302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65900" y="4064000"/>
            <a:ext cx="784859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7322926" y="4027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DB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0380" y="3781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B7B72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50" name="Oval 49"/>
          <p:cNvSpPr/>
          <p:nvPr/>
        </p:nvSpPr>
        <p:spPr>
          <a:xfrm>
            <a:off x="741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509509" y="3946652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9830" y="4302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835900" y="4064000"/>
            <a:ext cx="784860" cy="0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8592926" y="4027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0380" y="3781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56" name="Oval 55"/>
          <p:cNvSpPr/>
          <p:nvPr/>
        </p:nvSpPr>
        <p:spPr>
          <a:xfrm>
            <a:off x="868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785860" y="3946652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9830" y="4302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6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05900" y="4064000"/>
            <a:ext cx="784860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9862926" y="4027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DB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90380" y="3781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B7B72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62" name="Oval 61"/>
          <p:cNvSpPr/>
          <p:nvPr/>
        </p:nvSpPr>
        <p:spPr>
          <a:xfrm>
            <a:off x="995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036810" y="3946652"/>
            <a:ext cx="2463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25380" y="43022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88225" y="4631690"/>
            <a:ext cx="17335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跨界 2 次：延迟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024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RW 的模型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组合电路 DAG；PI 为输入，PO 为输出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节点延迟 δ(v)；簇内连线 0，跨簇连线 D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簇容量 M（按节点大小之和）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允许复制逻辑节点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目标：最小化 PI→PO 最大延迟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500" y="5546598"/>
            <a:ext cx="4908550" cy="2393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此处 D 是跨簇延迟，不是 Module 06 的度矩阵。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50428" y="2013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7198716" y="2310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150428" y="1605158"/>
            <a:ext cx="1089863" cy="408699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7201501" y="1580989"/>
            <a:ext cx="88733" cy="67884"/>
          </a:xfrm>
          <a:custGeom>
            <a:avLst/>
            <a:gdLst/>
            <a:ahLst/>
            <a:cxnLst/>
            <a:rect l="l" t="t" r="r" b="b"/>
            <a:pathLst>
              <a:path w="88733" h="67884">
                <a:moveTo>
                  <a:pt x="88733" y="5440"/>
                </a:moveTo>
                <a:lnTo>
                  <a:pt x="25456" y="67884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6150428" y="2553018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7222772" y="2522800"/>
            <a:ext cx="87427" cy="75858"/>
          </a:xfrm>
          <a:custGeom>
            <a:avLst/>
            <a:gdLst/>
            <a:ahLst/>
            <a:cxnLst/>
            <a:rect l="l" t="t" r="r" b="b"/>
            <a:pathLst>
              <a:path w="87427" h="75858">
                <a:moveTo>
                  <a:pt x="87427" y="0"/>
                </a:moveTo>
                <a:lnTo>
                  <a:pt x="41073" y="75858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150428" y="3320142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7198716" y="3616511"/>
            <a:ext cx="88291" cy="69200"/>
          </a:xfrm>
          <a:custGeom>
            <a:avLst/>
            <a:gdLst/>
            <a:ahLst/>
            <a:cxnLst/>
            <a:rect l="l" t="t" r="r" b="b"/>
            <a:pathLst>
              <a:path w="88291" h="69200">
                <a:moveTo>
                  <a:pt x="88291" y="58812"/>
                </a:moveTo>
                <a:lnTo>
                  <a:pt x="0" y="69200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6150428" y="3859304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7222772" y="3829085"/>
            <a:ext cx="87427" cy="75859"/>
          </a:xfrm>
          <a:custGeom>
            <a:avLst/>
            <a:gdLst/>
            <a:ahLst/>
            <a:cxnLst/>
            <a:rect l="l" t="t" r="r" b="b"/>
            <a:pathLst>
              <a:path w="87427" h="75859">
                <a:moveTo>
                  <a:pt x="87427" y="0"/>
                </a:moveTo>
                <a:lnTo>
                  <a:pt x="41073" y="75859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150428" y="4626428"/>
            <a:ext cx="1082047" cy="270512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7196681" y="4855022"/>
            <a:ext cx="87541" cy="70335"/>
          </a:xfrm>
          <a:custGeom>
            <a:avLst/>
            <a:gdLst/>
            <a:ahLst/>
            <a:cxnLst/>
            <a:rect l="l" t="t" r="r" b="b"/>
            <a:pathLst>
              <a:path w="87541" h="70335">
                <a:moveTo>
                  <a:pt x="87541" y="54855"/>
                </a:moveTo>
                <a:lnTo>
                  <a:pt x="0" y="70335"/>
                </a:lnTo>
                <a:lnTo>
                  <a:pt x="17583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456714" y="2422071"/>
            <a:ext cx="2381544" cy="74423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9809306" y="2459393"/>
            <a:ext cx="82266" cy="72464"/>
          </a:xfrm>
          <a:custGeom>
            <a:avLst/>
            <a:gdLst/>
            <a:ahLst/>
            <a:cxnLst/>
            <a:rect l="l" t="t" r="r" b="b"/>
            <a:pathLst>
              <a:path w="82266" h="72464">
                <a:moveTo>
                  <a:pt x="82266" y="38767"/>
                </a:moveTo>
                <a:lnTo>
                  <a:pt x="0" y="72464"/>
                </a:lnTo>
                <a:lnTo>
                  <a:pt x="2264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456714" y="3728357"/>
            <a:ext cx="1075146" cy="0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504026" y="3692107"/>
            <a:ext cx="81174" cy="72500"/>
          </a:xfrm>
          <a:custGeom>
            <a:avLst/>
            <a:gdLst/>
            <a:ahLst/>
            <a:cxnLst/>
            <a:rect l="l" t="t" r="r" b="b"/>
            <a:pathLst>
              <a:path w="81174" h="72500">
                <a:moveTo>
                  <a:pt x="81174" y="36250"/>
                </a:moveTo>
                <a:lnTo>
                  <a:pt x="0" y="72500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456714" y="1524000"/>
            <a:ext cx="2396148" cy="8985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9814072" y="2378840"/>
            <a:ext cx="88734" cy="67884"/>
          </a:xfrm>
          <a:custGeom>
            <a:avLst/>
            <a:gdLst/>
            <a:ahLst/>
            <a:cxnLst/>
            <a:rect l="l" t="t" r="r" b="b"/>
            <a:pathLst>
              <a:path w="88734" h="67884">
                <a:moveTo>
                  <a:pt x="88734" y="62444"/>
                </a:moveTo>
                <a:lnTo>
                  <a:pt x="0" y="67884"/>
                </a:lnTo>
                <a:lnTo>
                  <a:pt x="25457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8763000" y="2661800"/>
            <a:ext cx="1137660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9855562" y="2625319"/>
            <a:ext cx="84011" cy="81963"/>
          </a:xfrm>
          <a:custGeom>
            <a:avLst/>
            <a:gdLst/>
            <a:ahLst/>
            <a:cxnLst/>
            <a:rect l="l" t="t" r="r" b="b"/>
            <a:pathLst>
              <a:path w="84011" h="81963">
                <a:moveTo>
                  <a:pt x="84011" y="0"/>
                </a:moveTo>
                <a:lnTo>
                  <a:pt x="49585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763000" y="3728357"/>
            <a:ext cx="1094525" cy="47885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9817495" y="4162845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7456714" y="4355916"/>
            <a:ext cx="2388332" cy="59708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9809252" y="4327499"/>
            <a:ext cx="87542" cy="70336"/>
          </a:xfrm>
          <a:custGeom>
            <a:avLst/>
            <a:gdLst/>
            <a:ahLst/>
            <a:cxnLst/>
            <a:rect l="l" t="t" r="r" b="b"/>
            <a:pathLst>
              <a:path w="87542" h="70336">
                <a:moveTo>
                  <a:pt x="87542" y="15480"/>
                </a:moveTo>
                <a:lnTo>
                  <a:pt x="17584" y="70336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069285" y="2503714"/>
            <a:ext cx="1094525" cy="4788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1123781" y="2938202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0069285" y="3233300"/>
            <a:ext cx="1137661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1161847" y="3196819"/>
            <a:ext cx="84012" cy="81963"/>
          </a:xfrm>
          <a:custGeom>
            <a:avLst/>
            <a:gdLst/>
            <a:ahLst/>
            <a:cxnLst/>
            <a:rect l="l" t="t" r="r" b="b"/>
            <a:pathLst>
              <a:path w="84012" h="81963">
                <a:moveTo>
                  <a:pt x="84012" y="0"/>
                </a:moveTo>
                <a:lnTo>
                  <a:pt x="49586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0069285" y="4299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1117573" y="4596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998028" y="1861457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060258" y="19132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2" name="Oval 51"/>
          <p:cNvSpPr/>
          <p:nvPr/>
        </p:nvSpPr>
        <p:spPr>
          <a:xfrm>
            <a:off x="5998028" y="3167742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57083" y="3219558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4" name="Oval 53"/>
          <p:cNvSpPr/>
          <p:nvPr/>
        </p:nvSpPr>
        <p:spPr>
          <a:xfrm>
            <a:off x="5998028" y="4474028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063433" y="4525844"/>
            <a:ext cx="1739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6" name="Oval 55"/>
          <p:cNvSpPr/>
          <p:nvPr/>
        </p:nvSpPr>
        <p:spPr>
          <a:xfrm>
            <a:off x="7304314" y="2269671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363369" y="2321487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8" name="Oval 57"/>
          <p:cNvSpPr/>
          <p:nvPr/>
        </p:nvSpPr>
        <p:spPr>
          <a:xfrm>
            <a:off x="7304314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366544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0" name="Oval 59"/>
          <p:cNvSpPr/>
          <p:nvPr/>
        </p:nvSpPr>
        <p:spPr>
          <a:xfrm>
            <a:off x="7304314" y="1371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382419" y="1423416"/>
            <a:ext cx="1485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62" name="Oval 61"/>
          <p:cNvSpPr/>
          <p:nvPr/>
        </p:nvSpPr>
        <p:spPr>
          <a:xfrm>
            <a:off x="7304314" y="4800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363369" y="4852416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64" name="Oval 63"/>
          <p:cNvSpPr/>
          <p:nvPr/>
        </p:nvSpPr>
        <p:spPr>
          <a:xfrm>
            <a:off x="8610600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672830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66" name="Oval 65"/>
          <p:cNvSpPr/>
          <p:nvPr/>
        </p:nvSpPr>
        <p:spPr>
          <a:xfrm>
            <a:off x="9916885" y="2351314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001340" y="2403130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68" name="Oval 67"/>
          <p:cNvSpPr/>
          <p:nvPr/>
        </p:nvSpPr>
        <p:spPr>
          <a:xfrm>
            <a:off x="9916885" y="41474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001340" y="4199273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70" name="Oval 69"/>
          <p:cNvSpPr/>
          <p:nvPr/>
        </p:nvSpPr>
        <p:spPr>
          <a:xfrm>
            <a:off x="11223171" y="2922814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1282226" y="2974630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72" name="Oval 71"/>
          <p:cNvSpPr/>
          <p:nvPr/>
        </p:nvSpPr>
        <p:spPr>
          <a:xfrm>
            <a:off x="11223171" y="4555671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1304451" y="4607487"/>
            <a:ext cx="142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97800" y="5524500"/>
            <a:ext cx="1930400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851140" y="5585206"/>
            <a:ext cx="182372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2A6E6"/>
                </a:solidFill>
                <a:latin typeface="Noto Sans SC"/>
                <a:ea typeface="Noto Sans SC"/>
              </a:rPr>
              <a:t>候选复原数据 · 平票为假设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769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复制：逻辑节点与实例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一个逻辑节点（logicalId）可有多个物理实例（instanceId）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实例写作“节点@簇根”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复制让多个簇在簇内拿到同一信号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代价：每个副本都占面积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4710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“节点 → 簇”的映射表示不了复制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0000" y="1651000"/>
            <a:ext cx="1905000" cy="254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03745" y="1768348"/>
            <a:ext cx="397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簇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7000" y="1651000"/>
            <a:ext cx="1905000" cy="254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70745" y="1768348"/>
            <a:ext cx="397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FB1E6"/>
                </a:solidFill>
                <a:latin typeface="Noto Sans SC"/>
                <a:ea typeface="Noto Sans SC"/>
              </a:rPr>
              <a:t>簇 2</a:t>
            </a:r>
          </a:p>
        </p:txBody>
      </p:sp>
      <p:sp>
        <p:nvSpPr>
          <p:cNvPr id="23" name="Oval 22"/>
          <p:cNvSpPr/>
          <p:nvPr/>
        </p:nvSpPr>
        <p:spPr>
          <a:xfrm>
            <a:off x="7073900" y="345440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05980" y="3540506"/>
            <a:ext cx="1930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25" name="Oval 24"/>
          <p:cNvSpPr/>
          <p:nvPr/>
        </p:nvSpPr>
        <p:spPr>
          <a:xfrm>
            <a:off x="9740900" y="345440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2980" y="3540506"/>
            <a:ext cx="1930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27" name="Oval 26"/>
          <p:cNvSpPr/>
          <p:nvPr/>
        </p:nvSpPr>
        <p:spPr>
          <a:xfrm>
            <a:off x="7073900" y="2438400"/>
            <a:ext cx="457200" cy="4572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067550" y="2432050"/>
            <a:ext cx="469900" cy="4699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74230" y="252450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02500" y="2667000"/>
            <a:ext cx="0" cy="70866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7266250" y="3347826"/>
            <a:ext cx="72499" cy="81174"/>
          </a:xfrm>
          <a:custGeom>
            <a:avLst/>
            <a:gdLst/>
            <a:ahLst/>
            <a:cxnLst/>
            <a:rect l="l" t="t" r="r" b="b"/>
            <a:pathLst>
              <a:path w="72499" h="81174">
                <a:moveTo>
                  <a:pt x="36250" y="81174"/>
                </a:moveTo>
                <a:lnTo>
                  <a:pt x="0" y="0"/>
                </a:lnTo>
                <a:lnTo>
                  <a:pt x="72499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40900" y="2438400"/>
            <a:ext cx="457200" cy="4572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734550" y="2432050"/>
            <a:ext cx="469900" cy="4699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841230" y="252450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69500" y="2667000"/>
            <a:ext cx="0" cy="70866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933250" y="3347826"/>
            <a:ext cx="72499" cy="81174"/>
          </a:xfrm>
          <a:custGeom>
            <a:avLst/>
            <a:gdLst/>
            <a:ahLst/>
            <a:cxnLst/>
            <a:rect l="l" t="t" r="r" b="b"/>
            <a:pathLst>
              <a:path w="72499" h="81174">
                <a:moveTo>
                  <a:pt x="36250" y="81174"/>
                </a:moveTo>
                <a:lnTo>
                  <a:pt x="0" y="0"/>
                </a:lnTo>
                <a:lnTo>
                  <a:pt x="72499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7715" y="2937256"/>
            <a:ext cx="3695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CD2D0"/>
                </a:solidFill>
                <a:latin typeface="Noto Sans SC"/>
                <a:ea typeface="Noto Sans SC"/>
              </a:rPr>
              <a:t>g@1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715" y="2937256"/>
            <a:ext cx="3695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CD2D0"/>
                </a:solidFill>
                <a:latin typeface="Noto Sans SC"/>
                <a:ea typeface="Noto Sans SC"/>
              </a:rPr>
              <a:t>g@2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56500" y="2667000"/>
            <a:ext cx="2159000" cy="0"/>
          </a:xfrm>
          <a:prstGeom prst="line">
            <a:avLst/>
          </a:prstGeom>
          <a:ln w="12700">
            <a:solidFill>
              <a:srgbClr val="C2A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825740" y="2397506"/>
            <a:ext cx="162052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2A6E6"/>
                </a:solidFill>
                <a:latin typeface="Noto Sans SC"/>
                <a:ea typeface="Noto Sans SC"/>
              </a:rPr>
              <a:t>同一逻辑节点的两个实例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92950" y="4622800"/>
            <a:ext cx="3086100" cy="2794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42480" y="4683252"/>
            <a:ext cx="2987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代价：多一个实例，多占一份面积（示意）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896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初始化：候选 DAG 与 Δ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原作 12 节点算例：PI a、b、c；PO k、l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δ = 1，D = 3，容量 4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Δ(x, v)：x 到 v 的最长节点延迟（计 v 不计 x）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Δ(b, k) = 4（b→e→g→i→k）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图由原作影片复原：候选数据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50428" y="2013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7198716" y="2310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150428" y="1605158"/>
            <a:ext cx="1089863" cy="408699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7201501" y="1580989"/>
            <a:ext cx="88733" cy="67884"/>
          </a:xfrm>
          <a:custGeom>
            <a:avLst/>
            <a:gdLst/>
            <a:ahLst/>
            <a:cxnLst/>
            <a:rect l="l" t="t" r="r" b="b"/>
            <a:pathLst>
              <a:path w="88733" h="67884">
                <a:moveTo>
                  <a:pt x="88733" y="5440"/>
                </a:moveTo>
                <a:lnTo>
                  <a:pt x="25456" y="67884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6150428" y="2553018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7222772" y="2522800"/>
            <a:ext cx="87427" cy="75858"/>
          </a:xfrm>
          <a:custGeom>
            <a:avLst/>
            <a:gdLst/>
            <a:ahLst/>
            <a:cxnLst/>
            <a:rect l="l" t="t" r="r" b="b"/>
            <a:pathLst>
              <a:path w="87427" h="75858">
                <a:moveTo>
                  <a:pt x="87427" y="0"/>
                </a:moveTo>
                <a:lnTo>
                  <a:pt x="41073" y="75858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150428" y="3320142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198716" y="3616511"/>
            <a:ext cx="88291" cy="69200"/>
          </a:xfrm>
          <a:custGeom>
            <a:avLst/>
            <a:gdLst/>
            <a:ahLst/>
            <a:cxnLst/>
            <a:rect l="l" t="t" r="r" b="b"/>
            <a:pathLst>
              <a:path w="88291" h="69200">
                <a:moveTo>
                  <a:pt x="88291" y="58812"/>
                </a:moveTo>
                <a:lnTo>
                  <a:pt x="0" y="69200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6150428" y="3859304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7222772" y="3829085"/>
            <a:ext cx="87427" cy="75859"/>
          </a:xfrm>
          <a:custGeom>
            <a:avLst/>
            <a:gdLst/>
            <a:ahLst/>
            <a:cxnLst/>
            <a:rect l="l" t="t" r="r" b="b"/>
            <a:pathLst>
              <a:path w="87427" h="75859">
                <a:moveTo>
                  <a:pt x="87427" y="0"/>
                </a:moveTo>
                <a:lnTo>
                  <a:pt x="41073" y="75859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150428" y="4626428"/>
            <a:ext cx="1082047" cy="270512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7196681" y="4855022"/>
            <a:ext cx="87541" cy="70335"/>
          </a:xfrm>
          <a:custGeom>
            <a:avLst/>
            <a:gdLst/>
            <a:ahLst/>
            <a:cxnLst/>
            <a:rect l="l" t="t" r="r" b="b"/>
            <a:pathLst>
              <a:path w="87541" h="70335">
                <a:moveTo>
                  <a:pt x="87541" y="54855"/>
                </a:moveTo>
                <a:lnTo>
                  <a:pt x="0" y="70335"/>
                </a:lnTo>
                <a:lnTo>
                  <a:pt x="17583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56714" y="2422071"/>
            <a:ext cx="2381544" cy="74423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9809306" y="2459393"/>
            <a:ext cx="82266" cy="72464"/>
          </a:xfrm>
          <a:custGeom>
            <a:avLst/>
            <a:gdLst/>
            <a:ahLst/>
            <a:cxnLst/>
            <a:rect l="l" t="t" r="r" b="b"/>
            <a:pathLst>
              <a:path w="82266" h="72464">
                <a:moveTo>
                  <a:pt x="82266" y="38767"/>
                </a:moveTo>
                <a:lnTo>
                  <a:pt x="0" y="72464"/>
                </a:lnTo>
                <a:lnTo>
                  <a:pt x="2264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456714" y="3728357"/>
            <a:ext cx="1075146" cy="0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8504026" y="3692107"/>
            <a:ext cx="81174" cy="72500"/>
          </a:xfrm>
          <a:custGeom>
            <a:avLst/>
            <a:gdLst/>
            <a:ahLst/>
            <a:cxnLst/>
            <a:rect l="l" t="t" r="r" b="b"/>
            <a:pathLst>
              <a:path w="81174" h="72500">
                <a:moveTo>
                  <a:pt x="81174" y="36250"/>
                </a:moveTo>
                <a:lnTo>
                  <a:pt x="0" y="72500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456714" y="1524000"/>
            <a:ext cx="2396148" cy="8985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814072" y="2378840"/>
            <a:ext cx="88734" cy="67884"/>
          </a:xfrm>
          <a:custGeom>
            <a:avLst/>
            <a:gdLst/>
            <a:ahLst/>
            <a:cxnLst/>
            <a:rect l="l" t="t" r="r" b="b"/>
            <a:pathLst>
              <a:path w="88734" h="67884">
                <a:moveTo>
                  <a:pt x="88734" y="62444"/>
                </a:moveTo>
                <a:lnTo>
                  <a:pt x="0" y="67884"/>
                </a:lnTo>
                <a:lnTo>
                  <a:pt x="25457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8763000" y="2661800"/>
            <a:ext cx="1137660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9855562" y="2625319"/>
            <a:ext cx="84011" cy="81963"/>
          </a:xfrm>
          <a:custGeom>
            <a:avLst/>
            <a:gdLst/>
            <a:ahLst/>
            <a:cxnLst/>
            <a:rect l="l" t="t" r="r" b="b"/>
            <a:pathLst>
              <a:path w="84011" h="81963">
                <a:moveTo>
                  <a:pt x="84011" y="0"/>
                </a:moveTo>
                <a:lnTo>
                  <a:pt x="49585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763000" y="3728357"/>
            <a:ext cx="1094525" cy="47885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9817495" y="4162845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456714" y="4355916"/>
            <a:ext cx="2388332" cy="59708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9809252" y="4327499"/>
            <a:ext cx="87542" cy="70336"/>
          </a:xfrm>
          <a:custGeom>
            <a:avLst/>
            <a:gdLst/>
            <a:ahLst/>
            <a:cxnLst/>
            <a:rect l="l" t="t" r="r" b="b"/>
            <a:pathLst>
              <a:path w="87542" h="70336">
                <a:moveTo>
                  <a:pt x="87542" y="15480"/>
                </a:moveTo>
                <a:lnTo>
                  <a:pt x="17584" y="70336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069285" y="2503714"/>
            <a:ext cx="1094525" cy="4788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1123781" y="2938202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10069285" y="3233300"/>
            <a:ext cx="1137661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1161847" y="3196819"/>
            <a:ext cx="84012" cy="81963"/>
          </a:xfrm>
          <a:custGeom>
            <a:avLst/>
            <a:gdLst/>
            <a:ahLst/>
            <a:cxnLst/>
            <a:rect l="l" t="t" r="r" b="b"/>
            <a:pathLst>
              <a:path w="84012" h="81963">
                <a:moveTo>
                  <a:pt x="84012" y="0"/>
                </a:moveTo>
                <a:lnTo>
                  <a:pt x="49586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069285" y="4299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11117573" y="4596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98028" y="1861457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060258" y="19132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5998028" y="3167742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057083" y="3219558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5998028" y="4474028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063433" y="4525844"/>
            <a:ext cx="1739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5" name="Oval 54"/>
          <p:cNvSpPr/>
          <p:nvPr/>
        </p:nvSpPr>
        <p:spPr>
          <a:xfrm>
            <a:off x="7304314" y="2269671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363369" y="2321487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7" name="Oval 56"/>
          <p:cNvSpPr/>
          <p:nvPr/>
        </p:nvSpPr>
        <p:spPr>
          <a:xfrm>
            <a:off x="7304314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366544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9" name="Oval 58"/>
          <p:cNvSpPr/>
          <p:nvPr/>
        </p:nvSpPr>
        <p:spPr>
          <a:xfrm>
            <a:off x="7304314" y="1371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382419" y="1423416"/>
            <a:ext cx="1485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61" name="Oval 60"/>
          <p:cNvSpPr/>
          <p:nvPr/>
        </p:nvSpPr>
        <p:spPr>
          <a:xfrm>
            <a:off x="7304314" y="4800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363369" y="4852416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63" name="Oval 62"/>
          <p:cNvSpPr/>
          <p:nvPr/>
        </p:nvSpPr>
        <p:spPr>
          <a:xfrm>
            <a:off x="8610600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672830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65" name="Oval 64"/>
          <p:cNvSpPr/>
          <p:nvPr/>
        </p:nvSpPr>
        <p:spPr>
          <a:xfrm>
            <a:off x="9916885" y="2351314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001340" y="2403130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67" name="Oval 66"/>
          <p:cNvSpPr/>
          <p:nvPr/>
        </p:nvSpPr>
        <p:spPr>
          <a:xfrm>
            <a:off x="9916885" y="41474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0001340" y="4199273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69" name="Oval 68"/>
          <p:cNvSpPr/>
          <p:nvPr/>
        </p:nvSpPr>
        <p:spPr>
          <a:xfrm>
            <a:off x="11223171" y="2922814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282226" y="2974630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71" name="Oval 70"/>
          <p:cNvSpPr/>
          <p:nvPr/>
        </p:nvSpPr>
        <p:spPr>
          <a:xfrm>
            <a:off x="11223171" y="4555671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304451" y="4607487"/>
            <a:ext cx="142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97800" y="5524500"/>
            <a:ext cx="1930400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851140" y="5585206"/>
            <a:ext cx="182372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2A6E6"/>
                </a:solidFill>
                <a:latin typeface="Noto Sans SC"/>
                <a:ea typeface="Noto Sans SC"/>
              </a:rPr>
              <a:t>候选复原数据 · 平票为假设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9027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标记：l(v) = max(l1, l2)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得分 score(x) = l(x) + Δ(x, v)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候选簇：v + 得分最高的祖先，直到容量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平票：拓扑序靠后者优先（本课程的假设）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l1 = 簇内 PI 最大得分；l2 = 簇外最大得分 + D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i：l1 = 4，l2 = 7 → l(i)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110" y="1533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祖先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3609" y="1533144"/>
            <a:ext cx="4051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l(x)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109" y="1533144"/>
            <a:ext cx="2336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3610" y="1533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得分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11900" y="1816100"/>
            <a:ext cx="3911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1100" y="1879600"/>
            <a:ext cx="4051300" cy="393700"/>
          </a:xfrm>
          <a:prstGeom prst="roundRect">
            <a:avLst>
              <a:gd name="adj" fmla="val 12903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98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23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08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23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4340" y="19263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簇内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1100" y="2298700"/>
            <a:ext cx="4051300" cy="393700"/>
          </a:xfrm>
          <a:prstGeom prst="roundRect">
            <a:avLst>
              <a:gd name="adj" fmla="val 12903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398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23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08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23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4340" y="23454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簇内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1100" y="2717800"/>
            <a:ext cx="4051300" cy="393700"/>
          </a:xfrm>
          <a:prstGeom prst="roundRect">
            <a:avLst>
              <a:gd name="adj" fmla="val 12903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39840" y="2764536"/>
            <a:ext cx="223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2340" y="2764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0840" y="2764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2340" y="2764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4340" y="27645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簇内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9840" y="31836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2340" y="3183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0840" y="3183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2340" y="3183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4340" y="31836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簇外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9840" y="3602736"/>
            <a:ext cx="185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92340" y="3602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90840" y="3602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340" y="3602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4340" y="36027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簇外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9840" y="40218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2340" y="4021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0840" y="4021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62340" y="4021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4340" y="40218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簇外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98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923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908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623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4340" y="44409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簇外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00950" y="5245100"/>
            <a:ext cx="16891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646670" y="5305298"/>
            <a:ext cx="1597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l1 = 4, l2 = 7, l(i) =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全部标签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PI：l = 1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d、e、f、h：2；g：3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i、j：7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k、l：8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RW 的标签是时间，不是群体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50428" y="2013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7198716" y="2310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150428" y="1605158"/>
            <a:ext cx="1089863" cy="408699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7201501" y="1580989"/>
            <a:ext cx="88733" cy="67884"/>
          </a:xfrm>
          <a:custGeom>
            <a:avLst/>
            <a:gdLst/>
            <a:ahLst/>
            <a:cxnLst/>
            <a:rect l="l" t="t" r="r" b="b"/>
            <a:pathLst>
              <a:path w="88733" h="67884">
                <a:moveTo>
                  <a:pt x="88733" y="5440"/>
                </a:moveTo>
                <a:lnTo>
                  <a:pt x="25456" y="67884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6150428" y="2553018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7222772" y="2522800"/>
            <a:ext cx="87427" cy="75858"/>
          </a:xfrm>
          <a:custGeom>
            <a:avLst/>
            <a:gdLst/>
            <a:ahLst/>
            <a:cxnLst/>
            <a:rect l="l" t="t" r="r" b="b"/>
            <a:pathLst>
              <a:path w="87427" h="75858">
                <a:moveTo>
                  <a:pt x="87427" y="0"/>
                </a:moveTo>
                <a:lnTo>
                  <a:pt x="41073" y="75858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150428" y="3320142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198716" y="3616511"/>
            <a:ext cx="88291" cy="69200"/>
          </a:xfrm>
          <a:custGeom>
            <a:avLst/>
            <a:gdLst/>
            <a:ahLst/>
            <a:cxnLst/>
            <a:rect l="l" t="t" r="r" b="b"/>
            <a:pathLst>
              <a:path w="88291" h="69200">
                <a:moveTo>
                  <a:pt x="88291" y="58812"/>
                </a:moveTo>
                <a:lnTo>
                  <a:pt x="0" y="69200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6150428" y="3859304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7222772" y="3829085"/>
            <a:ext cx="87427" cy="75859"/>
          </a:xfrm>
          <a:custGeom>
            <a:avLst/>
            <a:gdLst/>
            <a:ahLst/>
            <a:cxnLst/>
            <a:rect l="l" t="t" r="r" b="b"/>
            <a:pathLst>
              <a:path w="87427" h="75859">
                <a:moveTo>
                  <a:pt x="87427" y="0"/>
                </a:moveTo>
                <a:lnTo>
                  <a:pt x="41073" y="75859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150428" y="4626428"/>
            <a:ext cx="1082047" cy="270512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7196681" y="4855022"/>
            <a:ext cx="87541" cy="70335"/>
          </a:xfrm>
          <a:custGeom>
            <a:avLst/>
            <a:gdLst/>
            <a:ahLst/>
            <a:cxnLst/>
            <a:rect l="l" t="t" r="r" b="b"/>
            <a:pathLst>
              <a:path w="87541" h="70335">
                <a:moveTo>
                  <a:pt x="87541" y="54855"/>
                </a:moveTo>
                <a:lnTo>
                  <a:pt x="0" y="70335"/>
                </a:lnTo>
                <a:lnTo>
                  <a:pt x="17583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56714" y="2422071"/>
            <a:ext cx="2381544" cy="74423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9809306" y="2459393"/>
            <a:ext cx="82266" cy="72464"/>
          </a:xfrm>
          <a:custGeom>
            <a:avLst/>
            <a:gdLst/>
            <a:ahLst/>
            <a:cxnLst/>
            <a:rect l="l" t="t" r="r" b="b"/>
            <a:pathLst>
              <a:path w="82266" h="72464">
                <a:moveTo>
                  <a:pt x="82266" y="38767"/>
                </a:moveTo>
                <a:lnTo>
                  <a:pt x="0" y="72464"/>
                </a:lnTo>
                <a:lnTo>
                  <a:pt x="2264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456714" y="3728357"/>
            <a:ext cx="1075146" cy="0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8504026" y="3692107"/>
            <a:ext cx="81174" cy="72500"/>
          </a:xfrm>
          <a:custGeom>
            <a:avLst/>
            <a:gdLst/>
            <a:ahLst/>
            <a:cxnLst/>
            <a:rect l="l" t="t" r="r" b="b"/>
            <a:pathLst>
              <a:path w="81174" h="72500">
                <a:moveTo>
                  <a:pt x="81174" y="36250"/>
                </a:moveTo>
                <a:lnTo>
                  <a:pt x="0" y="72500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456714" y="1524000"/>
            <a:ext cx="2396148" cy="8985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814072" y="2378840"/>
            <a:ext cx="88734" cy="67884"/>
          </a:xfrm>
          <a:custGeom>
            <a:avLst/>
            <a:gdLst/>
            <a:ahLst/>
            <a:cxnLst/>
            <a:rect l="l" t="t" r="r" b="b"/>
            <a:pathLst>
              <a:path w="88734" h="67884">
                <a:moveTo>
                  <a:pt x="88734" y="62444"/>
                </a:moveTo>
                <a:lnTo>
                  <a:pt x="0" y="67884"/>
                </a:lnTo>
                <a:lnTo>
                  <a:pt x="25457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8763000" y="2661800"/>
            <a:ext cx="1137660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9855562" y="2625319"/>
            <a:ext cx="84011" cy="81963"/>
          </a:xfrm>
          <a:custGeom>
            <a:avLst/>
            <a:gdLst/>
            <a:ahLst/>
            <a:cxnLst/>
            <a:rect l="l" t="t" r="r" b="b"/>
            <a:pathLst>
              <a:path w="84011" h="81963">
                <a:moveTo>
                  <a:pt x="84011" y="0"/>
                </a:moveTo>
                <a:lnTo>
                  <a:pt x="49585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763000" y="3728357"/>
            <a:ext cx="1094525" cy="47885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9817495" y="4162845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456714" y="4355916"/>
            <a:ext cx="2388332" cy="59708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9809252" y="4327499"/>
            <a:ext cx="87542" cy="70336"/>
          </a:xfrm>
          <a:custGeom>
            <a:avLst/>
            <a:gdLst/>
            <a:ahLst/>
            <a:cxnLst/>
            <a:rect l="l" t="t" r="r" b="b"/>
            <a:pathLst>
              <a:path w="87542" h="70336">
                <a:moveTo>
                  <a:pt x="87542" y="15480"/>
                </a:moveTo>
                <a:lnTo>
                  <a:pt x="17584" y="70336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069285" y="2503714"/>
            <a:ext cx="1094525" cy="4788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1123781" y="2938202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10069285" y="3233300"/>
            <a:ext cx="1137661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1161847" y="3196819"/>
            <a:ext cx="84012" cy="81963"/>
          </a:xfrm>
          <a:custGeom>
            <a:avLst/>
            <a:gdLst/>
            <a:ahLst/>
            <a:cxnLst/>
            <a:rect l="l" t="t" r="r" b="b"/>
            <a:pathLst>
              <a:path w="84012" h="81963">
                <a:moveTo>
                  <a:pt x="84012" y="0"/>
                </a:moveTo>
                <a:lnTo>
                  <a:pt x="49586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069285" y="4299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11117573" y="4596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98028" y="1861457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060258" y="19132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03743" y="16427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l=1</a:t>
            </a:r>
          </a:p>
        </p:txBody>
      </p:sp>
      <p:sp>
        <p:nvSpPr>
          <p:cNvPr id="52" name="Oval 51"/>
          <p:cNvSpPr/>
          <p:nvPr/>
        </p:nvSpPr>
        <p:spPr>
          <a:xfrm>
            <a:off x="5998028" y="3167742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57083" y="3219558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03743" y="2949048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l=1</a:t>
            </a:r>
          </a:p>
        </p:txBody>
      </p:sp>
      <p:sp>
        <p:nvSpPr>
          <p:cNvPr id="55" name="Oval 54"/>
          <p:cNvSpPr/>
          <p:nvPr/>
        </p:nvSpPr>
        <p:spPr>
          <a:xfrm>
            <a:off x="5998028" y="4474028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063433" y="4525844"/>
            <a:ext cx="1739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03743" y="4255334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l=1</a:t>
            </a:r>
          </a:p>
        </p:txBody>
      </p:sp>
      <p:sp>
        <p:nvSpPr>
          <p:cNvPr id="58" name="Oval 57"/>
          <p:cNvSpPr/>
          <p:nvPr/>
        </p:nvSpPr>
        <p:spPr>
          <a:xfrm>
            <a:off x="7304314" y="2269671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363369" y="2321487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0029" y="2050977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61" name="Oval 60"/>
          <p:cNvSpPr/>
          <p:nvPr/>
        </p:nvSpPr>
        <p:spPr>
          <a:xfrm>
            <a:off x="7304314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366544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0029" y="33572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64" name="Oval 63"/>
          <p:cNvSpPr/>
          <p:nvPr/>
        </p:nvSpPr>
        <p:spPr>
          <a:xfrm>
            <a:off x="7304314" y="1371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382419" y="1423416"/>
            <a:ext cx="1485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0029" y="1152906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67" name="Oval 66"/>
          <p:cNvSpPr/>
          <p:nvPr/>
        </p:nvSpPr>
        <p:spPr>
          <a:xfrm>
            <a:off x="7304314" y="4800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363369" y="4852416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0029" y="4581906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70" name="Oval 69"/>
          <p:cNvSpPr/>
          <p:nvPr/>
        </p:nvSpPr>
        <p:spPr>
          <a:xfrm>
            <a:off x="8610600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672830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6315" y="33572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l=3</a:t>
            </a:r>
          </a:p>
        </p:txBody>
      </p:sp>
      <p:sp>
        <p:nvSpPr>
          <p:cNvPr id="73" name="Oval 72"/>
          <p:cNvSpPr/>
          <p:nvPr/>
        </p:nvSpPr>
        <p:spPr>
          <a:xfrm>
            <a:off x="9916885" y="2351314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001340" y="2403130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22600" y="2132620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l=7</a:t>
            </a:r>
          </a:p>
        </p:txBody>
      </p:sp>
      <p:sp>
        <p:nvSpPr>
          <p:cNvPr id="76" name="Oval 75"/>
          <p:cNvSpPr/>
          <p:nvPr/>
        </p:nvSpPr>
        <p:spPr>
          <a:xfrm>
            <a:off x="9916885" y="41474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001340" y="4199273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22600" y="39287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l=7</a:t>
            </a:r>
          </a:p>
        </p:txBody>
      </p:sp>
      <p:sp>
        <p:nvSpPr>
          <p:cNvPr id="79" name="Oval 78"/>
          <p:cNvSpPr/>
          <p:nvPr/>
        </p:nvSpPr>
        <p:spPr>
          <a:xfrm>
            <a:off x="11223171" y="2922814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1282226" y="2974630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28886" y="2704120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l=8</a:t>
            </a:r>
          </a:p>
        </p:txBody>
      </p:sp>
      <p:sp>
        <p:nvSpPr>
          <p:cNvPr id="82" name="Oval 81"/>
          <p:cNvSpPr/>
          <p:nvPr/>
        </p:nvSpPr>
        <p:spPr>
          <a:xfrm>
            <a:off x="11223171" y="4555671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1304451" y="4607487"/>
            <a:ext cx="142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28886" y="4336977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97800" y="5524500"/>
            <a:ext cx="1930400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851140" y="5585206"/>
            <a:ext cx="182372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2A6E6"/>
                </a:solidFill>
                <a:latin typeface="Noto Sans SC"/>
                <a:ea typeface="Noto Sans SC"/>
              </a:rPr>
              <a:t>候选复原数据 · 平票为假设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058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恢复：从输出倒推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从 k、l 取候选簇；簇外输入成为新的簇根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共 8 个簇：k、l、d、e、f、h、b、c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20 个实例；g、j、e、a 各 2 个，b、c 各 3 个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每个实例的输入都完整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输出到达时间 8 = 标签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76950" y="1483360"/>
            <a:ext cx="8318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7CDBB"/>
                </a:solidFill>
                <a:latin typeface="Noto Sans SC"/>
                <a:ea typeface="Noto Sans SC"/>
              </a:rPr>
              <a:t>簇根 k · 4/4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4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73950" y="1483360"/>
            <a:ext cx="793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FB1E6"/>
                </a:solidFill>
                <a:latin typeface="Noto Sans SC"/>
                <a:ea typeface="Noto Sans SC"/>
              </a:rPr>
              <a:t>簇根 l · 4/4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1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70950" y="1483360"/>
            <a:ext cx="8382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8BB78"/>
                </a:solidFill>
                <a:latin typeface="Noto Sans SC"/>
                <a:ea typeface="Noto Sans SC"/>
              </a:rPr>
              <a:t>簇根 d · 3/4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8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267950" y="1483360"/>
            <a:ext cx="8318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2A6E6"/>
                </a:solidFill>
                <a:latin typeface="Noto Sans SC"/>
                <a:ea typeface="Noto Sans SC"/>
              </a:rPr>
              <a:t>簇根 e · 3/4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E3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76950" y="3261360"/>
            <a:ext cx="8001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39FB8"/>
                </a:solidFill>
                <a:latin typeface="Noto Sans SC"/>
                <a:ea typeface="Noto Sans SC"/>
              </a:rPr>
              <a:t>簇根 f · 2/4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4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9FD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73950" y="3261360"/>
            <a:ext cx="8382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FD27F"/>
                </a:solidFill>
                <a:latin typeface="Noto Sans SC"/>
                <a:ea typeface="Noto Sans SC"/>
              </a:rPr>
              <a:t>簇根 h · 2/4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01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E8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870950" y="3261360"/>
            <a:ext cx="8382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A06A"/>
                </a:solidFill>
                <a:latin typeface="Noto Sans SC"/>
                <a:ea typeface="Noto Sans SC"/>
              </a:rPr>
              <a:t>簇根 b · 1/4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8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7F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267950" y="3261360"/>
            <a:ext cx="8255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FD0E0"/>
                </a:solidFill>
                <a:latin typeface="Noto Sans SC"/>
                <a:ea typeface="Noto Sans SC"/>
              </a:rPr>
              <a:t>簇根 c · 1/4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11900" y="1943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11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46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311900" y="25273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08900" y="1943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708900" y="1943100"/>
            <a:ext cx="63500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708900" y="25273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05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105900" y="1943100"/>
            <a:ext cx="63500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02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0502900" y="1943100"/>
            <a:ext cx="63500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11900" y="3721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08900" y="3721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159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153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35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09384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52" name="Oval 51"/>
          <p:cNvSpPr/>
          <p:nvPr/>
        </p:nvSpPr>
        <p:spPr>
          <a:xfrm>
            <a:off x="6794500" y="17907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889750" y="18592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44384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55" name="Oval 54"/>
          <p:cNvSpPr/>
          <p:nvPr/>
        </p:nvSpPr>
        <p:spPr>
          <a:xfrm>
            <a:off x="6159500" y="23749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6153150" y="23685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254750" y="24434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9384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59" name="Oval 58"/>
          <p:cNvSpPr/>
          <p:nvPr/>
        </p:nvSpPr>
        <p:spPr>
          <a:xfrm>
            <a:off x="6794500" y="23749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870700" y="24434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4384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62" name="Oval 61"/>
          <p:cNvSpPr/>
          <p:nvPr/>
        </p:nvSpPr>
        <p:spPr>
          <a:xfrm>
            <a:off x="7556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7550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632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6384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66" name="Oval 65"/>
          <p:cNvSpPr/>
          <p:nvPr/>
        </p:nvSpPr>
        <p:spPr>
          <a:xfrm>
            <a:off x="8191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8185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267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1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70" name="Oval 69"/>
          <p:cNvSpPr/>
          <p:nvPr/>
        </p:nvSpPr>
        <p:spPr>
          <a:xfrm>
            <a:off x="7556500" y="23749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7550150" y="23685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651750" y="24434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6384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74" name="Oval 73"/>
          <p:cNvSpPr/>
          <p:nvPr/>
        </p:nvSpPr>
        <p:spPr>
          <a:xfrm>
            <a:off x="8191500" y="23749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286750" y="24434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1385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77" name="Oval 76"/>
          <p:cNvSpPr/>
          <p:nvPr/>
        </p:nvSpPr>
        <p:spPr>
          <a:xfrm>
            <a:off x="8953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8947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9029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03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81" name="Oval 80"/>
          <p:cNvSpPr/>
          <p:nvPr/>
        </p:nvSpPr>
        <p:spPr>
          <a:xfrm>
            <a:off x="9588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9582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9661525" y="1859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38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85" name="Oval 84"/>
          <p:cNvSpPr/>
          <p:nvPr/>
        </p:nvSpPr>
        <p:spPr>
          <a:xfrm>
            <a:off x="8953500" y="23749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026525" y="24434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03385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88" name="Oval 87"/>
          <p:cNvSpPr/>
          <p:nvPr/>
        </p:nvSpPr>
        <p:spPr>
          <a:xfrm>
            <a:off x="10350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10344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423525" y="1859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00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10985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10979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1064875" y="185928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335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96" name="Oval 95"/>
          <p:cNvSpPr/>
          <p:nvPr/>
        </p:nvSpPr>
        <p:spPr>
          <a:xfrm>
            <a:off x="10350500" y="23749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0344150" y="23685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0426700" y="24434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00385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00" name="Oval 99"/>
          <p:cNvSpPr/>
          <p:nvPr/>
        </p:nvSpPr>
        <p:spPr>
          <a:xfrm>
            <a:off x="6159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6153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235700" y="3637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09384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6794500" y="35687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886575" y="3637280"/>
            <a:ext cx="1206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44384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07" name="Oval 106"/>
          <p:cNvSpPr/>
          <p:nvPr/>
        </p:nvSpPr>
        <p:spPr>
          <a:xfrm>
            <a:off x="7556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7550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635875" y="363728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06384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11" name="Oval 110"/>
          <p:cNvSpPr/>
          <p:nvPr/>
        </p:nvSpPr>
        <p:spPr>
          <a:xfrm>
            <a:off x="8191500" y="35687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264525" y="3637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41385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14" name="Oval 113"/>
          <p:cNvSpPr/>
          <p:nvPr/>
        </p:nvSpPr>
        <p:spPr>
          <a:xfrm>
            <a:off x="8953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8947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026525" y="3637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03385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18" name="Oval 117"/>
          <p:cNvSpPr/>
          <p:nvPr/>
        </p:nvSpPr>
        <p:spPr>
          <a:xfrm>
            <a:off x="10350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10344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429875" y="363728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700385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766050" y="5118100"/>
            <a:ext cx="19939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811770" y="5178298"/>
            <a:ext cx="19024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8 簇 · 20 实例 · 输出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702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复制换来了什么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允许复制：延迟 8，20 个实例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禁止复制：穷举所有容量合法分组，最好 10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多 8 个实例，换来 2 个单位延迟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最优性结论以“允许复制”为前提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4609" y="1914144"/>
            <a:ext cx="14592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允许复制（RW）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2610" y="1914144"/>
            <a:ext cx="1529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禁止复制（穷举）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7900" y="2197100"/>
            <a:ext cx="5816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07100" y="2451100"/>
            <a:ext cx="5956300" cy="584200"/>
          </a:xfrm>
          <a:prstGeom prst="roundRect">
            <a:avLst>
              <a:gd name="adj" fmla="val 8695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85840" y="2497836"/>
            <a:ext cx="9347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最大延迟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3340" y="2497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1340" y="24978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5840" y="3107436"/>
            <a:ext cx="11061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实例 / 面积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3340" y="3107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1340" y="3107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7110" y="4009644"/>
            <a:ext cx="33388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不复制的最好方案之一：adfh | bceg | ijkl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伪代码：标记与恢复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标记：拓扑序，score、候选簇、l1、l2（Python：rw_label）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恢复：从 PO 倒推，簇外输入成为新簇根（rw_reconstruct）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30292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9204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实例：m@r；簇内 +0，跨簇 +D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到达时间：evaluate_instance_delay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3100" y="1447800"/>
            <a:ext cx="5715000" cy="3327400"/>
          </a:xfrm>
          <a:prstGeom prst="roundRect">
            <a:avLst>
              <a:gd name="adj" fmla="val 2290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99150" y="1648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9345" y="1609598"/>
            <a:ext cx="6197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queue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0045" y="1609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5145" y="1609598"/>
            <a:ext cx="137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3245" y="1609598"/>
            <a:ext cx="4292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所有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3445" y="1609598"/>
            <a:ext cx="3594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9150" y="2029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9345" y="1990598"/>
            <a:ext cx="1070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while queue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0895" y="1990598"/>
            <a:ext cx="4292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非空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1095" y="1990598"/>
            <a:ext cx="143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53100" y="2336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753100" y="2336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99150" y="2410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9345" y="2371598"/>
            <a:ext cx="2768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r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7145" y="2371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2245" y="2371598"/>
            <a:ext cx="137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0345" y="2371598"/>
            <a:ext cx="924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取出；选中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5845" y="2371598"/>
            <a:ext cx="2387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r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5545" y="2371598"/>
            <a:ext cx="7594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的候选簇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53100" y="2717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753100" y="2717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99150" y="2791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9345" y="2752598"/>
            <a:ext cx="175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5545" y="2752598"/>
            <a:ext cx="7594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簇外输入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5945" y="2752598"/>
            <a:ext cx="2768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u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3745" y="2752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8845" y="2752598"/>
            <a:ext cx="137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06945" y="2752598"/>
            <a:ext cx="4292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加入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7145" y="2752598"/>
            <a:ext cx="6197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queue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7845" y="2752598"/>
            <a:ext cx="924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（新簇根）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9150" y="3172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9345" y="3133598"/>
            <a:ext cx="3530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for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3345" y="3133598"/>
            <a:ext cx="12547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每个选中的簇根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99045" y="3133598"/>
            <a:ext cx="200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00645" y="3133598"/>
            <a:ext cx="5943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、成员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5945" y="3133598"/>
            <a:ext cx="3340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m: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9150" y="3553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9345" y="3514598"/>
            <a:ext cx="175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5545" y="3514598"/>
            <a:ext cx="7594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生成实例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5945" y="3514598"/>
            <a:ext cx="51180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m@r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53100" y="3860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753100" y="3860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899150" y="3934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9345" y="3895598"/>
            <a:ext cx="175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5545" y="3895598"/>
            <a:ext cx="924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簇内输入：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91045" y="3895598"/>
            <a:ext cx="46100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u@r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2995" y="3895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18095" y="3895598"/>
            <a:ext cx="51180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m@r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30845" y="3895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95945" y="3895598"/>
            <a:ext cx="2768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73745" y="3895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53100" y="4241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753100" y="4241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899150" y="4315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89345" y="4276598"/>
            <a:ext cx="175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5545" y="4276598"/>
            <a:ext cx="924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簇外输入：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91045" y="4276598"/>
            <a:ext cx="49910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u@u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1095" y="4276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56195" y="4276598"/>
            <a:ext cx="51180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m@r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68945" y="4276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34045" y="4276598"/>
            <a:ext cx="302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+D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37245" y="4276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769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适用边界与待确认事项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最优性来自论文（IEEE TCAD 1995；DAC 1993），只在其模型内成立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12 节点例子是候选复原；平票规则是假设，待原作者确认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本课程测试检查实现一致与实例合法，不证明最优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提交为 Lesson 9，教师目录 Lab 09 是 Multilevel：对应待教师确认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复制带来面积代价；引脚、功耗等不在本模型内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2664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延迟导向聚类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目标换成延迟：跨界一次，路径就多 D。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标记给出时间，恢复从输出倒推；逻辑节点与实例分开，复制有面积代价。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回到首页的综合对比：八个模块，八种不同的操作。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09 Rajaraman–Wong 延迟导向聚类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