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这一模块把目标从 cut 换成延迟：组合电路的最长路径延迟。跨簇一次，路径就多一个固定延迟 D；允许把同一个逻辑节点复制到多个簇里。注意：这份提交是 Lesson 9，而教师目录的 Lab 09 是 Multilevel，对应关系待确认。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先看一条链。两种分法都满足容量，但第一种只跨一次边界，延迟 7；第二种跨两次，延迟 10。延迟只看最长路径跨了几次边界，而不是总共切断了多少连线。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 的模型是一张有向无环图。每个节点有延迟，簇内连线不加延迟，跨簇连线固定加 D，每个簇有容量上限，而且允许复制节点。目标是最小化从输入到输出的最大延迟。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复制把同一个逻辑节点放进多个簇，每一份叫一个实例。它让多个簇都能在簇内拿到同一个信号，但每个副本都占面积。数据结构上要把逻辑节点和实例分开记录。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原作的 12 节点算例由影片画面复原。Δ 是从 x 到 v 的最长节点延迟，计 v 不计 x，例如 b 到 k 是 4。这张图是候选数据，原始边表待原作者确认。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标记阶段按拓扑序处理每个节点。对每个祖先算得分，把得分最高的放进候选簇，直到容量。l1 是簇内 PI 的最大得分，l2 是簇外最大得分加 D。节点 i 的 l1 是 4，l2 是 7，所以标签是 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全部标签：输入是 1；d、e、f、h 是 2，g 是 3；i 和 j 是 7；两个输出都是 8。RW 的标签是时间，和标签传播里的群体标签完全不同。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恢复阶段从输出端倒推：取 k 和 l 的候选簇，簇外的输入节点成为新的簇根，直到不再需要新的簇。一共 8 个簇、20 个实例，每个实例的输入都完整，两个输出都在时间 8 到达。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允许复制时最大延迟是 8，用了 20 个实例。如果禁止复制，穷举所有容量合法的分组，最好也只能做到 10。复制用面积换来了速度，而论文的最优性结论正是以允许复制为前提。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伪代码分两段：标记阶段按拓扑序计算得分、候选簇和标签；恢复阶段从输出倒推，为每个选中的簇生成实例并连接实例边，簇内加 0，跨簇加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最后说清边界：最优性来自论文，只在它的模型内成立。12 节点例子是候选复原，平票规则是假设。本课程的测试只检查实现一致与实例合法，不证明最优。这份提交与教师目录的 Lab 09 不一致，对应关系待教师确认。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小结：目标换成延迟，跨界一次路径就多 D。标记阶段给出每个节点的最早时间，恢复阶段从输出倒推出簇与实例；逻辑节点与实例要分开表示，复制有面积代价。最后可以回到首页，对比八个模块的不同操作。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" name="Connector 3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6479" y="2310892"/>
            <a:ext cx="5019040" cy="891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5200" b="0">
                <a:solidFill>
                  <a:srgbClr val="D8BB78"/>
                </a:solidFill>
                <a:latin typeface="Noto Sans SC"/>
                <a:ea typeface="Noto Sans SC"/>
              </a:rPr>
              <a:t>关键路径的代价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26626" y="3335782"/>
            <a:ext cx="6538747" cy="2914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Rajaraman–Wong delay-oriented clustering · 延迟、复制与实例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1217" y="4136644"/>
            <a:ext cx="8249564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6F8F8F"/>
                </a:solidFill>
                <a:latin typeface="Noto Sans SC"/>
                <a:ea typeface="Noto Sans SC"/>
              </a:rPr>
              <a:t>Learning Clustering · 原作者 muranfei（Issue #8）· 与教师目录 Lab 09（Multilevel）的对应待确认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4104335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目标变了：从 cut 到延迟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00:03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链 P→X→Y→O：δ = 1，跨簇 D = 3，容量 2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{P,X} | {Y,O}：跨界 1 次，延迟 7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{P} | {X,Y} | {O}：跨界 2 次，延迟 10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延迟看关键路径跨了几次边界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7360" y="2569210"/>
            <a:ext cx="1811020" cy="708660"/>
          </a:xfrm>
          <a:prstGeom prst="roundRect">
            <a:avLst>
              <a:gd name="adj" fmla="val 22222"/>
            </a:avLst>
          </a:prstGeom>
          <a:noFill/>
          <a:ln w="11811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639559" y="2569210"/>
            <a:ext cx="1811020" cy="708660"/>
          </a:xfrm>
          <a:prstGeom prst="roundRect">
            <a:avLst>
              <a:gd name="adj" fmla="val 22222"/>
            </a:avLst>
          </a:prstGeom>
          <a:noFill/>
          <a:ln w="11811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434840" y="2766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07520" y="2835193"/>
            <a:ext cx="169598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7434" y="3118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1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65548" y="2923540"/>
            <a:ext cx="796848" cy="0"/>
          </a:xfrm>
          <a:prstGeom prst="line">
            <a:avLst/>
          </a:prstGeom>
          <a:ln w="1574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5542674" y="2897854"/>
            <a:ext cx="57518" cy="51371"/>
          </a:xfrm>
          <a:custGeom>
            <a:avLst/>
            <a:gdLst/>
            <a:ahLst/>
            <a:cxnLst/>
            <a:rect l="l" t="t" r="r" b="b"/>
            <a:pathLst>
              <a:path w="57518" h="51371">
                <a:moveTo>
                  <a:pt x="57518" y="25686"/>
                </a:moveTo>
                <a:lnTo>
                  <a:pt x="0" y="51371"/>
                </a:lnTo>
                <a:lnTo>
                  <a:pt x="0" y="0"/>
                </a:lnTo>
                <a:close/>
              </a:path>
            </a:pathLst>
          </a:custGeom>
          <a:solidFill>
            <a:srgbClr val="9FC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4759" y="2708737"/>
            <a:ext cx="196220" cy="148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8" b="1">
                <a:solidFill>
                  <a:srgbClr val="BCD2D0"/>
                </a:solidFill>
                <a:latin typeface="Noto Sans SC"/>
                <a:ea typeface="Noto Sans SC"/>
              </a:rPr>
              <a:t>+0</a:t>
            </a:r>
          </a:p>
        </p:txBody>
      </p:sp>
      <p:sp>
        <p:nvSpPr>
          <p:cNvPr id="26" name="Oval 25"/>
          <p:cNvSpPr/>
          <p:nvPr/>
        </p:nvSpPr>
        <p:spPr>
          <a:xfrm>
            <a:off x="5615940" y="2766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691298" y="2835193"/>
            <a:ext cx="164243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98534" y="3118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6648" y="2923540"/>
            <a:ext cx="796848" cy="0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6723774" y="2897854"/>
            <a:ext cx="57518" cy="51371"/>
          </a:xfrm>
          <a:custGeom>
            <a:avLst/>
            <a:gdLst/>
            <a:ahLst/>
            <a:cxnLst/>
            <a:rect l="l" t="t" r="r" b="b"/>
            <a:pathLst>
              <a:path w="57518" h="51371">
                <a:moveTo>
                  <a:pt x="57518" y="25686"/>
                </a:moveTo>
                <a:lnTo>
                  <a:pt x="0" y="51371"/>
                </a:lnTo>
                <a:lnTo>
                  <a:pt x="0" y="0"/>
                </a:lnTo>
                <a:close/>
              </a:path>
            </a:pathLst>
          </a:custGeom>
          <a:solidFill>
            <a:srgbClr val="DB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5859" y="2708737"/>
            <a:ext cx="196220" cy="148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8" b="1">
                <a:solidFill>
                  <a:srgbClr val="DB7B72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32" name="Oval 31"/>
          <p:cNvSpPr/>
          <p:nvPr/>
        </p:nvSpPr>
        <p:spPr>
          <a:xfrm>
            <a:off x="6797040" y="2766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874673" y="2835193"/>
            <a:ext cx="159692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79634" y="3118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27748" y="2923540"/>
            <a:ext cx="796848" cy="0"/>
          </a:xfrm>
          <a:prstGeom prst="line">
            <a:avLst/>
          </a:prstGeom>
          <a:ln w="1574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7904874" y="2897854"/>
            <a:ext cx="57518" cy="51371"/>
          </a:xfrm>
          <a:custGeom>
            <a:avLst/>
            <a:gdLst/>
            <a:ahLst/>
            <a:cxnLst/>
            <a:rect l="l" t="t" r="r" b="b"/>
            <a:pathLst>
              <a:path w="57518" h="51371">
                <a:moveTo>
                  <a:pt x="57518" y="25686"/>
                </a:moveTo>
                <a:lnTo>
                  <a:pt x="0" y="51371"/>
                </a:lnTo>
                <a:lnTo>
                  <a:pt x="0" y="0"/>
                </a:lnTo>
                <a:close/>
              </a:path>
            </a:pathLst>
          </a:custGeom>
          <a:solidFill>
            <a:srgbClr val="9FC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6959" y="2708737"/>
            <a:ext cx="196220" cy="148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8" b="1">
                <a:solidFill>
                  <a:srgbClr val="BCD2D0"/>
                </a:solidFill>
                <a:latin typeface="Noto Sans SC"/>
                <a:ea typeface="Noto Sans SC"/>
              </a:rPr>
              <a:t>+0</a:t>
            </a:r>
          </a:p>
        </p:txBody>
      </p:sp>
      <p:sp>
        <p:nvSpPr>
          <p:cNvPr id="38" name="Oval 37"/>
          <p:cNvSpPr/>
          <p:nvPr/>
        </p:nvSpPr>
        <p:spPr>
          <a:xfrm>
            <a:off x="7978140" y="2766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043927" y="2835193"/>
            <a:ext cx="183385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0734" y="3118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1544" y="3385586"/>
            <a:ext cx="1065950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F2F3E9"/>
                </a:solidFill>
                <a:latin typeface="Noto Sans SC"/>
                <a:ea typeface="Noto Sans SC"/>
              </a:rPr>
              <a:t>跨界 1 次：延迟 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7360" y="4601210"/>
            <a:ext cx="629920" cy="708660"/>
          </a:xfrm>
          <a:prstGeom prst="roundRect">
            <a:avLst>
              <a:gd name="adj" fmla="val 25000"/>
            </a:avLst>
          </a:prstGeom>
          <a:noFill/>
          <a:ln w="11811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458460" y="4601210"/>
            <a:ext cx="1811020" cy="708660"/>
          </a:xfrm>
          <a:prstGeom prst="roundRect">
            <a:avLst>
              <a:gd name="adj" fmla="val 22222"/>
            </a:avLst>
          </a:prstGeom>
          <a:noFill/>
          <a:ln w="11811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20659" y="4601210"/>
            <a:ext cx="629920" cy="708660"/>
          </a:xfrm>
          <a:prstGeom prst="roundRect">
            <a:avLst>
              <a:gd name="adj" fmla="val 25000"/>
            </a:avLst>
          </a:prstGeom>
          <a:noFill/>
          <a:ln w="11811">
            <a:solidFill>
              <a:srgbClr val="D8B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4434840" y="4798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507520" y="4867193"/>
            <a:ext cx="169598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17434" y="5150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765548" y="4955540"/>
            <a:ext cx="796848" cy="0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5542674" y="4929854"/>
            <a:ext cx="57518" cy="51371"/>
          </a:xfrm>
          <a:custGeom>
            <a:avLst/>
            <a:gdLst/>
            <a:ahLst/>
            <a:cxnLst/>
            <a:rect l="l" t="t" r="r" b="b"/>
            <a:pathLst>
              <a:path w="57518" h="51371">
                <a:moveTo>
                  <a:pt x="57518" y="25686"/>
                </a:moveTo>
                <a:lnTo>
                  <a:pt x="0" y="51371"/>
                </a:lnTo>
                <a:lnTo>
                  <a:pt x="0" y="0"/>
                </a:lnTo>
                <a:close/>
              </a:path>
            </a:pathLst>
          </a:custGeom>
          <a:solidFill>
            <a:srgbClr val="DB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84759" y="4740737"/>
            <a:ext cx="196220" cy="148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8" b="1">
                <a:solidFill>
                  <a:srgbClr val="DB7B72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51" name="Oval 50"/>
          <p:cNvSpPr/>
          <p:nvPr/>
        </p:nvSpPr>
        <p:spPr>
          <a:xfrm>
            <a:off x="5615940" y="4798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691298" y="4867193"/>
            <a:ext cx="164243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98534" y="5150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5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946648" y="4955540"/>
            <a:ext cx="796848" cy="0"/>
          </a:xfrm>
          <a:prstGeom prst="line">
            <a:avLst/>
          </a:prstGeom>
          <a:ln w="1574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6723774" y="4929854"/>
            <a:ext cx="57518" cy="51371"/>
          </a:xfrm>
          <a:custGeom>
            <a:avLst/>
            <a:gdLst/>
            <a:ahLst/>
            <a:cxnLst/>
            <a:rect l="l" t="t" r="r" b="b"/>
            <a:pathLst>
              <a:path w="57518" h="51371">
                <a:moveTo>
                  <a:pt x="57518" y="25686"/>
                </a:moveTo>
                <a:lnTo>
                  <a:pt x="0" y="51371"/>
                </a:lnTo>
                <a:lnTo>
                  <a:pt x="0" y="0"/>
                </a:lnTo>
                <a:close/>
              </a:path>
            </a:pathLst>
          </a:custGeom>
          <a:solidFill>
            <a:srgbClr val="9FC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5859" y="4740737"/>
            <a:ext cx="196220" cy="148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8" b="1">
                <a:solidFill>
                  <a:srgbClr val="BCD2D0"/>
                </a:solidFill>
                <a:latin typeface="Noto Sans SC"/>
                <a:ea typeface="Noto Sans SC"/>
              </a:rPr>
              <a:t>+0</a:t>
            </a:r>
          </a:p>
        </p:txBody>
      </p:sp>
      <p:sp>
        <p:nvSpPr>
          <p:cNvPr id="57" name="Oval 56"/>
          <p:cNvSpPr/>
          <p:nvPr/>
        </p:nvSpPr>
        <p:spPr>
          <a:xfrm>
            <a:off x="6797040" y="4798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874673" y="4867193"/>
            <a:ext cx="159692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79634" y="5150342"/>
            <a:ext cx="349770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127748" y="4955540"/>
            <a:ext cx="796848" cy="0"/>
          </a:xfrm>
          <a:prstGeom prst="line">
            <a:avLst/>
          </a:prstGeom>
          <a:ln w="15748">
            <a:solidFill>
              <a:srgbClr val="DB7B7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7904874" y="4929854"/>
            <a:ext cx="57518" cy="51371"/>
          </a:xfrm>
          <a:custGeom>
            <a:avLst/>
            <a:gdLst/>
            <a:ahLst/>
            <a:cxnLst/>
            <a:rect l="l" t="t" r="r" b="b"/>
            <a:pathLst>
              <a:path w="57518" h="51371">
                <a:moveTo>
                  <a:pt x="57518" y="25686"/>
                </a:moveTo>
                <a:lnTo>
                  <a:pt x="0" y="51371"/>
                </a:lnTo>
                <a:lnTo>
                  <a:pt x="0" y="0"/>
                </a:lnTo>
                <a:close/>
              </a:path>
            </a:pathLst>
          </a:custGeom>
          <a:solidFill>
            <a:srgbClr val="DB7B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46959" y="4740737"/>
            <a:ext cx="196220" cy="148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68" b="1">
                <a:solidFill>
                  <a:srgbClr val="DB7B72"/>
                </a:solidFill>
                <a:latin typeface="Noto Sans SC"/>
                <a:ea typeface="Noto Sans SC"/>
              </a:rPr>
              <a:t>+3</a:t>
            </a:r>
          </a:p>
        </p:txBody>
      </p:sp>
      <p:sp>
        <p:nvSpPr>
          <p:cNvPr id="63" name="Oval 62"/>
          <p:cNvSpPr/>
          <p:nvPr/>
        </p:nvSpPr>
        <p:spPr>
          <a:xfrm>
            <a:off x="7978140" y="4798060"/>
            <a:ext cx="314960" cy="314960"/>
          </a:xfrm>
          <a:prstGeom prst="ellipse">
            <a:avLst/>
          </a:prstGeom>
          <a:solidFill>
            <a:srgbClr val="A9BDB8"/>
          </a:solidFill>
          <a:ln w="11811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043927" y="4867193"/>
            <a:ext cx="183385" cy="180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4" b="1">
                <a:solidFill>
                  <a:srgbClr val="0B1B1F"/>
                </a:solidFill>
                <a:latin typeface="Noto Sans SC"/>
                <a:ea typeface="Noto Sans SC"/>
              </a:rPr>
              <a:t>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30537" y="5150342"/>
            <a:ext cx="410164" cy="1381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6" b="1">
                <a:solidFill>
                  <a:srgbClr val="D8BB78"/>
                </a:solidFill>
                <a:latin typeface="Noto Sans SC"/>
                <a:ea typeface="Noto Sans SC"/>
              </a:rPr>
              <a:t>到达 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4379" y="5417586"/>
            <a:ext cx="1140281" cy="1700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92" b="1">
                <a:solidFill>
                  <a:srgbClr val="F2F3E9"/>
                </a:solidFill>
                <a:latin typeface="Noto Sans SC"/>
                <a:ea typeface="Noto Sans SC"/>
              </a:rPr>
              <a:t>跨界 2 次：延迟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897837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RW 的模型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p3/12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00:24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组合电路 DAG；PI 为输入，PO 为输出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节点延迟 δ(v)；簇内连线 0，跨簇连线 D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簇容量 M（按节点大小之和）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允许复制逻辑节点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目标：最小化 PI→PO 最大延迟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500" y="5546598"/>
            <a:ext cx="4908550" cy="2393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300" b="0">
                <a:solidFill>
                  <a:srgbClr val="BCD2D0"/>
                </a:solidFill>
                <a:latin typeface="Noto Sans SC"/>
                <a:ea typeface="Noto Sans SC"/>
              </a:rPr>
              <a:t>此处 D 是跨簇延迟，不是 Module 06 的度矩阵。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50428" y="2013857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7198716" y="2310226"/>
            <a:ext cx="88291" cy="69199"/>
          </a:xfrm>
          <a:custGeom>
            <a:avLst/>
            <a:gdLst/>
            <a:ahLst/>
            <a:cxnLst/>
            <a:rect l="l" t="t" r="r" b="b"/>
            <a:pathLst>
              <a:path w="88291" h="69199">
                <a:moveTo>
                  <a:pt x="88291" y="58812"/>
                </a:moveTo>
                <a:lnTo>
                  <a:pt x="0" y="69199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6150428" y="1605158"/>
            <a:ext cx="1089863" cy="408699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201501" y="1580989"/>
            <a:ext cx="88733" cy="67884"/>
          </a:xfrm>
          <a:custGeom>
            <a:avLst/>
            <a:gdLst/>
            <a:ahLst/>
            <a:cxnLst/>
            <a:rect l="l" t="t" r="r" b="b"/>
            <a:pathLst>
              <a:path w="88733" h="67884">
                <a:moveTo>
                  <a:pt x="88733" y="5440"/>
                </a:moveTo>
                <a:lnTo>
                  <a:pt x="25456" y="67884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6150428" y="2553018"/>
            <a:ext cx="1115817" cy="76712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7222772" y="2522800"/>
            <a:ext cx="87427" cy="75858"/>
          </a:xfrm>
          <a:custGeom>
            <a:avLst/>
            <a:gdLst/>
            <a:ahLst/>
            <a:cxnLst/>
            <a:rect l="l" t="t" r="r" b="b"/>
            <a:pathLst>
              <a:path w="87427" h="75858">
                <a:moveTo>
                  <a:pt x="87427" y="0"/>
                </a:moveTo>
                <a:lnTo>
                  <a:pt x="41073" y="75858"/>
                </a:lnTo>
                <a:lnTo>
                  <a:pt x="0" y="16116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150428" y="3320142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7198716" y="3616511"/>
            <a:ext cx="88291" cy="69200"/>
          </a:xfrm>
          <a:custGeom>
            <a:avLst/>
            <a:gdLst/>
            <a:ahLst/>
            <a:cxnLst/>
            <a:rect l="l" t="t" r="r" b="b"/>
            <a:pathLst>
              <a:path w="88291" h="69200">
                <a:moveTo>
                  <a:pt x="88291" y="58812"/>
                </a:moveTo>
                <a:lnTo>
                  <a:pt x="0" y="69200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V="1">
            <a:off x="6150428" y="3859304"/>
            <a:ext cx="1115817" cy="76712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7222772" y="3829085"/>
            <a:ext cx="87427" cy="75859"/>
          </a:xfrm>
          <a:custGeom>
            <a:avLst/>
            <a:gdLst/>
            <a:ahLst/>
            <a:cxnLst/>
            <a:rect l="l" t="t" r="r" b="b"/>
            <a:pathLst>
              <a:path w="87427" h="75859">
                <a:moveTo>
                  <a:pt x="87427" y="0"/>
                </a:moveTo>
                <a:lnTo>
                  <a:pt x="41073" y="75859"/>
                </a:lnTo>
                <a:lnTo>
                  <a:pt x="0" y="16116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6150428" y="4626428"/>
            <a:ext cx="1082047" cy="270512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7196681" y="4855022"/>
            <a:ext cx="87541" cy="70335"/>
          </a:xfrm>
          <a:custGeom>
            <a:avLst/>
            <a:gdLst/>
            <a:ahLst/>
            <a:cxnLst/>
            <a:rect l="l" t="t" r="r" b="b"/>
            <a:pathLst>
              <a:path w="87541" h="70335">
                <a:moveTo>
                  <a:pt x="87541" y="54855"/>
                </a:moveTo>
                <a:lnTo>
                  <a:pt x="0" y="70335"/>
                </a:lnTo>
                <a:lnTo>
                  <a:pt x="17583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456714" y="2422071"/>
            <a:ext cx="2381544" cy="74423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9809306" y="2459393"/>
            <a:ext cx="82266" cy="72464"/>
          </a:xfrm>
          <a:custGeom>
            <a:avLst/>
            <a:gdLst/>
            <a:ahLst/>
            <a:cxnLst/>
            <a:rect l="l" t="t" r="r" b="b"/>
            <a:pathLst>
              <a:path w="82266" h="72464">
                <a:moveTo>
                  <a:pt x="82266" y="38767"/>
                </a:moveTo>
                <a:lnTo>
                  <a:pt x="0" y="72464"/>
                </a:lnTo>
                <a:lnTo>
                  <a:pt x="2264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7456714" y="3728357"/>
            <a:ext cx="1075146" cy="0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8504026" y="3692107"/>
            <a:ext cx="81174" cy="72500"/>
          </a:xfrm>
          <a:custGeom>
            <a:avLst/>
            <a:gdLst/>
            <a:ahLst/>
            <a:cxnLst/>
            <a:rect l="l" t="t" r="r" b="b"/>
            <a:pathLst>
              <a:path w="81174" h="72500">
                <a:moveTo>
                  <a:pt x="81174" y="36250"/>
                </a:moveTo>
                <a:lnTo>
                  <a:pt x="0" y="72500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456714" y="1524000"/>
            <a:ext cx="2396148" cy="898555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9814072" y="2378840"/>
            <a:ext cx="88734" cy="67884"/>
          </a:xfrm>
          <a:custGeom>
            <a:avLst/>
            <a:gdLst/>
            <a:ahLst/>
            <a:cxnLst/>
            <a:rect l="l" t="t" r="r" b="b"/>
            <a:pathLst>
              <a:path w="88734" h="67884">
                <a:moveTo>
                  <a:pt x="88734" y="62444"/>
                </a:moveTo>
                <a:lnTo>
                  <a:pt x="0" y="67884"/>
                </a:lnTo>
                <a:lnTo>
                  <a:pt x="25457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 flipV="1">
            <a:off x="8763000" y="2661800"/>
            <a:ext cx="1137660" cy="1066557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reeform 39"/>
          <p:cNvSpPr/>
          <p:nvPr/>
        </p:nvSpPr>
        <p:spPr>
          <a:xfrm>
            <a:off x="9855562" y="2625319"/>
            <a:ext cx="84011" cy="81963"/>
          </a:xfrm>
          <a:custGeom>
            <a:avLst/>
            <a:gdLst/>
            <a:ahLst/>
            <a:cxnLst/>
            <a:rect l="l" t="t" r="r" b="b"/>
            <a:pathLst>
              <a:path w="84011" h="81963">
                <a:moveTo>
                  <a:pt x="84011" y="0"/>
                </a:moveTo>
                <a:lnTo>
                  <a:pt x="49585" y="81963"/>
                </a:lnTo>
                <a:lnTo>
                  <a:pt x="0" y="29072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763000" y="3728357"/>
            <a:ext cx="1094525" cy="47885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eform 41"/>
          <p:cNvSpPr/>
          <p:nvPr/>
        </p:nvSpPr>
        <p:spPr>
          <a:xfrm>
            <a:off x="9817495" y="4162845"/>
            <a:ext cx="88897" cy="66421"/>
          </a:xfrm>
          <a:custGeom>
            <a:avLst/>
            <a:gdLst/>
            <a:ahLst/>
            <a:cxnLst/>
            <a:rect l="l" t="t" r="r" b="b"/>
            <a:pathLst>
              <a:path w="88897" h="66421">
                <a:moveTo>
                  <a:pt x="88897" y="65746"/>
                </a:moveTo>
                <a:lnTo>
                  <a:pt x="0" y="66421"/>
                </a:lnTo>
                <a:lnTo>
                  <a:pt x="29059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7456714" y="4355916"/>
            <a:ext cx="2388332" cy="59708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9809252" y="4327499"/>
            <a:ext cx="87542" cy="70336"/>
          </a:xfrm>
          <a:custGeom>
            <a:avLst/>
            <a:gdLst/>
            <a:ahLst/>
            <a:cxnLst/>
            <a:rect l="l" t="t" r="r" b="b"/>
            <a:pathLst>
              <a:path w="87542" h="70336">
                <a:moveTo>
                  <a:pt x="87542" y="15480"/>
                </a:moveTo>
                <a:lnTo>
                  <a:pt x="17584" y="70336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069285" y="2503714"/>
            <a:ext cx="1094525" cy="478855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/>
          <p:cNvSpPr/>
          <p:nvPr/>
        </p:nvSpPr>
        <p:spPr>
          <a:xfrm>
            <a:off x="11123781" y="2938202"/>
            <a:ext cx="88897" cy="66421"/>
          </a:xfrm>
          <a:custGeom>
            <a:avLst/>
            <a:gdLst/>
            <a:ahLst/>
            <a:cxnLst/>
            <a:rect l="l" t="t" r="r" b="b"/>
            <a:pathLst>
              <a:path w="88897" h="66421">
                <a:moveTo>
                  <a:pt x="88897" y="65746"/>
                </a:moveTo>
                <a:lnTo>
                  <a:pt x="0" y="66421"/>
                </a:lnTo>
                <a:lnTo>
                  <a:pt x="29059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10069285" y="3233300"/>
            <a:ext cx="1137661" cy="1066557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 47"/>
          <p:cNvSpPr/>
          <p:nvPr/>
        </p:nvSpPr>
        <p:spPr>
          <a:xfrm>
            <a:off x="11161847" y="3196819"/>
            <a:ext cx="84012" cy="81963"/>
          </a:xfrm>
          <a:custGeom>
            <a:avLst/>
            <a:gdLst/>
            <a:ahLst/>
            <a:cxnLst/>
            <a:rect l="l" t="t" r="r" b="b"/>
            <a:pathLst>
              <a:path w="84012" h="81963">
                <a:moveTo>
                  <a:pt x="84012" y="0"/>
                </a:moveTo>
                <a:lnTo>
                  <a:pt x="49586" y="81963"/>
                </a:lnTo>
                <a:lnTo>
                  <a:pt x="0" y="29072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069285" y="4299857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11117573" y="4596226"/>
            <a:ext cx="88291" cy="69199"/>
          </a:xfrm>
          <a:custGeom>
            <a:avLst/>
            <a:gdLst/>
            <a:ahLst/>
            <a:cxnLst/>
            <a:rect l="l" t="t" r="r" b="b"/>
            <a:pathLst>
              <a:path w="88291" h="69199">
                <a:moveTo>
                  <a:pt x="88291" y="58812"/>
                </a:moveTo>
                <a:lnTo>
                  <a:pt x="0" y="69199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98028" y="1861457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052111" y="1904891"/>
            <a:ext cx="19663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3" name="Oval 52"/>
          <p:cNvSpPr/>
          <p:nvPr/>
        </p:nvSpPr>
        <p:spPr>
          <a:xfrm>
            <a:off x="5998028" y="3167742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047736" y="3211176"/>
            <a:ext cx="20538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5998028" y="4474028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057394" y="4517462"/>
            <a:ext cx="186067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57" name="Oval 56"/>
          <p:cNvSpPr/>
          <p:nvPr/>
        </p:nvSpPr>
        <p:spPr>
          <a:xfrm>
            <a:off x="7304314" y="2269671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354022" y="2313105"/>
            <a:ext cx="20538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9" name="Oval 58"/>
          <p:cNvSpPr/>
          <p:nvPr/>
        </p:nvSpPr>
        <p:spPr>
          <a:xfrm>
            <a:off x="7304314" y="35759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359222" y="3619391"/>
            <a:ext cx="19498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61" name="Oval 60"/>
          <p:cNvSpPr/>
          <p:nvPr/>
        </p:nvSpPr>
        <p:spPr>
          <a:xfrm>
            <a:off x="7304314" y="1371600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376062" y="1415034"/>
            <a:ext cx="16130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63" name="Oval 62"/>
          <p:cNvSpPr/>
          <p:nvPr/>
        </p:nvSpPr>
        <p:spPr>
          <a:xfrm>
            <a:off x="7304314" y="4800600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354352" y="4844034"/>
            <a:ext cx="2047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h</a:t>
            </a:r>
          </a:p>
        </p:txBody>
      </p:sp>
      <p:sp>
        <p:nvSpPr>
          <p:cNvPr id="65" name="Oval 64"/>
          <p:cNvSpPr/>
          <p:nvPr/>
        </p:nvSpPr>
        <p:spPr>
          <a:xfrm>
            <a:off x="8610600" y="35759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664187" y="3619391"/>
            <a:ext cx="1976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67" name="Oval 66"/>
          <p:cNvSpPr/>
          <p:nvPr/>
        </p:nvSpPr>
        <p:spPr>
          <a:xfrm>
            <a:off x="9916885" y="2351314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994660" y="2394748"/>
            <a:ext cx="14925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i</a:t>
            </a:r>
          </a:p>
        </p:txBody>
      </p:sp>
      <p:sp>
        <p:nvSpPr>
          <p:cNvPr id="69" name="Oval 68"/>
          <p:cNvSpPr/>
          <p:nvPr/>
        </p:nvSpPr>
        <p:spPr>
          <a:xfrm>
            <a:off x="9916885" y="41474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9994495" y="4190891"/>
            <a:ext cx="1495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j</a:t>
            </a:r>
          </a:p>
        </p:txBody>
      </p:sp>
      <p:sp>
        <p:nvSpPr>
          <p:cNvPr id="71" name="Oval 70"/>
          <p:cNvSpPr/>
          <p:nvPr/>
        </p:nvSpPr>
        <p:spPr>
          <a:xfrm>
            <a:off x="11223171" y="2922814"/>
            <a:ext cx="304800" cy="3048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276181" y="2966248"/>
            <a:ext cx="1987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k</a:t>
            </a:r>
          </a:p>
        </p:txBody>
      </p:sp>
      <p:sp>
        <p:nvSpPr>
          <p:cNvPr id="73" name="Oval 72"/>
          <p:cNvSpPr/>
          <p:nvPr/>
        </p:nvSpPr>
        <p:spPr>
          <a:xfrm>
            <a:off x="11223171" y="4555671"/>
            <a:ext cx="304800" cy="3048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1300038" y="4599105"/>
            <a:ext cx="15106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97838" y="5524500"/>
            <a:ext cx="1930323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C2A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7851178" y="5585206"/>
            <a:ext cx="1823643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2A6E6"/>
                </a:solidFill>
                <a:latin typeface="Noto Sans SC"/>
                <a:ea typeface="Noto Sans SC"/>
              </a:rPr>
              <a:t>候选复原数据 · 平票为假设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769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复制：逻辑节点与实例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p4/12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00:47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一个逻辑节点（logicalId）可有多个物理实例（instanceId）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实例写作“节点@簇根”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7161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6074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复制让多个簇在簇内拿到同一信号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147948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039236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代价：每个副本都占面积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5797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471037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“节点 → 簇”的映射表示不了复制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10200" y="1657350"/>
            <a:ext cx="1511299" cy="1866900"/>
          </a:xfrm>
          <a:prstGeom prst="roundRect">
            <a:avLst>
              <a:gd name="adj" fmla="val 8823"/>
            </a:avLst>
          </a:prstGeom>
          <a:noFill/>
          <a:ln w="13334">
            <a:solidFill>
              <a:srgbClr val="77CDB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454900" y="1657350"/>
            <a:ext cx="1511299" cy="1866900"/>
          </a:xfrm>
          <a:prstGeom prst="roundRect">
            <a:avLst>
              <a:gd name="adj" fmla="val 8823"/>
            </a:avLst>
          </a:prstGeom>
          <a:noFill/>
          <a:ln w="13334">
            <a:solidFill>
              <a:srgbClr val="8FB1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26183" y="1761718"/>
            <a:ext cx="279332" cy="156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10" b="1">
                <a:solidFill>
                  <a:srgbClr val="77CDBB"/>
                </a:solidFill>
                <a:latin typeface="Noto Sans SC"/>
                <a:ea typeface="Noto Sans SC"/>
              </a:rPr>
              <a:t>簇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0883" y="1761718"/>
            <a:ext cx="279332" cy="156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10" b="1">
                <a:solidFill>
                  <a:srgbClr val="8FB1E6"/>
                </a:solidFill>
                <a:latin typeface="Noto Sans SC"/>
                <a:ea typeface="Noto Sans SC"/>
              </a:rPr>
              <a:t>簇 2</a:t>
            </a:r>
          </a:p>
        </p:txBody>
      </p:sp>
      <p:sp>
        <p:nvSpPr>
          <p:cNvPr id="24" name="Oval 23"/>
          <p:cNvSpPr/>
          <p:nvPr/>
        </p:nvSpPr>
        <p:spPr>
          <a:xfrm>
            <a:off x="5996940" y="2866390"/>
            <a:ext cx="337820" cy="337820"/>
          </a:xfrm>
          <a:prstGeom prst="ellipse">
            <a:avLst/>
          </a:prstGeom>
          <a:solidFill>
            <a:srgbClr val="A9BDB8"/>
          </a:solidFill>
          <a:ln w="13334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097539" y="2935554"/>
            <a:ext cx="136621" cy="204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9" b="1">
                <a:solidFill>
                  <a:srgbClr val="0B1B1F"/>
                </a:solidFill>
                <a:latin typeface="Noto Sans SC"/>
                <a:ea typeface="Noto Sans SC"/>
              </a:rPr>
              <a:t>i</a:t>
            </a:r>
          </a:p>
        </p:txBody>
      </p:sp>
      <p:sp>
        <p:nvSpPr>
          <p:cNvPr id="26" name="Oval 25"/>
          <p:cNvSpPr/>
          <p:nvPr/>
        </p:nvSpPr>
        <p:spPr>
          <a:xfrm>
            <a:off x="8041640" y="2866390"/>
            <a:ext cx="337820" cy="337820"/>
          </a:xfrm>
          <a:prstGeom prst="ellipse">
            <a:avLst/>
          </a:prstGeom>
          <a:solidFill>
            <a:srgbClr val="A9BDB8"/>
          </a:solidFill>
          <a:ln w="13334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42088" y="2935554"/>
            <a:ext cx="136923" cy="204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9" b="1">
                <a:solidFill>
                  <a:srgbClr val="0B1B1F"/>
                </a:solidFill>
                <a:latin typeface="Noto Sans SC"/>
                <a:ea typeface="Noto Sans SC"/>
              </a:rPr>
              <a:t>j</a:t>
            </a:r>
          </a:p>
        </p:txBody>
      </p:sp>
      <p:sp>
        <p:nvSpPr>
          <p:cNvPr id="28" name="Oval 27"/>
          <p:cNvSpPr/>
          <p:nvPr/>
        </p:nvSpPr>
        <p:spPr>
          <a:xfrm>
            <a:off x="5996940" y="2155190"/>
            <a:ext cx="337820" cy="337820"/>
          </a:xfrm>
          <a:prstGeom prst="ellipse">
            <a:avLst/>
          </a:prstGeom>
          <a:solidFill>
            <a:srgbClr val="D8BB78"/>
          </a:solidFill>
          <a:ln w="13334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5992495" y="2150745"/>
            <a:ext cx="346709" cy="346709"/>
          </a:xfrm>
          <a:prstGeom prst="ellipse">
            <a:avLst/>
          </a:prstGeom>
          <a:noFill/>
          <a:ln w="13334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075398" y="2224354"/>
            <a:ext cx="180902" cy="204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9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31" name="Oval 30"/>
          <p:cNvSpPr/>
          <p:nvPr/>
        </p:nvSpPr>
        <p:spPr>
          <a:xfrm>
            <a:off x="8041640" y="2155190"/>
            <a:ext cx="337820" cy="337820"/>
          </a:xfrm>
          <a:prstGeom prst="ellipse">
            <a:avLst/>
          </a:prstGeom>
          <a:solidFill>
            <a:srgbClr val="D8BB78"/>
          </a:solidFill>
          <a:ln w="13334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037195" y="2150745"/>
            <a:ext cx="346709" cy="346709"/>
          </a:xfrm>
          <a:prstGeom prst="ellipse">
            <a:avLst/>
          </a:prstGeom>
          <a:noFill/>
          <a:ln w="13334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0098" y="2224354"/>
            <a:ext cx="180902" cy="204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89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6649" y="2535504"/>
            <a:ext cx="358400" cy="132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69" b="0">
                <a:solidFill>
                  <a:srgbClr val="BCD2D0"/>
                </a:solidFill>
                <a:latin typeface="Noto Sans SC"/>
                <a:ea typeface="Noto Sans SC"/>
              </a:rPr>
              <a:t>g@簇1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1349" y="2535504"/>
            <a:ext cx="358400" cy="132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69" b="0">
                <a:solidFill>
                  <a:srgbClr val="BCD2D0"/>
                </a:solidFill>
                <a:latin typeface="Noto Sans SC"/>
                <a:ea typeface="Noto Sans SC"/>
              </a:rPr>
              <a:t>g@簇2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65850" y="2324100"/>
            <a:ext cx="0" cy="487172"/>
          </a:xfrm>
          <a:prstGeom prst="line">
            <a:avLst/>
          </a:prstGeom>
          <a:ln w="13334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6140475" y="2791788"/>
            <a:ext cx="50749" cy="56822"/>
          </a:xfrm>
          <a:custGeom>
            <a:avLst/>
            <a:gdLst/>
            <a:ahLst/>
            <a:cxnLst/>
            <a:rect l="l" t="t" r="r" b="b"/>
            <a:pathLst>
              <a:path w="50749" h="56822">
                <a:moveTo>
                  <a:pt x="25375" y="56822"/>
                </a:moveTo>
                <a:lnTo>
                  <a:pt x="0" y="0"/>
                </a:lnTo>
                <a:lnTo>
                  <a:pt x="50749" y="0"/>
                </a:lnTo>
                <a:close/>
              </a:path>
            </a:pathLst>
          </a:custGeom>
          <a:solidFill>
            <a:srgbClr val="9FC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210550" y="2324100"/>
            <a:ext cx="0" cy="487172"/>
          </a:xfrm>
          <a:prstGeom prst="line">
            <a:avLst/>
          </a:prstGeom>
          <a:ln w="13334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8185175" y="2791788"/>
            <a:ext cx="50749" cy="56822"/>
          </a:xfrm>
          <a:custGeom>
            <a:avLst/>
            <a:gdLst/>
            <a:ahLst/>
            <a:cxnLst/>
            <a:rect l="l" t="t" r="r" b="b"/>
            <a:pathLst>
              <a:path w="50749" h="56822">
                <a:moveTo>
                  <a:pt x="25375" y="56822"/>
                </a:moveTo>
                <a:lnTo>
                  <a:pt x="0" y="0"/>
                </a:lnTo>
                <a:lnTo>
                  <a:pt x="50749" y="0"/>
                </a:lnTo>
                <a:close/>
              </a:path>
            </a:pathLst>
          </a:custGeom>
          <a:solidFill>
            <a:srgbClr val="9FC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6343650" y="2324100"/>
            <a:ext cx="1689100" cy="0"/>
          </a:xfrm>
          <a:prstGeom prst="line">
            <a:avLst/>
          </a:prstGeom>
          <a:ln w="8890">
            <a:solidFill>
              <a:srgbClr val="C2A6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516116" y="2148611"/>
            <a:ext cx="1344168" cy="1440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39" b="0">
                <a:solidFill>
                  <a:srgbClr val="C2A6E6"/>
                </a:solidFill>
                <a:latin typeface="Noto Sans SC"/>
                <a:ea typeface="Noto Sans SC"/>
              </a:rPr>
              <a:t>同一个逻辑节点的两个实例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76925" y="3853179"/>
            <a:ext cx="2622550" cy="213359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889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06262" y="3895140"/>
            <a:ext cx="2563876" cy="168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9" b="1">
                <a:solidFill>
                  <a:srgbClr val="D8BB78"/>
                </a:solidFill>
                <a:latin typeface="Noto Sans SC"/>
                <a:ea typeface="Noto Sans SC"/>
              </a:rPr>
              <a:t>代价：多一个实例，多占一份面积（示意图）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880662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初始化：候选 DAG 与 Δ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p5/12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01:08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原作 12 节点算例：PI a、b、c；PO k、l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δ = 1，D = 3，容量 4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Δ(x, v)：x 到 v 的最长节点延迟（计 v 不计 x）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Δ(b, k) = 4（b→e→g→i→k）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BCD2D0"/>
                </a:solidFill>
                <a:latin typeface="Noto Sans SC"/>
                <a:ea typeface="Noto Sans SC"/>
              </a:rPr>
              <a:t>图由原作影片复原：候选数据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50428" y="2013857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 20"/>
          <p:cNvSpPr/>
          <p:nvPr/>
        </p:nvSpPr>
        <p:spPr>
          <a:xfrm>
            <a:off x="7198716" y="2310226"/>
            <a:ext cx="88291" cy="69199"/>
          </a:xfrm>
          <a:custGeom>
            <a:avLst/>
            <a:gdLst/>
            <a:ahLst/>
            <a:cxnLst/>
            <a:rect l="l" t="t" r="r" b="b"/>
            <a:pathLst>
              <a:path w="88291" h="69199">
                <a:moveTo>
                  <a:pt x="88291" y="58812"/>
                </a:moveTo>
                <a:lnTo>
                  <a:pt x="0" y="69199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6150428" y="1605158"/>
            <a:ext cx="1089863" cy="408699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7201501" y="1580989"/>
            <a:ext cx="88733" cy="67884"/>
          </a:xfrm>
          <a:custGeom>
            <a:avLst/>
            <a:gdLst/>
            <a:ahLst/>
            <a:cxnLst/>
            <a:rect l="l" t="t" r="r" b="b"/>
            <a:pathLst>
              <a:path w="88733" h="67884">
                <a:moveTo>
                  <a:pt x="88733" y="5440"/>
                </a:moveTo>
                <a:lnTo>
                  <a:pt x="25456" y="67884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6150428" y="2553018"/>
            <a:ext cx="1115817" cy="76712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7222772" y="2522800"/>
            <a:ext cx="87427" cy="75858"/>
          </a:xfrm>
          <a:custGeom>
            <a:avLst/>
            <a:gdLst/>
            <a:ahLst/>
            <a:cxnLst/>
            <a:rect l="l" t="t" r="r" b="b"/>
            <a:pathLst>
              <a:path w="87427" h="75858">
                <a:moveTo>
                  <a:pt x="87427" y="0"/>
                </a:moveTo>
                <a:lnTo>
                  <a:pt x="41073" y="75858"/>
                </a:lnTo>
                <a:lnTo>
                  <a:pt x="0" y="16116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50428" y="3320142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7198716" y="3616511"/>
            <a:ext cx="88291" cy="69200"/>
          </a:xfrm>
          <a:custGeom>
            <a:avLst/>
            <a:gdLst/>
            <a:ahLst/>
            <a:cxnLst/>
            <a:rect l="l" t="t" r="r" b="b"/>
            <a:pathLst>
              <a:path w="88291" h="69200">
                <a:moveTo>
                  <a:pt x="88291" y="58812"/>
                </a:moveTo>
                <a:lnTo>
                  <a:pt x="0" y="69200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6150428" y="3859304"/>
            <a:ext cx="1115817" cy="76712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 28"/>
          <p:cNvSpPr/>
          <p:nvPr/>
        </p:nvSpPr>
        <p:spPr>
          <a:xfrm>
            <a:off x="7222772" y="3829085"/>
            <a:ext cx="87427" cy="75859"/>
          </a:xfrm>
          <a:custGeom>
            <a:avLst/>
            <a:gdLst/>
            <a:ahLst/>
            <a:cxnLst/>
            <a:rect l="l" t="t" r="r" b="b"/>
            <a:pathLst>
              <a:path w="87427" h="75859">
                <a:moveTo>
                  <a:pt x="87427" y="0"/>
                </a:moveTo>
                <a:lnTo>
                  <a:pt x="41073" y="75859"/>
                </a:lnTo>
                <a:lnTo>
                  <a:pt x="0" y="16116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150428" y="4626428"/>
            <a:ext cx="1082047" cy="270512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eform 30"/>
          <p:cNvSpPr/>
          <p:nvPr/>
        </p:nvSpPr>
        <p:spPr>
          <a:xfrm>
            <a:off x="7196681" y="4855022"/>
            <a:ext cx="87541" cy="70335"/>
          </a:xfrm>
          <a:custGeom>
            <a:avLst/>
            <a:gdLst/>
            <a:ahLst/>
            <a:cxnLst/>
            <a:rect l="l" t="t" r="r" b="b"/>
            <a:pathLst>
              <a:path w="87541" h="70335">
                <a:moveTo>
                  <a:pt x="87541" y="54855"/>
                </a:moveTo>
                <a:lnTo>
                  <a:pt x="0" y="70335"/>
                </a:lnTo>
                <a:lnTo>
                  <a:pt x="17583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7456714" y="2422071"/>
            <a:ext cx="2381544" cy="74423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9809306" y="2459393"/>
            <a:ext cx="82266" cy="72464"/>
          </a:xfrm>
          <a:custGeom>
            <a:avLst/>
            <a:gdLst/>
            <a:ahLst/>
            <a:cxnLst/>
            <a:rect l="l" t="t" r="r" b="b"/>
            <a:pathLst>
              <a:path w="82266" h="72464">
                <a:moveTo>
                  <a:pt x="82266" y="38767"/>
                </a:moveTo>
                <a:lnTo>
                  <a:pt x="0" y="72464"/>
                </a:lnTo>
                <a:lnTo>
                  <a:pt x="2264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456714" y="3728357"/>
            <a:ext cx="1075146" cy="0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Freeform 34"/>
          <p:cNvSpPr/>
          <p:nvPr/>
        </p:nvSpPr>
        <p:spPr>
          <a:xfrm>
            <a:off x="8504026" y="3692107"/>
            <a:ext cx="81174" cy="72500"/>
          </a:xfrm>
          <a:custGeom>
            <a:avLst/>
            <a:gdLst/>
            <a:ahLst/>
            <a:cxnLst/>
            <a:rect l="l" t="t" r="r" b="b"/>
            <a:pathLst>
              <a:path w="81174" h="72500">
                <a:moveTo>
                  <a:pt x="81174" y="36250"/>
                </a:moveTo>
                <a:lnTo>
                  <a:pt x="0" y="72500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456714" y="1524000"/>
            <a:ext cx="2396148" cy="898555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814072" y="2378840"/>
            <a:ext cx="88734" cy="67884"/>
          </a:xfrm>
          <a:custGeom>
            <a:avLst/>
            <a:gdLst/>
            <a:ahLst/>
            <a:cxnLst/>
            <a:rect l="l" t="t" r="r" b="b"/>
            <a:pathLst>
              <a:path w="88734" h="67884">
                <a:moveTo>
                  <a:pt x="88734" y="62444"/>
                </a:moveTo>
                <a:lnTo>
                  <a:pt x="0" y="67884"/>
                </a:lnTo>
                <a:lnTo>
                  <a:pt x="25457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8763000" y="2661800"/>
            <a:ext cx="1137660" cy="1066557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9855562" y="2625319"/>
            <a:ext cx="84011" cy="81963"/>
          </a:xfrm>
          <a:custGeom>
            <a:avLst/>
            <a:gdLst/>
            <a:ahLst/>
            <a:cxnLst/>
            <a:rect l="l" t="t" r="r" b="b"/>
            <a:pathLst>
              <a:path w="84011" h="81963">
                <a:moveTo>
                  <a:pt x="84011" y="0"/>
                </a:moveTo>
                <a:lnTo>
                  <a:pt x="49585" y="81963"/>
                </a:lnTo>
                <a:lnTo>
                  <a:pt x="0" y="29072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8763000" y="3728357"/>
            <a:ext cx="1094525" cy="47885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817495" y="4162845"/>
            <a:ext cx="88897" cy="66421"/>
          </a:xfrm>
          <a:custGeom>
            <a:avLst/>
            <a:gdLst/>
            <a:ahLst/>
            <a:cxnLst/>
            <a:rect l="l" t="t" r="r" b="b"/>
            <a:pathLst>
              <a:path w="88897" h="66421">
                <a:moveTo>
                  <a:pt x="88897" y="65746"/>
                </a:moveTo>
                <a:lnTo>
                  <a:pt x="0" y="66421"/>
                </a:lnTo>
                <a:lnTo>
                  <a:pt x="29059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7456714" y="4355916"/>
            <a:ext cx="2388332" cy="59708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809252" y="4327499"/>
            <a:ext cx="87542" cy="70336"/>
          </a:xfrm>
          <a:custGeom>
            <a:avLst/>
            <a:gdLst/>
            <a:ahLst/>
            <a:cxnLst/>
            <a:rect l="l" t="t" r="r" b="b"/>
            <a:pathLst>
              <a:path w="87542" h="70336">
                <a:moveTo>
                  <a:pt x="87542" y="15480"/>
                </a:moveTo>
                <a:lnTo>
                  <a:pt x="17584" y="70336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069285" y="2503714"/>
            <a:ext cx="1094525" cy="478855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1123781" y="2938202"/>
            <a:ext cx="88897" cy="66421"/>
          </a:xfrm>
          <a:custGeom>
            <a:avLst/>
            <a:gdLst/>
            <a:ahLst/>
            <a:cxnLst/>
            <a:rect l="l" t="t" r="r" b="b"/>
            <a:pathLst>
              <a:path w="88897" h="66421">
                <a:moveTo>
                  <a:pt x="88897" y="65746"/>
                </a:moveTo>
                <a:lnTo>
                  <a:pt x="0" y="66421"/>
                </a:lnTo>
                <a:lnTo>
                  <a:pt x="29059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0069285" y="3233300"/>
            <a:ext cx="1137661" cy="1066557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1161847" y="3196819"/>
            <a:ext cx="84012" cy="81963"/>
          </a:xfrm>
          <a:custGeom>
            <a:avLst/>
            <a:gdLst/>
            <a:ahLst/>
            <a:cxnLst/>
            <a:rect l="l" t="t" r="r" b="b"/>
            <a:pathLst>
              <a:path w="84012" h="81963">
                <a:moveTo>
                  <a:pt x="84012" y="0"/>
                </a:moveTo>
                <a:lnTo>
                  <a:pt x="49586" y="81963"/>
                </a:lnTo>
                <a:lnTo>
                  <a:pt x="0" y="29072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0069285" y="4299857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1117573" y="4596226"/>
            <a:ext cx="88291" cy="69199"/>
          </a:xfrm>
          <a:custGeom>
            <a:avLst/>
            <a:gdLst/>
            <a:ahLst/>
            <a:cxnLst/>
            <a:rect l="l" t="t" r="r" b="b"/>
            <a:pathLst>
              <a:path w="88291" h="69199">
                <a:moveTo>
                  <a:pt x="88291" y="58812"/>
                </a:moveTo>
                <a:lnTo>
                  <a:pt x="0" y="69199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98028" y="1861457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052111" y="1904891"/>
            <a:ext cx="19663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2" name="Oval 51"/>
          <p:cNvSpPr/>
          <p:nvPr/>
        </p:nvSpPr>
        <p:spPr>
          <a:xfrm>
            <a:off x="5998028" y="3167742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047736" y="3211176"/>
            <a:ext cx="20538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4" name="Oval 53"/>
          <p:cNvSpPr/>
          <p:nvPr/>
        </p:nvSpPr>
        <p:spPr>
          <a:xfrm>
            <a:off x="5998028" y="4474028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057394" y="4517462"/>
            <a:ext cx="186067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56" name="Oval 55"/>
          <p:cNvSpPr/>
          <p:nvPr/>
        </p:nvSpPr>
        <p:spPr>
          <a:xfrm>
            <a:off x="7304314" y="2269671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354022" y="2313105"/>
            <a:ext cx="20538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8" name="Oval 57"/>
          <p:cNvSpPr/>
          <p:nvPr/>
        </p:nvSpPr>
        <p:spPr>
          <a:xfrm>
            <a:off x="7304314" y="35759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7359222" y="3619391"/>
            <a:ext cx="19498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60" name="Oval 59"/>
          <p:cNvSpPr/>
          <p:nvPr/>
        </p:nvSpPr>
        <p:spPr>
          <a:xfrm>
            <a:off x="7304314" y="1371600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376062" y="1415034"/>
            <a:ext cx="16130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62" name="Oval 61"/>
          <p:cNvSpPr/>
          <p:nvPr/>
        </p:nvSpPr>
        <p:spPr>
          <a:xfrm>
            <a:off x="7304314" y="4800600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354352" y="4844034"/>
            <a:ext cx="2047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h</a:t>
            </a:r>
          </a:p>
        </p:txBody>
      </p:sp>
      <p:sp>
        <p:nvSpPr>
          <p:cNvPr id="64" name="Oval 63"/>
          <p:cNvSpPr/>
          <p:nvPr/>
        </p:nvSpPr>
        <p:spPr>
          <a:xfrm>
            <a:off x="8610600" y="35759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664187" y="3619391"/>
            <a:ext cx="1976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66" name="Oval 65"/>
          <p:cNvSpPr/>
          <p:nvPr/>
        </p:nvSpPr>
        <p:spPr>
          <a:xfrm>
            <a:off x="9916885" y="2351314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994660" y="2394748"/>
            <a:ext cx="14925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i</a:t>
            </a:r>
          </a:p>
        </p:txBody>
      </p:sp>
      <p:sp>
        <p:nvSpPr>
          <p:cNvPr id="68" name="Oval 67"/>
          <p:cNvSpPr/>
          <p:nvPr/>
        </p:nvSpPr>
        <p:spPr>
          <a:xfrm>
            <a:off x="9916885" y="41474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994495" y="4190891"/>
            <a:ext cx="1495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j</a:t>
            </a:r>
          </a:p>
        </p:txBody>
      </p:sp>
      <p:sp>
        <p:nvSpPr>
          <p:cNvPr id="70" name="Oval 69"/>
          <p:cNvSpPr/>
          <p:nvPr/>
        </p:nvSpPr>
        <p:spPr>
          <a:xfrm>
            <a:off x="11223171" y="2922814"/>
            <a:ext cx="304800" cy="3048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1276181" y="2966248"/>
            <a:ext cx="1987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k</a:t>
            </a:r>
          </a:p>
        </p:txBody>
      </p:sp>
      <p:sp>
        <p:nvSpPr>
          <p:cNvPr id="72" name="Oval 71"/>
          <p:cNvSpPr/>
          <p:nvPr/>
        </p:nvSpPr>
        <p:spPr>
          <a:xfrm>
            <a:off x="11223171" y="4555671"/>
            <a:ext cx="304800" cy="3048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1300038" y="4599105"/>
            <a:ext cx="15106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l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97838" y="5524500"/>
            <a:ext cx="1930323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C2A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851178" y="5585206"/>
            <a:ext cx="1823643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2A6E6"/>
                </a:solidFill>
                <a:latin typeface="Noto Sans SC"/>
                <a:ea typeface="Noto Sans SC"/>
              </a:rPr>
              <a:t>候选复原数据 · 平票为假设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885641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标记：l(v) = max(l1, l2)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01:51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得分 score(x) = l(x) + Δ(x, v)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候选簇：v + 得分最高的祖先，直到容量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平票：拓扑序靠后者优先（本课程的假设）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l1 = 簇内 PI 最大得分；l2 = 簇外最大得分 + D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i：l1 = 4，l2 = 7 → l(i) =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1110" y="1533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祖先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3109" y="1533144"/>
            <a:ext cx="397027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l(x)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5109" y="1533144"/>
            <a:ext cx="232918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0110" y="1533144"/>
            <a:ext cx="462280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1">
                <a:solidFill>
                  <a:srgbClr val="BCD2D0"/>
                </a:solidFill>
                <a:latin typeface="Noto Sans SC"/>
                <a:ea typeface="Noto Sans SC"/>
              </a:rPr>
              <a:t>得分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11900" y="1816100"/>
            <a:ext cx="37846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1100" y="1879600"/>
            <a:ext cx="3924300" cy="393700"/>
          </a:xfrm>
          <a:prstGeom prst="roundRect">
            <a:avLst>
              <a:gd name="adj" fmla="val 12903"/>
            </a:avLst>
          </a:prstGeom>
          <a:solidFill>
            <a:srgbClr val="77CDB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39840" y="1926336"/>
            <a:ext cx="23652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1840" y="19263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19263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8840" y="19263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0840" y="19263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1100" y="2298700"/>
            <a:ext cx="3924300" cy="393700"/>
          </a:xfrm>
          <a:prstGeom prst="roundRect">
            <a:avLst>
              <a:gd name="adj" fmla="val 12903"/>
            </a:avLst>
          </a:prstGeom>
          <a:solidFill>
            <a:srgbClr val="77CDB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39840" y="2345436"/>
            <a:ext cx="234492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1840" y="2345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2345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8840" y="23454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0840" y="23454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1100" y="2717800"/>
            <a:ext cx="3924300" cy="393700"/>
          </a:xfrm>
          <a:prstGeom prst="roundRect">
            <a:avLst>
              <a:gd name="adj" fmla="val 12903"/>
            </a:avLst>
          </a:prstGeom>
          <a:solidFill>
            <a:srgbClr val="77CDB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39840" y="2764536"/>
            <a:ext cx="22555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01840" y="2764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2764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98840" y="27645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0840" y="27645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3183636"/>
            <a:ext cx="24749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1840" y="31836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1836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98840" y="31836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60840" y="31836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39840" y="3602736"/>
            <a:ext cx="187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01840" y="36027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36027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98840" y="36027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60840" y="36027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9840" y="4021836"/>
            <a:ext cx="247904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01840" y="4021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4021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98840" y="40218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60840" y="40218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39840" y="4440936"/>
            <a:ext cx="236321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01840" y="4440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4440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98840" y="4440936"/>
            <a:ext cx="234696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60840" y="4440936"/>
            <a:ext cx="5283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0">
                <a:solidFill>
                  <a:srgbClr val="F2F3E9"/>
                </a:solidFill>
                <a:latin typeface="Noto Sans SC"/>
                <a:ea typeface="Noto Sans SC"/>
              </a:rPr>
              <a:t>簇外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517568" y="5245100"/>
            <a:ext cx="1855863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7563288" y="5305298"/>
            <a:ext cx="176442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l1 = 4，l2 = 7，l(i) =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1635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全部标签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《关键路径的代价（上）：模型与标记》 02:22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PI：l = 1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d、e、f、h：2；g：3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i、j：7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k、l：8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RW 的标签是时间，不是群体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50428" y="2013857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reeform 20"/>
          <p:cNvSpPr/>
          <p:nvPr/>
        </p:nvSpPr>
        <p:spPr>
          <a:xfrm>
            <a:off x="7198716" y="2310226"/>
            <a:ext cx="88291" cy="69199"/>
          </a:xfrm>
          <a:custGeom>
            <a:avLst/>
            <a:gdLst/>
            <a:ahLst/>
            <a:cxnLst/>
            <a:rect l="l" t="t" r="r" b="b"/>
            <a:pathLst>
              <a:path w="88291" h="69199">
                <a:moveTo>
                  <a:pt x="88291" y="58812"/>
                </a:moveTo>
                <a:lnTo>
                  <a:pt x="0" y="69199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6150428" y="1605158"/>
            <a:ext cx="1089863" cy="408699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reeform 22"/>
          <p:cNvSpPr/>
          <p:nvPr/>
        </p:nvSpPr>
        <p:spPr>
          <a:xfrm>
            <a:off x="7201501" y="1580989"/>
            <a:ext cx="88733" cy="67884"/>
          </a:xfrm>
          <a:custGeom>
            <a:avLst/>
            <a:gdLst/>
            <a:ahLst/>
            <a:cxnLst/>
            <a:rect l="l" t="t" r="r" b="b"/>
            <a:pathLst>
              <a:path w="88733" h="67884">
                <a:moveTo>
                  <a:pt x="88733" y="5440"/>
                </a:moveTo>
                <a:lnTo>
                  <a:pt x="25456" y="67884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6150428" y="2553018"/>
            <a:ext cx="1115817" cy="76712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7222772" y="2522800"/>
            <a:ext cx="87427" cy="75858"/>
          </a:xfrm>
          <a:custGeom>
            <a:avLst/>
            <a:gdLst/>
            <a:ahLst/>
            <a:cxnLst/>
            <a:rect l="l" t="t" r="r" b="b"/>
            <a:pathLst>
              <a:path w="87427" h="75858">
                <a:moveTo>
                  <a:pt x="87427" y="0"/>
                </a:moveTo>
                <a:lnTo>
                  <a:pt x="41073" y="75858"/>
                </a:lnTo>
                <a:lnTo>
                  <a:pt x="0" y="16116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6150428" y="3320142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7198716" y="3616511"/>
            <a:ext cx="88291" cy="69200"/>
          </a:xfrm>
          <a:custGeom>
            <a:avLst/>
            <a:gdLst/>
            <a:ahLst/>
            <a:cxnLst/>
            <a:rect l="l" t="t" r="r" b="b"/>
            <a:pathLst>
              <a:path w="88291" h="69200">
                <a:moveTo>
                  <a:pt x="88291" y="58812"/>
                </a:moveTo>
                <a:lnTo>
                  <a:pt x="0" y="69200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6150428" y="3859304"/>
            <a:ext cx="1115817" cy="76712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 28"/>
          <p:cNvSpPr/>
          <p:nvPr/>
        </p:nvSpPr>
        <p:spPr>
          <a:xfrm>
            <a:off x="7222772" y="3829085"/>
            <a:ext cx="87427" cy="75859"/>
          </a:xfrm>
          <a:custGeom>
            <a:avLst/>
            <a:gdLst/>
            <a:ahLst/>
            <a:cxnLst/>
            <a:rect l="l" t="t" r="r" b="b"/>
            <a:pathLst>
              <a:path w="87427" h="75859">
                <a:moveTo>
                  <a:pt x="87427" y="0"/>
                </a:moveTo>
                <a:lnTo>
                  <a:pt x="41073" y="75859"/>
                </a:lnTo>
                <a:lnTo>
                  <a:pt x="0" y="16116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150428" y="4626428"/>
            <a:ext cx="1082047" cy="270512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eform 30"/>
          <p:cNvSpPr/>
          <p:nvPr/>
        </p:nvSpPr>
        <p:spPr>
          <a:xfrm>
            <a:off x="7196681" y="4855022"/>
            <a:ext cx="87541" cy="70335"/>
          </a:xfrm>
          <a:custGeom>
            <a:avLst/>
            <a:gdLst/>
            <a:ahLst/>
            <a:cxnLst/>
            <a:rect l="l" t="t" r="r" b="b"/>
            <a:pathLst>
              <a:path w="87541" h="70335">
                <a:moveTo>
                  <a:pt x="87541" y="54855"/>
                </a:moveTo>
                <a:lnTo>
                  <a:pt x="0" y="70335"/>
                </a:lnTo>
                <a:lnTo>
                  <a:pt x="17583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7456714" y="2422071"/>
            <a:ext cx="2381544" cy="74423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9809306" y="2459393"/>
            <a:ext cx="82266" cy="72464"/>
          </a:xfrm>
          <a:custGeom>
            <a:avLst/>
            <a:gdLst/>
            <a:ahLst/>
            <a:cxnLst/>
            <a:rect l="l" t="t" r="r" b="b"/>
            <a:pathLst>
              <a:path w="82266" h="72464">
                <a:moveTo>
                  <a:pt x="82266" y="38767"/>
                </a:moveTo>
                <a:lnTo>
                  <a:pt x="0" y="72464"/>
                </a:lnTo>
                <a:lnTo>
                  <a:pt x="2264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456714" y="3728357"/>
            <a:ext cx="1075146" cy="0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Freeform 34"/>
          <p:cNvSpPr/>
          <p:nvPr/>
        </p:nvSpPr>
        <p:spPr>
          <a:xfrm>
            <a:off x="8504026" y="3692107"/>
            <a:ext cx="81174" cy="72500"/>
          </a:xfrm>
          <a:custGeom>
            <a:avLst/>
            <a:gdLst/>
            <a:ahLst/>
            <a:cxnLst/>
            <a:rect l="l" t="t" r="r" b="b"/>
            <a:pathLst>
              <a:path w="81174" h="72500">
                <a:moveTo>
                  <a:pt x="81174" y="36250"/>
                </a:moveTo>
                <a:lnTo>
                  <a:pt x="0" y="72500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456714" y="1524000"/>
            <a:ext cx="2396148" cy="898555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9814072" y="2378840"/>
            <a:ext cx="88734" cy="67884"/>
          </a:xfrm>
          <a:custGeom>
            <a:avLst/>
            <a:gdLst/>
            <a:ahLst/>
            <a:cxnLst/>
            <a:rect l="l" t="t" r="r" b="b"/>
            <a:pathLst>
              <a:path w="88734" h="67884">
                <a:moveTo>
                  <a:pt x="88734" y="62444"/>
                </a:moveTo>
                <a:lnTo>
                  <a:pt x="0" y="67884"/>
                </a:lnTo>
                <a:lnTo>
                  <a:pt x="25457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8763000" y="2661800"/>
            <a:ext cx="1137660" cy="1066557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reeform 38"/>
          <p:cNvSpPr/>
          <p:nvPr/>
        </p:nvSpPr>
        <p:spPr>
          <a:xfrm>
            <a:off x="9855562" y="2625319"/>
            <a:ext cx="84011" cy="81963"/>
          </a:xfrm>
          <a:custGeom>
            <a:avLst/>
            <a:gdLst/>
            <a:ahLst/>
            <a:cxnLst/>
            <a:rect l="l" t="t" r="r" b="b"/>
            <a:pathLst>
              <a:path w="84011" h="81963">
                <a:moveTo>
                  <a:pt x="84011" y="0"/>
                </a:moveTo>
                <a:lnTo>
                  <a:pt x="49585" y="81963"/>
                </a:lnTo>
                <a:lnTo>
                  <a:pt x="0" y="29072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8763000" y="3728357"/>
            <a:ext cx="1094525" cy="47885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9817495" y="4162845"/>
            <a:ext cx="88897" cy="66421"/>
          </a:xfrm>
          <a:custGeom>
            <a:avLst/>
            <a:gdLst/>
            <a:ahLst/>
            <a:cxnLst/>
            <a:rect l="l" t="t" r="r" b="b"/>
            <a:pathLst>
              <a:path w="88897" h="66421">
                <a:moveTo>
                  <a:pt x="88897" y="65746"/>
                </a:moveTo>
                <a:lnTo>
                  <a:pt x="0" y="66421"/>
                </a:lnTo>
                <a:lnTo>
                  <a:pt x="29059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7456714" y="4355916"/>
            <a:ext cx="2388332" cy="597084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809252" y="4327499"/>
            <a:ext cx="87542" cy="70336"/>
          </a:xfrm>
          <a:custGeom>
            <a:avLst/>
            <a:gdLst/>
            <a:ahLst/>
            <a:cxnLst/>
            <a:rect l="l" t="t" r="r" b="b"/>
            <a:pathLst>
              <a:path w="87542" h="70336">
                <a:moveTo>
                  <a:pt x="87542" y="15480"/>
                </a:moveTo>
                <a:lnTo>
                  <a:pt x="17584" y="70336"/>
                </a:lnTo>
                <a:lnTo>
                  <a:pt x="0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10069285" y="2503714"/>
            <a:ext cx="1094525" cy="478855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11123781" y="2938202"/>
            <a:ext cx="88897" cy="66421"/>
          </a:xfrm>
          <a:custGeom>
            <a:avLst/>
            <a:gdLst/>
            <a:ahLst/>
            <a:cxnLst/>
            <a:rect l="l" t="t" r="r" b="b"/>
            <a:pathLst>
              <a:path w="88897" h="66421">
                <a:moveTo>
                  <a:pt x="88897" y="65746"/>
                </a:moveTo>
                <a:lnTo>
                  <a:pt x="0" y="66421"/>
                </a:lnTo>
                <a:lnTo>
                  <a:pt x="29059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0069285" y="3233300"/>
            <a:ext cx="1137661" cy="1066557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Freeform 46"/>
          <p:cNvSpPr/>
          <p:nvPr/>
        </p:nvSpPr>
        <p:spPr>
          <a:xfrm>
            <a:off x="11161847" y="3196819"/>
            <a:ext cx="84012" cy="81963"/>
          </a:xfrm>
          <a:custGeom>
            <a:avLst/>
            <a:gdLst/>
            <a:ahLst/>
            <a:cxnLst/>
            <a:rect l="l" t="t" r="r" b="b"/>
            <a:pathLst>
              <a:path w="84012" h="81963">
                <a:moveTo>
                  <a:pt x="84012" y="0"/>
                </a:moveTo>
                <a:lnTo>
                  <a:pt x="49586" y="81963"/>
                </a:lnTo>
                <a:lnTo>
                  <a:pt x="0" y="29072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0069285" y="4299857"/>
            <a:ext cx="1085667" cy="339271"/>
          </a:xfrm>
          <a:prstGeom prst="line">
            <a:avLst/>
          </a:prstGeom>
          <a:ln w="15240">
            <a:solidFill>
              <a:srgbClr val="5D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11117573" y="4596226"/>
            <a:ext cx="88291" cy="69199"/>
          </a:xfrm>
          <a:custGeom>
            <a:avLst/>
            <a:gdLst/>
            <a:ahLst/>
            <a:cxnLst/>
            <a:rect l="l" t="t" r="r" b="b"/>
            <a:pathLst>
              <a:path w="88291" h="69199">
                <a:moveTo>
                  <a:pt x="88291" y="58812"/>
                </a:moveTo>
                <a:lnTo>
                  <a:pt x="0" y="69199"/>
                </a:lnTo>
                <a:lnTo>
                  <a:pt x="21625" y="0"/>
                </a:lnTo>
                <a:close/>
              </a:path>
            </a:pathLst>
          </a:custGeom>
          <a:solidFill>
            <a:srgbClr val="5D7C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98028" y="1861457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052111" y="1904891"/>
            <a:ext cx="19663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04092" y="1642763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l=1</a:t>
            </a:r>
          </a:p>
        </p:txBody>
      </p:sp>
      <p:sp>
        <p:nvSpPr>
          <p:cNvPr id="53" name="Oval 52"/>
          <p:cNvSpPr/>
          <p:nvPr/>
        </p:nvSpPr>
        <p:spPr>
          <a:xfrm>
            <a:off x="5998028" y="3167742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047736" y="3211176"/>
            <a:ext cx="20538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04092" y="2949048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l=1</a:t>
            </a:r>
          </a:p>
        </p:txBody>
      </p:sp>
      <p:sp>
        <p:nvSpPr>
          <p:cNvPr id="56" name="Oval 55"/>
          <p:cNvSpPr/>
          <p:nvPr/>
        </p:nvSpPr>
        <p:spPr>
          <a:xfrm>
            <a:off x="5998028" y="4474028"/>
            <a:ext cx="304800" cy="304800"/>
          </a:xfrm>
          <a:prstGeom prst="ellipse">
            <a:avLst/>
          </a:prstGeom>
          <a:solidFill>
            <a:srgbClr val="8FB1E6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057394" y="4517462"/>
            <a:ext cx="186067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04092" y="4255334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l=1</a:t>
            </a:r>
          </a:p>
        </p:txBody>
      </p:sp>
      <p:sp>
        <p:nvSpPr>
          <p:cNvPr id="59" name="Oval 58"/>
          <p:cNvSpPr/>
          <p:nvPr/>
        </p:nvSpPr>
        <p:spPr>
          <a:xfrm>
            <a:off x="7304314" y="2269671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354022" y="2313105"/>
            <a:ext cx="20538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0378" y="2050977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l=2</a:t>
            </a:r>
          </a:p>
        </p:txBody>
      </p:sp>
      <p:sp>
        <p:nvSpPr>
          <p:cNvPr id="62" name="Oval 61"/>
          <p:cNvSpPr/>
          <p:nvPr/>
        </p:nvSpPr>
        <p:spPr>
          <a:xfrm>
            <a:off x="7304314" y="35759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359222" y="3619391"/>
            <a:ext cx="19498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0378" y="3357263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l=2</a:t>
            </a:r>
          </a:p>
        </p:txBody>
      </p:sp>
      <p:sp>
        <p:nvSpPr>
          <p:cNvPr id="65" name="Oval 64"/>
          <p:cNvSpPr/>
          <p:nvPr/>
        </p:nvSpPr>
        <p:spPr>
          <a:xfrm>
            <a:off x="7304314" y="1371600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376062" y="1415034"/>
            <a:ext cx="16130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0378" y="1152906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l=2</a:t>
            </a:r>
          </a:p>
        </p:txBody>
      </p:sp>
      <p:sp>
        <p:nvSpPr>
          <p:cNvPr id="68" name="Oval 67"/>
          <p:cNvSpPr/>
          <p:nvPr/>
        </p:nvSpPr>
        <p:spPr>
          <a:xfrm>
            <a:off x="7304314" y="4800600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7354352" y="4844034"/>
            <a:ext cx="2047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0378" y="4581906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l=2</a:t>
            </a:r>
          </a:p>
        </p:txBody>
      </p:sp>
      <p:sp>
        <p:nvSpPr>
          <p:cNvPr id="71" name="Oval 70"/>
          <p:cNvSpPr/>
          <p:nvPr/>
        </p:nvSpPr>
        <p:spPr>
          <a:xfrm>
            <a:off x="8610600" y="35759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664187" y="3619391"/>
            <a:ext cx="1976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16664" y="3357263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l=3</a:t>
            </a:r>
          </a:p>
        </p:txBody>
      </p:sp>
      <p:sp>
        <p:nvSpPr>
          <p:cNvPr id="74" name="Oval 73"/>
          <p:cNvSpPr/>
          <p:nvPr/>
        </p:nvSpPr>
        <p:spPr>
          <a:xfrm>
            <a:off x="9916885" y="2351314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9994660" y="2394748"/>
            <a:ext cx="14925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i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22949" y="2132620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l=7</a:t>
            </a:r>
          </a:p>
        </p:txBody>
      </p:sp>
      <p:sp>
        <p:nvSpPr>
          <p:cNvPr id="77" name="Oval 76"/>
          <p:cNvSpPr/>
          <p:nvPr/>
        </p:nvSpPr>
        <p:spPr>
          <a:xfrm>
            <a:off x="9916885" y="4147457"/>
            <a:ext cx="304800" cy="304800"/>
          </a:xfrm>
          <a:prstGeom prst="ellipse">
            <a:avLst/>
          </a:prstGeom>
          <a:solidFill>
            <a:srgbClr val="A9BD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994495" y="4190891"/>
            <a:ext cx="1495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j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22949" y="3928763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l=7</a:t>
            </a:r>
          </a:p>
        </p:txBody>
      </p:sp>
      <p:sp>
        <p:nvSpPr>
          <p:cNvPr id="80" name="Oval 79"/>
          <p:cNvSpPr/>
          <p:nvPr/>
        </p:nvSpPr>
        <p:spPr>
          <a:xfrm>
            <a:off x="11223171" y="2922814"/>
            <a:ext cx="304800" cy="3048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1276181" y="2966248"/>
            <a:ext cx="19878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229235" y="2704120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l=8</a:t>
            </a:r>
          </a:p>
        </p:txBody>
      </p:sp>
      <p:sp>
        <p:nvSpPr>
          <p:cNvPr id="83" name="Oval 82"/>
          <p:cNvSpPr/>
          <p:nvPr/>
        </p:nvSpPr>
        <p:spPr>
          <a:xfrm>
            <a:off x="11223171" y="4555671"/>
            <a:ext cx="304800" cy="304800"/>
          </a:xfrm>
          <a:prstGeom prst="ellipse">
            <a:avLst/>
          </a:prstGeom>
          <a:solidFill>
            <a:srgbClr val="E39FB8"/>
          </a:solidFill>
          <a:ln w="19050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1300038" y="4599105"/>
            <a:ext cx="15106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B1B1F"/>
                </a:solidFill>
                <a:latin typeface="Noto Sans SC"/>
                <a:ea typeface="Noto Sans SC"/>
              </a:rPr>
              <a:t>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29235" y="4336977"/>
            <a:ext cx="292671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8BB78"/>
                </a:solidFill>
                <a:latin typeface="Noto Sans SC"/>
                <a:ea typeface="Noto Sans SC"/>
              </a:rPr>
              <a:t>l=8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797838" y="5524500"/>
            <a:ext cx="1930323" cy="2667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C2A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7851178" y="5585206"/>
            <a:ext cx="1823643" cy="188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2A6E6"/>
                </a:solidFill>
                <a:latin typeface="Noto Sans SC"/>
                <a:ea typeface="Noto Sans SC"/>
              </a:rPr>
              <a:t>候选复原数据 · 平票为假设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0581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恢复：从输出倒推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《关键路径的代价（下）：恢复与复制》 00:13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从 k、l 取候选簇；簇外输入成为新的簇根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共 8 个簇：k、l、d、e、f、h、b、c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20 个实例；g、j、e、a 各 2 个，b、c 各 3 个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每个实例的输入都完整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输出到达时间 8 = 标签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94400" y="188976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77CD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47028" y="1923613"/>
            <a:ext cx="550639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77CDBB"/>
                </a:solidFill>
                <a:latin typeface="Noto Sans SC"/>
                <a:ea typeface="Noto Sans SC"/>
              </a:rPr>
              <a:t>簇根 k · 4/4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52359" y="188976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8FB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04988" y="1923613"/>
            <a:ext cx="525975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8FB1E6"/>
                </a:solidFill>
                <a:latin typeface="Noto Sans SC"/>
                <a:ea typeface="Noto Sans SC"/>
              </a:rPr>
              <a:t>簇根 l · 4/4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0320" y="188976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2948" y="1923613"/>
            <a:ext cx="554053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D8BB78"/>
                </a:solidFill>
                <a:latin typeface="Noto Sans SC"/>
                <a:ea typeface="Noto Sans SC"/>
              </a:rPr>
              <a:t>簇根 d · 3/4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68280" y="188976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C2A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420908" y="1923613"/>
            <a:ext cx="548676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C2A6E6"/>
                </a:solidFill>
                <a:latin typeface="Noto Sans SC"/>
                <a:ea typeface="Noto Sans SC"/>
              </a:rPr>
              <a:t>簇根 e · 3/4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4400" y="302768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E3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47028" y="3061533"/>
            <a:ext cx="531266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E39FB8"/>
                </a:solidFill>
                <a:latin typeface="Noto Sans SC"/>
                <a:ea typeface="Noto Sans SC"/>
              </a:rPr>
              <a:t>簇根 f · 2/4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52359" y="302768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9FD2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504988" y="3061533"/>
            <a:ext cx="553711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9FD27F"/>
                </a:solidFill>
                <a:latin typeface="Noto Sans SC"/>
                <a:ea typeface="Noto Sans SC"/>
              </a:rPr>
              <a:t>簇根 h · 2/4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10320" y="302768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E8A0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962948" y="3061533"/>
            <a:ext cx="554053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E8A06A"/>
                </a:solidFill>
                <a:latin typeface="Noto Sans SC"/>
                <a:ea typeface="Noto Sans SC"/>
              </a:rPr>
              <a:t>簇根 b · 1/4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68280" y="3027680"/>
            <a:ext cx="1386840" cy="1066800"/>
          </a:xfrm>
          <a:prstGeom prst="roundRect">
            <a:avLst>
              <a:gd name="adj" fmla="val 5333"/>
            </a:avLst>
          </a:prstGeom>
          <a:solidFill>
            <a:srgbClr val="0D272D"/>
          </a:solidFill>
          <a:ln w="7112">
            <a:solidFill>
              <a:srgbClr val="7F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420908" y="3061533"/>
            <a:ext cx="544068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2" b="1">
                <a:solidFill>
                  <a:srgbClr val="7FD0E0"/>
                </a:solidFill>
                <a:latin typeface="Noto Sans SC"/>
                <a:ea typeface="Noto Sans SC"/>
              </a:rPr>
              <a:t>簇根 c · 1/4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6243320" y="2209800"/>
            <a:ext cx="4373880" cy="39116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 flipV="1">
            <a:off x="6776720" y="2209800"/>
            <a:ext cx="2382520" cy="39116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776720" y="2209800"/>
            <a:ext cx="0" cy="113792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243320" y="2209800"/>
            <a:ext cx="533400" cy="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243320" y="2209800"/>
            <a:ext cx="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6243320" y="2600960"/>
            <a:ext cx="1991360" cy="74676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776720" y="2209800"/>
            <a:ext cx="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243320" y="2600960"/>
            <a:ext cx="533400" cy="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7701280" y="2209800"/>
            <a:ext cx="1457960" cy="113792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7701280" y="2209800"/>
            <a:ext cx="2915920" cy="113792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01280" y="2209800"/>
            <a:ext cx="533400" cy="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7701280" y="2209800"/>
            <a:ext cx="53340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7701280" y="2600960"/>
            <a:ext cx="533400" cy="746760"/>
          </a:xfrm>
          <a:prstGeom prst="line">
            <a:avLst/>
          </a:prstGeom>
          <a:ln w="7112">
            <a:solidFill>
              <a:srgbClr val="DB7B72">
                <a:alpha val="4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701280" y="2600960"/>
            <a:ext cx="533400" cy="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159240" y="2209800"/>
            <a:ext cx="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9159240" y="2209800"/>
            <a:ext cx="53340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617200" y="2209800"/>
            <a:ext cx="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0617200" y="2209800"/>
            <a:ext cx="533400" cy="39116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243320" y="3347720"/>
            <a:ext cx="533400" cy="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701280" y="3347720"/>
            <a:ext cx="533400" cy="0"/>
          </a:xfrm>
          <a:prstGeom prst="line">
            <a:avLst/>
          </a:prstGeom>
          <a:ln w="10668">
            <a:solidFill>
              <a:srgbClr val="9FC9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613664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13308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192241" y="2153472"/>
            <a:ext cx="102156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8164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60" name="Oval 59"/>
          <p:cNvSpPr/>
          <p:nvPr/>
        </p:nvSpPr>
        <p:spPr>
          <a:xfrm>
            <a:off x="6670040" y="2103120"/>
            <a:ext cx="213360" cy="213360"/>
          </a:xfrm>
          <a:prstGeom prst="ellipse">
            <a:avLst/>
          </a:prstGeom>
          <a:solidFill>
            <a:srgbClr val="A9BDB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38144" y="2153472"/>
            <a:ext cx="77150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1504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3" name="Oval 62"/>
          <p:cNvSpPr/>
          <p:nvPr/>
        </p:nvSpPr>
        <p:spPr>
          <a:xfrm>
            <a:off x="6136640" y="249428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6133084" y="249072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204659" y="2544632"/>
            <a:ext cx="77321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j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81648" y="254961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7" name="Oval 66"/>
          <p:cNvSpPr/>
          <p:nvPr/>
        </p:nvSpPr>
        <p:spPr>
          <a:xfrm>
            <a:off x="6670040" y="2494280"/>
            <a:ext cx="213360" cy="213360"/>
          </a:xfrm>
          <a:prstGeom prst="ellipse">
            <a:avLst/>
          </a:prstGeom>
          <a:solidFill>
            <a:srgbClr val="A9BDB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725342" y="2544632"/>
            <a:ext cx="102754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15048" y="254961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70" name="Oval 69"/>
          <p:cNvSpPr/>
          <p:nvPr/>
        </p:nvSpPr>
        <p:spPr>
          <a:xfrm>
            <a:off x="759460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759104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650884" y="2153472"/>
            <a:ext cx="100791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3960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74" name="Oval 73"/>
          <p:cNvSpPr/>
          <p:nvPr/>
        </p:nvSpPr>
        <p:spPr>
          <a:xfrm>
            <a:off x="812800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12444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183601" y="2153472"/>
            <a:ext cx="102156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7300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7594600" y="249428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7591044" y="249072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662619" y="2544632"/>
            <a:ext cx="77321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j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39608" y="254961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82" name="Oval 81"/>
          <p:cNvSpPr/>
          <p:nvPr/>
        </p:nvSpPr>
        <p:spPr>
          <a:xfrm>
            <a:off x="8128000" y="2494280"/>
            <a:ext cx="213360" cy="213360"/>
          </a:xfrm>
          <a:prstGeom prst="ellipse">
            <a:avLst/>
          </a:prstGeom>
          <a:solidFill>
            <a:srgbClr val="A9BDB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8195635" y="2544632"/>
            <a:ext cx="78089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l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73008" y="254961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85" name="Oval 84"/>
          <p:cNvSpPr/>
          <p:nvPr/>
        </p:nvSpPr>
        <p:spPr>
          <a:xfrm>
            <a:off x="905256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904900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108417" y="2153472"/>
            <a:ext cx="101644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9756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89" name="Oval 88"/>
          <p:cNvSpPr/>
          <p:nvPr/>
        </p:nvSpPr>
        <p:spPr>
          <a:xfrm>
            <a:off x="958596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958240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9639556" y="2153472"/>
            <a:ext cx="106167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83096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93" name="Oval 92"/>
          <p:cNvSpPr/>
          <p:nvPr/>
        </p:nvSpPr>
        <p:spPr>
          <a:xfrm>
            <a:off x="9052560" y="2494280"/>
            <a:ext cx="213360" cy="213360"/>
          </a:xfrm>
          <a:prstGeom prst="ellipse">
            <a:avLst/>
          </a:prstGeom>
          <a:solidFill>
            <a:srgbClr val="A9BDB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9106156" y="2544632"/>
            <a:ext cx="106167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297568" y="254961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96" name="Oval 95"/>
          <p:cNvSpPr/>
          <p:nvPr/>
        </p:nvSpPr>
        <p:spPr>
          <a:xfrm>
            <a:off x="1051052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1050696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10564116" y="2153472"/>
            <a:ext cx="106167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5552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00" name="Oval 99"/>
          <p:cNvSpPr/>
          <p:nvPr/>
        </p:nvSpPr>
        <p:spPr>
          <a:xfrm>
            <a:off x="11043920" y="210312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11040364" y="209956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102508" y="2153472"/>
            <a:ext cx="96182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288928" y="215845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10510520" y="249428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10506964" y="249072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0566804" y="2544632"/>
            <a:ext cx="100791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55528" y="254961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108" name="Oval 107"/>
          <p:cNvSpPr/>
          <p:nvPr/>
        </p:nvSpPr>
        <p:spPr>
          <a:xfrm>
            <a:off x="6136640" y="324104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6133084" y="323748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192497" y="3291392"/>
            <a:ext cx="101644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81648" y="329637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12" name="Oval 111"/>
          <p:cNvSpPr/>
          <p:nvPr/>
        </p:nvSpPr>
        <p:spPr>
          <a:xfrm>
            <a:off x="6670040" y="3241040"/>
            <a:ext cx="213360" cy="213360"/>
          </a:xfrm>
          <a:prstGeom prst="ellipse">
            <a:avLst/>
          </a:prstGeom>
          <a:solidFill>
            <a:srgbClr val="A9BDB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735029" y="3291392"/>
            <a:ext cx="83381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f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15048" y="329637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115" name="Oval 114"/>
          <p:cNvSpPr/>
          <p:nvPr/>
        </p:nvSpPr>
        <p:spPr>
          <a:xfrm>
            <a:off x="7594600" y="324104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7591044" y="323748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7653188" y="3291392"/>
            <a:ext cx="96182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839608" y="329637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19" name="Oval 118"/>
          <p:cNvSpPr/>
          <p:nvPr/>
        </p:nvSpPr>
        <p:spPr>
          <a:xfrm>
            <a:off x="8128000" y="3241040"/>
            <a:ext cx="213360" cy="213360"/>
          </a:xfrm>
          <a:prstGeom prst="ellipse">
            <a:avLst/>
          </a:prstGeom>
          <a:solidFill>
            <a:srgbClr val="A9BDB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8181766" y="3291392"/>
            <a:ext cx="105826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h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373008" y="329637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122" name="Oval 121"/>
          <p:cNvSpPr/>
          <p:nvPr/>
        </p:nvSpPr>
        <p:spPr>
          <a:xfrm>
            <a:off x="9052560" y="324104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9049004" y="323748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106156" y="3291392"/>
            <a:ext cx="106167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b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297568" y="329637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26" name="Oval 125"/>
          <p:cNvSpPr/>
          <p:nvPr/>
        </p:nvSpPr>
        <p:spPr>
          <a:xfrm>
            <a:off x="10510520" y="3241040"/>
            <a:ext cx="213360" cy="213360"/>
          </a:xfrm>
          <a:prstGeom prst="ellipse">
            <a:avLst/>
          </a:prstGeom>
          <a:solidFill>
            <a:srgbClr val="D8BB78"/>
          </a:solidFill>
          <a:ln w="10668">
            <a:solidFill>
              <a:srgbClr val="0614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506964" y="3237484"/>
            <a:ext cx="220472" cy="220472"/>
          </a:xfrm>
          <a:prstGeom prst="ellipse">
            <a:avLst/>
          </a:prstGeom>
          <a:noFill/>
          <a:ln w="10668">
            <a:solidFill>
              <a:srgbClr val="F2F3E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0569108" y="3291392"/>
            <a:ext cx="96182" cy="1152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2" b="1">
                <a:solidFill>
                  <a:srgbClr val="0B1B1F"/>
                </a:solidFill>
                <a:latin typeface="Noto Sans SC"/>
                <a:ea typeface="Noto Sans SC"/>
              </a:rPr>
              <a:t>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755528" y="3296371"/>
            <a:ext cx="90357" cy="1056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16" b="0">
                <a:solidFill>
                  <a:srgbClr val="BCD2D0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636910" y="4610100"/>
            <a:ext cx="1998179" cy="292100"/>
          </a:xfrm>
          <a:prstGeom prst="roundRect">
            <a:avLst>
              <a:gd name="adj" fmla="val 50000"/>
            </a:avLst>
          </a:prstGeom>
          <a:solidFill>
            <a:srgbClr val="0A2126"/>
          </a:solidFill>
          <a:ln w="12700">
            <a:solidFill>
              <a:srgbClr val="D8B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7682630" y="4670298"/>
            <a:ext cx="190673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8BB78"/>
                </a:solidFill>
                <a:latin typeface="Noto Sans SC"/>
                <a:ea typeface="Noto Sans SC"/>
              </a:rPr>
              <a:t>8 簇 · 20 实例 · 输出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2702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复制换来了什么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8524" y="6499098"/>
            <a:ext cx="561505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《关键路径的代价（下）：恢复与复制》 01:19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允许复制：延迟 8，20 个实例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禁止复制：穷举所有容量合法分组，最好 10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多 8 个实例，换来 2 个单位延迟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D8BB78"/>
                </a:solidFill>
                <a:latin typeface="Noto Sans SC"/>
                <a:ea typeface="Noto Sans SC"/>
              </a:rPr>
              <a:t>最优性结论以“允许复制”为前提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888236"/>
            <a:ext cx="166563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允许复制（RW）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68840" y="1888236"/>
            <a:ext cx="174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b="1">
                <a:solidFill>
                  <a:srgbClr val="BCD2D0"/>
                </a:solidFill>
                <a:latin typeface="Noto Sans SC"/>
                <a:ea typeface="Noto Sans SC"/>
              </a:rPr>
              <a:t>禁止复制（穷举）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84900" y="2197100"/>
            <a:ext cx="5626100" cy="0"/>
          </a:xfrm>
          <a:prstGeom prst="line">
            <a:avLst/>
          </a:prstGeom>
          <a:ln w="12700">
            <a:solidFill>
              <a:srgbClr val="2D4A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34100" y="2425700"/>
            <a:ext cx="5765800" cy="584200"/>
          </a:xfrm>
          <a:prstGeom prst="roundRect">
            <a:avLst>
              <a:gd name="adj" fmla="val 8695"/>
            </a:avLst>
          </a:prstGeom>
          <a:solidFill>
            <a:srgbClr val="77CDBB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11570" y="2471928"/>
            <a:ext cx="105156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最大延迟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2570" y="2471928"/>
            <a:ext cx="264033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7570" y="2471928"/>
            <a:ext cx="390906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1570" y="3081528"/>
            <a:ext cx="1243583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实例 / 面积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2570" y="3081528"/>
            <a:ext cx="390906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570" y="3081528"/>
            <a:ext cx="390906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2F3E9"/>
                </a:solidFill>
                <a:latin typeface="Noto Sans SC"/>
                <a:ea typeface="Noto Sans SC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4110" y="4009644"/>
            <a:ext cx="3339617" cy="2400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2F3E9"/>
                </a:solidFill>
                <a:latin typeface="Noto Sans SC"/>
                <a:ea typeface="Noto Sans SC"/>
              </a:rPr>
              <a:t>不复制的最好方案之一：adfh | bceg | ijkl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4137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伪代码：标记与恢复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《关键路径的代价（下）：恢复与复制》 02:01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标记：拓扑序，score、候选簇、l1、l2（Python：rw_label）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2284349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175637"/>
            <a:ext cx="4718050" cy="6261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恢复：从 PO 倒推，簇外输入成为新簇根（rw_reconstruct）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30292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92049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实例：m@r；簇内 +0，跨簇 +D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346100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352292"/>
            <a:ext cx="4718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到达时间：evaluate_instance_delay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53100" y="1447800"/>
            <a:ext cx="5715000" cy="3327400"/>
          </a:xfrm>
          <a:prstGeom prst="roundRect">
            <a:avLst>
              <a:gd name="adj" fmla="val 2290"/>
            </a:avLst>
          </a:prstGeom>
          <a:solidFill>
            <a:srgbClr val="0A1C1F"/>
          </a:solidFill>
          <a:ln w="12700">
            <a:solidFill>
              <a:srgbClr val="244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99150" y="1648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9345" y="1609598"/>
            <a:ext cx="62176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queue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2051" y="1609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7151" y="1609598"/>
            <a:ext cx="13604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4134" y="16095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所有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44334" y="1609598"/>
            <a:ext cx="36305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PO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9150" y="2029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345" y="1990598"/>
            <a:ext cx="107513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while queue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5416" y="19905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非空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5616" y="1990598"/>
            <a:ext cx="144957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: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53100" y="2336800"/>
            <a:ext cx="5715000" cy="3683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753100" y="2336800"/>
            <a:ext cx="38100" cy="3683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899150" y="2410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9345" y="2371598"/>
            <a:ext cx="27406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 r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351" y="2371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29451" y="2371598"/>
            <a:ext cx="13604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6433" y="2371598"/>
            <a:ext cx="9245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取出；选中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91933" y="2371598"/>
            <a:ext cx="237083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r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9957" y="2371598"/>
            <a:ext cx="7594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的候选簇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53100" y="2717800"/>
            <a:ext cx="5715000" cy="3683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753100" y="2717800"/>
            <a:ext cx="38100" cy="3683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899150" y="2791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89345" y="2752598"/>
            <a:ext cx="1730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309" y="2752598"/>
            <a:ext cx="7594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簇外输入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3709" y="2752598"/>
            <a:ext cx="27324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u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97890" y="2752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2990" y="2752598"/>
            <a:ext cx="13604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99972" y="2752598"/>
            <a:ext cx="42925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加入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0172" y="2752598"/>
            <a:ext cx="621766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queue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52879" y="2752598"/>
            <a:ext cx="9245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（新簇根）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99150" y="3172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89345" y="3133598"/>
            <a:ext cx="35380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for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4094" y="3133598"/>
            <a:ext cx="12547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每个选中的簇根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99794" y="3133598"/>
            <a:ext cx="20010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0835" y="3133598"/>
            <a:ext cx="5943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、成员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96135" y="3133598"/>
            <a:ext cx="334822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m: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9150" y="3553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89345" y="3514598"/>
            <a:ext cx="1730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63309" y="3514598"/>
            <a:ext cx="7594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生成实例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23709" y="3514598"/>
            <a:ext cx="50916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FEADF"/>
                </a:solidFill>
                <a:latin typeface="Noto Sans SC"/>
                <a:ea typeface="Noto Sans SC"/>
              </a:rPr>
              <a:t> m@r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53100" y="3860800"/>
            <a:ext cx="5715000" cy="3683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5753100" y="3860800"/>
            <a:ext cx="38100" cy="3683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5899150" y="3934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89345" y="3895598"/>
            <a:ext cx="1730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309" y="3895598"/>
            <a:ext cx="9245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簇内输入：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88809" y="3895598"/>
            <a:ext cx="45650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u@r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46251" y="3895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→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11351" y="3895598"/>
            <a:ext cx="50916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m@r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21459" y="3895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86559" y="3895598"/>
            <a:ext cx="282321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+0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69820" y="3895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53100" y="4241800"/>
            <a:ext cx="5715000" cy="368300"/>
          </a:xfrm>
          <a:prstGeom prst="rect">
            <a:avLst/>
          </a:prstGeom>
          <a:solidFill>
            <a:srgbClr val="2A3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5753100" y="4241800"/>
            <a:ext cx="38100" cy="3683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899150" y="4315460"/>
            <a:ext cx="14668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F8F8F"/>
                </a:solidFill>
                <a:latin typeface="Noto Sans SC"/>
                <a:ea typeface="Noto Sans SC"/>
              </a:rPr>
              <a:t>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89345" y="4276598"/>
            <a:ext cx="17302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309" y="4276598"/>
            <a:ext cx="9245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簇外输入：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88809" y="4276598"/>
            <a:ext cx="49265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u@u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82408" y="4276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→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7508" y="4276598"/>
            <a:ext cx="509168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 m@r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57616" y="4276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2716" y="4276598"/>
            <a:ext cx="304279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+D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27935" y="4276598"/>
            <a:ext cx="264160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00" b="0">
                <a:solidFill>
                  <a:srgbClr val="D8BB78"/>
                </a:solidFill>
                <a:latin typeface="Noto Sans SC"/>
                <a:ea typeface="Noto Sans SC"/>
              </a:rPr>
              <a:t>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37693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适用边界与待确认事项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809" y="377952"/>
            <a:ext cx="3588410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影片 《关键路径的代价（下）：恢复与复制》 01:39</a:t>
            </a:r>
          </a:p>
        </p:txBody>
      </p:sp>
      <p:sp>
        <p:nvSpPr>
          <p:cNvPr id="10" name="Oval 9"/>
          <p:cNvSpPr/>
          <p:nvPr/>
        </p:nvSpPr>
        <p:spPr>
          <a:xfrm>
            <a:off x="711200" y="15394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14307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最优性来自论文（IEEE TCAD 1995；DAC 1993），只在其模型内成立</a:t>
            </a:r>
          </a:p>
        </p:txBody>
      </p:sp>
      <p:sp>
        <p:nvSpPr>
          <p:cNvPr id="12" name="Oval 11"/>
          <p:cNvSpPr/>
          <p:nvPr/>
        </p:nvSpPr>
        <p:spPr>
          <a:xfrm>
            <a:off x="711200" y="19712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18625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12 节点例子是候选复原；平票规则是假设，待原作者确认</a:t>
            </a:r>
          </a:p>
        </p:txBody>
      </p:sp>
      <p:sp>
        <p:nvSpPr>
          <p:cNvPr id="14" name="Oval 13"/>
          <p:cNvSpPr/>
          <p:nvPr/>
        </p:nvSpPr>
        <p:spPr>
          <a:xfrm>
            <a:off x="711200" y="24030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2943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本课程测试检查实现一致与实例合法，不证明最优</a:t>
            </a:r>
          </a:p>
        </p:txBody>
      </p:sp>
      <p:sp>
        <p:nvSpPr>
          <p:cNvPr id="16" name="Oval 15"/>
          <p:cNvSpPr/>
          <p:nvPr/>
        </p:nvSpPr>
        <p:spPr>
          <a:xfrm>
            <a:off x="711200" y="28348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27261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提交为 Lesson 9，教师目录 Lab 09 是 Multilevel：对应待教师确认</a:t>
            </a:r>
          </a:p>
        </p:txBody>
      </p:sp>
      <p:sp>
        <p:nvSpPr>
          <p:cNvPr id="18" name="Oval 17"/>
          <p:cNvSpPr/>
          <p:nvPr/>
        </p:nvSpPr>
        <p:spPr>
          <a:xfrm>
            <a:off x="711200" y="3266694"/>
            <a:ext cx="76200" cy="76200"/>
          </a:xfrm>
          <a:prstGeom prst="ellipse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3157982"/>
            <a:ext cx="10433050" cy="313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700" b="0">
                <a:solidFill>
                  <a:srgbClr val="F2F3E9"/>
                </a:solidFill>
                <a:latin typeface="Noto Sans SC"/>
                <a:ea typeface="Noto Sans SC"/>
              </a:rPr>
              <a:t>复制带来面积代价；引脚、功耗等不在本模型内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77CDBB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53720" y="450088"/>
            <a:ext cx="92456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800" b="0">
                <a:solidFill>
                  <a:srgbClr val="F2F3E9"/>
                </a:solidFill>
                <a:latin typeface="Noto Sans SC"/>
                <a:ea typeface="Noto Sans SC"/>
              </a:rPr>
              <a:t>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965200"/>
            <a:ext cx="571500" cy="25400"/>
          </a:xfrm>
          <a:prstGeom prst="rect">
            <a:avLst/>
          </a:prstGeom>
          <a:solidFill>
            <a:srgbClr val="D8B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571500" y="6426200"/>
            <a:ext cx="11049000" cy="0"/>
          </a:xfrm>
          <a:prstGeom prst="line">
            <a:avLst/>
          </a:prstGeom>
          <a:ln w="12700">
            <a:solidFill>
              <a:srgbClr val="1D3D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3880" y="6512052"/>
            <a:ext cx="3256635" cy="205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F8F8F"/>
                </a:solidFill>
                <a:latin typeface="Noto Sans SC"/>
                <a:ea typeface="Noto Sans SC"/>
              </a:rPr>
              <a:t>Module 09 · Rajaraman–Wong 延迟导向聚类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1115" y="6499098"/>
            <a:ext cx="658914" cy="222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300" b="1">
                <a:solidFill>
                  <a:srgbClr val="BCD2D0"/>
                </a:solidFill>
                <a:latin typeface="Noto Sans SC"/>
                <a:ea typeface="Noto Sans SC"/>
              </a:rPr>
              <a:t>p12/12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1897380"/>
            <a:ext cx="10350500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3000" b="0">
                <a:solidFill>
                  <a:srgbClr val="D8BB78"/>
                </a:solidFill>
                <a:latin typeface="Noto Sans SC"/>
                <a:ea typeface="Noto Sans SC"/>
              </a:rPr>
              <a:t>目标换成延迟：跨界一次，路径就多 D。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2782824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标记给出时间，恢复从输出倒推；逻辑节点与实例分开，复制有面积代价。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23209"/>
            <a:ext cx="10280650" cy="3498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1800"/>
              </a:lnSpc>
            </a:pPr>
            <a:r>
              <a:rPr sz="1900" b="0">
                <a:solidFill>
                  <a:srgbClr val="F2F3E9"/>
                </a:solidFill>
                <a:latin typeface="Noto Sans SC"/>
                <a:ea typeface="Noto Sans SC"/>
              </a:rPr>
              <a:t>回到首页的综合对比：八个模块，八种不同的操作。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09 Rajaraman–Wong 延迟导向聚类</dc:title>
  <dc:subject/>
  <dc:creator>Learning Clustering（统一课程）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