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module changes the goal from the cut to delay: the longest path delay of a combinational circuit. Each crossing between clusters adds a fixed delay D to the path, and one logic node may be copied into several clusters. Note: this submission is Lesson 9, while Lab 09 in the teacher’s catalogue is Multilevel; the correspondence awaits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a chain. Both splits respect the capacity, but the first crosses a boundary once, delay 7; the second crosses twice, delay 10. Delay depends only on how many boundaries the longest path crosses, not on how many wires are cut in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RW model is a directed acyclic graph. Each node has a delay, wires inside a cluster add none, wires between clusters add a fixed D, each cluster has a capacity, and nodes may be replicated. The goal is to minimise the largest delay from input to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Replication puts the same logic node into several clusters; each copy is an instance. It lets several clusters get the same signal from inside, but every copy takes area. As data, logic nodes and instances must be recorded separately.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original 12-node example is reconstructed from frames of the film. Δ is the longest node delay from x to v, counting v but not x; for example from b to k it is 4. This graph is candidate data; the original edge list awaits the original author’s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Labelling handles each node in topological order. Score each ancestor, and put the highest-scoring ones into the candidate cluster up to capacity. l1 is the largest score of a PI inside, l2 the largest score outside plus D. Node i has l1 4 and l2 7, so its label is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label: the inputs are 1; d, e, f and h are 2, g is 3; i and j are 7; both outputs are 8. RW’s labels are times, entirely different from the group labels of label propagation.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Recovery works back from the outputs: take the candidate clusters of k and l, and the input nodes outside them become new roots, until no new cluster is needed. That gives 8 clusters and 20 instances, every instance has complete inputs, and both outputs arrive at time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 replication the largest delay is 8, using 20 instances. Forbid replication and search every capacity-legal grouping exhaustively, and the best is only 10. Replication trades area for speed, and the paper’s optimality result assumes exactly that replication is allowed.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pseudocode has two parts: labelling computes scores, candidate clusters and labels in topological order; recovery works back from the outputs, making instances for each selected cluster and connecting the instance wires, adding 0 inside a cluster and D between clusters.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Finally, the limits: the optimality comes from the paper and holds only within its model. The 12-node example is a candidate reconstruction, and the tie rule is an assumption. This course’s tests only check consistency and legal instances; they do not prove optimality. This submission does not match Lab 09 in the teacher’s catalogue, and the correspondence awaits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summary: the goal becomes delay, and each crossing adds D to the path. Labelling gives each node its earliest time, and recovery works back from the outputs to clusters and instances; logic nodes and instances are kept apart, and replication costs area. Finally, go back to the home page and compare the eight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3880" y="6512052"/>
            <a:ext cx="41998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09 · Rajaraman–Wong Delay-Oriented Clustering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p1/12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30679" y="2310892"/>
            <a:ext cx="8930640" cy="8915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200" b="0">
                <a:solidFill>
                  <a:srgbClr val="D8BB78"/>
                </a:solidFill>
                <a:latin typeface="Noto Sans SC"/>
                <a:ea typeface="Noto Sans SC"/>
              </a:rPr>
              <a:t>The Cost of the Critical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81529" y="3335782"/>
            <a:ext cx="80289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BCD2D0"/>
                </a:solidFill>
                <a:latin typeface="Noto Sans SC"/>
                <a:ea typeface="Noto Sans SC"/>
              </a:rPr>
              <a:t>Rajaraman–Wong delay-oriented clustering · delay, replication and instances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785" y="4136644"/>
            <a:ext cx="1055243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6F8F8F"/>
                </a:solidFill>
                <a:latin typeface="Noto Sans SC"/>
                <a:ea typeface="Noto Sans SC"/>
              </a:rPr>
              <a:t>Learning Clustering · original author muranfei (Issue #8) · mapping to Lab 09 (Multilevel) in the teacher's catalogue pending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6861809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The goal has changed: from cut to delay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41998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09 · Rajaraman–Wong Delay-Oriented Clustering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p2/12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Chain P→X→Y→O: δ = 1, inter-cluster D = 3, capacity 2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22843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21756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{P,X} | {Y,O}: 1 crossing, delay 7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7161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6074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{P} | {X,Y} | {O}: 2 crossings, delay 10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3147948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3039236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D8BB78"/>
                </a:solidFill>
                <a:latin typeface="Noto Sans SC"/>
                <a:ea typeface="Noto Sans SC"/>
              </a:rPr>
              <a:t>Delay follows how often the critical path crosses a boundary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69000" y="1612900"/>
            <a:ext cx="2032000" cy="838200"/>
          </a:xfrm>
          <a:prstGeom prst="roundRect">
            <a:avLst>
              <a:gd name="adj" fmla="val 22727"/>
            </a:avLst>
          </a:prstGeom>
          <a:noFill/>
          <a:ln w="19050">
            <a:solidFill>
              <a:srgbClr val="77CDB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8509000" y="1612900"/>
            <a:ext cx="2032000" cy="838200"/>
          </a:xfrm>
          <a:prstGeom prst="roundRect">
            <a:avLst>
              <a:gd name="adj" fmla="val 22727"/>
            </a:avLst>
          </a:prstGeom>
          <a:noFill/>
          <a:ln w="19050">
            <a:solidFill>
              <a:srgbClr val="8FB1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146800" y="1828800"/>
            <a:ext cx="406400" cy="4064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36335" y="1914652"/>
            <a:ext cx="22732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B1B1F"/>
                </a:solidFill>
                <a:latin typeface="Noto Sans SC"/>
                <a:ea typeface="Noto Sans SC"/>
              </a:rPr>
              <a:t>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9830" y="2270252"/>
            <a:ext cx="1803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D8BB78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65900" y="2032000"/>
            <a:ext cx="784859" cy="0"/>
          </a:xfrm>
          <a:prstGeom prst="line">
            <a:avLst/>
          </a:prstGeom>
          <a:ln w="2540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reeform 22"/>
          <p:cNvSpPr/>
          <p:nvPr/>
        </p:nvSpPr>
        <p:spPr>
          <a:xfrm>
            <a:off x="7322926" y="1995750"/>
            <a:ext cx="81174" cy="72499"/>
          </a:xfrm>
          <a:custGeom>
            <a:avLst/>
            <a:gdLst/>
            <a:ahLst/>
            <a:cxnLst/>
            <a:rect l="l" t="t" r="r" b="b"/>
            <a:pathLst>
              <a:path w="81174" h="72499">
                <a:moveTo>
                  <a:pt x="81174" y="36250"/>
                </a:moveTo>
                <a:lnTo>
                  <a:pt x="0" y="72499"/>
                </a:lnTo>
                <a:lnTo>
                  <a:pt x="0" y="0"/>
                </a:lnTo>
                <a:close/>
              </a:path>
            </a:pathLst>
          </a:custGeom>
          <a:solidFill>
            <a:srgbClr val="9FC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0380" y="1749552"/>
            <a:ext cx="269239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+0</a:t>
            </a:r>
          </a:p>
        </p:txBody>
      </p:sp>
      <p:sp>
        <p:nvSpPr>
          <p:cNvPr id="25" name="Oval 24"/>
          <p:cNvSpPr/>
          <p:nvPr/>
        </p:nvSpPr>
        <p:spPr>
          <a:xfrm>
            <a:off x="7416800" y="1828800"/>
            <a:ext cx="406400" cy="4064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09509" y="1914652"/>
            <a:ext cx="22097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B1B1F"/>
                </a:solidFill>
                <a:latin typeface="Noto Sans SC"/>
                <a:ea typeface="Noto Sans SC"/>
              </a:rPr>
              <a:t>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29830" y="2270252"/>
            <a:ext cx="1803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D8BB78"/>
                </a:solidFill>
                <a:latin typeface="Noto Sans SC"/>
                <a:ea typeface="Noto Sans SC"/>
              </a:rPr>
              <a:t>2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835900" y="2032000"/>
            <a:ext cx="784860" cy="0"/>
          </a:xfrm>
          <a:prstGeom prst="line">
            <a:avLst/>
          </a:prstGeom>
          <a:ln w="2540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eeform 28"/>
          <p:cNvSpPr/>
          <p:nvPr/>
        </p:nvSpPr>
        <p:spPr>
          <a:xfrm>
            <a:off x="8592926" y="1995750"/>
            <a:ext cx="81174" cy="72499"/>
          </a:xfrm>
          <a:custGeom>
            <a:avLst/>
            <a:gdLst/>
            <a:ahLst/>
            <a:cxnLst/>
            <a:rect l="l" t="t" r="r" b="b"/>
            <a:pathLst>
              <a:path w="81174" h="72499">
                <a:moveTo>
                  <a:pt x="81174" y="36250"/>
                </a:moveTo>
                <a:lnTo>
                  <a:pt x="0" y="72499"/>
                </a:lnTo>
                <a:lnTo>
                  <a:pt x="0" y="0"/>
                </a:lnTo>
                <a:close/>
              </a:path>
            </a:pathLst>
          </a:custGeom>
          <a:solidFill>
            <a:srgbClr val="DB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20380" y="1749552"/>
            <a:ext cx="269239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DB7B72"/>
                </a:solidFill>
                <a:latin typeface="Noto Sans SC"/>
                <a:ea typeface="Noto Sans SC"/>
              </a:rPr>
              <a:t>+3</a:t>
            </a:r>
          </a:p>
        </p:txBody>
      </p:sp>
      <p:sp>
        <p:nvSpPr>
          <p:cNvPr id="31" name="Oval 30"/>
          <p:cNvSpPr/>
          <p:nvPr/>
        </p:nvSpPr>
        <p:spPr>
          <a:xfrm>
            <a:off x="8686800" y="1828800"/>
            <a:ext cx="406400" cy="4064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785860" y="1914652"/>
            <a:ext cx="20827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B1B1F"/>
                </a:solidFill>
                <a:latin typeface="Noto Sans SC"/>
                <a:ea typeface="Noto Sans SC"/>
              </a:rPr>
              <a:t>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99830" y="2270252"/>
            <a:ext cx="1803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D8BB78"/>
                </a:solidFill>
                <a:latin typeface="Noto Sans SC"/>
                <a:ea typeface="Noto Sans SC"/>
              </a:rPr>
              <a:t>6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105900" y="2032000"/>
            <a:ext cx="784860" cy="0"/>
          </a:xfrm>
          <a:prstGeom prst="line">
            <a:avLst/>
          </a:prstGeom>
          <a:ln w="2540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reeform 34"/>
          <p:cNvSpPr/>
          <p:nvPr/>
        </p:nvSpPr>
        <p:spPr>
          <a:xfrm>
            <a:off x="9862926" y="1995750"/>
            <a:ext cx="81174" cy="72499"/>
          </a:xfrm>
          <a:custGeom>
            <a:avLst/>
            <a:gdLst/>
            <a:ahLst/>
            <a:cxnLst/>
            <a:rect l="l" t="t" r="r" b="b"/>
            <a:pathLst>
              <a:path w="81174" h="72499">
                <a:moveTo>
                  <a:pt x="81174" y="36250"/>
                </a:moveTo>
                <a:lnTo>
                  <a:pt x="0" y="72499"/>
                </a:lnTo>
                <a:lnTo>
                  <a:pt x="0" y="0"/>
                </a:lnTo>
                <a:close/>
              </a:path>
            </a:pathLst>
          </a:custGeom>
          <a:solidFill>
            <a:srgbClr val="9FC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90380" y="1749552"/>
            <a:ext cx="269239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+0</a:t>
            </a:r>
          </a:p>
        </p:txBody>
      </p:sp>
      <p:sp>
        <p:nvSpPr>
          <p:cNvPr id="37" name="Oval 36"/>
          <p:cNvSpPr/>
          <p:nvPr/>
        </p:nvSpPr>
        <p:spPr>
          <a:xfrm>
            <a:off x="9956800" y="1828800"/>
            <a:ext cx="406400" cy="4064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0036810" y="1914652"/>
            <a:ext cx="24637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B1B1F"/>
                </a:solidFill>
                <a:latin typeface="Noto Sans SC"/>
                <a:ea typeface="Noto Sans SC"/>
              </a:rPr>
              <a:t>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69830" y="2270252"/>
            <a:ext cx="1803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D8BB78"/>
                </a:solidFill>
                <a:latin typeface="Noto Sans SC"/>
                <a:ea typeface="Noto Sans SC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37425" y="2599690"/>
            <a:ext cx="1835150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2F3E9"/>
                </a:solidFill>
                <a:latin typeface="Noto Sans SC"/>
                <a:ea typeface="Noto Sans SC"/>
              </a:rPr>
              <a:t>1 crossing: delay 7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69000" y="3644900"/>
            <a:ext cx="762000" cy="838200"/>
          </a:xfrm>
          <a:prstGeom prst="roundRect">
            <a:avLst>
              <a:gd name="adj" fmla="val 25000"/>
            </a:avLst>
          </a:prstGeom>
          <a:noFill/>
          <a:ln w="19050">
            <a:solidFill>
              <a:srgbClr val="77CDB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7239000" y="3644900"/>
            <a:ext cx="2032000" cy="838200"/>
          </a:xfrm>
          <a:prstGeom prst="roundRect">
            <a:avLst>
              <a:gd name="adj" fmla="val 22727"/>
            </a:avLst>
          </a:prstGeom>
          <a:noFill/>
          <a:ln w="19050">
            <a:solidFill>
              <a:srgbClr val="8FB1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9779000" y="3644900"/>
            <a:ext cx="762000" cy="838200"/>
          </a:xfrm>
          <a:prstGeom prst="roundRect">
            <a:avLst>
              <a:gd name="adj" fmla="val 25000"/>
            </a:avLst>
          </a:prstGeom>
          <a:noFill/>
          <a:ln w="19050">
            <a:solidFill>
              <a:srgbClr val="D8BB7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6146800" y="3860800"/>
            <a:ext cx="406400" cy="4064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236335" y="3946652"/>
            <a:ext cx="22732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B1B1F"/>
                </a:solidFill>
                <a:latin typeface="Noto Sans SC"/>
                <a:ea typeface="Noto Sans SC"/>
              </a:rPr>
              <a:t>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59830" y="4302252"/>
            <a:ext cx="1803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D8BB78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565900" y="4064000"/>
            <a:ext cx="784859" cy="0"/>
          </a:xfrm>
          <a:prstGeom prst="line">
            <a:avLst/>
          </a:prstGeom>
          <a:ln w="2540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reeform 47"/>
          <p:cNvSpPr/>
          <p:nvPr/>
        </p:nvSpPr>
        <p:spPr>
          <a:xfrm>
            <a:off x="7322926" y="4027750"/>
            <a:ext cx="81174" cy="72499"/>
          </a:xfrm>
          <a:custGeom>
            <a:avLst/>
            <a:gdLst/>
            <a:ahLst/>
            <a:cxnLst/>
            <a:rect l="l" t="t" r="r" b="b"/>
            <a:pathLst>
              <a:path w="81174" h="72499">
                <a:moveTo>
                  <a:pt x="81174" y="36250"/>
                </a:moveTo>
                <a:lnTo>
                  <a:pt x="0" y="72499"/>
                </a:lnTo>
                <a:lnTo>
                  <a:pt x="0" y="0"/>
                </a:lnTo>
                <a:close/>
              </a:path>
            </a:pathLst>
          </a:custGeom>
          <a:solidFill>
            <a:srgbClr val="DB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0380" y="3781552"/>
            <a:ext cx="269239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DB7B72"/>
                </a:solidFill>
                <a:latin typeface="Noto Sans SC"/>
                <a:ea typeface="Noto Sans SC"/>
              </a:rPr>
              <a:t>+3</a:t>
            </a:r>
          </a:p>
        </p:txBody>
      </p:sp>
      <p:sp>
        <p:nvSpPr>
          <p:cNvPr id="50" name="Oval 49"/>
          <p:cNvSpPr/>
          <p:nvPr/>
        </p:nvSpPr>
        <p:spPr>
          <a:xfrm>
            <a:off x="7416800" y="3860800"/>
            <a:ext cx="406400" cy="4064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509509" y="3946652"/>
            <a:ext cx="22097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B1B1F"/>
                </a:solidFill>
                <a:latin typeface="Noto Sans SC"/>
                <a:ea typeface="Noto Sans SC"/>
              </a:rPr>
              <a:t>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29830" y="4302252"/>
            <a:ext cx="1803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D8BB78"/>
                </a:solidFill>
                <a:latin typeface="Noto Sans SC"/>
                <a:ea typeface="Noto Sans SC"/>
              </a:rPr>
              <a:t>5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835900" y="4064000"/>
            <a:ext cx="784860" cy="0"/>
          </a:xfrm>
          <a:prstGeom prst="line">
            <a:avLst/>
          </a:prstGeom>
          <a:ln w="2540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Freeform 53"/>
          <p:cNvSpPr/>
          <p:nvPr/>
        </p:nvSpPr>
        <p:spPr>
          <a:xfrm>
            <a:off x="8592926" y="4027750"/>
            <a:ext cx="81174" cy="72499"/>
          </a:xfrm>
          <a:custGeom>
            <a:avLst/>
            <a:gdLst/>
            <a:ahLst/>
            <a:cxnLst/>
            <a:rect l="l" t="t" r="r" b="b"/>
            <a:pathLst>
              <a:path w="81174" h="72499">
                <a:moveTo>
                  <a:pt x="81174" y="36250"/>
                </a:moveTo>
                <a:lnTo>
                  <a:pt x="0" y="72499"/>
                </a:lnTo>
                <a:lnTo>
                  <a:pt x="0" y="0"/>
                </a:lnTo>
                <a:close/>
              </a:path>
            </a:pathLst>
          </a:custGeom>
          <a:solidFill>
            <a:srgbClr val="9FC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20380" y="3781552"/>
            <a:ext cx="269239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+0</a:t>
            </a:r>
          </a:p>
        </p:txBody>
      </p:sp>
      <p:sp>
        <p:nvSpPr>
          <p:cNvPr id="56" name="Oval 55"/>
          <p:cNvSpPr/>
          <p:nvPr/>
        </p:nvSpPr>
        <p:spPr>
          <a:xfrm>
            <a:off x="8686800" y="3860800"/>
            <a:ext cx="406400" cy="4064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8785860" y="3946652"/>
            <a:ext cx="20827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B1B1F"/>
                </a:solidFill>
                <a:latin typeface="Noto Sans SC"/>
                <a:ea typeface="Noto Sans SC"/>
              </a:rPr>
              <a:t>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99830" y="4302252"/>
            <a:ext cx="1803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D8BB78"/>
                </a:solidFill>
                <a:latin typeface="Noto Sans SC"/>
                <a:ea typeface="Noto Sans SC"/>
              </a:rPr>
              <a:t>6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105900" y="4064000"/>
            <a:ext cx="784860" cy="0"/>
          </a:xfrm>
          <a:prstGeom prst="line">
            <a:avLst/>
          </a:prstGeom>
          <a:ln w="2540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Freeform 59"/>
          <p:cNvSpPr/>
          <p:nvPr/>
        </p:nvSpPr>
        <p:spPr>
          <a:xfrm>
            <a:off x="9862926" y="4027750"/>
            <a:ext cx="81174" cy="72499"/>
          </a:xfrm>
          <a:custGeom>
            <a:avLst/>
            <a:gdLst/>
            <a:ahLst/>
            <a:cxnLst/>
            <a:rect l="l" t="t" r="r" b="b"/>
            <a:pathLst>
              <a:path w="81174" h="72499">
                <a:moveTo>
                  <a:pt x="81174" y="36250"/>
                </a:moveTo>
                <a:lnTo>
                  <a:pt x="0" y="72499"/>
                </a:lnTo>
                <a:lnTo>
                  <a:pt x="0" y="0"/>
                </a:lnTo>
                <a:close/>
              </a:path>
            </a:pathLst>
          </a:custGeom>
          <a:solidFill>
            <a:srgbClr val="DB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90380" y="3781552"/>
            <a:ext cx="269239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DB7B72"/>
                </a:solidFill>
                <a:latin typeface="Noto Sans SC"/>
                <a:ea typeface="Noto Sans SC"/>
              </a:rPr>
              <a:t>+3</a:t>
            </a:r>
          </a:p>
        </p:txBody>
      </p:sp>
      <p:sp>
        <p:nvSpPr>
          <p:cNvPr id="62" name="Oval 61"/>
          <p:cNvSpPr/>
          <p:nvPr/>
        </p:nvSpPr>
        <p:spPr>
          <a:xfrm>
            <a:off x="9956800" y="3860800"/>
            <a:ext cx="406400" cy="4064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10036810" y="3946652"/>
            <a:ext cx="24637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B1B1F"/>
                </a:solidFill>
                <a:latin typeface="Noto Sans SC"/>
                <a:ea typeface="Noto Sans SC"/>
              </a:rPr>
              <a:t>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25380" y="4302252"/>
            <a:ext cx="269239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D8BB78"/>
                </a:solidFill>
                <a:latin typeface="Noto Sans SC"/>
                <a:ea typeface="Noto Sans SC"/>
              </a:rPr>
              <a:t>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32650" y="4631690"/>
            <a:ext cx="2044700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2F3E9"/>
                </a:solidFill>
                <a:latin typeface="Noto Sans SC"/>
                <a:ea typeface="Noto Sans SC"/>
              </a:rPr>
              <a:t>2 crossings: delay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26136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The RW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41998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09 · Rajaraman–Wong Delay-Oriented Clustering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p3/12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A combinational DAG; PIs are inputs, POs outputs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22843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2175637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Node delay δ(v); 0 on wires inside a cluster, D between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302920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92049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Cluster capacity M (the sum of node sizes)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346100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335229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Logic nodes may be replicated</a:t>
            </a:r>
          </a:p>
        </p:txBody>
      </p:sp>
      <p:sp>
        <p:nvSpPr>
          <p:cNvPr id="17" name="Oval 16"/>
          <p:cNvSpPr/>
          <p:nvPr/>
        </p:nvSpPr>
        <p:spPr>
          <a:xfrm>
            <a:off x="711200" y="389280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378409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Goal: minimise the largest PI→PO delay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500" y="5546598"/>
            <a:ext cx="4908550" cy="4787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300" b="0">
                <a:solidFill>
                  <a:srgbClr val="BCD2D0"/>
                </a:solidFill>
                <a:latin typeface="Noto Sans SC"/>
                <a:ea typeface="Noto Sans SC"/>
              </a:rPr>
              <a:t>Here D is the inter-cluster delay, not Module 06's degree matrix.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150428" y="2013857"/>
            <a:ext cx="1085667" cy="339271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reeform 20"/>
          <p:cNvSpPr/>
          <p:nvPr/>
        </p:nvSpPr>
        <p:spPr>
          <a:xfrm>
            <a:off x="7198716" y="2310226"/>
            <a:ext cx="88291" cy="69199"/>
          </a:xfrm>
          <a:custGeom>
            <a:avLst/>
            <a:gdLst/>
            <a:ahLst/>
            <a:cxnLst/>
            <a:rect l="l" t="t" r="r" b="b"/>
            <a:pathLst>
              <a:path w="88291" h="69199">
                <a:moveTo>
                  <a:pt x="88291" y="58812"/>
                </a:moveTo>
                <a:lnTo>
                  <a:pt x="0" y="69199"/>
                </a:lnTo>
                <a:lnTo>
                  <a:pt x="21625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6150428" y="1605158"/>
            <a:ext cx="1089863" cy="408699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reeform 22"/>
          <p:cNvSpPr/>
          <p:nvPr/>
        </p:nvSpPr>
        <p:spPr>
          <a:xfrm>
            <a:off x="7201501" y="1580989"/>
            <a:ext cx="88733" cy="67884"/>
          </a:xfrm>
          <a:custGeom>
            <a:avLst/>
            <a:gdLst/>
            <a:ahLst/>
            <a:cxnLst/>
            <a:rect l="l" t="t" r="r" b="b"/>
            <a:pathLst>
              <a:path w="88733" h="67884">
                <a:moveTo>
                  <a:pt x="88733" y="5440"/>
                </a:moveTo>
                <a:lnTo>
                  <a:pt x="25456" y="67884"/>
                </a:lnTo>
                <a:lnTo>
                  <a:pt x="0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V="1">
            <a:off x="6150428" y="2553018"/>
            <a:ext cx="1115817" cy="767124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 24"/>
          <p:cNvSpPr/>
          <p:nvPr/>
        </p:nvSpPr>
        <p:spPr>
          <a:xfrm>
            <a:off x="7222772" y="2522800"/>
            <a:ext cx="87427" cy="75858"/>
          </a:xfrm>
          <a:custGeom>
            <a:avLst/>
            <a:gdLst/>
            <a:ahLst/>
            <a:cxnLst/>
            <a:rect l="l" t="t" r="r" b="b"/>
            <a:pathLst>
              <a:path w="87427" h="75858">
                <a:moveTo>
                  <a:pt x="87427" y="0"/>
                </a:moveTo>
                <a:lnTo>
                  <a:pt x="41073" y="75858"/>
                </a:lnTo>
                <a:lnTo>
                  <a:pt x="0" y="16116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6150428" y="3320142"/>
            <a:ext cx="1085667" cy="339271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7198716" y="3616511"/>
            <a:ext cx="88291" cy="69200"/>
          </a:xfrm>
          <a:custGeom>
            <a:avLst/>
            <a:gdLst/>
            <a:ahLst/>
            <a:cxnLst/>
            <a:rect l="l" t="t" r="r" b="b"/>
            <a:pathLst>
              <a:path w="88291" h="69200">
                <a:moveTo>
                  <a:pt x="88291" y="58812"/>
                </a:moveTo>
                <a:lnTo>
                  <a:pt x="0" y="69200"/>
                </a:lnTo>
                <a:lnTo>
                  <a:pt x="21625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V="1">
            <a:off x="6150428" y="3859304"/>
            <a:ext cx="1115817" cy="767124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eeform 28"/>
          <p:cNvSpPr/>
          <p:nvPr/>
        </p:nvSpPr>
        <p:spPr>
          <a:xfrm>
            <a:off x="7222772" y="3829085"/>
            <a:ext cx="87427" cy="75859"/>
          </a:xfrm>
          <a:custGeom>
            <a:avLst/>
            <a:gdLst/>
            <a:ahLst/>
            <a:cxnLst/>
            <a:rect l="l" t="t" r="r" b="b"/>
            <a:pathLst>
              <a:path w="87427" h="75859">
                <a:moveTo>
                  <a:pt x="87427" y="0"/>
                </a:moveTo>
                <a:lnTo>
                  <a:pt x="41073" y="75859"/>
                </a:lnTo>
                <a:lnTo>
                  <a:pt x="0" y="16116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6150428" y="4626428"/>
            <a:ext cx="1082047" cy="270512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reeform 30"/>
          <p:cNvSpPr/>
          <p:nvPr/>
        </p:nvSpPr>
        <p:spPr>
          <a:xfrm>
            <a:off x="7196681" y="4855022"/>
            <a:ext cx="87541" cy="70335"/>
          </a:xfrm>
          <a:custGeom>
            <a:avLst/>
            <a:gdLst/>
            <a:ahLst/>
            <a:cxnLst/>
            <a:rect l="l" t="t" r="r" b="b"/>
            <a:pathLst>
              <a:path w="87541" h="70335">
                <a:moveTo>
                  <a:pt x="87541" y="54855"/>
                </a:moveTo>
                <a:lnTo>
                  <a:pt x="0" y="70335"/>
                </a:lnTo>
                <a:lnTo>
                  <a:pt x="17583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7456714" y="2422071"/>
            <a:ext cx="2381544" cy="74423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reeform 32"/>
          <p:cNvSpPr/>
          <p:nvPr/>
        </p:nvSpPr>
        <p:spPr>
          <a:xfrm>
            <a:off x="9809306" y="2459393"/>
            <a:ext cx="82266" cy="72464"/>
          </a:xfrm>
          <a:custGeom>
            <a:avLst/>
            <a:gdLst/>
            <a:ahLst/>
            <a:cxnLst/>
            <a:rect l="l" t="t" r="r" b="b"/>
            <a:pathLst>
              <a:path w="82266" h="72464">
                <a:moveTo>
                  <a:pt x="82266" y="38767"/>
                </a:moveTo>
                <a:lnTo>
                  <a:pt x="0" y="72464"/>
                </a:lnTo>
                <a:lnTo>
                  <a:pt x="2264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7456714" y="3728357"/>
            <a:ext cx="1075146" cy="0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reeform 34"/>
          <p:cNvSpPr/>
          <p:nvPr/>
        </p:nvSpPr>
        <p:spPr>
          <a:xfrm>
            <a:off x="8504026" y="3692107"/>
            <a:ext cx="81174" cy="72500"/>
          </a:xfrm>
          <a:custGeom>
            <a:avLst/>
            <a:gdLst/>
            <a:ahLst/>
            <a:cxnLst/>
            <a:rect l="l" t="t" r="r" b="b"/>
            <a:pathLst>
              <a:path w="81174" h="72500">
                <a:moveTo>
                  <a:pt x="81174" y="36250"/>
                </a:moveTo>
                <a:lnTo>
                  <a:pt x="0" y="72500"/>
                </a:lnTo>
                <a:lnTo>
                  <a:pt x="0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7456714" y="1524000"/>
            <a:ext cx="2396148" cy="898555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Freeform 36"/>
          <p:cNvSpPr/>
          <p:nvPr/>
        </p:nvSpPr>
        <p:spPr>
          <a:xfrm>
            <a:off x="9814072" y="2378840"/>
            <a:ext cx="88734" cy="67884"/>
          </a:xfrm>
          <a:custGeom>
            <a:avLst/>
            <a:gdLst/>
            <a:ahLst/>
            <a:cxnLst/>
            <a:rect l="l" t="t" r="r" b="b"/>
            <a:pathLst>
              <a:path w="88734" h="67884">
                <a:moveTo>
                  <a:pt x="88734" y="62444"/>
                </a:moveTo>
                <a:lnTo>
                  <a:pt x="0" y="67884"/>
                </a:lnTo>
                <a:lnTo>
                  <a:pt x="25457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 flipV="1">
            <a:off x="8763000" y="2661800"/>
            <a:ext cx="1137660" cy="1066557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Freeform 38"/>
          <p:cNvSpPr/>
          <p:nvPr/>
        </p:nvSpPr>
        <p:spPr>
          <a:xfrm>
            <a:off x="9855562" y="2625319"/>
            <a:ext cx="84011" cy="81963"/>
          </a:xfrm>
          <a:custGeom>
            <a:avLst/>
            <a:gdLst/>
            <a:ahLst/>
            <a:cxnLst/>
            <a:rect l="l" t="t" r="r" b="b"/>
            <a:pathLst>
              <a:path w="84011" h="81963">
                <a:moveTo>
                  <a:pt x="84011" y="0"/>
                </a:moveTo>
                <a:lnTo>
                  <a:pt x="49585" y="81963"/>
                </a:lnTo>
                <a:lnTo>
                  <a:pt x="0" y="29072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8763000" y="3728357"/>
            <a:ext cx="1094525" cy="478854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eform 40"/>
          <p:cNvSpPr/>
          <p:nvPr/>
        </p:nvSpPr>
        <p:spPr>
          <a:xfrm>
            <a:off x="9817495" y="4162845"/>
            <a:ext cx="88897" cy="66421"/>
          </a:xfrm>
          <a:custGeom>
            <a:avLst/>
            <a:gdLst/>
            <a:ahLst/>
            <a:cxnLst/>
            <a:rect l="l" t="t" r="r" b="b"/>
            <a:pathLst>
              <a:path w="88897" h="66421">
                <a:moveTo>
                  <a:pt x="88897" y="65746"/>
                </a:moveTo>
                <a:lnTo>
                  <a:pt x="0" y="66421"/>
                </a:lnTo>
                <a:lnTo>
                  <a:pt x="29059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7456714" y="4355916"/>
            <a:ext cx="2388332" cy="597084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 42"/>
          <p:cNvSpPr/>
          <p:nvPr/>
        </p:nvSpPr>
        <p:spPr>
          <a:xfrm>
            <a:off x="9809252" y="4327499"/>
            <a:ext cx="87542" cy="70336"/>
          </a:xfrm>
          <a:custGeom>
            <a:avLst/>
            <a:gdLst/>
            <a:ahLst/>
            <a:cxnLst/>
            <a:rect l="l" t="t" r="r" b="b"/>
            <a:pathLst>
              <a:path w="87542" h="70336">
                <a:moveTo>
                  <a:pt x="87542" y="15480"/>
                </a:moveTo>
                <a:lnTo>
                  <a:pt x="17584" y="70336"/>
                </a:lnTo>
                <a:lnTo>
                  <a:pt x="0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10069285" y="2503714"/>
            <a:ext cx="1094525" cy="478855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reeform 44"/>
          <p:cNvSpPr/>
          <p:nvPr/>
        </p:nvSpPr>
        <p:spPr>
          <a:xfrm>
            <a:off x="11123781" y="2938202"/>
            <a:ext cx="88897" cy="66421"/>
          </a:xfrm>
          <a:custGeom>
            <a:avLst/>
            <a:gdLst/>
            <a:ahLst/>
            <a:cxnLst/>
            <a:rect l="l" t="t" r="r" b="b"/>
            <a:pathLst>
              <a:path w="88897" h="66421">
                <a:moveTo>
                  <a:pt x="88897" y="65746"/>
                </a:moveTo>
                <a:lnTo>
                  <a:pt x="0" y="66421"/>
                </a:lnTo>
                <a:lnTo>
                  <a:pt x="29059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 flipV="1">
            <a:off x="10069285" y="3233300"/>
            <a:ext cx="1137661" cy="1066557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Freeform 46"/>
          <p:cNvSpPr/>
          <p:nvPr/>
        </p:nvSpPr>
        <p:spPr>
          <a:xfrm>
            <a:off x="11161847" y="3196819"/>
            <a:ext cx="84012" cy="81963"/>
          </a:xfrm>
          <a:custGeom>
            <a:avLst/>
            <a:gdLst/>
            <a:ahLst/>
            <a:cxnLst/>
            <a:rect l="l" t="t" r="r" b="b"/>
            <a:pathLst>
              <a:path w="84012" h="81963">
                <a:moveTo>
                  <a:pt x="84012" y="0"/>
                </a:moveTo>
                <a:lnTo>
                  <a:pt x="49586" y="81963"/>
                </a:lnTo>
                <a:lnTo>
                  <a:pt x="0" y="29072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10069285" y="4299857"/>
            <a:ext cx="1085667" cy="339271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Freeform 48"/>
          <p:cNvSpPr/>
          <p:nvPr/>
        </p:nvSpPr>
        <p:spPr>
          <a:xfrm>
            <a:off x="11117573" y="4596226"/>
            <a:ext cx="88291" cy="69199"/>
          </a:xfrm>
          <a:custGeom>
            <a:avLst/>
            <a:gdLst/>
            <a:ahLst/>
            <a:cxnLst/>
            <a:rect l="l" t="t" r="r" b="b"/>
            <a:pathLst>
              <a:path w="88291" h="69199">
                <a:moveTo>
                  <a:pt x="88291" y="58812"/>
                </a:moveTo>
                <a:lnTo>
                  <a:pt x="0" y="69199"/>
                </a:lnTo>
                <a:lnTo>
                  <a:pt x="21625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998028" y="1861457"/>
            <a:ext cx="304800" cy="304800"/>
          </a:xfrm>
          <a:prstGeom prst="ellipse">
            <a:avLst/>
          </a:prstGeom>
          <a:solidFill>
            <a:srgbClr val="8FB1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060258" y="1913273"/>
            <a:ext cx="1803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52" name="Oval 51"/>
          <p:cNvSpPr/>
          <p:nvPr/>
        </p:nvSpPr>
        <p:spPr>
          <a:xfrm>
            <a:off x="5998028" y="3167742"/>
            <a:ext cx="304800" cy="304800"/>
          </a:xfrm>
          <a:prstGeom prst="ellipse">
            <a:avLst/>
          </a:prstGeom>
          <a:solidFill>
            <a:srgbClr val="8FB1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057083" y="3219558"/>
            <a:ext cx="1866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54" name="Oval 53"/>
          <p:cNvSpPr/>
          <p:nvPr/>
        </p:nvSpPr>
        <p:spPr>
          <a:xfrm>
            <a:off x="5998028" y="4474028"/>
            <a:ext cx="304800" cy="304800"/>
          </a:xfrm>
          <a:prstGeom prst="ellipse">
            <a:avLst/>
          </a:prstGeom>
          <a:solidFill>
            <a:srgbClr val="8FB1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063433" y="4525844"/>
            <a:ext cx="1739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56" name="Oval 55"/>
          <p:cNvSpPr/>
          <p:nvPr/>
        </p:nvSpPr>
        <p:spPr>
          <a:xfrm>
            <a:off x="7304314" y="2269671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7363369" y="2321487"/>
            <a:ext cx="1866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58" name="Oval 57"/>
          <p:cNvSpPr/>
          <p:nvPr/>
        </p:nvSpPr>
        <p:spPr>
          <a:xfrm>
            <a:off x="7304314" y="3575957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7366544" y="3627773"/>
            <a:ext cx="1803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60" name="Oval 59"/>
          <p:cNvSpPr/>
          <p:nvPr/>
        </p:nvSpPr>
        <p:spPr>
          <a:xfrm>
            <a:off x="7304314" y="1371600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7382419" y="1423416"/>
            <a:ext cx="1485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f</a:t>
            </a:r>
          </a:p>
        </p:txBody>
      </p:sp>
      <p:sp>
        <p:nvSpPr>
          <p:cNvPr id="62" name="Oval 61"/>
          <p:cNvSpPr/>
          <p:nvPr/>
        </p:nvSpPr>
        <p:spPr>
          <a:xfrm>
            <a:off x="7304314" y="4800600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7363369" y="4852416"/>
            <a:ext cx="1866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h</a:t>
            </a:r>
          </a:p>
        </p:txBody>
      </p:sp>
      <p:sp>
        <p:nvSpPr>
          <p:cNvPr id="64" name="Oval 63"/>
          <p:cNvSpPr/>
          <p:nvPr/>
        </p:nvSpPr>
        <p:spPr>
          <a:xfrm>
            <a:off x="8610600" y="3575957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8672830" y="3627773"/>
            <a:ext cx="1803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g</a:t>
            </a:r>
          </a:p>
        </p:txBody>
      </p:sp>
      <p:sp>
        <p:nvSpPr>
          <p:cNvPr id="66" name="Oval 65"/>
          <p:cNvSpPr/>
          <p:nvPr/>
        </p:nvSpPr>
        <p:spPr>
          <a:xfrm>
            <a:off x="9916885" y="2351314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10001340" y="2403130"/>
            <a:ext cx="1358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i</a:t>
            </a:r>
          </a:p>
        </p:txBody>
      </p:sp>
      <p:sp>
        <p:nvSpPr>
          <p:cNvPr id="68" name="Oval 67"/>
          <p:cNvSpPr/>
          <p:nvPr/>
        </p:nvSpPr>
        <p:spPr>
          <a:xfrm>
            <a:off x="9916885" y="4147457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10001340" y="4199273"/>
            <a:ext cx="1358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j</a:t>
            </a:r>
          </a:p>
        </p:txBody>
      </p:sp>
      <p:sp>
        <p:nvSpPr>
          <p:cNvPr id="70" name="Oval 69"/>
          <p:cNvSpPr/>
          <p:nvPr/>
        </p:nvSpPr>
        <p:spPr>
          <a:xfrm>
            <a:off x="11223171" y="2922814"/>
            <a:ext cx="304800" cy="304800"/>
          </a:xfrm>
          <a:prstGeom prst="ellipse">
            <a:avLst/>
          </a:prstGeom>
          <a:solidFill>
            <a:srgbClr val="E39F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11282226" y="2974630"/>
            <a:ext cx="1866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k</a:t>
            </a:r>
          </a:p>
        </p:txBody>
      </p:sp>
      <p:sp>
        <p:nvSpPr>
          <p:cNvPr id="72" name="Oval 71"/>
          <p:cNvSpPr/>
          <p:nvPr/>
        </p:nvSpPr>
        <p:spPr>
          <a:xfrm>
            <a:off x="11223171" y="4555671"/>
            <a:ext cx="304800" cy="304800"/>
          </a:xfrm>
          <a:prstGeom prst="ellipse">
            <a:avLst/>
          </a:prstGeom>
          <a:solidFill>
            <a:srgbClr val="E39F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11304451" y="4607487"/>
            <a:ext cx="1422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l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940550" y="5524500"/>
            <a:ext cx="3644900" cy="2667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12700">
            <a:solidFill>
              <a:srgbClr val="C2A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6993890" y="5585206"/>
            <a:ext cx="3538220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C2A6E6"/>
                </a:solidFill>
                <a:latin typeface="Noto Sans SC"/>
                <a:ea typeface="Noto Sans SC"/>
              </a:rPr>
              <a:t>Candidate data, reconstructed · tie rule assumed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6569709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Replication: logic nodes and instances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41998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09 · Rajaraman–Wong Delay-Oriented Clustering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p4/12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One logic node (logicalId) may have several physical instances (instanceId)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22843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21756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An instance is written "node@root"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7161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607437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Replication lets several clusters get the same signal inside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346100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335229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The cost: every copy takes area</a:t>
            </a:r>
          </a:p>
        </p:txBody>
      </p:sp>
      <p:sp>
        <p:nvSpPr>
          <p:cNvPr id="17" name="Oval 16"/>
          <p:cNvSpPr/>
          <p:nvPr/>
        </p:nvSpPr>
        <p:spPr>
          <a:xfrm>
            <a:off x="711200" y="389280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378409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A "node → cluster" map cannot express replication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0000" y="1651000"/>
            <a:ext cx="1905000" cy="254000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77CDB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94195" y="1768348"/>
            <a:ext cx="8166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77CDBB"/>
                </a:solidFill>
                <a:latin typeface="Noto Sans SC"/>
                <a:ea typeface="Noto Sans SC"/>
              </a:rPr>
              <a:t>Cluster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17000" y="1651000"/>
            <a:ext cx="1905000" cy="254000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8FB1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561195" y="1768348"/>
            <a:ext cx="8166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FB1E6"/>
                </a:solidFill>
                <a:latin typeface="Noto Sans SC"/>
                <a:ea typeface="Noto Sans SC"/>
              </a:rPr>
              <a:t>Cluster 2</a:t>
            </a:r>
          </a:p>
        </p:txBody>
      </p:sp>
      <p:sp>
        <p:nvSpPr>
          <p:cNvPr id="23" name="Oval 22"/>
          <p:cNvSpPr/>
          <p:nvPr/>
        </p:nvSpPr>
        <p:spPr>
          <a:xfrm>
            <a:off x="7073900" y="3454400"/>
            <a:ext cx="457200" cy="4572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205980" y="3540506"/>
            <a:ext cx="1930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i</a:t>
            </a:r>
          </a:p>
        </p:txBody>
      </p:sp>
      <p:sp>
        <p:nvSpPr>
          <p:cNvPr id="25" name="Oval 24"/>
          <p:cNvSpPr/>
          <p:nvPr/>
        </p:nvSpPr>
        <p:spPr>
          <a:xfrm>
            <a:off x="9740900" y="3454400"/>
            <a:ext cx="457200" cy="4572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872980" y="3540506"/>
            <a:ext cx="1930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j</a:t>
            </a:r>
          </a:p>
        </p:txBody>
      </p:sp>
      <p:sp>
        <p:nvSpPr>
          <p:cNvPr id="27" name="Oval 26"/>
          <p:cNvSpPr/>
          <p:nvPr/>
        </p:nvSpPr>
        <p:spPr>
          <a:xfrm>
            <a:off x="7073900" y="2438400"/>
            <a:ext cx="457200" cy="457200"/>
          </a:xfrm>
          <a:prstGeom prst="ellipse">
            <a:avLst/>
          </a:prstGeom>
          <a:solidFill>
            <a:srgbClr val="D8BB7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7067550" y="2432050"/>
            <a:ext cx="469900" cy="469900"/>
          </a:xfrm>
          <a:prstGeom prst="ellipse">
            <a:avLst/>
          </a:prstGeom>
          <a:noFill/>
          <a:ln w="19050">
            <a:solidFill>
              <a:srgbClr val="F2F3E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174230" y="2524506"/>
            <a:ext cx="2565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g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302500" y="2667000"/>
            <a:ext cx="0" cy="708660"/>
          </a:xfrm>
          <a:prstGeom prst="line">
            <a:avLst/>
          </a:prstGeom>
          <a:ln w="190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reeform 30"/>
          <p:cNvSpPr/>
          <p:nvPr/>
        </p:nvSpPr>
        <p:spPr>
          <a:xfrm>
            <a:off x="7266250" y="3347826"/>
            <a:ext cx="72499" cy="81174"/>
          </a:xfrm>
          <a:custGeom>
            <a:avLst/>
            <a:gdLst/>
            <a:ahLst/>
            <a:cxnLst/>
            <a:rect l="l" t="t" r="r" b="b"/>
            <a:pathLst>
              <a:path w="72499" h="81174">
                <a:moveTo>
                  <a:pt x="36250" y="81174"/>
                </a:moveTo>
                <a:lnTo>
                  <a:pt x="0" y="0"/>
                </a:lnTo>
                <a:lnTo>
                  <a:pt x="72499" y="0"/>
                </a:lnTo>
                <a:close/>
              </a:path>
            </a:pathLst>
          </a:custGeom>
          <a:solidFill>
            <a:srgbClr val="9FC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740900" y="2438400"/>
            <a:ext cx="457200" cy="457200"/>
          </a:xfrm>
          <a:prstGeom prst="ellipse">
            <a:avLst/>
          </a:prstGeom>
          <a:solidFill>
            <a:srgbClr val="D8BB7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9734550" y="2432050"/>
            <a:ext cx="469900" cy="469900"/>
          </a:xfrm>
          <a:prstGeom prst="ellipse">
            <a:avLst/>
          </a:prstGeom>
          <a:noFill/>
          <a:ln w="19050">
            <a:solidFill>
              <a:srgbClr val="F2F3E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841230" y="2524506"/>
            <a:ext cx="2565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g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969500" y="2667000"/>
            <a:ext cx="0" cy="708660"/>
          </a:xfrm>
          <a:prstGeom prst="line">
            <a:avLst/>
          </a:prstGeom>
          <a:ln w="190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9933250" y="3347826"/>
            <a:ext cx="72499" cy="81174"/>
          </a:xfrm>
          <a:custGeom>
            <a:avLst/>
            <a:gdLst/>
            <a:ahLst/>
            <a:cxnLst/>
            <a:rect l="l" t="t" r="r" b="b"/>
            <a:pathLst>
              <a:path w="72499" h="81174">
                <a:moveTo>
                  <a:pt x="36250" y="81174"/>
                </a:moveTo>
                <a:lnTo>
                  <a:pt x="0" y="0"/>
                </a:lnTo>
                <a:lnTo>
                  <a:pt x="72499" y="0"/>
                </a:lnTo>
                <a:close/>
              </a:path>
            </a:pathLst>
          </a:custGeom>
          <a:solidFill>
            <a:srgbClr val="9FC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17715" y="2937256"/>
            <a:ext cx="369570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CD2D0"/>
                </a:solidFill>
                <a:latin typeface="Noto Sans SC"/>
                <a:ea typeface="Noto Sans SC"/>
              </a:rPr>
              <a:t>g@1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715" y="2937256"/>
            <a:ext cx="369570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CD2D0"/>
                </a:solidFill>
                <a:latin typeface="Noto Sans SC"/>
                <a:ea typeface="Noto Sans SC"/>
              </a:rPr>
              <a:t>g@2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556500" y="2667000"/>
            <a:ext cx="2159000" cy="0"/>
          </a:xfrm>
          <a:prstGeom prst="line">
            <a:avLst/>
          </a:prstGeom>
          <a:ln w="12700">
            <a:solidFill>
              <a:srgbClr val="C2A6E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587615" y="2397506"/>
            <a:ext cx="2096770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C2A6E6"/>
                </a:solidFill>
                <a:latin typeface="Noto Sans SC"/>
                <a:ea typeface="Noto Sans SC"/>
              </a:rPr>
              <a:t>two instances of one logic node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0300" y="4622800"/>
            <a:ext cx="4851400" cy="2794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12700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259830" y="4683252"/>
            <a:ext cx="47523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D8BB78"/>
                </a:solidFill>
                <a:latin typeface="Noto Sans SC"/>
                <a:ea typeface="Noto Sans SC"/>
              </a:rPr>
              <a:t>The cost: one more instance, one more unit of area (schematic)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6607809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Initialisation: the candidate DAG and Δ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41998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09 · Rajaraman–Wong Delay-Oriented Clustering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p5/12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The original 12-node example: PIs a, b, c; POs k, l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22843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21756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δ = 1, D = 3, capacity 4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7161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607437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Δ(x, v): the longest node delay from x to v (counting v, not x)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346100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335229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Δ(b, k) = 4 (b→e→g→i→k)</a:t>
            </a:r>
          </a:p>
        </p:txBody>
      </p:sp>
      <p:sp>
        <p:nvSpPr>
          <p:cNvPr id="17" name="Oval 16"/>
          <p:cNvSpPr/>
          <p:nvPr/>
        </p:nvSpPr>
        <p:spPr>
          <a:xfrm>
            <a:off x="711200" y="389280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378409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BCD2D0"/>
                </a:solidFill>
                <a:latin typeface="Noto Sans SC"/>
                <a:ea typeface="Noto Sans SC"/>
              </a:rPr>
              <a:t>The graph is reconstructed from the original film: candidate data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50428" y="2013857"/>
            <a:ext cx="1085667" cy="339271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reeform 19"/>
          <p:cNvSpPr/>
          <p:nvPr/>
        </p:nvSpPr>
        <p:spPr>
          <a:xfrm>
            <a:off x="7198716" y="2310226"/>
            <a:ext cx="88291" cy="69199"/>
          </a:xfrm>
          <a:custGeom>
            <a:avLst/>
            <a:gdLst/>
            <a:ahLst/>
            <a:cxnLst/>
            <a:rect l="l" t="t" r="r" b="b"/>
            <a:pathLst>
              <a:path w="88291" h="69199">
                <a:moveTo>
                  <a:pt x="88291" y="58812"/>
                </a:moveTo>
                <a:lnTo>
                  <a:pt x="0" y="69199"/>
                </a:lnTo>
                <a:lnTo>
                  <a:pt x="21625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V="1">
            <a:off x="6150428" y="1605158"/>
            <a:ext cx="1089863" cy="408699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reeform 21"/>
          <p:cNvSpPr/>
          <p:nvPr/>
        </p:nvSpPr>
        <p:spPr>
          <a:xfrm>
            <a:off x="7201501" y="1580989"/>
            <a:ext cx="88733" cy="67884"/>
          </a:xfrm>
          <a:custGeom>
            <a:avLst/>
            <a:gdLst/>
            <a:ahLst/>
            <a:cxnLst/>
            <a:rect l="l" t="t" r="r" b="b"/>
            <a:pathLst>
              <a:path w="88733" h="67884">
                <a:moveTo>
                  <a:pt x="88733" y="5440"/>
                </a:moveTo>
                <a:lnTo>
                  <a:pt x="25456" y="67884"/>
                </a:lnTo>
                <a:lnTo>
                  <a:pt x="0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6150428" y="2553018"/>
            <a:ext cx="1115817" cy="767124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reeform 23"/>
          <p:cNvSpPr/>
          <p:nvPr/>
        </p:nvSpPr>
        <p:spPr>
          <a:xfrm>
            <a:off x="7222772" y="2522800"/>
            <a:ext cx="87427" cy="75858"/>
          </a:xfrm>
          <a:custGeom>
            <a:avLst/>
            <a:gdLst/>
            <a:ahLst/>
            <a:cxnLst/>
            <a:rect l="l" t="t" r="r" b="b"/>
            <a:pathLst>
              <a:path w="87427" h="75858">
                <a:moveTo>
                  <a:pt x="87427" y="0"/>
                </a:moveTo>
                <a:lnTo>
                  <a:pt x="41073" y="75858"/>
                </a:lnTo>
                <a:lnTo>
                  <a:pt x="0" y="16116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6150428" y="3320142"/>
            <a:ext cx="1085667" cy="339271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reeform 25"/>
          <p:cNvSpPr/>
          <p:nvPr/>
        </p:nvSpPr>
        <p:spPr>
          <a:xfrm>
            <a:off x="7198716" y="3616511"/>
            <a:ext cx="88291" cy="69200"/>
          </a:xfrm>
          <a:custGeom>
            <a:avLst/>
            <a:gdLst/>
            <a:ahLst/>
            <a:cxnLst/>
            <a:rect l="l" t="t" r="r" b="b"/>
            <a:pathLst>
              <a:path w="88291" h="69200">
                <a:moveTo>
                  <a:pt x="88291" y="58812"/>
                </a:moveTo>
                <a:lnTo>
                  <a:pt x="0" y="69200"/>
                </a:lnTo>
                <a:lnTo>
                  <a:pt x="21625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V="1">
            <a:off x="6150428" y="3859304"/>
            <a:ext cx="1115817" cy="767124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Freeform 27"/>
          <p:cNvSpPr/>
          <p:nvPr/>
        </p:nvSpPr>
        <p:spPr>
          <a:xfrm>
            <a:off x="7222772" y="3829085"/>
            <a:ext cx="87427" cy="75859"/>
          </a:xfrm>
          <a:custGeom>
            <a:avLst/>
            <a:gdLst/>
            <a:ahLst/>
            <a:cxnLst/>
            <a:rect l="l" t="t" r="r" b="b"/>
            <a:pathLst>
              <a:path w="87427" h="75859">
                <a:moveTo>
                  <a:pt x="87427" y="0"/>
                </a:moveTo>
                <a:lnTo>
                  <a:pt x="41073" y="75859"/>
                </a:lnTo>
                <a:lnTo>
                  <a:pt x="0" y="16116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6150428" y="4626428"/>
            <a:ext cx="1082047" cy="270512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Freeform 29"/>
          <p:cNvSpPr/>
          <p:nvPr/>
        </p:nvSpPr>
        <p:spPr>
          <a:xfrm>
            <a:off x="7196681" y="4855022"/>
            <a:ext cx="87541" cy="70335"/>
          </a:xfrm>
          <a:custGeom>
            <a:avLst/>
            <a:gdLst/>
            <a:ahLst/>
            <a:cxnLst/>
            <a:rect l="l" t="t" r="r" b="b"/>
            <a:pathLst>
              <a:path w="87541" h="70335">
                <a:moveTo>
                  <a:pt x="87541" y="54855"/>
                </a:moveTo>
                <a:lnTo>
                  <a:pt x="0" y="70335"/>
                </a:lnTo>
                <a:lnTo>
                  <a:pt x="17583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7456714" y="2422071"/>
            <a:ext cx="2381544" cy="74423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Freeform 31"/>
          <p:cNvSpPr/>
          <p:nvPr/>
        </p:nvSpPr>
        <p:spPr>
          <a:xfrm>
            <a:off x="9809306" y="2459393"/>
            <a:ext cx="82266" cy="72464"/>
          </a:xfrm>
          <a:custGeom>
            <a:avLst/>
            <a:gdLst/>
            <a:ahLst/>
            <a:cxnLst/>
            <a:rect l="l" t="t" r="r" b="b"/>
            <a:pathLst>
              <a:path w="82266" h="72464">
                <a:moveTo>
                  <a:pt x="82266" y="38767"/>
                </a:moveTo>
                <a:lnTo>
                  <a:pt x="0" y="72464"/>
                </a:lnTo>
                <a:lnTo>
                  <a:pt x="2264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7456714" y="3728357"/>
            <a:ext cx="1075146" cy="0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reeform 33"/>
          <p:cNvSpPr/>
          <p:nvPr/>
        </p:nvSpPr>
        <p:spPr>
          <a:xfrm>
            <a:off x="8504026" y="3692107"/>
            <a:ext cx="81174" cy="72500"/>
          </a:xfrm>
          <a:custGeom>
            <a:avLst/>
            <a:gdLst/>
            <a:ahLst/>
            <a:cxnLst/>
            <a:rect l="l" t="t" r="r" b="b"/>
            <a:pathLst>
              <a:path w="81174" h="72500">
                <a:moveTo>
                  <a:pt x="81174" y="36250"/>
                </a:moveTo>
                <a:lnTo>
                  <a:pt x="0" y="72500"/>
                </a:lnTo>
                <a:lnTo>
                  <a:pt x="0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7456714" y="1524000"/>
            <a:ext cx="2396148" cy="898555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9814072" y="2378840"/>
            <a:ext cx="88734" cy="67884"/>
          </a:xfrm>
          <a:custGeom>
            <a:avLst/>
            <a:gdLst/>
            <a:ahLst/>
            <a:cxnLst/>
            <a:rect l="l" t="t" r="r" b="b"/>
            <a:pathLst>
              <a:path w="88734" h="67884">
                <a:moveTo>
                  <a:pt x="88734" y="62444"/>
                </a:moveTo>
                <a:lnTo>
                  <a:pt x="0" y="67884"/>
                </a:lnTo>
                <a:lnTo>
                  <a:pt x="25457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8763000" y="2661800"/>
            <a:ext cx="1137660" cy="1066557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reeform 37"/>
          <p:cNvSpPr/>
          <p:nvPr/>
        </p:nvSpPr>
        <p:spPr>
          <a:xfrm>
            <a:off x="9855562" y="2625319"/>
            <a:ext cx="84011" cy="81963"/>
          </a:xfrm>
          <a:custGeom>
            <a:avLst/>
            <a:gdLst/>
            <a:ahLst/>
            <a:cxnLst/>
            <a:rect l="l" t="t" r="r" b="b"/>
            <a:pathLst>
              <a:path w="84011" h="81963">
                <a:moveTo>
                  <a:pt x="84011" y="0"/>
                </a:moveTo>
                <a:lnTo>
                  <a:pt x="49585" y="81963"/>
                </a:lnTo>
                <a:lnTo>
                  <a:pt x="0" y="29072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8763000" y="3728357"/>
            <a:ext cx="1094525" cy="478854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reeform 39"/>
          <p:cNvSpPr/>
          <p:nvPr/>
        </p:nvSpPr>
        <p:spPr>
          <a:xfrm>
            <a:off x="9817495" y="4162845"/>
            <a:ext cx="88897" cy="66421"/>
          </a:xfrm>
          <a:custGeom>
            <a:avLst/>
            <a:gdLst/>
            <a:ahLst/>
            <a:cxnLst/>
            <a:rect l="l" t="t" r="r" b="b"/>
            <a:pathLst>
              <a:path w="88897" h="66421">
                <a:moveTo>
                  <a:pt x="88897" y="65746"/>
                </a:moveTo>
                <a:lnTo>
                  <a:pt x="0" y="66421"/>
                </a:lnTo>
                <a:lnTo>
                  <a:pt x="29059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 flipV="1">
            <a:off x="7456714" y="4355916"/>
            <a:ext cx="2388332" cy="597084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reeform 41"/>
          <p:cNvSpPr/>
          <p:nvPr/>
        </p:nvSpPr>
        <p:spPr>
          <a:xfrm>
            <a:off x="9809252" y="4327499"/>
            <a:ext cx="87542" cy="70336"/>
          </a:xfrm>
          <a:custGeom>
            <a:avLst/>
            <a:gdLst/>
            <a:ahLst/>
            <a:cxnLst/>
            <a:rect l="l" t="t" r="r" b="b"/>
            <a:pathLst>
              <a:path w="87542" h="70336">
                <a:moveTo>
                  <a:pt x="87542" y="15480"/>
                </a:moveTo>
                <a:lnTo>
                  <a:pt x="17584" y="70336"/>
                </a:lnTo>
                <a:lnTo>
                  <a:pt x="0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10069285" y="2503714"/>
            <a:ext cx="1094525" cy="478855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reeform 43"/>
          <p:cNvSpPr/>
          <p:nvPr/>
        </p:nvSpPr>
        <p:spPr>
          <a:xfrm>
            <a:off x="11123781" y="2938202"/>
            <a:ext cx="88897" cy="66421"/>
          </a:xfrm>
          <a:custGeom>
            <a:avLst/>
            <a:gdLst/>
            <a:ahLst/>
            <a:cxnLst/>
            <a:rect l="l" t="t" r="r" b="b"/>
            <a:pathLst>
              <a:path w="88897" h="66421">
                <a:moveTo>
                  <a:pt x="88897" y="65746"/>
                </a:moveTo>
                <a:lnTo>
                  <a:pt x="0" y="66421"/>
                </a:lnTo>
                <a:lnTo>
                  <a:pt x="29059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 flipV="1">
            <a:off x="10069285" y="3233300"/>
            <a:ext cx="1137661" cy="1066557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Freeform 45"/>
          <p:cNvSpPr/>
          <p:nvPr/>
        </p:nvSpPr>
        <p:spPr>
          <a:xfrm>
            <a:off x="11161847" y="3196819"/>
            <a:ext cx="84012" cy="81963"/>
          </a:xfrm>
          <a:custGeom>
            <a:avLst/>
            <a:gdLst/>
            <a:ahLst/>
            <a:cxnLst/>
            <a:rect l="l" t="t" r="r" b="b"/>
            <a:pathLst>
              <a:path w="84012" h="81963">
                <a:moveTo>
                  <a:pt x="84012" y="0"/>
                </a:moveTo>
                <a:lnTo>
                  <a:pt x="49586" y="81963"/>
                </a:lnTo>
                <a:lnTo>
                  <a:pt x="0" y="29072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10069285" y="4299857"/>
            <a:ext cx="1085667" cy="339271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reeform 47"/>
          <p:cNvSpPr/>
          <p:nvPr/>
        </p:nvSpPr>
        <p:spPr>
          <a:xfrm>
            <a:off x="11117573" y="4596226"/>
            <a:ext cx="88291" cy="69199"/>
          </a:xfrm>
          <a:custGeom>
            <a:avLst/>
            <a:gdLst/>
            <a:ahLst/>
            <a:cxnLst/>
            <a:rect l="l" t="t" r="r" b="b"/>
            <a:pathLst>
              <a:path w="88291" h="69199">
                <a:moveTo>
                  <a:pt x="88291" y="58812"/>
                </a:moveTo>
                <a:lnTo>
                  <a:pt x="0" y="69199"/>
                </a:lnTo>
                <a:lnTo>
                  <a:pt x="21625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998028" y="1861457"/>
            <a:ext cx="304800" cy="304800"/>
          </a:xfrm>
          <a:prstGeom prst="ellipse">
            <a:avLst/>
          </a:prstGeom>
          <a:solidFill>
            <a:srgbClr val="8FB1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060258" y="1913273"/>
            <a:ext cx="1803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51" name="Oval 50"/>
          <p:cNvSpPr/>
          <p:nvPr/>
        </p:nvSpPr>
        <p:spPr>
          <a:xfrm>
            <a:off x="5998028" y="3167742"/>
            <a:ext cx="304800" cy="304800"/>
          </a:xfrm>
          <a:prstGeom prst="ellipse">
            <a:avLst/>
          </a:prstGeom>
          <a:solidFill>
            <a:srgbClr val="8FB1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057083" y="3219558"/>
            <a:ext cx="1866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53" name="Oval 52"/>
          <p:cNvSpPr/>
          <p:nvPr/>
        </p:nvSpPr>
        <p:spPr>
          <a:xfrm>
            <a:off x="5998028" y="4474028"/>
            <a:ext cx="304800" cy="304800"/>
          </a:xfrm>
          <a:prstGeom prst="ellipse">
            <a:avLst/>
          </a:prstGeom>
          <a:solidFill>
            <a:srgbClr val="8FB1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063433" y="4525844"/>
            <a:ext cx="1739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55" name="Oval 54"/>
          <p:cNvSpPr/>
          <p:nvPr/>
        </p:nvSpPr>
        <p:spPr>
          <a:xfrm>
            <a:off x="7304314" y="2269671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363369" y="2321487"/>
            <a:ext cx="1866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57" name="Oval 56"/>
          <p:cNvSpPr/>
          <p:nvPr/>
        </p:nvSpPr>
        <p:spPr>
          <a:xfrm>
            <a:off x="7304314" y="3575957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366544" y="3627773"/>
            <a:ext cx="1803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59" name="Oval 58"/>
          <p:cNvSpPr/>
          <p:nvPr/>
        </p:nvSpPr>
        <p:spPr>
          <a:xfrm>
            <a:off x="7304314" y="1371600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7382419" y="1423416"/>
            <a:ext cx="1485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f</a:t>
            </a:r>
          </a:p>
        </p:txBody>
      </p:sp>
      <p:sp>
        <p:nvSpPr>
          <p:cNvPr id="61" name="Oval 60"/>
          <p:cNvSpPr/>
          <p:nvPr/>
        </p:nvSpPr>
        <p:spPr>
          <a:xfrm>
            <a:off x="7304314" y="4800600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363369" y="4852416"/>
            <a:ext cx="1866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h</a:t>
            </a:r>
          </a:p>
        </p:txBody>
      </p:sp>
      <p:sp>
        <p:nvSpPr>
          <p:cNvPr id="63" name="Oval 62"/>
          <p:cNvSpPr/>
          <p:nvPr/>
        </p:nvSpPr>
        <p:spPr>
          <a:xfrm>
            <a:off x="8610600" y="3575957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8672830" y="3627773"/>
            <a:ext cx="1803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g</a:t>
            </a:r>
          </a:p>
        </p:txBody>
      </p:sp>
      <p:sp>
        <p:nvSpPr>
          <p:cNvPr id="65" name="Oval 64"/>
          <p:cNvSpPr/>
          <p:nvPr/>
        </p:nvSpPr>
        <p:spPr>
          <a:xfrm>
            <a:off x="9916885" y="2351314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10001340" y="2403130"/>
            <a:ext cx="1358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i</a:t>
            </a:r>
          </a:p>
        </p:txBody>
      </p:sp>
      <p:sp>
        <p:nvSpPr>
          <p:cNvPr id="67" name="Oval 66"/>
          <p:cNvSpPr/>
          <p:nvPr/>
        </p:nvSpPr>
        <p:spPr>
          <a:xfrm>
            <a:off x="9916885" y="4147457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10001340" y="4199273"/>
            <a:ext cx="1358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j</a:t>
            </a:r>
          </a:p>
        </p:txBody>
      </p:sp>
      <p:sp>
        <p:nvSpPr>
          <p:cNvPr id="69" name="Oval 68"/>
          <p:cNvSpPr/>
          <p:nvPr/>
        </p:nvSpPr>
        <p:spPr>
          <a:xfrm>
            <a:off x="11223171" y="2922814"/>
            <a:ext cx="304800" cy="304800"/>
          </a:xfrm>
          <a:prstGeom prst="ellipse">
            <a:avLst/>
          </a:prstGeom>
          <a:solidFill>
            <a:srgbClr val="E39F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11282226" y="2974630"/>
            <a:ext cx="1866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k</a:t>
            </a:r>
          </a:p>
        </p:txBody>
      </p:sp>
      <p:sp>
        <p:nvSpPr>
          <p:cNvPr id="71" name="Oval 70"/>
          <p:cNvSpPr/>
          <p:nvPr/>
        </p:nvSpPr>
        <p:spPr>
          <a:xfrm>
            <a:off x="11223171" y="4555671"/>
            <a:ext cx="304800" cy="304800"/>
          </a:xfrm>
          <a:prstGeom prst="ellipse">
            <a:avLst/>
          </a:prstGeom>
          <a:solidFill>
            <a:srgbClr val="E39F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11304451" y="4607487"/>
            <a:ext cx="1422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l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940550" y="5524500"/>
            <a:ext cx="3644900" cy="2667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12700">
            <a:solidFill>
              <a:srgbClr val="C2A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6993890" y="5585206"/>
            <a:ext cx="3538220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C2A6E6"/>
                </a:solidFill>
                <a:latin typeface="Noto Sans SC"/>
                <a:ea typeface="Noto Sans SC"/>
              </a:rPr>
              <a:t>Candidate data, reconstructed · tie rule assumed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455041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Labelling: l(v) = max(l1, l2)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41998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09 · Rajaraman–Wong Delay-Oriented Clustering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p6/12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Score(x) = l(x) + Δ(x, v)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Candidate cluster: v + the highest-scoring ancestors, up to capacity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7161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607437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Ties: the later in topological order (this course's assumption)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346100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335229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l1 = largest score of a PI inside; l2 = largest score outside + D</a:t>
            </a:r>
          </a:p>
        </p:txBody>
      </p:sp>
      <p:sp>
        <p:nvSpPr>
          <p:cNvPr id="17" name="Oval 16"/>
          <p:cNvSpPr/>
          <p:nvPr/>
        </p:nvSpPr>
        <p:spPr>
          <a:xfrm>
            <a:off x="711200" y="420585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409714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i: l1 = 4, l2 = 7 → l(i) =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1110" y="1533144"/>
            <a:ext cx="88773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Ancestor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3609" y="1533144"/>
            <a:ext cx="40513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l(x)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92109" y="1533144"/>
            <a:ext cx="23367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63610" y="1533144"/>
            <a:ext cx="6019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Score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311900" y="1816100"/>
            <a:ext cx="3911600" cy="0"/>
          </a:xfrm>
          <a:prstGeom prst="line">
            <a:avLst/>
          </a:prstGeom>
          <a:ln w="12700">
            <a:solidFill>
              <a:srgbClr val="2D4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261100" y="1879600"/>
            <a:ext cx="4051300" cy="393700"/>
          </a:xfrm>
          <a:prstGeom prst="roundRect">
            <a:avLst>
              <a:gd name="adj" fmla="val 12903"/>
            </a:avLst>
          </a:prstGeom>
          <a:solidFill>
            <a:srgbClr val="77CDB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339840" y="19263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92340" y="19263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0840" y="19263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62340" y="19263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4340" y="1926336"/>
            <a:ext cx="6997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inside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1100" y="2298700"/>
            <a:ext cx="4051300" cy="393700"/>
          </a:xfrm>
          <a:prstGeom prst="roundRect">
            <a:avLst>
              <a:gd name="adj" fmla="val 12903"/>
            </a:avLst>
          </a:prstGeom>
          <a:solidFill>
            <a:srgbClr val="77CDB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339840" y="23454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92340" y="23454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90840" y="23454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62340" y="23454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4340" y="2345436"/>
            <a:ext cx="6997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inside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1100" y="2717800"/>
            <a:ext cx="4051300" cy="393700"/>
          </a:xfrm>
          <a:prstGeom prst="roundRect">
            <a:avLst>
              <a:gd name="adj" fmla="val 12903"/>
            </a:avLst>
          </a:prstGeom>
          <a:solidFill>
            <a:srgbClr val="77CDB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339840" y="2764536"/>
            <a:ext cx="223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92340" y="27645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90840" y="27645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62340" y="27645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4340" y="2764536"/>
            <a:ext cx="6997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inside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39840" y="3183636"/>
            <a:ext cx="248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92340" y="31836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90840" y="31836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62340" y="31836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4340" y="3183636"/>
            <a:ext cx="833119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outside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9840" y="3602736"/>
            <a:ext cx="1854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92340" y="36027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90840" y="36027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62340" y="36027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24340" y="3602736"/>
            <a:ext cx="833119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outside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39840" y="4021836"/>
            <a:ext cx="248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92340" y="40218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90840" y="40218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62340" y="40218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24340" y="4021836"/>
            <a:ext cx="833119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outside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39840" y="44409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92340" y="44409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90840" y="44409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62340" y="44409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24340" y="4440936"/>
            <a:ext cx="833119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outside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600950" y="5245100"/>
            <a:ext cx="1689100" cy="2921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12700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7646670" y="5305298"/>
            <a:ext cx="15976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8BB78"/>
                </a:solidFill>
                <a:latin typeface="Noto Sans SC"/>
                <a:ea typeface="Noto Sans SC"/>
              </a:rPr>
              <a:t>l1 = 4, l2 = 7, l(i) =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203581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Every label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41998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09 · Rajaraman–Wong Delay-Oriented Clustering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p7/12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PIs: l = 1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d, e, f, h: 2; g: 3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2943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i, j: 7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27261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k, l: 8</a:t>
            </a:r>
          </a:p>
        </p:txBody>
      </p:sp>
      <p:sp>
        <p:nvSpPr>
          <p:cNvPr id="17" name="Oval 16"/>
          <p:cNvSpPr/>
          <p:nvPr/>
        </p:nvSpPr>
        <p:spPr>
          <a:xfrm>
            <a:off x="711200" y="32666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31579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RW's labels are times, not groups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50428" y="2013857"/>
            <a:ext cx="1085667" cy="339271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reeform 19"/>
          <p:cNvSpPr/>
          <p:nvPr/>
        </p:nvSpPr>
        <p:spPr>
          <a:xfrm>
            <a:off x="7198716" y="2310226"/>
            <a:ext cx="88291" cy="69199"/>
          </a:xfrm>
          <a:custGeom>
            <a:avLst/>
            <a:gdLst/>
            <a:ahLst/>
            <a:cxnLst/>
            <a:rect l="l" t="t" r="r" b="b"/>
            <a:pathLst>
              <a:path w="88291" h="69199">
                <a:moveTo>
                  <a:pt x="88291" y="58812"/>
                </a:moveTo>
                <a:lnTo>
                  <a:pt x="0" y="69199"/>
                </a:lnTo>
                <a:lnTo>
                  <a:pt x="21625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V="1">
            <a:off x="6150428" y="1605158"/>
            <a:ext cx="1089863" cy="408699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reeform 21"/>
          <p:cNvSpPr/>
          <p:nvPr/>
        </p:nvSpPr>
        <p:spPr>
          <a:xfrm>
            <a:off x="7201501" y="1580989"/>
            <a:ext cx="88733" cy="67884"/>
          </a:xfrm>
          <a:custGeom>
            <a:avLst/>
            <a:gdLst/>
            <a:ahLst/>
            <a:cxnLst/>
            <a:rect l="l" t="t" r="r" b="b"/>
            <a:pathLst>
              <a:path w="88733" h="67884">
                <a:moveTo>
                  <a:pt x="88733" y="5440"/>
                </a:moveTo>
                <a:lnTo>
                  <a:pt x="25456" y="67884"/>
                </a:lnTo>
                <a:lnTo>
                  <a:pt x="0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6150428" y="2553018"/>
            <a:ext cx="1115817" cy="767124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reeform 23"/>
          <p:cNvSpPr/>
          <p:nvPr/>
        </p:nvSpPr>
        <p:spPr>
          <a:xfrm>
            <a:off x="7222772" y="2522800"/>
            <a:ext cx="87427" cy="75858"/>
          </a:xfrm>
          <a:custGeom>
            <a:avLst/>
            <a:gdLst/>
            <a:ahLst/>
            <a:cxnLst/>
            <a:rect l="l" t="t" r="r" b="b"/>
            <a:pathLst>
              <a:path w="87427" h="75858">
                <a:moveTo>
                  <a:pt x="87427" y="0"/>
                </a:moveTo>
                <a:lnTo>
                  <a:pt x="41073" y="75858"/>
                </a:lnTo>
                <a:lnTo>
                  <a:pt x="0" y="16116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6150428" y="3320142"/>
            <a:ext cx="1085667" cy="339271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reeform 25"/>
          <p:cNvSpPr/>
          <p:nvPr/>
        </p:nvSpPr>
        <p:spPr>
          <a:xfrm>
            <a:off x="7198716" y="3616511"/>
            <a:ext cx="88291" cy="69200"/>
          </a:xfrm>
          <a:custGeom>
            <a:avLst/>
            <a:gdLst/>
            <a:ahLst/>
            <a:cxnLst/>
            <a:rect l="l" t="t" r="r" b="b"/>
            <a:pathLst>
              <a:path w="88291" h="69200">
                <a:moveTo>
                  <a:pt x="88291" y="58812"/>
                </a:moveTo>
                <a:lnTo>
                  <a:pt x="0" y="69200"/>
                </a:lnTo>
                <a:lnTo>
                  <a:pt x="21625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V="1">
            <a:off x="6150428" y="3859304"/>
            <a:ext cx="1115817" cy="767124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Freeform 27"/>
          <p:cNvSpPr/>
          <p:nvPr/>
        </p:nvSpPr>
        <p:spPr>
          <a:xfrm>
            <a:off x="7222772" y="3829085"/>
            <a:ext cx="87427" cy="75859"/>
          </a:xfrm>
          <a:custGeom>
            <a:avLst/>
            <a:gdLst/>
            <a:ahLst/>
            <a:cxnLst/>
            <a:rect l="l" t="t" r="r" b="b"/>
            <a:pathLst>
              <a:path w="87427" h="75859">
                <a:moveTo>
                  <a:pt x="87427" y="0"/>
                </a:moveTo>
                <a:lnTo>
                  <a:pt x="41073" y="75859"/>
                </a:lnTo>
                <a:lnTo>
                  <a:pt x="0" y="16116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6150428" y="4626428"/>
            <a:ext cx="1082047" cy="270512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Freeform 29"/>
          <p:cNvSpPr/>
          <p:nvPr/>
        </p:nvSpPr>
        <p:spPr>
          <a:xfrm>
            <a:off x="7196681" y="4855022"/>
            <a:ext cx="87541" cy="70335"/>
          </a:xfrm>
          <a:custGeom>
            <a:avLst/>
            <a:gdLst/>
            <a:ahLst/>
            <a:cxnLst/>
            <a:rect l="l" t="t" r="r" b="b"/>
            <a:pathLst>
              <a:path w="87541" h="70335">
                <a:moveTo>
                  <a:pt x="87541" y="54855"/>
                </a:moveTo>
                <a:lnTo>
                  <a:pt x="0" y="70335"/>
                </a:lnTo>
                <a:lnTo>
                  <a:pt x="17583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7456714" y="2422071"/>
            <a:ext cx="2381544" cy="74423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Freeform 31"/>
          <p:cNvSpPr/>
          <p:nvPr/>
        </p:nvSpPr>
        <p:spPr>
          <a:xfrm>
            <a:off x="9809306" y="2459393"/>
            <a:ext cx="82266" cy="72464"/>
          </a:xfrm>
          <a:custGeom>
            <a:avLst/>
            <a:gdLst/>
            <a:ahLst/>
            <a:cxnLst/>
            <a:rect l="l" t="t" r="r" b="b"/>
            <a:pathLst>
              <a:path w="82266" h="72464">
                <a:moveTo>
                  <a:pt x="82266" y="38767"/>
                </a:moveTo>
                <a:lnTo>
                  <a:pt x="0" y="72464"/>
                </a:lnTo>
                <a:lnTo>
                  <a:pt x="2264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7456714" y="3728357"/>
            <a:ext cx="1075146" cy="0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reeform 33"/>
          <p:cNvSpPr/>
          <p:nvPr/>
        </p:nvSpPr>
        <p:spPr>
          <a:xfrm>
            <a:off x="8504026" y="3692107"/>
            <a:ext cx="81174" cy="72500"/>
          </a:xfrm>
          <a:custGeom>
            <a:avLst/>
            <a:gdLst/>
            <a:ahLst/>
            <a:cxnLst/>
            <a:rect l="l" t="t" r="r" b="b"/>
            <a:pathLst>
              <a:path w="81174" h="72500">
                <a:moveTo>
                  <a:pt x="81174" y="36250"/>
                </a:moveTo>
                <a:lnTo>
                  <a:pt x="0" y="72500"/>
                </a:lnTo>
                <a:lnTo>
                  <a:pt x="0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7456714" y="1524000"/>
            <a:ext cx="2396148" cy="898555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9814072" y="2378840"/>
            <a:ext cx="88734" cy="67884"/>
          </a:xfrm>
          <a:custGeom>
            <a:avLst/>
            <a:gdLst/>
            <a:ahLst/>
            <a:cxnLst/>
            <a:rect l="l" t="t" r="r" b="b"/>
            <a:pathLst>
              <a:path w="88734" h="67884">
                <a:moveTo>
                  <a:pt x="88734" y="62444"/>
                </a:moveTo>
                <a:lnTo>
                  <a:pt x="0" y="67884"/>
                </a:lnTo>
                <a:lnTo>
                  <a:pt x="25457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8763000" y="2661800"/>
            <a:ext cx="1137660" cy="1066557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reeform 37"/>
          <p:cNvSpPr/>
          <p:nvPr/>
        </p:nvSpPr>
        <p:spPr>
          <a:xfrm>
            <a:off x="9855562" y="2625319"/>
            <a:ext cx="84011" cy="81963"/>
          </a:xfrm>
          <a:custGeom>
            <a:avLst/>
            <a:gdLst/>
            <a:ahLst/>
            <a:cxnLst/>
            <a:rect l="l" t="t" r="r" b="b"/>
            <a:pathLst>
              <a:path w="84011" h="81963">
                <a:moveTo>
                  <a:pt x="84011" y="0"/>
                </a:moveTo>
                <a:lnTo>
                  <a:pt x="49585" y="81963"/>
                </a:lnTo>
                <a:lnTo>
                  <a:pt x="0" y="29072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8763000" y="3728357"/>
            <a:ext cx="1094525" cy="478854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reeform 39"/>
          <p:cNvSpPr/>
          <p:nvPr/>
        </p:nvSpPr>
        <p:spPr>
          <a:xfrm>
            <a:off x="9817495" y="4162845"/>
            <a:ext cx="88897" cy="66421"/>
          </a:xfrm>
          <a:custGeom>
            <a:avLst/>
            <a:gdLst/>
            <a:ahLst/>
            <a:cxnLst/>
            <a:rect l="l" t="t" r="r" b="b"/>
            <a:pathLst>
              <a:path w="88897" h="66421">
                <a:moveTo>
                  <a:pt x="88897" y="65746"/>
                </a:moveTo>
                <a:lnTo>
                  <a:pt x="0" y="66421"/>
                </a:lnTo>
                <a:lnTo>
                  <a:pt x="29059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 flipV="1">
            <a:off x="7456714" y="4355916"/>
            <a:ext cx="2388332" cy="597084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reeform 41"/>
          <p:cNvSpPr/>
          <p:nvPr/>
        </p:nvSpPr>
        <p:spPr>
          <a:xfrm>
            <a:off x="9809252" y="4327499"/>
            <a:ext cx="87542" cy="70336"/>
          </a:xfrm>
          <a:custGeom>
            <a:avLst/>
            <a:gdLst/>
            <a:ahLst/>
            <a:cxnLst/>
            <a:rect l="l" t="t" r="r" b="b"/>
            <a:pathLst>
              <a:path w="87542" h="70336">
                <a:moveTo>
                  <a:pt x="87542" y="15480"/>
                </a:moveTo>
                <a:lnTo>
                  <a:pt x="17584" y="70336"/>
                </a:lnTo>
                <a:lnTo>
                  <a:pt x="0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10069285" y="2503714"/>
            <a:ext cx="1094525" cy="478855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reeform 43"/>
          <p:cNvSpPr/>
          <p:nvPr/>
        </p:nvSpPr>
        <p:spPr>
          <a:xfrm>
            <a:off x="11123781" y="2938202"/>
            <a:ext cx="88897" cy="66421"/>
          </a:xfrm>
          <a:custGeom>
            <a:avLst/>
            <a:gdLst/>
            <a:ahLst/>
            <a:cxnLst/>
            <a:rect l="l" t="t" r="r" b="b"/>
            <a:pathLst>
              <a:path w="88897" h="66421">
                <a:moveTo>
                  <a:pt x="88897" y="65746"/>
                </a:moveTo>
                <a:lnTo>
                  <a:pt x="0" y="66421"/>
                </a:lnTo>
                <a:lnTo>
                  <a:pt x="29059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 flipV="1">
            <a:off x="10069285" y="3233300"/>
            <a:ext cx="1137661" cy="1066557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Freeform 45"/>
          <p:cNvSpPr/>
          <p:nvPr/>
        </p:nvSpPr>
        <p:spPr>
          <a:xfrm>
            <a:off x="11161847" y="3196819"/>
            <a:ext cx="84012" cy="81963"/>
          </a:xfrm>
          <a:custGeom>
            <a:avLst/>
            <a:gdLst/>
            <a:ahLst/>
            <a:cxnLst/>
            <a:rect l="l" t="t" r="r" b="b"/>
            <a:pathLst>
              <a:path w="84012" h="81963">
                <a:moveTo>
                  <a:pt x="84012" y="0"/>
                </a:moveTo>
                <a:lnTo>
                  <a:pt x="49586" y="81963"/>
                </a:lnTo>
                <a:lnTo>
                  <a:pt x="0" y="29072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10069285" y="4299857"/>
            <a:ext cx="1085667" cy="339271"/>
          </a:xfrm>
          <a:prstGeom prst="line">
            <a:avLst/>
          </a:prstGeom>
          <a:ln w="1524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reeform 47"/>
          <p:cNvSpPr/>
          <p:nvPr/>
        </p:nvSpPr>
        <p:spPr>
          <a:xfrm>
            <a:off x="11117573" y="4596226"/>
            <a:ext cx="88291" cy="69199"/>
          </a:xfrm>
          <a:custGeom>
            <a:avLst/>
            <a:gdLst/>
            <a:ahLst/>
            <a:cxnLst/>
            <a:rect l="l" t="t" r="r" b="b"/>
            <a:pathLst>
              <a:path w="88291" h="69199">
                <a:moveTo>
                  <a:pt x="88291" y="58812"/>
                </a:moveTo>
                <a:lnTo>
                  <a:pt x="0" y="69199"/>
                </a:lnTo>
                <a:lnTo>
                  <a:pt x="21625" y="0"/>
                </a:lnTo>
                <a:close/>
              </a:path>
            </a:pathLst>
          </a:custGeom>
          <a:solidFill>
            <a:srgbClr val="5D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998028" y="1861457"/>
            <a:ext cx="304800" cy="304800"/>
          </a:xfrm>
          <a:prstGeom prst="ellipse">
            <a:avLst/>
          </a:prstGeom>
          <a:solidFill>
            <a:srgbClr val="8FB1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060258" y="1913273"/>
            <a:ext cx="1803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03743" y="1642763"/>
            <a:ext cx="293370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D8BB78"/>
                </a:solidFill>
                <a:latin typeface="Noto Sans SC"/>
                <a:ea typeface="Noto Sans SC"/>
              </a:rPr>
              <a:t>l=1</a:t>
            </a:r>
          </a:p>
        </p:txBody>
      </p:sp>
      <p:sp>
        <p:nvSpPr>
          <p:cNvPr id="52" name="Oval 51"/>
          <p:cNvSpPr/>
          <p:nvPr/>
        </p:nvSpPr>
        <p:spPr>
          <a:xfrm>
            <a:off x="5998028" y="3167742"/>
            <a:ext cx="304800" cy="304800"/>
          </a:xfrm>
          <a:prstGeom prst="ellipse">
            <a:avLst/>
          </a:prstGeom>
          <a:solidFill>
            <a:srgbClr val="8FB1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057083" y="3219558"/>
            <a:ext cx="1866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03743" y="2949048"/>
            <a:ext cx="293370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D8BB78"/>
                </a:solidFill>
                <a:latin typeface="Noto Sans SC"/>
                <a:ea typeface="Noto Sans SC"/>
              </a:rPr>
              <a:t>l=1</a:t>
            </a:r>
          </a:p>
        </p:txBody>
      </p:sp>
      <p:sp>
        <p:nvSpPr>
          <p:cNvPr id="55" name="Oval 54"/>
          <p:cNvSpPr/>
          <p:nvPr/>
        </p:nvSpPr>
        <p:spPr>
          <a:xfrm>
            <a:off x="5998028" y="4474028"/>
            <a:ext cx="304800" cy="304800"/>
          </a:xfrm>
          <a:prstGeom prst="ellipse">
            <a:avLst/>
          </a:prstGeom>
          <a:solidFill>
            <a:srgbClr val="8FB1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063433" y="4525844"/>
            <a:ext cx="1739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03743" y="4255334"/>
            <a:ext cx="293370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D8BB78"/>
                </a:solidFill>
                <a:latin typeface="Noto Sans SC"/>
                <a:ea typeface="Noto Sans SC"/>
              </a:rPr>
              <a:t>l=1</a:t>
            </a:r>
          </a:p>
        </p:txBody>
      </p:sp>
      <p:sp>
        <p:nvSpPr>
          <p:cNvPr id="58" name="Oval 57"/>
          <p:cNvSpPr/>
          <p:nvPr/>
        </p:nvSpPr>
        <p:spPr>
          <a:xfrm>
            <a:off x="7304314" y="2269671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7363369" y="2321487"/>
            <a:ext cx="1866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0029" y="2050977"/>
            <a:ext cx="293370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D8BB78"/>
                </a:solidFill>
                <a:latin typeface="Noto Sans SC"/>
                <a:ea typeface="Noto Sans SC"/>
              </a:rPr>
              <a:t>l=2</a:t>
            </a:r>
          </a:p>
        </p:txBody>
      </p:sp>
      <p:sp>
        <p:nvSpPr>
          <p:cNvPr id="61" name="Oval 60"/>
          <p:cNvSpPr/>
          <p:nvPr/>
        </p:nvSpPr>
        <p:spPr>
          <a:xfrm>
            <a:off x="7304314" y="3575957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366544" y="3627773"/>
            <a:ext cx="1803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0029" y="3357263"/>
            <a:ext cx="293370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D8BB78"/>
                </a:solidFill>
                <a:latin typeface="Noto Sans SC"/>
                <a:ea typeface="Noto Sans SC"/>
              </a:rPr>
              <a:t>l=2</a:t>
            </a:r>
          </a:p>
        </p:txBody>
      </p:sp>
      <p:sp>
        <p:nvSpPr>
          <p:cNvPr id="64" name="Oval 63"/>
          <p:cNvSpPr/>
          <p:nvPr/>
        </p:nvSpPr>
        <p:spPr>
          <a:xfrm>
            <a:off x="7304314" y="1371600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7382419" y="1423416"/>
            <a:ext cx="1485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f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0029" y="1152906"/>
            <a:ext cx="293370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D8BB78"/>
                </a:solidFill>
                <a:latin typeface="Noto Sans SC"/>
                <a:ea typeface="Noto Sans SC"/>
              </a:rPr>
              <a:t>l=2</a:t>
            </a:r>
          </a:p>
        </p:txBody>
      </p:sp>
      <p:sp>
        <p:nvSpPr>
          <p:cNvPr id="67" name="Oval 66"/>
          <p:cNvSpPr/>
          <p:nvPr/>
        </p:nvSpPr>
        <p:spPr>
          <a:xfrm>
            <a:off x="7304314" y="4800600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7363369" y="4852416"/>
            <a:ext cx="1866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0029" y="4581906"/>
            <a:ext cx="293370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D8BB78"/>
                </a:solidFill>
                <a:latin typeface="Noto Sans SC"/>
                <a:ea typeface="Noto Sans SC"/>
              </a:rPr>
              <a:t>l=2</a:t>
            </a:r>
          </a:p>
        </p:txBody>
      </p:sp>
      <p:sp>
        <p:nvSpPr>
          <p:cNvPr id="70" name="Oval 69"/>
          <p:cNvSpPr/>
          <p:nvPr/>
        </p:nvSpPr>
        <p:spPr>
          <a:xfrm>
            <a:off x="8610600" y="3575957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8672830" y="3627773"/>
            <a:ext cx="1803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16315" y="3357263"/>
            <a:ext cx="293370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D8BB78"/>
                </a:solidFill>
                <a:latin typeface="Noto Sans SC"/>
                <a:ea typeface="Noto Sans SC"/>
              </a:rPr>
              <a:t>l=3</a:t>
            </a:r>
          </a:p>
        </p:txBody>
      </p:sp>
      <p:sp>
        <p:nvSpPr>
          <p:cNvPr id="73" name="Oval 72"/>
          <p:cNvSpPr/>
          <p:nvPr/>
        </p:nvSpPr>
        <p:spPr>
          <a:xfrm>
            <a:off x="9916885" y="2351314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10001340" y="2403130"/>
            <a:ext cx="1358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i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22600" y="2132620"/>
            <a:ext cx="293370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D8BB78"/>
                </a:solidFill>
                <a:latin typeface="Noto Sans SC"/>
                <a:ea typeface="Noto Sans SC"/>
              </a:rPr>
              <a:t>l=7</a:t>
            </a:r>
          </a:p>
        </p:txBody>
      </p:sp>
      <p:sp>
        <p:nvSpPr>
          <p:cNvPr id="76" name="Oval 75"/>
          <p:cNvSpPr/>
          <p:nvPr/>
        </p:nvSpPr>
        <p:spPr>
          <a:xfrm>
            <a:off x="9916885" y="4147457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10001340" y="4199273"/>
            <a:ext cx="1358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j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922600" y="3928763"/>
            <a:ext cx="293370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D8BB78"/>
                </a:solidFill>
                <a:latin typeface="Noto Sans SC"/>
                <a:ea typeface="Noto Sans SC"/>
              </a:rPr>
              <a:t>l=7</a:t>
            </a:r>
          </a:p>
        </p:txBody>
      </p:sp>
      <p:sp>
        <p:nvSpPr>
          <p:cNvPr id="79" name="Oval 78"/>
          <p:cNvSpPr/>
          <p:nvPr/>
        </p:nvSpPr>
        <p:spPr>
          <a:xfrm>
            <a:off x="11223171" y="2922814"/>
            <a:ext cx="304800" cy="304800"/>
          </a:xfrm>
          <a:prstGeom prst="ellipse">
            <a:avLst/>
          </a:prstGeom>
          <a:solidFill>
            <a:srgbClr val="E39F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11282226" y="2974630"/>
            <a:ext cx="1866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228886" y="2704120"/>
            <a:ext cx="293370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D8BB78"/>
                </a:solidFill>
                <a:latin typeface="Noto Sans SC"/>
                <a:ea typeface="Noto Sans SC"/>
              </a:rPr>
              <a:t>l=8</a:t>
            </a:r>
          </a:p>
        </p:txBody>
      </p:sp>
      <p:sp>
        <p:nvSpPr>
          <p:cNvPr id="82" name="Oval 81"/>
          <p:cNvSpPr/>
          <p:nvPr/>
        </p:nvSpPr>
        <p:spPr>
          <a:xfrm>
            <a:off x="11223171" y="4555671"/>
            <a:ext cx="304800" cy="304800"/>
          </a:xfrm>
          <a:prstGeom prst="ellipse">
            <a:avLst/>
          </a:prstGeom>
          <a:solidFill>
            <a:srgbClr val="E39F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11304451" y="4607487"/>
            <a:ext cx="1422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B1B1F"/>
                </a:solidFill>
                <a:latin typeface="Noto Sans SC"/>
                <a:ea typeface="Noto Sans SC"/>
              </a:rPr>
              <a:t>l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228886" y="4336977"/>
            <a:ext cx="293370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D8BB78"/>
                </a:solidFill>
                <a:latin typeface="Noto Sans SC"/>
                <a:ea typeface="Noto Sans SC"/>
              </a:rPr>
              <a:t>l=8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940550" y="5524500"/>
            <a:ext cx="3644900" cy="2667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12700">
            <a:solidFill>
              <a:srgbClr val="C2A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6993890" y="5585206"/>
            <a:ext cx="3538220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C2A6E6"/>
                </a:solidFill>
                <a:latin typeface="Noto Sans SC"/>
                <a:ea typeface="Noto Sans SC"/>
              </a:rPr>
              <a:t>Candidate data, reconstructed · tie rule assumed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7065009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Recovery: working back from the outputs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41998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09 · Rajaraman–Wong Delay-Oriented Clustering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p8/12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Take the candidate clusters of k and l; outside inputs become new roots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22843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21756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8 clusters in all: k, l, d, e, f, h, b, c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7161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607437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20 instances; g, j, e, a have 2 each, b and c 3 each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346100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335229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Every instance has complete inputs</a:t>
            </a:r>
          </a:p>
        </p:txBody>
      </p:sp>
      <p:sp>
        <p:nvSpPr>
          <p:cNvPr id="17" name="Oval 16"/>
          <p:cNvSpPr/>
          <p:nvPr/>
        </p:nvSpPr>
        <p:spPr>
          <a:xfrm>
            <a:off x="711200" y="389280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378409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Output arrival 8 = the labels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07100" y="1435100"/>
            <a:ext cx="1320800" cy="1701800"/>
          </a:xfrm>
          <a:prstGeom prst="roundRect">
            <a:avLst>
              <a:gd name="adj" fmla="val 6730"/>
            </a:avLst>
          </a:prstGeom>
          <a:solidFill>
            <a:srgbClr val="0D272D"/>
          </a:solidFill>
          <a:ln w="12700">
            <a:solidFill>
              <a:srgbClr val="77C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076950" y="1483360"/>
            <a:ext cx="8509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7CDBB"/>
                </a:solidFill>
                <a:latin typeface="Noto Sans SC"/>
                <a:ea typeface="Noto Sans SC"/>
              </a:rPr>
              <a:t>root k · 4/4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4100" y="1435100"/>
            <a:ext cx="1320800" cy="1701800"/>
          </a:xfrm>
          <a:prstGeom prst="roundRect">
            <a:avLst>
              <a:gd name="adj" fmla="val 6730"/>
            </a:avLst>
          </a:prstGeom>
          <a:solidFill>
            <a:srgbClr val="0D272D"/>
          </a:solidFill>
          <a:ln w="12700">
            <a:solidFill>
              <a:srgbClr val="8FB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473950" y="1483360"/>
            <a:ext cx="8128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8FB1E6"/>
                </a:solidFill>
                <a:latin typeface="Noto Sans SC"/>
                <a:ea typeface="Noto Sans SC"/>
              </a:rPr>
              <a:t>root l · 4/4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01100" y="1435100"/>
            <a:ext cx="1320800" cy="1701800"/>
          </a:xfrm>
          <a:prstGeom prst="roundRect">
            <a:avLst>
              <a:gd name="adj" fmla="val 6730"/>
            </a:avLst>
          </a:prstGeom>
          <a:solidFill>
            <a:srgbClr val="0D272D"/>
          </a:solidFill>
          <a:ln w="12700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870950" y="1483360"/>
            <a:ext cx="8572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D8BB78"/>
                </a:solidFill>
                <a:latin typeface="Noto Sans SC"/>
                <a:ea typeface="Noto Sans SC"/>
              </a:rPr>
              <a:t>root d · 3/4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98100" y="1435100"/>
            <a:ext cx="1320800" cy="1701800"/>
          </a:xfrm>
          <a:prstGeom prst="roundRect">
            <a:avLst>
              <a:gd name="adj" fmla="val 6730"/>
            </a:avLst>
          </a:prstGeom>
          <a:solidFill>
            <a:srgbClr val="0D272D"/>
          </a:solidFill>
          <a:ln w="12700">
            <a:solidFill>
              <a:srgbClr val="C2A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267950" y="1483360"/>
            <a:ext cx="8509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C2A6E6"/>
                </a:solidFill>
                <a:latin typeface="Noto Sans SC"/>
                <a:ea typeface="Noto Sans SC"/>
              </a:rPr>
              <a:t>root e · 3/4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07100" y="3213100"/>
            <a:ext cx="1320800" cy="1701800"/>
          </a:xfrm>
          <a:prstGeom prst="roundRect">
            <a:avLst>
              <a:gd name="adj" fmla="val 6730"/>
            </a:avLst>
          </a:prstGeom>
          <a:solidFill>
            <a:srgbClr val="0D272D"/>
          </a:solidFill>
          <a:ln w="12700">
            <a:solidFill>
              <a:srgbClr val="E39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076950" y="3261360"/>
            <a:ext cx="8191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E39FB8"/>
                </a:solidFill>
                <a:latin typeface="Noto Sans SC"/>
                <a:ea typeface="Noto Sans SC"/>
              </a:rPr>
              <a:t>root f · 2/4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04100" y="3213100"/>
            <a:ext cx="1320800" cy="1701800"/>
          </a:xfrm>
          <a:prstGeom prst="roundRect">
            <a:avLst>
              <a:gd name="adj" fmla="val 6730"/>
            </a:avLst>
          </a:prstGeom>
          <a:solidFill>
            <a:srgbClr val="0D272D"/>
          </a:solidFill>
          <a:ln w="12700">
            <a:solidFill>
              <a:srgbClr val="9FD2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473950" y="3261360"/>
            <a:ext cx="8572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FD27F"/>
                </a:solidFill>
                <a:latin typeface="Noto Sans SC"/>
                <a:ea typeface="Noto Sans SC"/>
              </a:rPr>
              <a:t>root h · 2/4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01100" y="3213100"/>
            <a:ext cx="1320800" cy="1701800"/>
          </a:xfrm>
          <a:prstGeom prst="roundRect">
            <a:avLst>
              <a:gd name="adj" fmla="val 6730"/>
            </a:avLst>
          </a:prstGeom>
          <a:solidFill>
            <a:srgbClr val="0D272D"/>
          </a:solidFill>
          <a:ln w="12700">
            <a:solidFill>
              <a:srgbClr val="E8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870950" y="3261360"/>
            <a:ext cx="8572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E8A06A"/>
                </a:solidFill>
                <a:latin typeface="Noto Sans SC"/>
                <a:ea typeface="Noto Sans SC"/>
              </a:rPr>
              <a:t>root b · 1/4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98100" y="3213100"/>
            <a:ext cx="1320800" cy="1701800"/>
          </a:xfrm>
          <a:prstGeom prst="roundRect">
            <a:avLst>
              <a:gd name="adj" fmla="val 6730"/>
            </a:avLst>
          </a:prstGeom>
          <a:solidFill>
            <a:srgbClr val="0D272D"/>
          </a:solidFill>
          <a:ln w="12700">
            <a:solidFill>
              <a:srgbClr val="7F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267950" y="3261360"/>
            <a:ext cx="8445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FD0E0"/>
                </a:solidFill>
                <a:latin typeface="Noto Sans SC"/>
                <a:ea typeface="Noto Sans SC"/>
              </a:rPr>
              <a:t>root c · 1/4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311900" y="1943100"/>
            <a:ext cx="635000" cy="0"/>
          </a:xfrm>
          <a:prstGeom prst="line">
            <a:avLst/>
          </a:prstGeom>
          <a:ln w="190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311900" y="1943100"/>
            <a:ext cx="0" cy="584200"/>
          </a:xfrm>
          <a:prstGeom prst="line">
            <a:avLst/>
          </a:prstGeom>
          <a:ln w="190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946900" y="1943100"/>
            <a:ext cx="0" cy="584200"/>
          </a:xfrm>
          <a:prstGeom prst="line">
            <a:avLst/>
          </a:prstGeom>
          <a:ln w="190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311900" y="2527300"/>
            <a:ext cx="635000" cy="0"/>
          </a:xfrm>
          <a:prstGeom prst="line">
            <a:avLst/>
          </a:prstGeom>
          <a:ln w="190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708900" y="1943100"/>
            <a:ext cx="635000" cy="0"/>
          </a:xfrm>
          <a:prstGeom prst="line">
            <a:avLst/>
          </a:prstGeom>
          <a:ln w="190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7708900" y="1943100"/>
            <a:ext cx="635000" cy="584200"/>
          </a:xfrm>
          <a:prstGeom prst="line">
            <a:avLst/>
          </a:prstGeom>
          <a:ln w="190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708900" y="2527300"/>
            <a:ext cx="635000" cy="0"/>
          </a:xfrm>
          <a:prstGeom prst="line">
            <a:avLst/>
          </a:prstGeom>
          <a:ln w="190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105900" y="1943100"/>
            <a:ext cx="0" cy="584200"/>
          </a:xfrm>
          <a:prstGeom prst="line">
            <a:avLst/>
          </a:prstGeom>
          <a:ln w="190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9105900" y="1943100"/>
            <a:ext cx="635000" cy="584200"/>
          </a:xfrm>
          <a:prstGeom prst="line">
            <a:avLst/>
          </a:prstGeom>
          <a:ln w="190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502900" y="1943100"/>
            <a:ext cx="0" cy="584200"/>
          </a:xfrm>
          <a:prstGeom prst="line">
            <a:avLst/>
          </a:prstGeom>
          <a:ln w="190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10502900" y="1943100"/>
            <a:ext cx="635000" cy="584200"/>
          </a:xfrm>
          <a:prstGeom prst="line">
            <a:avLst/>
          </a:prstGeom>
          <a:ln w="190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311900" y="3721100"/>
            <a:ext cx="635000" cy="0"/>
          </a:xfrm>
          <a:prstGeom prst="line">
            <a:avLst/>
          </a:prstGeom>
          <a:ln w="190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708900" y="3721100"/>
            <a:ext cx="635000" cy="0"/>
          </a:xfrm>
          <a:prstGeom prst="line">
            <a:avLst/>
          </a:prstGeom>
          <a:ln w="190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6159500" y="1790700"/>
            <a:ext cx="304800" cy="304800"/>
          </a:xfrm>
          <a:prstGeom prst="ellipse">
            <a:avLst/>
          </a:prstGeom>
          <a:solidFill>
            <a:srgbClr val="D8BB7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6153150" y="1784350"/>
            <a:ext cx="317500" cy="317500"/>
          </a:xfrm>
          <a:prstGeom prst="ellipse">
            <a:avLst/>
          </a:prstGeom>
          <a:noFill/>
          <a:ln w="19050">
            <a:solidFill>
              <a:srgbClr val="F2F3E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235700" y="1859280"/>
            <a:ext cx="1524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1B1F"/>
                </a:solidFill>
                <a:latin typeface="Noto Sans SC"/>
                <a:ea typeface="Noto Sans SC"/>
              </a:rPr>
              <a:t>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09384" y="1877314"/>
            <a:ext cx="132079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6</a:t>
            </a:r>
          </a:p>
        </p:txBody>
      </p:sp>
      <p:sp>
        <p:nvSpPr>
          <p:cNvPr id="52" name="Oval 51"/>
          <p:cNvSpPr/>
          <p:nvPr/>
        </p:nvSpPr>
        <p:spPr>
          <a:xfrm>
            <a:off x="6794500" y="1790700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889750" y="1859280"/>
            <a:ext cx="1143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1B1F"/>
                </a:solidFill>
                <a:latin typeface="Noto Sans SC"/>
                <a:ea typeface="Noto Sans SC"/>
              </a:rPr>
              <a:t>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44384" y="1877314"/>
            <a:ext cx="132079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7</a:t>
            </a:r>
          </a:p>
        </p:txBody>
      </p:sp>
      <p:sp>
        <p:nvSpPr>
          <p:cNvPr id="55" name="Oval 54"/>
          <p:cNvSpPr/>
          <p:nvPr/>
        </p:nvSpPr>
        <p:spPr>
          <a:xfrm>
            <a:off x="6159500" y="2374900"/>
            <a:ext cx="304800" cy="304800"/>
          </a:xfrm>
          <a:prstGeom prst="ellipse">
            <a:avLst/>
          </a:prstGeom>
          <a:solidFill>
            <a:srgbClr val="D8BB7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Oval 55"/>
          <p:cNvSpPr/>
          <p:nvPr/>
        </p:nvSpPr>
        <p:spPr>
          <a:xfrm>
            <a:off x="6153150" y="2368550"/>
            <a:ext cx="317500" cy="317500"/>
          </a:xfrm>
          <a:prstGeom prst="ellipse">
            <a:avLst/>
          </a:prstGeom>
          <a:noFill/>
          <a:ln w="19050">
            <a:solidFill>
              <a:srgbClr val="F2F3E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6254750" y="2443480"/>
            <a:ext cx="1143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1B1F"/>
                </a:solidFill>
                <a:latin typeface="Noto Sans SC"/>
                <a:ea typeface="Noto Sans SC"/>
              </a:rPr>
              <a:t>j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09384" y="2461514"/>
            <a:ext cx="132079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7</a:t>
            </a:r>
          </a:p>
        </p:txBody>
      </p:sp>
      <p:sp>
        <p:nvSpPr>
          <p:cNvPr id="59" name="Oval 58"/>
          <p:cNvSpPr/>
          <p:nvPr/>
        </p:nvSpPr>
        <p:spPr>
          <a:xfrm>
            <a:off x="6794500" y="2374900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870700" y="2443480"/>
            <a:ext cx="1524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1B1F"/>
                </a:solidFill>
                <a:latin typeface="Noto Sans SC"/>
                <a:ea typeface="Noto Sans SC"/>
              </a:rPr>
              <a:t>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44384" y="2461514"/>
            <a:ext cx="132079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8</a:t>
            </a:r>
          </a:p>
        </p:txBody>
      </p:sp>
      <p:sp>
        <p:nvSpPr>
          <p:cNvPr id="62" name="Oval 61"/>
          <p:cNvSpPr/>
          <p:nvPr/>
        </p:nvSpPr>
        <p:spPr>
          <a:xfrm>
            <a:off x="7556500" y="1790700"/>
            <a:ext cx="304800" cy="304800"/>
          </a:xfrm>
          <a:prstGeom prst="ellipse">
            <a:avLst/>
          </a:prstGeom>
          <a:solidFill>
            <a:srgbClr val="D8BB7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Oval 62"/>
          <p:cNvSpPr/>
          <p:nvPr/>
        </p:nvSpPr>
        <p:spPr>
          <a:xfrm>
            <a:off x="7550150" y="1784350"/>
            <a:ext cx="317500" cy="317500"/>
          </a:xfrm>
          <a:prstGeom prst="ellipse">
            <a:avLst/>
          </a:prstGeom>
          <a:noFill/>
          <a:ln w="19050">
            <a:solidFill>
              <a:srgbClr val="F2F3E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7632700" y="1859280"/>
            <a:ext cx="1524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06384" y="1877314"/>
            <a:ext cx="132079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66" name="Oval 65"/>
          <p:cNvSpPr/>
          <p:nvPr/>
        </p:nvSpPr>
        <p:spPr>
          <a:xfrm>
            <a:off x="8191500" y="1790700"/>
            <a:ext cx="304800" cy="304800"/>
          </a:xfrm>
          <a:prstGeom prst="ellipse">
            <a:avLst/>
          </a:prstGeom>
          <a:solidFill>
            <a:srgbClr val="D8BB7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Oval 66"/>
          <p:cNvSpPr/>
          <p:nvPr/>
        </p:nvSpPr>
        <p:spPr>
          <a:xfrm>
            <a:off x="8185150" y="1784350"/>
            <a:ext cx="317500" cy="317500"/>
          </a:xfrm>
          <a:prstGeom prst="ellipse">
            <a:avLst/>
          </a:prstGeom>
          <a:noFill/>
          <a:ln w="19050">
            <a:solidFill>
              <a:srgbClr val="F2F3E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8267700" y="1859280"/>
            <a:ext cx="1524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1B1F"/>
                </a:solidFill>
                <a:latin typeface="Noto Sans SC"/>
                <a:ea typeface="Noto Sans SC"/>
              </a:rPr>
              <a:t>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41385" y="1877314"/>
            <a:ext cx="132079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6</a:t>
            </a:r>
          </a:p>
        </p:txBody>
      </p:sp>
      <p:sp>
        <p:nvSpPr>
          <p:cNvPr id="70" name="Oval 69"/>
          <p:cNvSpPr/>
          <p:nvPr/>
        </p:nvSpPr>
        <p:spPr>
          <a:xfrm>
            <a:off x="7556500" y="2374900"/>
            <a:ext cx="304800" cy="304800"/>
          </a:xfrm>
          <a:prstGeom prst="ellipse">
            <a:avLst/>
          </a:prstGeom>
          <a:solidFill>
            <a:srgbClr val="D8BB7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Oval 70"/>
          <p:cNvSpPr/>
          <p:nvPr/>
        </p:nvSpPr>
        <p:spPr>
          <a:xfrm>
            <a:off x="7550150" y="2368550"/>
            <a:ext cx="317500" cy="317500"/>
          </a:xfrm>
          <a:prstGeom prst="ellipse">
            <a:avLst/>
          </a:prstGeom>
          <a:noFill/>
          <a:ln w="19050">
            <a:solidFill>
              <a:srgbClr val="F2F3E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7651750" y="2443480"/>
            <a:ext cx="1143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1B1F"/>
                </a:solidFill>
                <a:latin typeface="Noto Sans SC"/>
                <a:ea typeface="Noto Sans SC"/>
              </a:rPr>
              <a:t>j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06384" y="2461514"/>
            <a:ext cx="132079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7</a:t>
            </a:r>
          </a:p>
        </p:txBody>
      </p:sp>
      <p:sp>
        <p:nvSpPr>
          <p:cNvPr id="74" name="Oval 73"/>
          <p:cNvSpPr/>
          <p:nvPr/>
        </p:nvSpPr>
        <p:spPr>
          <a:xfrm>
            <a:off x="8191500" y="2374900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8286750" y="2443480"/>
            <a:ext cx="1143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1B1F"/>
                </a:solidFill>
                <a:latin typeface="Noto Sans SC"/>
                <a:ea typeface="Noto Sans SC"/>
              </a:rPr>
              <a:t>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1385" y="2461514"/>
            <a:ext cx="132079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8</a:t>
            </a:r>
          </a:p>
        </p:txBody>
      </p:sp>
      <p:sp>
        <p:nvSpPr>
          <p:cNvPr id="77" name="Oval 76"/>
          <p:cNvSpPr/>
          <p:nvPr/>
        </p:nvSpPr>
        <p:spPr>
          <a:xfrm>
            <a:off x="8953500" y="1790700"/>
            <a:ext cx="304800" cy="304800"/>
          </a:xfrm>
          <a:prstGeom prst="ellipse">
            <a:avLst/>
          </a:prstGeom>
          <a:solidFill>
            <a:srgbClr val="D8BB7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Oval 77"/>
          <p:cNvSpPr/>
          <p:nvPr/>
        </p:nvSpPr>
        <p:spPr>
          <a:xfrm>
            <a:off x="8947150" y="1784350"/>
            <a:ext cx="317500" cy="317500"/>
          </a:xfrm>
          <a:prstGeom prst="ellipse">
            <a:avLst/>
          </a:prstGeom>
          <a:noFill/>
          <a:ln w="19050">
            <a:solidFill>
              <a:srgbClr val="F2F3E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9029700" y="1859280"/>
            <a:ext cx="1524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303385" y="1877314"/>
            <a:ext cx="132079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81" name="Oval 80"/>
          <p:cNvSpPr/>
          <p:nvPr/>
        </p:nvSpPr>
        <p:spPr>
          <a:xfrm>
            <a:off x="9588500" y="1790700"/>
            <a:ext cx="304800" cy="304800"/>
          </a:xfrm>
          <a:prstGeom prst="ellipse">
            <a:avLst/>
          </a:prstGeom>
          <a:solidFill>
            <a:srgbClr val="D8BB7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9582150" y="1784350"/>
            <a:ext cx="317500" cy="317500"/>
          </a:xfrm>
          <a:prstGeom prst="ellipse">
            <a:avLst/>
          </a:prstGeom>
          <a:noFill/>
          <a:ln w="19050">
            <a:solidFill>
              <a:srgbClr val="F2F3E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9661525" y="1859280"/>
            <a:ext cx="1587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938385" y="1877314"/>
            <a:ext cx="132079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85" name="Oval 84"/>
          <p:cNvSpPr/>
          <p:nvPr/>
        </p:nvSpPr>
        <p:spPr>
          <a:xfrm>
            <a:off x="8953500" y="2374900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9026525" y="2443480"/>
            <a:ext cx="1587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303385" y="2461514"/>
            <a:ext cx="132079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88" name="Oval 87"/>
          <p:cNvSpPr/>
          <p:nvPr/>
        </p:nvSpPr>
        <p:spPr>
          <a:xfrm>
            <a:off x="10350500" y="1790700"/>
            <a:ext cx="304800" cy="304800"/>
          </a:xfrm>
          <a:prstGeom prst="ellipse">
            <a:avLst/>
          </a:prstGeom>
          <a:solidFill>
            <a:srgbClr val="D8BB7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Oval 88"/>
          <p:cNvSpPr/>
          <p:nvPr/>
        </p:nvSpPr>
        <p:spPr>
          <a:xfrm>
            <a:off x="10344150" y="1784350"/>
            <a:ext cx="317500" cy="317500"/>
          </a:xfrm>
          <a:prstGeom prst="ellipse">
            <a:avLst/>
          </a:prstGeom>
          <a:noFill/>
          <a:ln w="19050">
            <a:solidFill>
              <a:srgbClr val="F2F3E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10423525" y="1859280"/>
            <a:ext cx="1587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700385" y="1877314"/>
            <a:ext cx="132079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92" name="Oval 91"/>
          <p:cNvSpPr/>
          <p:nvPr/>
        </p:nvSpPr>
        <p:spPr>
          <a:xfrm>
            <a:off x="10985500" y="1790700"/>
            <a:ext cx="304800" cy="304800"/>
          </a:xfrm>
          <a:prstGeom prst="ellipse">
            <a:avLst/>
          </a:prstGeom>
          <a:solidFill>
            <a:srgbClr val="D8BB7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Oval 92"/>
          <p:cNvSpPr/>
          <p:nvPr/>
        </p:nvSpPr>
        <p:spPr>
          <a:xfrm>
            <a:off x="10979150" y="1784350"/>
            <a:ext cx="317500" cy="317500"/>
          </a:xfrm>
          <a:prstGeom prst="ellipse">
            <a:avLst/>
          </a:prstGeom>
          <a:noFill/>
          <a:ln w="19050">
            <a:solidFill>
              <a:srgbClr val="F2F3E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11064875" y="1859280"/>
            <a:ext cx="1460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335385" y="1877314"/>
            <a:ext cx="132079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96" name="Oval 95"/>
          <p:cNvSpPr/>
          <p:nvPr/>
        </p:nvSpPr>
        <p:spPr>
          <a:xfrm>
            <a:off x="10350500" y="2374900"/>
            <a:ext cx="304800" cy="304800"/>
          </a:xfrm>
          <a:prstGeom prst="ellipse">
            <a:avLst/>
          </a:prstGeom>
          <a:solidFill>
            <a:srgbClr val="D8BB7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Oval 96"/>
          <p:cNvSpPr/>
          <p:nvPr/>
        </p:nvSpPr>
        <p:spPr>
          <a:xfrm>
            <a:off x="10344150" y="2368550"/>
            <a:ext cx="317500" cy="317500"/>
          </a:xfrm>
          <a:prstGeom prst="ellipse">
            <a:avLst/>
          </a:prstGeom>
          <a:noFill/>
          <a:ln w="19050">
            <a:solidFill>
              <a:srgbClr val="F2F3E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10426700" y="2443480"/>
            <a:ext cx="1524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700385" y="2461514"/>
            <a:ext cx="132079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100" name="Oval 99"/>
          <p:cNvSpPr/>
          <p:nvPr/>
        </p:nvSpPr>
        <p:spPr>
          <a:xfrm>
            <a:off x="6159500" y="3568700"/>
            <a:ext cx="304800" cy="304800"/>
          </a:xfrm>
          <a:prstGeom prst="ellipse">
            <a:avLst/>
          </a:prstGeom>
          <a:solidFill>
            <a:srgbClr val="D8BB7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Oval 100"/>
          <p:cNvSpPr/>
          <p:nvPr/>
        </p:nvSpPr>
        <p:spPr>
          <a:xfrm>
            <a:off x="6153150" y="3562350"/>
            <a:ext cx="317500" cy="317500"/>
          </a:xfrm>
          <a:prstGeom prst="ellipse">
            <a:avLst/>
          </a:prstGeom>
          <a:noFill/>
          <a:ln w="19050">
            <a:solidFill>
              <a:srgbClr val="F2F3E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6235700" y="3637280"/>
            <a:ext cx="1524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509384" y="3655314"/>
            <a:ext cx="132079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104" name="Oval 103"/>
          <p:cNvSpPr/>
          <p:nvPr/>
        </p:nvSpPr>
        <p:spPr>
          <a:xfrm>
            <a:off x="6794500" y="3568700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6886575" y="3637280"/>
            <a:ext cx="1206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1B1F"/>
                </a:solidFill>
                <a:latin typeface="Noto Sans SC"/>
                <a:ea typeface="Noto Sans SC"/>
              </a:rPr>
              <a:t>f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144384" y="3655314"/>
            <a:ext cx="132079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107" name="Oval 106"/>
          <p:cNvSpPr/>
          <p:nvPr/>
        </p:nvSpPr>
        <p:spPr>
          <a:xfrm>
            <a:off x="7556500" y="3568700"/>
            <a:ext cx="304800" cy="304800"/>
          </a:xfrm>
          <a:prstGeom prst="ellipse">
            <a:avLst/>
          </a:prstGeom>
          <a:solidFill>
            <a:srgbClr val="D8BB7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Oval 107"/>
          <p:cNvSpPr/>
          <p:nvPr/>
        </p:nvSpPr>
        <p:spPr>
          <a:xfrm>
            <a:off x="7550150" y="3562350"/>
            <a:ext cx="317500" cy="317500"/>
          </a:xfrm>
          <a:prstGeom prst="ellipse">
            <a:avLst/>
          </a:prstGeom>
          <a:noFill/>
          <a:ln w="19050">
            <a:solidFill>
              <a:srgbClr val="F2F3E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TextBox 108"/>
          <p:cNvSpPr txBox="1"/>
          <p:nvPr/>
        </p:nvSpPr>
        <p:spPr>
          <a:xfrm>
            <a:off x="7635875" y="3637280"/>
            <a:ext cx="1460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906384" y="3655314"/>
            <a:ext cx="132079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111" name="Oval 110"/>
          <p:cNvSpPr/>
          <p:nvPr/>
        </p:nvSpPr>
        <p:spPr>
          <a:xfrm>
            <a:off x="8191500" y="3568700"/>
            <a:ext cx="304800" cy="3048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8264525" y="3637280"/>
            <a:ext cx="1587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1B1F"/>
                </a:solidFill>
                <a:latin typeface="Noto Sans SC"/>
                <a:ea typeface="Noto Sans SC"/>
              </a:rPr>
              <a:t>h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541385" y="3655314"/>
            <a:ext cx="132079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114" name="Oval 113"/>
          <p:cNvSpPr/>
          <p:nvPr/>
        </p:nvSpPr>
        <p:spPr>
          <a:xfrm>
            <a:off x="8953500" y="3568700"/>
            <a:ext cx="304800" cy="304800"/>
          </a:xfrm>
          <a:prstGeom prst="ellipse">
            <a:avLst/>
          </a:prstGeom>
          <a:solidFill>
            <a:srgbClr val="D8BB7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Oval 114"/>
          <p:cNvSpPr/>
          <p:nvPr/>
        </p:nvSpPr>
        <p:spPr>
          <a:xfrm>
            <a:off x="8947150" y="3562350"/>
            <a:ext cx="317500" cy="317500"/>
          </a:xfrm>
          <a:prstGeom prst="ellipse">
            <a:avLst/>
          </a:prstGeom>
          <a:noFill/>
          <a:ln w="19050">
            <a:solidFill>
              <a:srgbClr val="F2F3E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9026525" y="3637280"/>
            <a:ext cx="1587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303385" y="3655314"/>
            <a:ext cx="132079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118" name="Oval 117"/>
          <p:cNvSpPr/>
          <p:nvPr/>
        </p:nvSpPr>
        <p:spPr>
          <a:xfrm>
            <a:off x="10350500" y="3568700"/>
            <a:ext cx="304800" cy="304800"/>
          </a:xfrm>
          <a:prstGeom prst="ellipse">
            <a:avLst/>
          </a:prstGeom>
          <a:solidFill>
            <a:srgbClr val="D8BB7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Oval 118"/>
          <p:cNvSpPr/>
          <p:nvPr/>
        </p:nvSpPr>
        <p:spPr>
          <a:xfrm>
            <a:off x="10344150" y="3562350"/>
            <a:ext cx="317500" cy="317500"/>
          </a:xfrm>
          <a:prstGeom prst="ellipse">
            <a:avLst/>
          </a:prstGeom>
          <a:noFill/>
          <a:ln w="19050">
            <a:solidFill>
              <a:srgbClr val="F2F3E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10429875" y="3637280"/>
            <a:ext cx="1460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700385" y="3655314"/>
            <a:ext cx="132079" cy="154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BCD2D0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7181850" y="5118100"/>
            <a:ext cx="3162300" cy="2921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12700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TextBox 122"/>
          <p:cNvSpPr txBox="1"/>
          <p:nvPr/>
        </p:nvSpPr>
        <p:spPr>
          <a:xfrm>
            <a:off x="7227570" y="5178298"/>
            <a:ext cx="30708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8BB78"/>
                </a:solidFill>
                <a:latin typeface="Noto Sans SC"/>
                <a:ea typeface="Noto Sans SC"/>
              </a:rPr>
              <a:t>8 clusters · 20 instances · output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38328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What replication buys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41998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09 · Rajaraman–Wong Delay-Oriented Clustering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p9/12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With replication: delay 8, 20 instances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Without: exhaustive search over every capacity-legal grouping, best 10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7161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6074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8 more instances buy 2 units of delay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3147948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3039236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D8BB78"/>
                </a:solidFill>
                <a:latin typeface="Noto Sans SC"/>
                <a:ea typeface="Noto Sans SC"/>
              </a:rPr>
              <a:t>The optimality result assumes replication is allowed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74609" y="1914144"/>
            <a:ext cx="158623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Replication (RW)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52610" y="1914144"/>
            <a:ext cx="25069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No replication (exhaustive)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57900" y="2197100"/>
            <a:ext cx="5816600" cy="0"/>
          </a:xfrm>
          <a:prstGeom prst="line">
            <a:avLst/>
          </a:prstGeom>
          <a:ln w="12700">
            <a:solidFill>
              <a:srgbClr val="2D4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007100" y="2451100"/>
            <a:ext cx="5956300" cy="584200"/>
          </a:xfrm>
          <a:prstGeom prst="roundRect">
            <a:avLst>
              <a:gd name="adj" fmla="val 8695"/>
            </a:avLst>
          </a:prstGeom>
          <a:solidFill>
            <a:srgbClr val="77CDB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085840" y="2497836"/>
            <a:ext cx="1385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Largest delay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73340" y="24978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51340" y="2497836"/>
            <a:ext cx="350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5840" y="3107436"/>
            <a:ext cx="1620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Instances / area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73340" y="3107436"/>
            <a:ext cx="350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1340" y="3107436"/>
            <a:ext cx="350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7110" y="4009644"/>
            <a:ext cx="427863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One best grouping without copies: adfh | bceg | ijkl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61442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Pseudocode: labelling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41998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09 · Rajaraman–Wong Delay-Oriented Clustering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9098"/>
            <a:ext cx="6515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p10/12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Labelling: topological order; scores, candidate cluster, l1, l2 (Python: rw_label)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22843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2175637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Recovery: back from the POs; outside inputs become new roots (rw_reconstruct)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302920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92049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Instances m@r; +0 inside, +D between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346100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335229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Arrival times: evaluate_instance_delay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53100" y="1447800"/>
            <a:ext cx="5715000" cy="3327400"/>
          </a:xfrm>
          <a:prstGeom prst="roundRect">
            <a:avLst>
              <a:gd name="adj" fmla="val 2290"/>
            </a:avLst>
          </a:prstGeom>
          <a:solidFill>
            <a:srgbClr val="0A1C1F"/>
          </a:solidFill>
          <a:ln w="12700">
            <a:solidFill>
              <a:srgbClr val="244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899150" y="1648460"/>
            <a:ext cx="1460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F8F8F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9345" y="1609598"/>
            <a:ext cx="6197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queue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0045" y="1609598"/>
            <a:ext cx="2641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5145" y="1609598"/>
            <a:ext cx="8166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 every 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9150" y="2029460"/>
            <a:ext cx="1460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F8F8F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9345" y="1990598"/>
            <a:ext cx="20739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while queue is not empty: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53100" y="2336800"/>
            <a:ext cx="5715000" cy="368300"/>
          </a:xfrm>
          <a:prstGeom prst="rect">
            <a:avLst/>
          </a:prstGeom>
          <a:solidFill>
            <a:srgbClr val="2A3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753100" y="2336800"/>
            <a:ext cx="38100" cy="3683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899150" y="2410460"/>
            <a:ext cx="1460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F8F8F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9345" y="2371598"/>
            <a:ext cx="2768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  r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7145" y="2371598"/>
            <a:ext cx="2641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2245" y="2371598"/>
            <a:ext cx="17500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 pop; select r's cluster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53100" y="2717800"/>
            <a:ext cx="5715000" cy="368300"/>
          </a:xfrm>
          <a:prstGeom prst="rect">
            <a:avLst/>
          </a:prstGeom>
          <a:solidFill>
            <a:srgbClr val="2A3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5753100" y="2717800"/>
            <a:ext cx="38100" cy="3683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899150" y="2791460"/>
            <a:ext cx="1460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F8F8F"/>
                </a:solidFill>
                <a:latin typeface="Noto Sans SC"/>
                <a:ea typeface="Noto Sans SC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89345" y="2752598"/>
            <a:ext cx="13817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  outside input u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72045" y="2752598"/>
            <a:ext cx="2641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7145" y="2752598"/>
            <a:ext cx="14643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 queue (new root)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99150" y="3172460"/>
            <a:ext cx="1460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F8F8F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89345" y="3133598"/>
            <a:ext cx="28295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for each selected root r, member m: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9150" y="3553460"/>
            <a:ext cx="1460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F8F8F"/>
                </a:solidFill>
                <a:latin typeface="Noto Sans SC"/>
                <a:ea typeface="Noto Sans SC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89345" y="3514598"/>
            <a:ext cx="17056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  make instance m@r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53100" y="3860800"/>
            <a:ext cx="5715000" cy="368300"/>
          </a:xfrm>
          <a:prstGeom prst="rect">
            <a:avLst/>
          </a:prstGeom>
          <a:solidFill>
            <a:srgbClr val="2A3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5753100" y="3860800"/>
            <a:ext cx="38100" cy="3683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899150" y="3934460"/>
            <a:ext cx="1460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F8F8F"/>
                </a:solidFill>
                <a:latin typeface="Noto Sans SC"/>
                <a:ea typeface="Noto Sans SC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89345" y="3895598"/>
            <a:ext cx="15278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  input inside: u@r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18095" y="3895598"/>
            <a:ext cx="2641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83195" y="3895598"/>
            <a:ext cx="8420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 m@r (+0)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53100" y="4241800"/>
            <a:ext cx="5715000" cy="368300"/>
          </a:xfrm>
          <a:prstGeom prst="rect">
            <a:avLst/>
          </a:prstGeom>
          <a:solidFill>
            <a:srgbClr val="2A3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5753100" y="4241800"/>
            <a:ext cx="38100" cy="3683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5899150" y="4315460"/>
            <a:ext cx="1460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F8F8F"/>
                </a:solidFill>
                <a:latin typeface="Noto Sans SC"/>
                <a:ea typeface="Noto Sans SC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89345" y="4276598"/>
            <a:ext cx="16865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  input outside: u@u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6845" y="4276598"/>
            <a:ext cx="2641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41945" y="4276598"/>
            <a:ext cx="8674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 m@r (+D)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458851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Limits and open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41998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09 · Rajaraman–Wong Delay-Oriented Clustering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9098"/>
            <a:ext cx="6515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p11/12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The optimality comes from the paper (IEEE TCAD 1995; DAC 1993) and holds only within its model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10433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The 12-node example is a candidate reconstruction; the tie rule is an assumption awaiting the author's confirmation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7161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607437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This course's tests check consistency and legal instances; they do not prove optimality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3147948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3039236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Submitted as Lesson 9, while the teacher's Lab 09 is Multilevel: mapping awaits the teacher</a:t>
            </a:r>
          </a:p>
        </p:txBody>
      </p:sp>
      <p:sp>
        <p:nvSpPr>
          <p:cNvPr id="17" name="Oval 16"/>
          <p:cNvSpPr/>
          <p:nvPr/>
        </p:nvSpPr>
        <p:spPr>
          <a:xfrm>
            <a:off x="711200" y="35797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3471037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Replication costs area; pins, power and more are outside this model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18262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41998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09 · Rajaraman–Wong Delay-Oriented Clustering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9098"/>
            <a:ext cx="6515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p12/12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1897380"/>
            <a:ext cx="10350500" cy="1104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3000" b="0">
                <a:solidFill>
                  <a:srgbClr val="D8BB78"/>
                </a:solidFill>
                <a:latin typeface="Noto Sans SC"/>
                <a:ea typeface="Noto Sans SC"/>
              </a:rPr>
              <a:t>The goal becomes delay: each crossing adds D to the path.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3335274"/>
            <a:ext cx="10280650" cy="6997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Labelling gives times, recovery works back from the outputs; logic nodes apart from instances, and replication costs area.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225544"/>
            <a:ext cx="10280650" cy="3498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Back to the comparison on the home page: eight modules, eight different operations.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09 Rajaraman–Wong Delay-Oriented Clustering</dc:title>
  <dc:subject/>
  <dc:creator>Learning Clustering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